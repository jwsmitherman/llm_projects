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SSN</c:v>
                </c:pt>
              </c:strCache>
            </c:strRef>
          </c:tx>
          <c:spPr>
            <a:solidFill>
              <a:srgbClr val="4472C4"/>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C3 I-864</c:v>
                  </c:pt>
                  <c:pt idx="1">
                    <c:v>ELIS I-864</c:v>
                  </c:pt>
                  <c:pt idx="2">
                    <c:v>C3 I-865</c:v>
                  </c:pt>
                </c:lvl>
              </c:multiLvlStrCache>
            </c:multiLvlStrRef>
          </c:cat>
          <c:val>
            <c:numRef>
              <c:f>Sheet1!$B$2:$B$4</c:f>
              <c:numCache>
                <c:formatCode>General</c:formatCode>
                <c:ptCount val="3"/>
                <c:pt idx="0">
                  <c:v>91.4</c:v>
                </c:pt>
                <c:pt idx="1">
                  <c:v>98.9</c:v>
                </c:pt>
                <c:pt idx="2">
                  <c:v>75.3</c:v>
                </c:pt>
              </c:numCache>
            </c:numRef>
          </c:val>
        </c:ser>
        <c:ser>
          <c:idx val="1"/>
          <c:order val="1"/>
          <c:tx>
            <c:strRef>
              <c:f>Sheet1!$C$1</c:f>
              <c:strCache>
                <c:ptCount val="1"/>
                <c:pt idx="0">
                  <c:v>DOB</c:v>
                </c:pt>
              </c:strCache>
            </c:strRef>
          </c:tx>
          <c:spPr>
            <a:solidFill>
              <a:srgbClr val="ED7D31"/>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C3 I-864</c:v>
                  </c:pt>
                  <c:pt idx="1">
                    <c:v>ELIS I-864</c:v>
                  </c:pt>
                  <c:pt idx="2">
                    <c:v>C3 I-865</c:v>
                  </c:pt>
                </c:lvl>
              </c:multiLvlStrCache>
            </c:multiLvlStrRef>
          </c:cat>
          <c:val>
            <c:numRef>
              <c:f>Sheet1!$C$2:$C$4</c:f>
              <c:numCache>
                <c:formatCode>General</c:formatCode>
                <c:ptCount val="3"/>
                <c:pt idx="0">
                  <c:v>23.5</c:v>
                </c:pt>
                <c:pt idx="1">
                  <c:v>0</c:v>
                </c:pt>
                <c:pt idx="2">
                  <c:v>0.6</c:v>
                </c:pt>
              </c:numCache>
            </c:numRef>
          </c:val>
        </c:ser>
        <c:ser>
          <c:idx val="2"/>
          <c:order val="2"/>
          <c:tx>
            <c:strRef>
              <c:f>Sheet1!$D$1</c:f>
              <c:strCache>
                <c:ptCount val="1"/>
                <c:pt idx="0">
                  <c:v>First + last name</c:v>
                </c:pt>
              </c:strCache>
            </c:strRef>
          </c:tx>
          <c:spPr>
            <a:solidFill>
              <a:srgbClr val="70AD47"/>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C3 I-864</c:v>
                  </c:pt>
                  <c:pt idx="1">
                    <c:v>ELIS I-864</c:v>
                  </c:pt>
                  <c:pt idx="2">
                    <c:v>C3 I-865</c:v>
                  </c:pt>
                </c:lvl>
              </c:multiLvlStrCache>
            </c:multiLvlStrRef>
          </c:cat>
          <c:val>
            <c:numRef>
              <c:f>Sheet1!$D$2:$D$4</c:f>
              <c:numCache>
                <c:formatCode>General</c:formatCode>
                <c:ptCount val="3"/>
                <c:pt idx="0">
                  <c:v>92.4</c:v>
                </c:pt>
                <c:pt idx="1">
                  <c:v>100</c:v>
                </c:pt>
                <c:pt idx="2">
                  <c:v>100</c:v>
                </c:pt>
              </c:numCache>
            </c:numRef>
          </c:val>
        </c:ser>
        <c:ser>
          <c:idx val="3"/>
          <c:order val="3"/>
          <c:tx>
            <c:strRef>
              <c:f>Sheet1!$E$1</c:f>
              <c:strCache>
                <c:ptCount val="1"/>
                <c:pt idx="0">
                  <c:v>A-number</c:v>
                </c:pt>
              </c:strCache>
            </c:strRef>
          </c:tx>
          <c:spPr>
            <a:solidFill>
              <a:srgbClr val="A5A5A5"/>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C3 I-864</c:v>
                  </c:pt>
                  <c:pt idx="1">
                    <c:v>ELIS I-864</c:v>
                  </c:pt>
                  <c:pt idx="2">
                    <c:v>C3 I-865</c:v>
                  </c:pt>
                </c:lvl>
              </c:multiLvlStrCache>
            </c:multiLvlStrRef>
          </c:cat>
          <c:val>
            <c:numRef>
              <c:f>Sheet1!$E$2:$E$4</c:f>
              <c:numCache>
                <c:formatCode>General</c:formatCode>
                <c:ptCount val="3"/>
                <c:pt idx="0">
                  <c:v>26.5</c:v>
                </c:pt>
                <c:pt idx="1">
                  <c:v>39.4</c:v>
                </c:pt>
                <c:pt idx="2">
                  <c:v>18.3</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9D9D9"/>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 of sponsor entries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5581094</c:v>
                </c:pt>
                <c:pt idx="1">
                  <c:v>1378437</c:v>
                </c:pt>
                <c:pt idx="2">
                  <c:v>444706</c:v>
                </c:pt>
                <c:pt idx="3">
                  <c:v>200725</c:v>
                </c:pt>
                <c:pt idx="4">
                  <c:v>94344</c:v>
                </c:pt>
                <c:pt idx="5">
                  <c:v>51048</c:v>
                </c:pt>
                <c:pt idx="6">
                  <c:v>28765</c:v>
                </c:pt>
                <c:pt idx="7">
                  <c:v>18796</c:v>
                </c:pt>
                <c:pt idx="8">
                  <c:v>11974</c:v>
                </c:pt>
                <c:pt idx="9">
                  <c:v>28133</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Number of sponsor entries for one SSN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SSNs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C3 I-864 only</c:v>
                  </c:pt>
                  <c:pt idx="1">
                    <c:v>ELIS I-864 only</c:v>
                  </c:pt>
                  <c:pt idx="2">
                    <c:v>C3 I-864 + ELIS I-864</c:v>
                  </c:pt>
                  <c:pt idx="3">
                    <c:v>C3 I-865 only</c:v>
                  </c:pt>
                  <c:pt idx="4">
                    <c:v>C3 I-864 + C3 I-865</c:v>
                  </c:pt>
                  <c:pt idx="5">
                    <c:v>C3 I-865 + ELIS I-864</c:v>
                  </c:pt>
                  <c:pt idx="6">
                    <c:v>All three</c:v>
                  </c:pt>
                </c:lvl>
              </c:multiLvlStrCache>
            </c:multiLvlStrRef>
          </c:cat>
          <c:val>
            <c:numRef>
              <c:f>Sheet1!$B$2:$B$8</c:f>
              <c:numCache>
                <c:formatCode>General</c:formatCode>
                <c:ptCount val="7"/>
                <c:pt idx="0">
                  <c:v>4627588</c:v>
                </c:pt>
                <c:pt idx="1">
                  <c:v>2563522</c:v>
                </c:pt>
                <c:pt idx="2">
                  <c:v>478429</c:v>
                </c:pt>
                <c:pt idx="3">
                  <c:v>93486</c:v>
                </c:pt>
                <c:pt idx="4">
                  <c:v>61417</c:v>
                </c:pt>
                <c:pt idx="5">
                  <c:v>7605</c:v>
                </c:pt>
                <c:pt idx="6">
                  <c:v>5975</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9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Same name, same DOB</c:v>
                  </c:pt>
                  <c:pt idx="1">
                    <c:v>Same name, no DOB</c:v>
                  </c:pt>
                  <c:pt idx="2">
                    <c:v>Same name, DOB differs</c:v>
                  </c:pt>
                  <c:pt idx="3">
                    <c:v>Name differs</c:v>
                  </c:pt>
                  <c:pt idx="4">
                    <c:v>Name and DOB differ</c:v>
                  </c:pt>
                  <c:pt idx="5">
                    <c:v>Name missing</c:v>
                  </c:pt>
                </c:lvl>
              </c:multiLvlStrCache>
            </c:multiLvlStrRef>
          </c:cat>
          <c:val>
            <c:numRef>
              <c:f>Sheet1!$B$2:$B$7</c:f>
              <c:numCache>
                <c:formatCode>General</c:formatCode>
                <c:ptCount val="6"/>
                <c:pt idx="0">
                  <c:v>326078</c:v>
                </c:pt>
                <c:pt idx="1">
                  <c:v>1527916</c:v>
                </c:pt>
                <c:pt idx="2">
                  <c:v>5169</c:v>
                </c:pt>
                <c:pt idx="3">
                  <c:v>393599</c:v>
                </c:pt>
                <c:pt idx="4">
                  <c:v>4121</c:v>
                </c:pt>
                <c:pt idx="5">
                  <c:v>8</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9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sponsors</c:v>
                </c:pt>
              </c:strCache>
            </c:strRef>
          </c:tx>
          <c:spPr>
            <a:solidFill>
              <a:schemeClr val="accent1"/>
            </a:solidFill>
            <a:ln w="9525" cap="flat">
              <a:solidFill>
                <a:srgbClr val="F9F9F9"/>
              </a:solidFill>
              <a:prstDash val="solid"/>
              <a:round/>
            </a:ln>
            <a:effectLst/>
          </c:spPr>
          <c:dPt>
            <c:idx val="0"/>
            <c:bubble3D val="0"/>
            <c:spPr>
              <a:solidFill>
                <a:srgbClr val="4472C4"/>
              </a:solidFill>
              <a:effectLst/>
            </c:spPr>
          </c:dPt>
          <c:dPt>
            <c:idx val="1"/>
            <c:bubble3D val="0"/>
            <c:spPr>
              <a:solidFill>
                <a:srgbClr val="C00000"/>
              </a:solidFill>
              <a:effectLst/>
            </c:spPr>
          </c:dPt>
          <c:dLbls>
            <c:dLbl>
              <c:idx val="0"/>
              <c:numFmt formatCode="0.0%" sourceLinked="0"/>
              <c:spPr/>
              <c:txPr>
                <a:bodyPr/>
                <a:lstStyle/>
                <a:p>
                  <a:pPr>
                    <a:defRPr sz="1100" b="0" i="0" u="none" strike="noStrike">
                      <a:solidFill>
                        <a:srgbClr val="000000"/>
                      </a:solidFill>
                      <a:latin typeface="Arial"/>
                    </a:defRPr>
                  </a:pPr>
                </a:p>
              </c:txPr>
              <c:showLegendKey val="0"/>
              <c:showVal val="0"/>
              <c:showCatName val="0"/>
              <c:showSerName val="0"/>
              <c:showPercent val="1"/>
              <c:showBubbleSize val="0"/>
            </c:dLbl>
            <c:dLbl>
              <c:idx val="1"/>
              <c:numFmt formatCode="0.0%" sourceLinked="0"/>
              <c:spPr/>
              <c:txPr>
                <a:bodyPr/>
                <a:lstStyle/>
                <a:p>
                  <a:pPr>
                    <a:defRPr sz="1100" b="0" i="0" u="none" strike="noStrike">
                      <a:solidFill>
                        <a:srgbClr val="000000"/>
                      </a:solidFill>
                      <a:latin typeface="Arial"/>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Linked: all records in 1 identity</c:v>
                </c:pt>
                <c:pt idx="1">
                  <c:v>Split: records in 2+ identities</c:v>
                </c:pt>
              </c:strCache>
            </c:strRef>
          </c:cat>
          <c:val>
            <c:numRef>
              <c:f>Sheet1!$B$2:$B$3</c:f>
              <c:numCache>
                <c:ptCount val="2"/>
                <c:pt idx="0">
                  <c:v>726</c:v>
                </c:pt>
                <c:pt idx="1">
                  <c:v>35</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4472C4"/>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Never scored</c:v>
                  </c:pt>
                  <c:pt idx="1">
                    <c:v>0.98+</c:v>
                  </c:pt>
                  <c:pt idx="2">
                    <c:v>0.95-0.98</c:v>
                  </c:pt>
                  <c:pt idx="3">
                    <c:v>0.90-0.95</c:v>
                  </c:pt>
                  <c:pt idx="4">
                    <c:v>Below 0.90</c:v>
                  </c:pt>
                </c:lvl>
              </c:multiLvlStrCache>
            </c:multiLvlStrRef>
          </c:cat>
          <c:val>
            <c:numRef>
              <c:f>Sheet1!$B$2:$B$6</c:f>
              <c:numCache>
                <c:formatCode>General</c:formatCode>
                <c:ptCount val="5"/>
                <c:pt idx="0">
                  <c:v>44</c:v>
                </c:pt>
                <c:pt idx="1">
                  <c:v>10</c:v>
                </c:pt>
                <c:pt idx="2">
                  <c:v>0</c:v>
                </c:pt>
                <c:pt idx="3">
                  <c:v>0</c:v>
                </c:pt>
                <c:pt idx="4">
                  <c:v>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Stored score between the 2 records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Split pairs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sponsor identity study for Jira IDEN-45868 across all sponsor sources available in this run: C3 I-864 affidavits, ELIS I-864 affidavits and C3 I-865 filings. Every data slide lists the facts from the data, each followed by what that number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ticket asked for a study of sponsor identities and their impact on matching. Sponsors would become their own identities in PCIS, built from name, date of birth, SSN and address, and SSN is the identifier used to recognize the same sponsor in this study. The scope is all sponsor data rather than one form at a time, and the threshold question is what changes at 0.95 or 0.90 compared with 0.98. The three questions on the slide are answered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covers 12.85 million sponsor entries. SSN is usable on most of them; date of birth is usable on a quarter of C3 I-864 entries and almost none of the others. 7.8 million different SSNs appear, and 2.26 million of them appear on more than one entry. Among those, 14 percent agree on both name and date of birth, 68 percent agree on name with no date of birth to compare, and 18 percent have a different name on at least one entry. 6,580 name and date of birth combinations appear with more than one SSN. In PCIS, for sponsors found through their own I-865 receipt, 761 have two or more records and 95.4 percent of them are in one identity. Of the 55 split pairs, none score between 0.90 and 0.98, so lowering the threshold adds no same-SSN pairs and adds one different-SSN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pulls every sponsor entry into one layout. Step two cleans SSN, date of birth and name so that formatting differences do not make one sponsor look like two: an eight digit SSN is padded back to nine digits, placeholder SSNs count as missing, all date formats become one format, and names keep letters only. Step three groups entries by SSN. Step four finds each sponsor's PCIS records and reads the identity number and the match scores PCIS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production tables behind every number in the deck. The ELIS I-134 query failed on a column name and the PCIS party-record step did not run, so neither contributes to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terms used on the following slides, each with an example. A sponsor is one SSN, and each time that SSN appears on a form is one sponsor entry. Linked and split describe whether a sponsor's PCIS records share one identity number. A split pair is two same-SSN records in different identities. Never scored means PCIS has no score between the two records. A different-SSN pair is two records with different SSNs that scored 0.90 or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source. Sponsor entries counts every time a sponsor appears on a form in that source. Each field column counts the entries where that field is present and usable after cleaning, with the share of that row's entries in brackets. All fields are the sponsor's own information. Different SSNs counts each SSN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same shares as the table. SSN is usable on 91, 99 and 75 of every 100 entries. DOB is usable on 24 of every 100 C3 I-864 entries, none of the ELIS I-864 entries and fewer than 1 of every 100 C3 I-865 entries. First and last name are present on 92 to 100 of every 100 entries. A-number is present on 18 to 39 of every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I-864, the Affidavit of Support, is filed as part of the immigrant's case, so in C3 each I-864 carries the receipt of the case it supports. This table lists every form those receipts belong to, taken from the C3 case table, and how many affidavits each has. Every affidavit is included in the analysis whatever its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7,471,835 C3 affidavits are included in every result. 39 of every 100 are attached to an I-485. I-181, CRI-89 and OS-155A hold 81,734 together. 60 of every 100 are on receipts that are not in the C3 case table, so their form cannot be identified, but they are still counted. ELIS I-864 affidavits are all included, without an attached form in this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counts SSNs by how many sponsor entries they appear on, across all forms and all three sources. Bar 2 means 1,378,437 SSNs appear on exactly two entries. 5,581,094 SSNs appear once. 2,256,928 appear two or more times. 37 SSNs appear more than 50 times and are excluded from the later agreement and pair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counts SSNs found in exactly that set of sources. 7,284,596 SSNs are in one source only. 553,426 are in two or more sources, of which 492,009 have entries in both C3 and ELIS. Within a single source, 1,703,502 SSNs still appear on two or more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of the 2,256,891 SSNs with two to fifty entries, first and last name and DOB are compared across all of that SSN's entries, and the SSN is placed in one group. 14 percent agree on name and DOB. 68 percent agree on name and have no DOB on any entry. 18 percent have a different name on at least one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splits the same groups by where each SSN's entries come from. Percentages are out of each row. ELIS-only SSNs have no same name and same DOB group because no ELIS I-864 entry returned a DOB. SSNs in two or more sources have the highest share with a name difference, 28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that have both a name and a DOB are grouped by exact first name, last name and DOB. There are 1,580,835 such combinations. 6,580 of them appear with two or more different SSNs, covering 13,249 SSNs and 15,697 entries. 544 combinations mix entries with and without an SSN, and 4,682 have no SSN on any entry. Entries without a DOB are not in any of these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searched the Databricks catalog for PCIS tables with sponsor columns and found the tables listed. It selected upsert_party_c3, but none of that table's columns matched the PCIS record id used in the scores table, so the sponsors in it could not be connected to PCIS identities and this part produced no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Sponsors were found in PCIS by matching the receipts on their own I-865 entries to PCIS records: 17,227 sponsors with 18,065 PCIS records. 761 of them have two or more PCIS records. 726, 95.4 percent, have all of those records in one identity; 35, 4.6 percent, are split. The October 5 run of the same receipt logic found 17,136 sponsors with two or more records; the difference has not been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35 split sponsors produce 55 split pairs. For each pair, the score PCIS stored between the two records was looked up. 44 have no score. 10 score 0.98 or higher. 1 scores below 0.90. None score between 0.90 and 0.98.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applies a threshold policy to the stored scores. Same-SSN pairs at or above the threshold stay at 10 under every policy. Different-SSN pairs at or above the threshold are 7 today and 8 at 0.95 and 0.90. Top-down, bottom-up and custom give the same counts as current because every record here is C3, which is 0.98 under each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threshold values come from the Confluence threshold analysis. The threshold in use is 0.98 for every pair. The page lists a threshold per source system and rules for pairs that cross systems: top-down uses the higher threshold, bottom-up the lower. A C3 record and an ELIS record use 0.98 under top-down and 0.95 under bottom-up. The PCIS results in this deck are C3 against C3 only, so every rule gives 0.98. In the source data, 492,009 SSNs have entries in both C3 and ELIS.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what is incomplete in this run. ELIS I-134 sponsors are missing because that query failed. ELIS I-864 returned no date of birth. The PCIS party-record tables could not be connected to PCIS identities, so the PCIS results cover only sponsors found through their own I-865 receipt, and those counts differ from the October 5 run. Sixty percent of C3 affidavits have no identified form but are included, and 37 SSNs with more than 50 entries were excluded from the agreement and pair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371600"/>
            <a:ext cx="8229600" cy="731520"/>
          </a:xfrm>
          <a:prstGeom prst="rect">
            <a:avLst/>
          </a:prstGeom>
          <a:noFill/>
          <a:ln/>
        </p:spPr>
        <p:txBody>
          <a:bodyPr wrap="square" lIns="0" tIns="0" rIns="0" bIns="0" rtlCol="0" anchor="ctr"/>
          <a:lstStyle/>
          <a:p>
            <a:pPr indent="0" marL="0">
              <a:buNone/>
            </a:pPr>
            <a:r>
              <a:rPr lang="en-US" sz="3400" b="1" dirty="0">
                <a:solidFill>
                  <a:srgbClr val="000000"/>
                </a:solidFill>
                <a:latin typeface="Calibri" pitchFamily="34" charset="0"/>
                <a:ea typeface="Calibri" pitchFamily="34" charset="-122"/>
                <a:cs typeface="Calibri" pitchFamily="34" charset="-120"/>
              </a:rPr>
              <a:t>IDEN-45868: Sponsor Identity Study</a:t>
            </a:r>
            <a:endParaRPr lang="en-US" sz="3400" dirty="0"/>
          </a:p>
        </p:txBody>
      </p:sp>
      <p:sp>
        <p:nvSpPr>
          <p:cNvPr id="3" name="Text 1"/>
          <p:cNvSpPr txBox="1"/>
          <p:nvPr/>
        </p:nvSpPr>
        <p:spPr>
          <a:xfrm>
            <a:off x="457200" y="2148840"/>
            <a:ext cx="8229600" cy="731520"/>
          </a:xfrm>
          <a:prstGeom prst="rect">
            <a:avLst/>
          </a:prstGeom>
          <a:noFill/>
          <a:ln/>
        </p:spPr>
        <p:txBody>
          <a:bodyPr wrap="square" lIns="0" tIns="0" rIns="0" bIns="0" rtlCol="0" anchor="ctr"/>
          <a:lstStyle/>
          <a:p>
            <a:pPr indent="0" marL="0">
              <a:buNone/>
            </a:pPr>
            <a:r>
              <a:rPr lang="en-US" sz="1800" dirty="0">
                <a:solidFill>
                  <a:srgbClr val="595959"/>
                </a:solidFill>
                <a:latin typeface="Calibri" pitchFamily="34" charset="0"/>
                <a:ea typeface="Calibri" pitchFamily="34" charset="-122"/>
                <a:cs typeface="Calibri" pitchFamily="34" charset="-120"/>
              </a:rPr>
              <a:t>Status quo across all sponsor sources: what sponsor data exists today, how consistent it is, and how sponsors match in PCIS</a:t>
            </a:r>
            <a:endParaRPr lang="en-US" sz="1800" dirty="0"/>
          </a:p>
        </p:txBody>
      </p:sp>
      <p:sp>
        <p:nvSpPr>
          <p:cNvPr id="4" name="Text 2"/>
          <p:cNvSpPr txBox="1"/>
          <p:nvPr/>
        </p:nvSpPr>
        <p:spPr>
          <a:xfrm>
            <a:off x="457200" y="3108960"/>
            <a:ext cx="8229600" cy="365760"/>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PCIS Identity Team  |  October 27, 2026  |  Source: Databricks eciscor_prod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What was asked</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00000"/>
                </a:solidFill>
                <a:latin typeface="Calibri" pitchFamily="34" charset="0"/>
                <a:ea typeface="Calibri" pitchFamily="34" charset="-122"/>
                <a:cs typeface="Calibri" pitchFamily="34" charset="-120"/>
              </a:rPr>
              <a:t>Jira IDEN-45868: study sponsor identities and identify potential impacts on matching</a:t>
            </a:r>
            <a:endParaRPr lang="en-US" sz="1350" dirty="0"/>
          </a:p>
          <a:p>
            <a:pPr marL="177800" indent="-177800">
              <a:spcAft>
                <a:spcPts val="400"/>
              </a:spcAft>
              <a:buSzPct val="100000"/>
              <a:buChar char="•"/>
            </a:pPr>
            <a:r>
              <a:rPr lang="en-US" sz="1350" dirty="0">
                <a:solidFill>
                  <a:srgbClr val="000000"/>
                </a:solidFill>
                <a:latin typeface="Calibri" pitchFamily="34" charset="0"/>
                <a:ea typeface="Calibri" pitchFamily="34" charset="-122"/>
                <a:cs typeface="Calibri" pitchFamily="34" charset="-120"/>
              </a:rPr>
              <a:t>Sponsors would become their own identities in PCIS, the same way beneficiaries and petitioners are</a:t>
            </a:r>
            <a:endParaRPr lang="en-US" sz="1350" dirty="0"/>
          </a:p>
          <a:p>
            <a:pPr lvl="1" marL="406400" indent="-203200">
              <a:spcAft>
                <a:spcPts val="400"/>
              </a:spcAft>
              <a:buSzPct val="100000"/>
              <a:buChar char="•"/>
            </a:pPr>
            <a:r>
              <a:rPr lang="en-US" sz="1200" dirty="0">
                <a:solidFill>
                  <a:srgbClr val="595959"/>
                </a:solidFill>
                <a:latin typeface="Calibri" pitchFamily="34" charset="0"/>
                <a:ea typeface="Calibri" pitchFamily="34" charset="-122"/>
                <a:cs typeface="Calibri" pitchFamily="34" charset="-120"/>
              </a:rPr>
              <a:t>Built from the sponsor's name, DOB, SSN and address; SSN is the sponsor identifier used in this study</a:t>
            </a:r>
            <a:endParaRPr lang="en-US" sz="1350" dirty="0"/>
          </a:p>
          <a:p>
            <a:pPr marL="177800" indent="-177800">
              <a:spcAft>
                <a:spcPts val="400"/>
              </a:spcAft>
              <a:buSzPct val="100000"/>
              <a:buChar char="•"/>
            </a:pPr>
            <a:r>
              <a:rPr lang="en-US" sz="1350" dirty="0">
                <a:solidFill>
                  <a:srgbClr val="000000"/>
                </a:solidFill>
                <a:latin typeface="Calibri" pitchFamily="34" charset="0"/>
                <a:ea typeface="Calibri" pitchFamily="34" charset="-122"/>
                <a:cs typeface="Calibri" pitchFamily="34" charset="-120"/>
              </a:rPr>
              <a:t>Scope: all sponsor data, not one form at a time</a:t>
            </a:r>
            <a:endParaRPr lang="en-US" sz="1350" dirty="0"/>
          </a:p>
          <a:p>
            <a:pPr marL="177800" indent="-177800">
              <a:spcAft>
                <a:spcPts val="400"/>
              </a:spcAft>
              <a:buSzPct val="100000"/>
              <a:buChar char="•"/>
            </a:pPr>
            <a:r>
              <a:rPr lang="en-US" sz="1350" dirty="0">
                <a:solidFill>
                  <a:srgbClr val="000000"/>
                </a:solidFill>
                <a:latin typeface="Calibri" pitchFamily="34" charset="0"/>
                <a:ea typeface="Calibri" pitchFamily="34" charset="-122"/>
                <a:cs typeface="Calibri" pitchFamily="34" charset="-120"/>
              </a:rPr>
              <a:t>Threshold question: what would change at 0.95 or 0.90 compared with today's 0.98?</a:t>
            </a:r>
            <a:endParaRPr lang="en-US" sz="1350" dirty="0"/>
          </a:p>
          <a:p>
            <a:pPr marL="177800" indent="-177800">
              <a:spcAft>
                <a:spcPts val="400"/>
              </a:spcAft>
              <a:buSzPct val="100000"/>
              <a:buChar char="•"/>
            </a:pPr>
            <a:r>
              <a:rPr lang="en-US" sz="1350" dirty="0">
                <a:solidFill>
                  <a:srgbClr val="000000"/>
                </a:solidFill>
                <a:latin typeface="Calibri" pitchFamily="34" charset="0"/>
                <a:ea typeface="Calibri" pitchFamily="34" charset="-122"/>
                <a:cs typeface="Calibri" pitchFamily="34" charset="-120"/>
              </a:rPr>
              <a:t>Questions this deck answers:</a:t>
            </a:r>
            <a:endParaRPr lang="en-US" sz="1350" dirty="0"/>
          </a:p>
          <a:p>
            <a:pPr lvl="1" marL="406400" indent="-203200">
              <a:spcAft>
                <a:spcPts val="400"/>
              </a:spcAft>
              <a:buSzPct val="100000"/>
              <a:buChar char="•"/>
            </a:pPr>
            <a:r>
              <a:rPr lang="en-US" sz="1200" dirty="0">
                <a:solidFill>
                  <a:srgbClr val="595959"/>
                </a:solidFill>
                <a:latin typeface="Calibri" pitchFamily="34" charset="0"/>
                <a:ea typeface="Calibri" pitchFamily="34" charset="-122"/>
                <a:cs typeface="Calibri" pitchFamily="34" charset="-120"/>
              </a:rPr>
              <a:t>Q1: How much sponsor data exists today, and which fields does it carry?</a:t>
            </a:r>
            <a:endParaRPr lang="en-US" sz="1350" dirty="0"/>
          </a:p>
          <a:p>
            <a:pPr lvl="1" marL="406400" indent="-203200">
              <a:spcAft>
                <a:spcPts val="400"/>
              </a:spcAft>
              <a:buSzPct val="100000"/>
              <a:buChar char="•"/>
            </a:pPr>
            <a:r>
              <a:rPr lang="en-US" sz="1200" dirty="0">
                <a:solidFill>
                  <a:srgbClr val="595959"/>
                </a:solidFill>
                <a:latin typeface="Calibri" pitchFamily="34" charset="0"/>
                <a:ea typeface="Calibri" pitchFamily="34" charset="-122"/>
                <a:cs typeface="Calibri" pitchFamily="34" charset="-120"/>
              </a:rPr>
              <a:t>Q2: How often does the same sponsor appear more than once, and do those entries agree with each other?</a:t>
            </a:r>
            <a:endParaRPr lang="en-US" sz="1350" dirty="0"/>
          </a:p>
          <a:p>
            <a:pPr lvl="1" marL="406400" indent="-203200">
              <a:spcAft>
                <a:spcPts val="400"/>
              </a:spcAft>
              <a:buSzPct val="100000"/>
              <a:buChar char="•"/>
            </a:pPr>
            <a:r>
              <a:rPr lang="en-US" sz="1200" dirty="0">
                <a:solidFill>
                  <a:srgbClr val="595959"/>
                </a:solidFill>
                <a:latin typeface="Calibri" pitchFamily="34" charset="0"/>
                <a:ea typeface="Calibri" pitchFamily="34" charset="-122"/>
                <a:cs typeface="Calibri" pitchFamily="34" charset="-120"/>
              </a:rPr>
              <a:t>Q3: Where sponsors already have PCIS records, are those records in one identity today, and what would a lower threshold change?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Summary</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indent="0" marL="0">
              <a:spcAft>
                <a:spcPts val="200"/>
              </a:spcAft>
              <a:buNone/>
            </a:pPr>
            <a:r>
              <a:rPr lang="en-US" sz="1250" b="1" dirty="0">
                <a:solidFill>
                  <a:srgbClr val="000000"/>
                </a:solidFill>
                <a:latin typeface="Calibri" pitchFamily="34" charset="0"/>
                <a:ea typeface="Calibri" pitchFamily="34" charset="-122"/>
                <a:cs typeface="Calibri" pitchFamily="34" charset="-120"/>
              </a:rPr>
              <a:t>Q1: Sponsor data available today</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12,854,675 sponsor entries: C3 I-864 7,471,835; ELIS I-864 5,096,864; C3 I-865 285,976</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Usable SSN on 91, 99 and 75 of every 100 entries; usable DOB on 24, 0 and fewer than 1 of every 100</a:t>
            </a:r>
            <a:endParaRPr lang="en-US" sz="1250" dirty="0"/>
          </a:p>
          <a:p>
            <a:pPr indent="0" marL="0">
              <a:spcBef>
                <a:spcPts val="600"/>
              </a:spcBef>
              <a:spcAft>
                <a:spcPts val="200"/>
              </a:spcAft>
              <a:buNone/>
            </a:pPr>
            <a:r>
              <a:rPr lang="en-US" sz="1250" b="1" dirty="0">
                <a:solidFill>
                  <a:srgbClr val="000000"/>
                </a:solidFill>
                <a:latin typeface="Calibri" pitchFamily="34" charset="0"/>
                <a:ea typeface="Calibri" pitchFamily="34" charset="-122"/>
                <a:cs typeface="Calibri" pitchFamily="34" charset="-120"/>
              </a:rPr>
              <a:t>Q2: Repeat sponsors</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7,838,022 different SSNs; 2,256,928 (29%) appear on 2+ entries; 553,426 appear in 2+ sources</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Of sponsors with 2+ entries: 14% same name and same DOB everywhere; 68% same name with no DOB to compare; 18% a different name on at least one entry</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6,580 name + DOB combinations appear with 2+ different SSNs</a:t>
            </a:r>
            <a:endParaRPr lang="en-US" sz="1250" dirty="0"/>
          </a:p>
          <a:p>
            <a:pPr indent="0" marL="0">
              <a:spcBef>
                <a:spcPts val="600"/>
              </a:spcBef>
              <a:spcAft>
                <a:spcPts val="200"/>
              </a:spcAft>
              <a:buNone/>
            </a:pPr>
            <a:r>
              <a:rPr lang="en-US" sz="1250" b="1" dirty="0">
                <a:solidFill>
                  <a:srgbClr val="000000"/>
                </a:solidFill>
                <a:latin typeface="Calibri" pitchFamily="34" charset="0"/>
                <a:ea typeface="Calibri" pitchFamily="34" charset="-122"/>
                <a:cs typeface="Calibri" pitchFamily="34" charset="-120"/>
              </a:rPr>
              <a:t>Q3: Status quo in PCIS (sponsors found through their own I-865 receipt)</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761 sponsors have 2+ PCIS records: 726 (95.4%) in one identity, 35 (4.6%) split</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55 split pairs: 44 never scored, 10 already at 0.98+, 1 below 0.90, 0 between 0.90 and 0.98</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At 0.95 or 0.90: 0 additional same-SSN pairs, 1 additional different-SSN pair</a:t>
            </a:r>
            <a:endParaRPr lang="en-US" sz="1250" dirty="0"/>
          </a:p>
          <a:p>
            <a:pPr indent="0" marL="0">
              <a:spcBef>
                <a:spcPts val="600"/>
              </a:spcBef>
              <a:spcAft>
                <a:spcPts val="200"/>
              </a:spcAft>
              <a:buNone/>
            </a:pPr>
            <a:r>
              <a:rPr lang="en-US" sz="1250" b="1" dirty="0">
                <a:solidFill>
                  <a:srgbClr val="000000"/>
                </a:solidFill>
                <a:latin typeface="Calibri" pitchFamily="34" charset="0"/>
                <a:ea typeface="Calibri" pitchFamily="34" charset="-122"/>
                <a:cs typeface="Calibri" pitchFamily="34" charset="-120"/>
              </a:rPr>
              <a:t>Not in this run: PCIS party-record sponsors and ELIS I-134</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How the analysis was built</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Production data only, read from Databricks: nothing re-scored, no test data</a:t>
            </a:r>
            <a:endParaRPr lang="en-US" sz="1200" dirty="0"/>
          </a:p>
          <a:p>
            <a:pPr indent="0" marL="0">
              <a:spcBef>
                <a:spcPts val="600"/>
              </a:spcBef>
              <a:spcAft>
                <a:spcPts val="200"/>
              </a:spcAft>
              <a:buNone/>
            </a:pPr>
            <a:r>
              <a:rPr lang="en-US" sz="1200" b="1" dirty="0">
                <a:solidFill>
                  <a:srgbClr val="000000"/>
                </a:solidFill>
                <a:latin typeface="Calibri" pitchFamily="34" charset="0"/>
                <a:ea typeface="Calibri" pitchFamily="34" charset="-122"/>
                <a:cs typeface="Calibri" pitchFamily="34" charset="-120"/>
              </a:rPr>
              <a:t>Step 1 - Pull every sponsor entry from the source systems</a:t>
            </a:r>
            <a:endParaRPr lang="en-US" sz="1200" dirty="0"/>
          </a:p>
          <a:p>
            <a:pPr marL="177800" indent="-1778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Every sponsor on every C3 I-864, ELIS I-864 and C3 I-865 is put into one layout: name, DOB, SSN, A-number, receipt, form</a:t>
            </a:r>
            <a:endParaRPr lang="en-US" sz="1200" dirty="0"/>
          </a:p>
          <a:p>
            <a:pPr indent="0" marL="0">
              <a:spcBef>
                <a:spcPts val="600"/>
              </a:spcBef>
              <a:spcAft>
                <a:spcPts val="200"/>
              </a:spcAft>
              <a:buNone/>
            </a:pPr>
            <a:r>
              <a:rPr lang="en-US" sz="1200" b="1" dirty="0">
                <a:solidFill>
                  <a:srgbClr val="000000"/>
                </a:solidFill>
                <a:latin typeface="Calibri" pitchFamily="34" charset="0"/>
                <a:ea typeface="Calibri" pitchFamily="34" charset="-122"/>
                <a:cs typeface="Calibri" pitchFamily="34" charset="-120"/>
              </a:rPr>
              <a:t>Step 2 - Clean the fields so the same sponsor can be recognized</a:t>
            </a:r>
            <a:endParaRPr lang="en-US" sz="1200" dirty="0"/>
          </a:p>
          <a:p>
            <a:pPr marL="177800" indent="-1778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SSN: digits only, padded to 9 digits; placeholders and invalid numbers treated as no SSN</a:t>
            </a:r>
            <a:endParaRPr lang="en-US" sz="1200" dirty="0"/>
          </a:p>
          <a:p>
            <a:pPr lvl="1" marL="406400" indent="-203200">
              <a:spcAft>
                <a:spcPts val="400"/>
              </a:spcAft>
              <a:buSzPct val="100000"/>
              <a:buChar char="•"/>
            </a:pPr>
            <a:r>
              <a:rPr lang="en-US" sz="1050" dirty="0">
                <a:solidFill>
                  <a:srgbClr val="595959"/>
                </a:solidFill>
                <a:latin typeface="Calibri" pitchFamily="34" charset="0"/>
                <a:ea typeface="Calibri" pitchFamily="34" charset="-122"/>
                <a:cs typeface="Calibri" pitchFamily="34" charset="-120"/>
              </a:rPr>
              <a:t>Example: '123-45-678' becomes 012345678; '000-00-0000', '123-45-6789' and SSNs starting 000 or 666 count as no SSN</a:t>
            </a:r>
            <a:endParaRPr lang="en-US" sz="1200" dirty="0"/>
          </a:p>
          <a:p>
            <a:pPr marL="177800" indent="-1778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DOB: several date formats read; dates before 1900 or in the future dropped</a:t>
            </a:r>
            <a:endParaRPr lang="en-US" sz="1200" dirty="0"/>
          </a:p>
          <a:p>
            <a:pPr lvl="1" marL="406400" indent="-203200">
              <a:spcAft>
                <a:spcPts val="400"/>
              </a:spcAft>
              <a:buSzPct val="100000"/>
              <a:buChar char="•"/>
            </a:pPr>
            <a:r>
              <a:rPr lang="en-US" sz="1050" dirty="0">
                <a:solidFill>
                  <a:srgbClr val="595959"/>
                </a:solidFill>
                <a:latin typeface="Calibri" pitchFamily="34" charset="0"/>
                <a:ea typeface="Calibri" pitchFamily="34" charset="-122"/>
                <a:cs typeface="Calibri" pitchFamily="34" charset="-120"/>
              </a:rPr>
              <a:t>Example: '19700315', '1970-03-15' and '03/15/1970' all become 1970-03-15</a:t>
            </a:r>
            <a:endParaRPr lang="en-US" sz="1200" dirty="0"/>
          </a:p>
          <a:p>
            <a:pPr marL="177800" indent="-177800">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Name: first + last name, letters only, upper case</a:t>
            </a:r>
            <a:endParaRPr lang="en-US" sz="1200" dirty="0"/>
          </a:p>
          <a:p>
            <a:pPr lvl="1" marL="406400" indent="-203200">
              <a:spcAft>
                <a:spcPts val="400"/>
              </a:spcAft>
              <a:buSzPct val="100000"/>
              <a:buChar char="•"/>
            </a:pPr>
            <a:r>
              <a:rPr lang="en-US" sz="1050" dirty="0">
                <a:solidFill>
                  <a:srgbClr val="595959"/>
                </a:solidFill>
                <a:latin typeface="Calibri" pitchFamily="34" charset="0"/>
                <a:ea typeface="Calibri" pitchFamily="34" charset="-122"/>
                <a:cs typeface="Calibri" pitchFamily="34" charset="-120"/>
              </a:rPr>
              <a:t>Example: 'Mary-Ann  O'Neil' becomes MARYANN | ONEIL</a:t>
            </a:r>
            <a:endParaRPr lang="en-US" sz="1200" dirty="0"/>
          </a:p>
          <a:p>
            <a:pPr indent="0" marL="0">
              <a:spcBef>
                <a:spcPts val="600"/>
              </a:spcBef>
              <a:spcAft>
                <a:spcPts val="200"/>
              </a:spcAft>
              <a:buNone/>
            </a:pPr>
            <a:r>
              <a:rPr lang="en-US" sz="1200" b="1" dirty="0">
                <a:solidFill>
                  <a:srgbClr val="000000"/>
                </a:solidFill>
                <a:latin typeface="Calibri" pitchFamily="34" charset="0"/>
                <a:ea typeface="Calibri" pitchFamily="34" charset="-122"/>
                <a:cs typeface="Calibri" pitchFamily="34" charset="-120"/>
              </a:rPr>
              <a:t>Step 3 - Group entries by SSN: one SSN = one sponsor</a:t>
            </a:r>
            <a:endParaRPr lang="en-US" sz="1200" dirty="0"/>
          </a:p>
          <a:p>
            <a:pPr indent="0" marL="0">
              <a:spcBef>
                <a:spcPts val="600"/>
              </a:spcBef>
              <a:spcAft>
                <a:spcPts val="200"/>
              </a:spcAft>
              <a:buNone/>
            </a:pPr>
            <a:r>
              <a:rPr lang="en-US" sz="1200" b="1" dirty="0">
                <a:solidFill>
                  <a:srgbClr val="000000"/>
                </a:solidFill>
                <a:latin typeface="Calibri" pitchFamily="34" charset="0"/>
                <a:ea typeface="Calibri" pitchFamily="34" charset="-122"/>
                <a:cs typeface="Calibri" pitchFamily="34" charset="-120"/>
              </a:rPr>
              <a:t>Step 4 - Find the sponsor's PCIS records and read the identity and scores PCIS stored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Tables used</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2926080"/>
                <a:gridCol w="2926080"/>
                <a:gridCol w="1188720"/>
              </a:tblGrid>
              <a:tr h="38404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Table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What it provides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This run</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C3 I-864</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ecc3conods_mod.r2i864 (+ case_info, i864, person)</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Each sponsor on a C3 Affidavit of Support, and the form it is attached to</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Loaded</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ELIS I-864</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ecelis2.spnsr_affdvt_supt (+ pers, pers_nm, pers_brth_dt)</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Each sponsor on an ELIS Affidavit of Support</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Loaded</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C3 I-865</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ecc3conods_mod.petapp (FORM_NUMBER = 'I865')</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Each sponsor change-of-address filing (sponsor is in the BEN_* columns)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Loaded</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ELIS I-134</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coe.sponsorinfo1</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I-134 sponsors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Failed: column name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 party records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Searched in pcis_metadata, pcis_conformance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Sponsors stored on PCIS party records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Not run</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 scores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pcis_metadata.mv_es_mlaas_scores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Each PCIS record's identity, and the match score between records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Loaded</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000" dirty="0">
                <a:solidFill>
                  <a:srgbClr val="595959"/>
                </a:solidFill>
                <a:latin typeface="Calibri" pitchFamily="34" charset="0"/>
                <a:ea typeface="Calibri" pitchFamily="34" charset="-122"/>
                <a:cs typeface="Calibri" pitchFamily="34" charset="-120"/>
              </a:rPr>
              <a:t>How a source record is found in PCIS: the receipt number is the last part of the PCIS record id. Example: elis_96443442_238068869_ioe0926489660 belongs to receipt IOE0926489660.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Terms used, with examples</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Sponsor entry: one sponsor on one form</a:t>
            </a:r>
            <a:endParaRPr lang="en-US" sz="1250" dirty="0"/>
          </a:p>
          <a:p>
            <a:pPr lvl="1" marL="406400" indent="-2032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Example: a petitioning sponsor and a joint sponsor on the same case are 2 entries</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Sponsor: one SSN</a:t>
            </a:r>
            <a:endParaRPr lang="en-US" sz="1250" dirty="0"/>
          </a:p>
          <a:p>
            <a:pPr lvl="1" marL="406400" indent="-2032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Example: the same SSN on 3 affidavits is 1 sponsor with 3 entries</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Usable SSN / DOB: present after cleaning (see previous slide)</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Linked: all of a sponsor's PCIS records carry the same identity number</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Split: a sponsor's PCIS records carry 2+ identity numbers</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Split pair: 2 records with the same SSN in different identities</a:t>
            </a:r>
            <a:endParaRPr lang="en-US" sz="1250" dirty="0"/>
          </a:p>
          <a:p>
            <a:pPr lvl="1" marL="406400" indent="-203200">
              <a:spcAft>
                <a:spcPts val="400"/>
              </a:spcAft>
              <a:buSzPct val="100000"/>
              <a:buChar char="•"/>
            </a:pPr>
            <a:r>
              <a:rPr lang="en-US" sz="1100" dirty="0">
                <a:solidFill>
                  <a:srgbClr val="595959"/>
                </a:solidFill>
                <a:latin typeface="Calibri" pitchFamily="34" charset="0"/>
                <a:ea typeface="Calibri" pitchFamily="34" charset="-122"/>
                <a:cs typeface="Calibri" pitchFamily="34" charset="-120"/>
              </a:rPr>
              <a:t>Example: records A and B in identity 1, record C in identity 2 gives 2 split pairs (A-C and B-C)</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Never scored: PCIS has no stored score between the 2 records in either direction</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Different-SSN pair: 2 records with different SSNs and a stored score of 0.90 or higher</a:t>
            </a:r>
            <a:endParaRPr lang="en-US" sz="1250" dirty="0"/>
          </a:p>
          <a:p>
            <a:pPr marL="177800" indent="-177800">
              <a:spcAft>
                <a:spcPts val="400"/>
              </a:spcAft>
              <a:buSzPct val="100000"/>
              <a:buChar char="•"/>
            </a:pPr>
            <a:r>
              <a:rPr lang="en-US" sz="1250" dirty="0">
                <a:solidFill>
                  <a:srgbClr val="000000"/>
                </a:solidFill>
                <a:latin typeface="Calibri" pitchFamily="34" charset="0"/>
                <a:ea typeface="Calibri" pitchFamily="34" charset="-122"/>
                <a:cs typeface="Calibri" pitchFamily="34" charset="-120"/>
              </a:rPr>
              <a:t>Name + DOB combination: one exact first name, last name and DOB</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Q1: Sponsor data by source, and which fields it carries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005840"/>
                <a:gridCol w="1097280"/>
                <a:gridCol w="1280160"/>
                <a:gridCol w="1234440"/>
                <a:gridCol w="1325880"/>
                <a:gridCol w="1234440"/>
                <a:gridCol w="1051560"/>
              </a:tblGrid>
              <a:tr h="38404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Sponsor entries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Usable SSN</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Usable DOB</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First + last name</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A-number</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Different SSNs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8404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C3 I-864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7,471,835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6,828,142 (91%)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1,759,083 (24%)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6,903,057 (92%)</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1,983,600 (27%)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5,173,409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ELIS I-864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5,096,864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5,038,944 (99%)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 (0%)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5,096,822 (100%)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2,009,411 (39%)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3,055,531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C3 I-865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285,976</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215,336 (75%)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1,695 (0.6%)</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285,954 (100%)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52,304 (18%)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168,483</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2606040"/>
            <a:ext cx="8229600" cy="2377440"/>
          </a:xfrm>
          <a:prstGeom prst="rect">
            <a:avLst/>
          </a:prstGeom>
          <a:noFill/>
          <a:ln/>
        </p:spPr>
        <p:txBody>
          <a:bodyPr wrap="square" lIns="0" tIns="0" rIns="0" bIns="0" rtlCol="0" anchor="t"/>
          <a:lstStyle/>
          <a:p>
            <a:pPr marL="152400" indent="-152400">
              <a:spcAft>
                <a:spcPts val="100"/>
              </a:spcAft>
              <a:buSzPct val="100000"/>
              <a:buChar char="•"/>
            </a:pPr>
            <a:r>
              <a:rPr lang="en-US" sz="1250" b="1" dirty="0">
                <a:solidFill>
                  <a:srgbClr val="000000"/>
                </a:solidFill>
                <a:latin typeface="Calibri" pitchFamily="34" charset="0"/>
                <a:ea typeface="Calibri" pitchFamily="34" charset="-122"/>
                <a:cs typeface="Calibri" pitchFamily="34" charset="-120"/>
              </a:rPr>
              <a:t>Each row is one source; each field column counts entries where that field is usable</a:t>
            </a:r>
            <a:endParaRPr lang="en-US" sz="1250" dirty="0"/>
          </a:p>
          <a:p>
            <a:pPr indent="0" marL="0">
              <a:spcAft>
                <a:spcPts val="700"/>
              </a:spcAft>
              <a:buNone/>
            </a:pPr>
            <a:r>
              <a:rPr lang="en-US" sz="1150" dirty="0">
                <a:solidFill>
                  <a:srgbClr val="404040"/>
                </a:solidFill>
                <a:latin typeface="Calibri" pitchFamily="34" charset="0"/>
                <a:ea typeface="Calibri" pitchFamily="34" charset="-122"/>
                <a:cs typeface="Calibri" pitchFamily="34" charset="-120"/>
              </a:rPr>
              <a:t>Example, C3 I-864: 7,471,835 sponsors are listed on C3 Affidavits of Support. 6,828,142 of them (91 of every 100) have their own SSN recorded as 9 digits after cleaning and not a placeholder. The other 643,693 have the SSN blank, too short or a placeholder.</a:t>
            </a:r>
            <a:endParaRPr lang="en-US" sz="1250" dirty="0"/>
          </a:p>
          <a:p>
            <a:pPr marL="152400" indent="-152400">
              <a:spcAft>
                <a:spcPts val="100"/>
              </a:spcAft>
              <a:buSzPct val="100000"/>
              <a:buChar char="•"/>
            </a:pPr>
            <a:r>
              <a:rPr lang="en-US" sz="1250" b="1" dirty="0">
                <a:solidFill>
                  <a:srgbClr val="000000"/>
                </a:solidFill>
                <a:latin typeface="Calibri" pitchFamily="34" charset="0"/>
                <a:ea typeface="Calibri" pitchFamily="34" charset="-122"/>
                <a:cs typeface="Calibri" pitchFamily="34" charset="-120"/>
              </a:rPr>
              <a:t>Different SSNs is lower than sponsor entries in every source</a:t>
            </a:r>
            <a:endParaRPr lang="en-US" sz="1250" dirty="0"/>
          </a:p>
          <a:p>
            <a:pPr indent="0" marL="0">
              <a:spcAft>
                <a:spcPts val="700"/>
              </a:spcAft>
              <a:buNone/>
            </a:pPr>
            <a:r>
              <a:rPr lang="en-US" sz="1150" dirty="0">
                <a:solidFill>
                  <a:srgbClr val="404040"/>
                </a:solidFill>
                <a:latin typeface="Calibri" pitchFamily="34" charset="0"/>
                <a:ea typeface="Calibri" pitchFamily="34" charset="-122"/>
                <a:cs typeface="Calibri" pitchFamily="34" charset="-120"/>
              </a:rPr>
              <a:t>The same SSN appears on more than one entry: 6,828,142 C3 I-864 entries with an SSN carry 5,173,409 different SSNs.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Q1: Field completeness by source</a:t>
            </a:r>
            <a:endParaRPr lang="en-US" sz="2600" dirty="0"/>
          </a:p>
        </p:txBody>
      </p:sp>
      <p:graphicFrame>
        <p:nvGraphicFramePr>
          <p:cNvPr id="4" name="Chart 0" descr=""/>
          <p:cNvGraphicFramePr/>
          <p:nvPr/>
        </p:nvGraphicFramePr>
        <p:xfrm>
          <a:off x="365760" y="914400"/>
          <a:ext cx="420624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754880" y="914400"/>
            <a:ext cx="402336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SSN: usable on 91, 99 and 75 of every 100 entries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C3 I-864: 643,693 entries without a usable SSN. ELIS I-864: 57,920. C3 I-865: 70,640. All other entries carry a 9-digit SSN that can be compared.</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DOB: usable on 24, 0 and fewer than 1 of every 100 entries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C3 I-864: 1,759,083 entries have a DOB, 5,712,752 do not. ELIS I-864: no entry returned a DOB in this extract. C3 I-865: 1,695 of 285,976. For most entries there is no DOB to compare between two records.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Name: present on 92 to 100 of every 100 entries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Name is the most complete field in every source. An entry without a usable SSN or DOB has only the name to compare.</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A-number: present on 27, 39 and 18 of every 100 entries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Most sponsor entries have no A-number to compare.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C3 I-864: every form the affidavits are attached to</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5120640"/>
                <a:gridCol w="1097280"/>
                <a:gridCol w="822960"/>
              </a:tblGrid>
              <a:tr h="347472">
                <a:tc>
                  <a:txBody>
                    <a:bodyPr/>
                    <a:lstStyle/>
                    <a:p>
                      <a:pPr indent="0" marL="0">
                        <a:buNone/>
                      </a:pPr>
                      <a:r>
                        <a:rPr lang="en-US" sz="950" b="1" dirty="0">
                          <a:solidFill>
                            <a:srgbClr val="000000"/>
                          </a:solidFill>
                          <a:latin typeface="Calibri" pitchFamily="34" charset="0"/>
                          <a:ea typeface="Calibri" pitchFamily="34" charset="-122"/>
                          <a:cs typeface="Calibri" pitchFamily="34" charset="-120"/>
                        </a:rPr>
                        <a:t>Attached to</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950" b="1" dirty="0">
                          <a:solidFill>
                            <a:srgbClr val="000000"/>
                          </a:solidFill>
                          <a:latin typeface="Calibri" pitchFamily="34" charset="0"/>
                          <a:ea typeface="Calibri" pitchFamily="34" charset="-122"/>
                          <a:cs typeface="Calibri" pitchFamily="34" charset="-120"/>
                        </a:rPr>
                        <a:t>What the form is</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950" b="1" dirty="0">
                          <a:solidFill>
                            <a:srgbClr val="000000"/>
                          </a:solidFill>
                          <a:latin typeface="Calibri" pitchFamily="34" charset="0"/>
                          <a:ea typeface="Calibri" pitchFamily="34" charset="-122"/>
                          <a:cs typeface="Calibri" pitchFamily="34" charset="-120"/>
                        </a:rPr>
                        <a:t>Affidavits</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950" b="1" dirty="0">
                          <a:solidFill>
                            <a:srgbClr val="000000"/>
                          </a:solidFill>
                          <a:latin typeface="Calibri" pitchFamily="34" charset="0"/>
                          <a:ea typeface="Calibri" pitchFamily="34" charset="-122"/>
                          <a:cs typeface="Calibri" pitchFamily="34" charset="-120"/>
                        </a:rPr>
                        <a:t>Share</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I-485</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Application to Register Permanent Residence or Adjust Status</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2,897,346</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38.8%</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I-181</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Memorandum of Creation of Record of Lawful Permanent Residence</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51,890</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0.7%</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CRI-89</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C3 case type; the C3 team lists the I-864 as an available attachment for CRI-89</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22,183</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0.3%</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OS-155A</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Immigrant visa record; listed as the I-551 equivalent in C3 on the Sponsors Data Profiling page</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7,661</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I-730, N-565</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Refugee/Asylee Relative Petition; Application for Replacement Naturalization/Citizenship Document</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Unknown</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Receipt number not found in the C3 case table, so the form cannot be identified</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4,492,753</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60.1%</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All C3 I-864 affidavits</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7,471,835</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000" dirty="0">
                <a:solidFill>
                  <a:srgbClr val="595959"/>
                </a:solidFill>
                <a:latin typeface="Calibri" pitchFamily="34" charset="0"/>
                <a:ea typeface="Calibri" pitchFamily="34" charset="-122"/>
                <a:cs typeface="Calibri" pitchFamily="34" charset="-120"/>
              </a:rPr>
              <a:t>How to read this: each row is a form whose receipt an I-864 is filed under. Example: 2,897,346 affidavits (39 of every 100) carry the receipt of an I-485 case. I-864 = Affidavit of Support.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C3 I-864 attached forms: what the data shows</a:t>
            </a:r>
            <a:endParaRPr lang="en-US" sz="2600" dirty="0"/>
          </a:p>
        </p:txBody>
      </p:sp>
      <p:sp>
        <p:nvSpPr>
          <p:cNvPr id="4" name="Text 1"/>
          <p:cNvSpPr txBox="1"/>
          <p:nvPr/>
        </p:nvSpPr>
        <p:spPr>
          <a:xfrm>
            <a:off x="457200" y="960120"/>
            <a:ext cx="8229600" cy="4023360"/>
          </a:xfrm>
          <a:prstGeom prst="rect">
            <a:avLst/>
          </a:prstGeom>
          <a:noFill/>
          <a:ln/>
        </p:spPr>
        <p:txBody>
          <a:bodyPr wrap="square" lIns="0" tIns="0" rIns="0" bIns="0" rtlCol="0" anchor="t"/>
          <a:lstStyle/>
          <a:p>
            <a:pPr marL="152400" indent="-152400">
              <a:spcAft>
                <a:spcPts val="100"/>
              </a:spcAft>
              <a:buSzPct val="100000"/>
              <a:buChar char="•"/>
            </a:pPr>
            <a:r>
              <a:rPr lang="en-US" sz="1300" b="1" dirty="0">
                <a:solidFill>
                  <a:srgbClr val="000000"/>
                </a:solidFill>
                <a:latin typeface="Calibri" pitchFamily="34" charset="0"/>
                <a:ea typeface="Calibri" pitchFamily="34" charset="-122"/>
                <a:cs typeface="Calibri" pitchFamily="34" charset="-120"/>
              </a:rPr>
              <a:t>All 7,471,835 C3 I-864 affidavits are included, whatever form they are attached to</a:t>
            </a:r>
            <a:endParaRPr lang="en-US" sz="1300" dirty="0"/>
          </a:p>
          <a:p>
            <a:pPr indent="0" marL="0">
              <a:spcAft>
                <a:spcPts val="700"/>
              </a:spcAft>
              <a:buNone/>
            </a:pPr>
            <a:r>
              <a:rPr lang="en-US" sz="1200" dirty="0">
                <a:solidFill>
                  <a:srgbClr val="404040"/>
                </a:solidFill>
                <a:latin typeface="Calibri" pitchFamily="34" charset="0"/>
                <a:ea typeface="Calibri" pitchFamily="34" charset="-122"/>
                <a:cs typeface="Calibri" pitchFamily="34" charset="-120"/>
              </a:rPr>
              <a:t>The attached form is recorded for each affidavit and is not used to include or exclude anything. Every count in this deck uses all of them.</a:t>
            </a:r>
            <a:endParaRPr lang="en-US" sz="1300" dirty="0"/>
          </a:p>
          <a:p>
            <a:pPr marL="152400" indent="-152400">
              <a:spcAft>
                <a:spcPts val="100"/>
              </a:spcAft>
              <a:buSzPct val="100000"/>
              <a:buChar char="•"/>
            </a:pPr>
            <a:r>
              <a:rPr lang="en-US" sz="1300" b="1" dirty="0">
                <a:solidFill>
                  <a:srgbClr val="000000"/>
                </a:solidFill>
                <a:latin typeface="Calibri" pitchFamily="34" charset="0"/>
                <a:ea typeface="Calibri" pitchFamily="34" charset="-122"/>
                <a:cs typeface="Calibri" pitchFamily="34" charset="-120"/>
              </a:rPr>
              <a:t>2,897,346 (39 of every 100) are attached to an I-485</a:t>
            </a:r>
            <a:endParaRPr lang="en-US" sz="1300" dirty="0"/>
          </a:p>
          <a:p>
            <a:pPr indent="0" marL="0">
              <a:spcAft>
                <a:spcPts val="700"/>
              </a:spcAft>
              <a:buNone/>
            </a:pPr>
            <a:r>
              <a:rPr lang="en-US" sz="1200" dirty="0">
                <a:solidFill>
                  <a:srgbClr val="404040"/>
                </a:solidFill>
                <a:latin typeface="Calibri" pitchFamily="34" charset="0"/>
                <a:ea typeface="Calibri" pitchFamily="34" charset="-122"/>
                <a:cs typeface="Calibri" pitchFamily="34" charset="-120"/>
              </a:rPr>
              <a:t>The I-485 is the form with the most attached affidavits. 2,350,718 of these carry a usable sponsor SSN.</a:t>
            </a:r>
            <a:endParaRPr lang="en-US" sz="1300" dirty="0"/>
          </a:p>
          <a:p>
            <a:pPr marL="152400" indent="-152400">
              <a:spcAft>
                <a:spcPts val="100"/>
              </a:spcAft>
              <a:buSzPct val="100000"/>
              <a:buChar char="•"/>
            </a:pPr>
            <a:r>
              <a:rPr lang="en-US" sz="1300" b="1" dirty="0">
                <a:solidFill>
                  <a:srgbClr val="000000"/>
                </a:solidFill>
                <a:latin typeface="Calibri" pitchFamily="34" charset="0"/>
                <a:ea typeface="Calibri" pitchFamily="34" charset="-122"/>
                <a:cs typeface="Calibri" pitchFamily="34" charset="-120"/>
              </a:rPr>
              <a:t>81,734 (1 of every 100) are attached to an I-181, CRI-89 or OS-155A</a:t>
            </a:r>
            <a:endParaRPr lang="en-US" sz="1300" dirty="0"/>
          </a:p>
          <a:p>
            <a:pPr indent="0" marL="0">
              <a:spcAft>
                <a:spcPts val="700"/>
              </a:spcAft>
              <a:buNone/>
            </a:pPr>
            <a:r>
              <a:rPr lang="en-US" sz="1200" dirty="0">
                <a:solidFill>
                  <a:srgbClr val="404040"/>
                </a:solidFill>
                <a:latin typeface="Calibri" pitchFamily="34" charset="0"/>
                <a:ea typeface="Calibri" pitchFamily="34" charset="-122"/>
                <a:cs typeface="Calibri" pitchFamily="34" charset="-120"/>
              </a:rPr>
              <a:t>I-181: 51,890. CRI-89: 22,183. OS-155A: 7,661. I-730 and N-565 have 1 each.</a:t>
            </a:r>
            <a:endParaRPr lang="en-US" sz="1300" dirty="0"/>
          </a:p>
          <a:p>
            <a:pPr marL="152400" indent="-152400">
              <a:spcAft>
                <a:spcPts val="100"/>
              </a:spcAft>
              <a:buSzPct val="100000"/>
              <a:buChar char="•"/>
            </a:pPr>
            <a:r>
              <a:rPr lang="en-US" sz="1300" b="1" dirty="0">
                <a:solidFill>
                  <a:srgbClr val="000000"/>
                </a:solidFill>
                <a:latin typeface="Calibri" pitchFamily="34" charset="0"/>
                <a:ea typeface="Calibri" pitchFamily="34" charset="-122"/>
                <a:cs typeface="Calibri" pitchFamily="34" charset="-120"/>
              </a:rPr>
              <a:t>4,492,753 (60 of every 100) are on receipts not found in the C3 case table</a:t>
            </a:r>
            <a:endParaRPr lang="en-US" sz="1300" dirty="0"/>
          </a:p>
          <a:p>
            <a:pPr indent="0" marL="0">
              <a:spcAft>
                <a:spcPts val="700"/>
              </a:spcAft>
              <a:buNone/>
            </a:pPr>
            <a:r>
              <a:rPr lang="en-US" sz="1200" dirty="0">
                <a:solidFill>
                  <a:srgbClr val="404040"/>
                </a:solidFill>
                <a:latin typeface="Calibri" pitchFamily="34" charset="0"/>
                <a:ea typeface="Calibri" pitchFamily="34" charset="-122"/>
                <a:cs typeface="Calibri" pitchFamily="34" charset="-120"/>
              </a:rPr>
              <a:t>For these the form cannot be identified from the case table. They are still counted in every result, and 4,397,774 of them carry a usable sponsor SSN.</a:t>
            </a:r>
            <a:endParaRPr lang="en-US" sz="1300" dirty="0"/>
          </a:p>
          <a:p>
            <a:pPr marL="152400" indent="-152400">
              <a:spcAft>
                <a:spcPts val="100"/>
              </a:spcAft>
              <a:buSzPct val="100000"/>
              <a:buChar char="•"/>
            </a:pPr>
            <a:r>
              <a:rPr lang="en-US" sz="1300" b="1" dirty="0">
                <a:solidFill>
                  <a:srgbClr val="000000"/>
                </a:solidFill>
                <a:latin typeface="Calibri" pitchFamily="34" charset="0"/>
                <a:ea typeface="Calibri" pitchFamily="34" charset="-122"/>
                <a:cs typeface="Calibri" pitchFamily="34" charset="-120"/>
              </a:rPr>
              <a:t>ELIS I-864: all 5,096,864 affidavits are included; attached form not identified</a:t>
            </a:r>
            <a:endParaRPr lang="en-US" sz="1300" dirty="0"/>
          </a:p>
          <a:p>
            <a:pPr indent="0" marL="0">
              <a:spcAft>
                <a:spcPts val="700"/>
              </a:spcAft>
              <a:buNone/>
            </a:pPr>
            <a:r>
              <a:rPr lang="en-US" sz="1200" dirty="0">
                <a:solidFill>
                  <a:srgbClr val="404040"/>
                </a:solidFill>
                <a:latin typeface="Calibri" pitchFamily="34" charset="0"/>
                <a:ea typeface="Calibri" pitchFamily="34" charset="-122"/>
                <a:cs typeface="Calibri" pitchFamily="34" charset="-120"/>
              </a:rPr>
              <a:t>The ELIS extract does not carry the form each affidavit is attached to, so ELIS has no breakdown like the C3 table.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Q2: How many times each sponsor appears</a:t>
            </a:r>
            <a:endParaRPr lang="en-US" sz="2600" dirty="0"/>
          </a:p>
        </p:txBody>
      </p:sp>
      <p:graphicFrame>
        <p:nvGraphicFramePr>
          <p:cNvPr id="4" name="Chart 0" descr=""/>
          <p:cNvGraphicFramePr/>
          <p:nvPr/>
        </p:nvGraphicFramePr>
        <p:xfrm>
          <a:off x="365760" y="914400"/>
          <a:ext cx="438912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937760" y="914400"/>
            <a:ext cx="384048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7,838,022 different SSNs appear on at least one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Each SSN is counted once, however many entries it has, across C3 I-864, ELIS I-864 and C3 I-865. Example: bar '2' = 1,378,437 SSNs on exactly 2 entries.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5,581,094 (71 of every 100) appear on exactly 1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These sponsors have a single entry in the data; there is no second entry of theirs to match against.</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2,256,928 (29 of every 100) appear on 2 or more entries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1,378,437 appear twice, 444,706 three times, 433,785 four or more times. Each of these SSNs has several entries that belong to one sponsor.</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28,133 appear 10+ times; 37 appear more than 50 times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The 37 SSNs with more than 50 entries are excluded from the agreement and pair counts on later slides.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Q2: Sponsors that appear in more than one source</a:t>
            </a:r>
            <a:endParaRPr lang="en-US" sz="2600" dirty="0"/>
          </a:p>
        </p:txBody>
      </p:sp>
      <p:graphicFrame>
        <p:nvGraphicFramePr>
          <p:cNvPr id="4" name="Chart 0" descr=""/>
          <p:cNvGraphicFramePr/>
          <p:nvPr/>
        </p:nvGraphicFramePr>
        <p:xfrm>
          <a:off x="365760" y="914400"/>
          <a:ext cx="4480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029200" y="914400"/>
            <a:ext cx="374904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7,284,596 SSNs (93 of every 100) appear in one source only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4,627,588 only in C3 I-864, 2,563,522 only in ELIS I-864, 93,486 only in C3 I-865. Example: bar 'C3 I-864 + ELIS I-864' = 478,429 SSNs with at least one entry in each.</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553,426 SSNs (7 of every 100) appear in 2 or more sources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478,429 in C3 I-864 and ELIS I-864; 61,417 in C3 I-864 and C3 I-865; 7,605 in C3 I-865 and ELIS I-864; 5,975 in all three.</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492,009 SSNs have entries in both C3 and ELIS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For these sponsors, their entries come from two different source systems.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1,703,502 SSNs appear 2+ times within a single source</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895,047 within C3 I-864 only, 790,368 within ELIS I-864 only, 18,087 within C3 I-865 only.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Q2: Do a sponsor's entries agree on name and DOB?</a:t>
            </a:r>
            <a:endParaRPr lang="en-US" sz="2600" dirty="0"/>
          </a:p>
        </p:txBody>
      </p:sp>
      <p:graphicFrame>
        <p:nvGraphicFramePr>
          <p:cNvPr id="4" name="Chart 0" descr=""/>
          <p:cNvGraphicFramePr/>
          <p:nvPr/>
        </p:nvGraphicFramePr>
        <p:xfrm>
          <a:off x="365760" y="914400"/>
          <a:ext cx="4480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029200" y="914400"/>
            <a:ext cx="374904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326,078 (14 of every 100): same name and same DOB</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Every entry has the same first and last name, and every entry with a DOB has the same DOB. Both fields agree across the SSN's entries.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1,527,916 (68 of every 100): same name, no DOB on any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The names agree on every entry, but no entry has a DOB, so DOB cannot be compared. Example: an SSN on 2 entries, both with the same name and both with DOB blank.</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397,720 (18 of every 100): first or last name differs on at least one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393,599 with a different name and no DOB conflict; 4,121 with both a different name and a different DOB. For these SSNs, the SSN is the field that is the same on every entry.</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5,169: same name, different DOB; 8: no name on any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Base for all groups: 2,256,891 SSNs with 2 to 50 entries.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Q2: Name and DOB agreement by source</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377440"/>
                <a:gridCol w="1371600"/>
                <a:gridCol w="1554480"/>
                <a:gridCol w="1463040"/>
                <a:gridCol w="1463040"/>
              </a:tblGrid>
              <a:tr h="301752">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Where the SSN's entries come from</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SSNs (2+ entries)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Same name + same DOB</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Same name, no DOB</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Name differs*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0175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C3 I-864 only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895,043</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219,768 (25%)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531,394 (59%)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139,371 (16%)</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ELIS I-864 only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790,361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 (0%)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690,601 (87%)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99,760 (13%)</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C3 I-865 only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18,087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164 (1%)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16,202 (90%)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1,721 (10%)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 sources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553,400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106,146 (19%)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289,719 (52%)</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156,868 (28%)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All</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2,256,891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326,078 (14%)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1,527,916 (68%)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397,720 (18%)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2880360"/>
            <a:ext cx="8229600" cy="1737360"/>
          </a:xfrm>
          <a:prstGeom prst="rect">
            <a:avLst/>
          </a:prstGeom>
          <a:noFill/>
          <a:ln/>
        </p:spPr>
        <p:txBody>
          <a:bodyPr wrap="square" lIns="0" tIns="0" rIns="0" bIns="0" rtlCol="0" anchor="t"/>
          <a:lstStyle/>
          <a:p>
            <a:pPr marL="152400" indent="-152400">
              <a:spcAft>
                <a:spcPts val="100"/>
              </a:spcAft>
              <a:buSzPct val="100000"/>
              <a:buChar char="•"/>
            </a:pPr>
            <a:r>
              <a:rPr lang="en-US" sz="1150" b="1" dirty="0">
                <a:solidFill>
                  <a:srgbClr val="000000"/>
                </a:solidFill>
                <a:latin typeface="Calibri" pitchFamily="34" charset="0"/>
                <a:ea typeface="Calibri" pitchFamily="34" charset="-122"/>
                <a:cs typeface="Calibri" pitchFamily="34" charset="-120"/>
              </a:rPr>
              <a:t>ELIS I-864 only: 0 SSNs in 'same name + same DOB'</a:t>
            </a:r>
            <a:endParaRPr lang="en-US" sz="1150" dirty="0"/>
          </a:p>
          <a:p>
            <a:pPr indent="0" marL="0">
              <a:spcAft>
                <a:spcPts val="700"/>
              </a:spcAft>
              <a:buNone/>
            </a:pPr>
            <a:r>
              <a:rPr lang="en-US" sz="1050" dirty="0">
                <a:solidFill>
                  <a:srgbClr val="404040"/>
                </a:solidFill>
                <a:latin typeface="Calibri" pitchFamily="34" charset="0"/>
                <a:ea typeface="Calibri" pitchFamily="34" charset="-122"/>
                <a:cs typeface="Calibri" pitchFamily="34" charset="-120"/>
              </a:rPr>
              <a:t>No ELIS I-864 entry returned a DOB, so DOB agreement cannot be measured for these 790,361 SSNs; 87 of every 100 fall in 'same name, no DOB'.</a:t>
            </a:r>
            <a:endParaRPr lang="en-US" sz="1150" dirty="0"/>
          </a:p>
          <a:p>
            <a:pPr marL="152400" indent="-152400">
              <a:spcAft>
                <a:spcPts val="100"/>
              </a:spcAft>
              <a:buSzPct val="100000"/>
              <a:buChar char="•"/>
            </a:pPr>
            <a:r>
              <a:rPr lang="en-US" sz="1150" b="1" dirty="0">
                <a:solidFill>
                  <a:srgbClr val="000000"/>
                </a:solidFill>
                <a:latin typeface="Calibri" pitchFamily="34" charset="0"/>
                <a:ea typeface="Calibri" pitchFamily="34" charset="-122"/>
                <a:cs typeface="Calibri" pitchFamily="34" charset="-120"/>
              </a:rPr>
              <a:t>2+ sources: 156,868 (28 of every 100) have a name difference, the highest share of any row</a:t>
            </a:r>
            <a:endParaRPr lang="en-US" sz="1150" dirty="0"/>
          </a:p>
          <a:p>
            <a:pPr indent="0" marL="0">
              <a:spcAft>
                <a:spcPts val="700"/>
              </a:spcAft>
              <a:buNone/>
            </a:pPr>
            <a:r>
              <a:rPr lang="en-US" sz="1050" dirty="0">
                <a:solidFill>
                  <a:srgbClr val="404040"/>
                </a:solidFill>
                <a:latin typeface="Calibri" pitchFamily="34" charset="0"/>
                <a:ea typeface="Calibri" pitchFamily="34" charset="-122"/>
                <a:cs typeface="Calibri" pitchFamily="34" charset="-120"/>
              </a:rPr>
              <a:t>C3 I-864 only: 16; ELIS I-864 only: 13; C3 I-865 only: 10 of every 100.</a:t>
            </a:r>
            <a:endParaRPr lang="en-US" sz="1150" dirty="0"/>
          </a:p>
          <a:p>
            <a:pPr marL="152400" indent="-152400">
              <a:spcAft>
                <a:spcPts val="100"/>
              </a:spcAft>
              <a:buSzPct val="100000"/>
              <a:buChar char="•"/>
            </a:pPr>
            <a:r>
              <a:rPr lang="en-US" sz="1150" b="1" dirty="0">
                <a:solidFill>
                  <a:srgbClr val="000000"/>
                </a:solidFill>
                <a:latin typeface="Calibri" pitchFamily="34" charset="0"/>
                <a:ea typeface="Calibri" pitchFamily="34" charset="-122"/>
                <a:cs typeface="Calibri" pitchFamily="34" charset="-120"/>
              </a:rPr>
              <a:t>C3 I-864 only has the largest DOB-confirmed group: 219,768 (25 of every 100)</a:t>
            </a:r>
            <a:endParaRPr lang="en-US" sz="1150" dirty="0"/>
          </a:p>
          <a:p>
            <a:pPr indent="0" marL="0">
              <a:spcAft>
                <a:spcPts val="700"/>
              </a:spcAft>
              <a:buNone/>
            </a:pPr>
            <a:r>
              <a:rPr lang="en-US" sz="1050" dirty="0">
                <a:solidFill>
                  <a:srgbClr val="404040"/>
                </a:solidFill>
                <a:latin typeface="Calibri" pitchFamily="34" charset="0"/>
                <a:ea typeface="Calibri" pitchFamily="34" charset="-122"/>
                <a:cs typeface="Calibri" pitchFamily="34" charset="-120"/>
              </a:rPr>
              <a:t>Example of reading a row: of 895,043 SSNs whose entries are all in C3 I-864, 219,768 agree on name and DOB, 531,394 agree on name with no DOB, 139,371 have a name difference.</a:t>
            </a:r>
            <a:endParaRPr lang="en-US" sz="1150" dirty="0"/>
          </a:p>
        </p:txBody>
      </p:sp>
      <p:sp>
        <p:nvSpPr>
          <p:cNvPr id="6" name="Text 2"/>
          <p:cNvSpPr txBox="1"/>
          <p:nvPr/>
        </p:nvSpPr>
        <p:spPr>
          <a:xfrm>
            <a:off x="457200" y="4663440"/>
            <a:ext cx="8229600" cy="411480"/>
          </a:xfrm>
          <a:prstGeom prst="rect">
            <a:avLst/>
          </a:prstGeom>
          <a:noFill/>
          <a:ln/>
        </p:spPr>
        <p:txBody>
          <a:bodyPr wrap="square" lIns="0" tIns="0" rIns="0" bIns="0" rtlCol="0" anchor="t"/>
          <a:lstStyle/>
          <a:p>
            <a:pPr indent="0" marL="0">
              <a:buNone/>
            </a:pPr>
            <a:r>
              <a:rPr lang="en-US" sz="1000" dirty="0">
                <a:solidFill>
                  <a:srgbClr val="595959"/>
                </a:solidFill>
                <a:latin typeface="Calibri" pitchFamily="34" charset="0"/>
                <a:ea typeface="Calibri" pitchFamily="34" charset="-122"/>
                <a:cs typeface="Calibri" pitchFamily="34" charset="-120"/>
              </a:rPr>
              <a:t>* Name differs includes 'name and DOB differ'. Not shown: same name with DOB differs (5,169) and name missing (8).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Same name and DOB, different SSN</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206240" cy="914400"/>
        </p:xfrm>
        <a:graphic>
          <a:graphicData uri="http://schemas.openxmlformats.org/drawingml/2006/table">
            <a:tbl>
              <a:tblPr/>
              <a:tblGrid>
                <a:gridCol w="3108960"/>
                <a:gridCol w="1097280"/>
              </a:tblGrid>
              <a:tr h="36576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Count</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Name + DOB combinations (entries with both)</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1,580,835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Combinations with 2+ different SSNs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6,580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Different SSNs in those combinations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13,249</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Sponsor entries in those combinations</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15,697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Combinations mixing entries with and without an SSN</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544</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Combinations where no entry has an SSN</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4,682</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937760" y="914400"/>
            <a:ext cx="384048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1,580,835 name + DOB combinations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One combination = one exact first name, last name and DOB. Only entries with both a usable name and a usable DOB are included; entries without a DOB are not in any count on this slide.</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6,580 combinations appear with 2+ different SSNs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13,249 SSNs and 15,697 entries. In each, the first name, last name and DOB are identical while the SSN differs. Name and DOB alone do not separate these SSNs.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544 combinations mix entries with and without an SSN</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At least one entry in each has no usable SSN, so it can only be compared to the others on name and DOB.</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4,682 combinations have no SSN on any entry</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All entries in these combinations can only be compared on name and DOB.</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PCIS party records with sponsor data: what was found</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920240"/>
                <a:gridCol w="3566160"/>
                <a:gridCol w="2743200"/>
              </a:tblGrid>
              <a:tr h="347472">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Schema</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Table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Sponsor columns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34747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pcis_metadata</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upsert_party_c3</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c3_sponsor_dob_ssns, c3_sponsor_addresses (lists)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pcis_metadata</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upsert_party_elis2</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sponsor_name, sponsor_address (lists)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pcis_conformance (and _stage)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party_sponsor_name / _identifier / _dob / _address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sponsor_*_hx_id</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pcis_metadata</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prod_v2_c3_pcis_sponsor_dob_ssn, prod_v2_c3_pcis_sponsor_address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sponsor_id_for_key, sponsor_type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pcis_metadata</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prod_v2_elis_sponsor_name / _address / _details</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sponsor_id_for_key, sponsor_type</a:t>
                      </a:r>
                      <a:endParaRPr lang="en-US" sz="100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154680"/>
            <a:ext cx="8229600" cy="1737360"/>
          </a:xfrm>
          <a:prstGeom prst="rect">
            <a:avLst/>
          </a:prstGeom>
          <a:noFill/>
          <a:ln/>
        </p:spPr>
        <p:txBody>
          <a:bodyPr wrap="square" lIns="0" tIns="0" rIns="0" bIns="0" rtlCol="0" anchor="t"/>
          <a:lstStyle/>
          <a:p>
            <a:pPr marL="152400" indent="-152400">
              <a:spcAft>
                <a:spcPts val="100"/>
              </a:spcAft>
              <a:buSzPct val="100000"/>
              <a:buChar char="•"/>
            </a:pPr>
            <a:r>
              <a:rPr lang="en-US" sz="1200" b="1" dirty="0">
                <a:solidFill>
                  <a:srgbClr val="000000"/>
                </a:solidFill>
                <a:latin typeface="Calibri" pitchFamily="34" charset="0"/>
                <a:ea typeface="Calibri" pitchFamily="34" charset="-122"/>
                <a:cs typeface="Calibri" pitchFamily="34" charset="-120"/>
              </a:rPr>
              <a:t>PCIS tables with sponsor columns exist for both C3 and ELIS</a:t>
            </a:r>
            <a:endParaRPr lang="en-US" sz="1200" dirty="0"/>
          </a:p>
          <a:p>
            <a:pPr indent="0" marL="0">
              <a:spcAft>
                <a:spcPts val="700"/>
              </a:spcAft>
              <a:buNone/>
            </a:pPr>
            <a:r>
              <a:rPr lang="en-US" sz="1100" dirty="0">
                <a:solidFill>
                  <a:srgbClr val="404040"/>
                </a:solidFill>
                <a:latin typeface="Calibri" pitchFamily="34" charset="0"/>
                <a:ea typeface="Calibri" pitchFamily="34" charset="-122"/>
                <a:cs typeface="Calibri" pitchFamily="34" charset="-120"/>
              </a:rPr>
              <a:t>Sponsor SSN, DOB, name and address appear in pcis_metadata and pcis_conformance tables.</a:t>
            </a:r>
            <a:endParaRPr lang="en-US" sz="1200" dirty="0"/>
          </a:p>
          <a:p>
            <a:pPr marL="152400" indent="-152400">
              <a:spcAft>
                <a:spcPts val="100"/>
              </a:spcAft>
              <a:buSzPct val="100000"/>
              <a:buChar char="•"/>
            </a:pPr>
            <a:r>
              <a:rPr lang="en-US" sz="1200" b="1" dirty="0">
                <a:solidFill>
                  <a:srgbClr val="000000"/>
                </a:solidFill>
                <a:latin typeface="Calibri" pitchFamily="34" charset="0"/>
                <a:ea typeface="Calibri" pitchFamily="34" charset="-122"/>
                <a:cs typeface="Calibri" pitchFamily="34" charset="-120"/>
              </a:rPr>
              <a:t>upsert_party_c3 was selected; none of its columns matched the PCIS record id</a:t>
            </a:r>
            <a:endParaRPr lang="en-US" sz="1200" dirty="0"/>
          </a:p>
          <a:p>
            <a:pPr indent="0" marL="0">
              <a:spcAft>
                <a:spcPts val="700"/>
              </a:spcAft>
              <a:buNone/>
            </a:pPr>
            <a:r>
              <a:rPr lang="en-US" sz="1100" dirty="0">
                <a:solidFill>
                  <a:srgbClr val="404040"/>
                </a:solidFill>
                <a:latin typeface="Calibri" pitchFamily="34" charset="0"/>
                <a:ea typeface="Calibri" pitchFamily="34" charset="-122"/>
                <a:cs typeface="Calibri" pitchFamily="34" charset="-120"/>
              </a:rPr>
              <a:t>Without that match, the sponsors in these tables could not be connected to PCIS identities, so this part produced no results and the next slides use only sponsors found through their own I-865 receipt.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Q3: Status quo in PCIS for the sponsors found</a:t>
            </a:r>
            <a:endParaRPr lang="en-US" sz="2600" dirty="0"/>
          </a:p>
        </p:txBody>
      </p:sp>
      <p:graphicFrame>
        <p:nvGraphicFramePr>
          <p:cNvPr id="4" name="Chart 0" descr=""/>
          <p:cNvGraphicFramePr/>
          <p:nvPr/>
        </p:nvGraphicFramePr>
        <p:xfrm>
          <a:off x="365760" y="914400"/>
          <a:ext cx="329184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3840480" y="914400"/>
            <a:ext cx="493776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17,227 sponsors found in PCIS, with 18,065 PCIS records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Found by matching the receipt on each sponsor's own I-865 entry to the receipt in the PCIS record id. Sponsors on C3 I-864 and ELIS I-864 entries are included only if they also have an I-865 found this way.</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761 sponsors have 2 or more PCIS records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Only sponsors with 2+ records can be linked or split; the other 16,466 have 1 PCIS record. The pie shows these 761.</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726 (95.4%) linked; 35 (4.6%) split</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Linked: every PCIS record of the sponsor carries the same identity number. Split: the records carry 2 or more identity numbers. Measured at the 0.98 threshold in use.</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The 10/05 run found 17,136 sponsors with 2+ PCIS records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This run found 761 with the same receipt logic. The difference has not been explained yet.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Q3: Scores between the split records</a:t>
            </a:r>
            <a:endParaRPr lang="en-US" sz="2600" dirty="0"/>
          </a:p>
        </p:txBody>
      </p:sp>
      <p:graphicFrame>
        <p:nvGraphicFramePr>
          <p:cNvPr id="4" name="Chart 0" descr=""/>
          <p:cNvGraphicFramePr/>
          <p:nvPr/>
        </p:nvGraphicFramePr>
        <p:xfrm>
          <a:off x="365760" y="914400"/>
          <a:ext cx="4206240" cy="38404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754880" y="914400"/>
            <a:ext cx="4023360" cy="4114800"/>
          </a:xfrm>
          <a:prstGeom prst="rect">
            <a:avLst/>
          </a:prstGeom>
          <a:noFill/>
          <a:ln/>
        </p:spPr>
        <p:txBody>
          <a:bodyPr wrap="square" lIns="0" tIns="0" rIns="0" bIns="0" rtlCol="0" anchor="t"/>
          <a:lstStyle/>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55 split pairs from 35 split sponsors</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A split pair is 2 records with the same SSN in different identities. Each bar groups the pairs by the score PCIS stored between the 2 records.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44 pairs (80%): no stored score</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PCIS has no score between these 2 records in either direction. A threshold is applied to a score, so no threshold value changes these 44 pairs.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10 pairs (18%): stored score 0.98 or higher</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These scores are at or above the 0.98 threshold in use, and the 2 records are still in different identities.</a:t>
            </a:r>
            <a:endParaRPr lang="en-US" sz="1100" dirty="0"/>
          </a:p>
          <a:p>
            <a:pPr marL="152400" indent="-152400">
              <a:spcAft>
                <a:spcPts val="100"/>
              </a:spcAft>
              <a:buSzPct val="100000"/>
              <a:buChar char="•"/>
            </a:pPr>
            <a:r>
              <a:rPr lang="en-US" sz="1100" b="1" dirty="0">
                <a:solidFill>
                  <a:srgbClr val="000000"/>
                </a:solidFill>
                <a:latin typeface="Calibri" pitchFamily="34" charset="0"/>
                <a:ea typeface="Calibri" pitchFamily="34" charset="-122"/>
                <a:cs typeface="Calibri" pitchFamily="34" charset="-120"/>
              </a:rPr>
              <a:t>1 pair below 0.90; 0 pairs between 0.90 and 0.98</a:t>
            </a:r>
            <a:endParaRPr lang="en-US" sz="1100" dirty="0"/>
          </a:p>
          <a:p>
            <a:pPr indent="0" marL="0">
              <a:spcAft>
                <a:spcPts val="700"/>
              </a:spcAft>
              <a:buNone/>
            </a:pPr>
            <a:r>
              <a:rPr lang="en-US" sz="1000" dirty="0">
                <a:solidFill>
                  <a:srgbClr val="404040"/>
                </a:solidFill>
                <a:latin typeface="Calibri" pitchFamily="34" charset="0"/>
                <a:ea typeface="Calibri" pitchFamily="34" charset="-122"/>
                <a:cs typeface="Calibri" pitchFamily="34" charset="-120"/>
              </a:rPr>
              <a:t>Lowering the threshold to 0.95 or 0.90 only affects pairs scoring between 0.90 and 0.98. There are none.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Q3: What each threshold policy would change</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194560"/>
                <a:gridCol w="1828800"/>
                <a:gridCol w="1097280"/>
                <a:gridCol w="2011680"/>
                <a:gridCol w="1097280"/>
              </a:tblGrid>
              <a:tr h="29260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Same-SSN split pairs at or above threshold</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Added vs today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Different-SSN pairs at or above threshold</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Added vs today</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7E6E6"/>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Current: 0.98 for every pair</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Top-down</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Bottom-up</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Custom</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Flat 0.95</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Flat 0.90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36576" marB="36576"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108960"/>
            <a:ext cx="8229600" cy="1828800"/>
          </a:xfrm>
          <a:prstGeom prst="rect">
            <a:avLst/>
          </a:prstGeom>
          <a:noFill/>
          <a:ln/>
        </p:spPr>
        <p:txBody>
          <a:bodyPr wrap="square" lIns="0" tIns="0" rIns="0" bIns="0" rtlCol="0" anchor="t"/>
          <a:lstStyle/>
          <a:p>
            <a:pPr marL="152400" indent="-152400">
              <a:spcAft>
                <a:spcPts val="100"/>
              </a:spcAft>
              <a:buSzPct val="100000"/>
              <a:buChar char="•"/>
            </a:pPr>
            <a:r>
              <a:rPr lang="en-US" sz="1250" b="1" dirty="0">
                <a:solidFill>
                  <a:srgbClr val="000000"/>
                </a:solidFill>
                <a:latin typeface="Calibri" pitchFamily="34" charset="0"/>
                <a:ea typeface="Calibri" pitchFamily="34" charset="-122"/>
                <a:cs typeface="Calibri" pitchFamily="34" charset="-120"/>
              </a:rPr>
              <a:t>Same-SSN split pairs at or above threshold: 10 under every policy</a:t>
            </a:r>
            <a:endParaRPr lang="en-US" sz="1250" dirty="0"/>
          </a:p>
          <a:p>
            <a:pPr indent="0" marL="0">
              <a:spcAft>
                <a:spcPts val="700"/>
              </a:spcAft>
              <a:buNone/>
            </a:pPr>
            <a:r>
              <a:rPr lang="en-US" sz="1150" dirty="0">
                <a:solidFill>
                  <a:srgbClr val="404040"/>
                </a:solidFill>
                <a:latin typeface="Calibri" pitchFamily="34" charset="0"/>
                <a:ea typeface="Calibri" pitchFamily="34" charset="-122"/>
                <a:cs typeface="Calibri" pitchFamily="34" charset="-120"/>
              </a:rPr>
              <a:t>These are the 10 pairs already at 0.98+. No policy adds a same-SSN pair, because no split pair scores between 0.90 and 0.98.</a:t>
            </a:r>
            <a:endParaRPr lang="en-US" sz="1250" dirty="0"/>
          </a:p>
          <a:p>
            <a:pPr marL="152400" indent="-152400">
              <a:spcAft>
                <a:spcPts val="100"/>
              </a:spcAft>
              <a:buSzPct val="100000"/>
              <a:buChar char="•"/>
            </a:pPr>
            <a:r>
              <a:rPr lang="en-US" sz="1250" b="1" dirty="0">
                <a:solidFill>
                  <a:srgbClr val="000000"/>
                </a:solidFill>
                <a:latin typeface="Calibri" pitchFamily="34" charset="0"/>
                <a:ea typeface="Calibri" pitchFamily="34" charset="-122"/>
                <a:cs typeface="Calibri" pitchFamily="34" charset="-120"/>
              </a:rPr>
              <a:t>Different-SSN pairs at or above threshold: 7 today, 8 at 0.95 and 0.90</a:t>
            </a:r>
            <a:endParaRPr lang="en-US" sz="1250" dirty="0"/>
          </a:p>
          <a:p>
            <a:pPr indent="0" marL="0">
              <a:spcAft>
                <a:spcPts val="700"/>
              </a:spcAft>
              <a:buNone/>
            </a:pPr>
            <a:r>
              <a:rPr lang="en-US" sz="1150" dirty="0">
                <a:solidFill>
                  <a:srgbClr val="404040"/>
                </a:solidFill>
                <a:latin typeface="Calibri" pitchFamily="34" charset="0"/>
                <a:ea typeface="Calibri" pitchFamily="34" charset="-122"/>
                <a:cs typeface="Calibri" pitchFamily="34" charset="-120"/>
              </a:rPr>
              <a:t>A different-SSN pair is 2 records with different SSNs. One such pair scores between 0.95 and 0.98, so it is added at 0.95 and stays added at 0.90.</a:t>
            </a:r>
            <a:endParaRPr lang="en-US" sz="1250" dirty="0"/>
          </a:p>
          <a:p>
            <a:pPr marL="152400" indent="-152400">
              <a:spcAft>
                <a:spcPts val="100"/>
              </a:spcAft>
              <a:buSzPct val="100000"/>
              <a:buChar char="•"/>
            </a:pPr>
            <a:r>
              <a:rPr lang="en-US" sz="1250" b="1" dirty="0">
                <a:solidFill>
                  <a:srgbClr val="000000"/>
                </a:solidFill>
                <a:latin typeface="Calibri" pitchFamily="34" charset="0"/>
                <a:ea typeface="Calibri" pitchFamily="34" charset="-122"/>
                <a:cs typeface="Calibri" pitchFamily="34" charset="-120"/>
              </a:rPr>
              <a:t>Top-down, bottom-up and custom equal current</a:t>
            </a:r>
            <a:endParaRPr lang="en-US" sz="1250" dirty="0"/>
          </a:p>
          <a:p>
            <a:pPr indent="0" marL="0">
              <a:spcAft>
                <a:spcPts val="700"/>
              </a:spcAft>
              <a:buNone/>
            </a:pPr>
            <a:r>
              <a:rPr lang="en-US" sz="1150" dirty="0">
                <a:solidFill>
                  <a:srgbClr val="404040"/>
                </a:solidFill>
                <a:latin typeface="Calibri" pitchFamily="34" charset="0"/>
                <a:ea typeface="Calibri" pitchFamily="34" charset="-122"/>
                <a:cs typeface="Calibri" pitchFamily="34" charset="-120"/>
              </a:rPr>
              <a:t>All records in this result are C3, and C3's threshold is 0.98 under each of these policies.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Where the threshold values come from</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Source: Confluence "2026 09 - All Systems Threshold Combinations and Analysis"</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Threshold in use today: 0.98 for every pair</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Proposed per-system thresholds: ar11, camino, c3, c4 = 0.98; cis2, elis, global = 0.95; cpms = 0.90</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Rules for a pair of records from 2 different systems:</a:t>
            </a:r>
            <a:endParaRPr lang="en-US" sz="1300" dirty="0"/>
          </a:p>
          <a:p>
            <a:pPr lvl="1" marL="406400" indent="-2032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Top-down: the higher of the two systems' thresholds</a:t>
            </a:r>
            <a:endParaRPr lang="en-US" sz="1300" dirty="0"/>
          </a:p>
          <a:p>
            <a:pPr lvl="1" marL="406400" indent="-2032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Bottom-up: the lower of the two</a:t>
            </a:r>
            <a:endParaRPr lang="en-US" sz="1300" dirty="0"/>
          </a:p>
          <a:p>
            <a:pPr lvl="1" marL="406400" indent="-2032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Custom: bottom-up, but CPMS vs CIS2 or ELIS uses 0.95</a:t>
            </a:r>
            <a:endParaRPr lang="en-US" sz="1300" dirty="0"/>
          </a:p>
          <a:p>
            <a:pPr lvl="1" marL="406400" indent="-2032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Flat 0.95 / 0.90: one value for every pair</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Example: a C3 record (0.98) and an ELIS record (0.95) use 0.98 under top-down and 0.95 under bottom-up</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The PCIS results in this deck are C3 vs C3 only, so every rule gives 0.98</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492,009 SSNs in the source data have entries in both C3 and ELIS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Data checks and open items from this run</a:t>
            </a:r>
            <a:endParaRPr lang="en-US" sz="2600" dirty="0"/>
          </a:p>
        </p:txBody>
      </p:sp>
      <p:sp>
        <p:nvSpPr>
          <p:cNvPr id="3" name="Text 1"/>
          <p:cNvSpPr txBox="1"/>
          <p:nvPr/>
        </p:nvSpPr>
        <p:spPr>
          <a:xfrm>
            <a:off x="457200" y="960120"/>
            <a:ext cx="8229600" cy="39319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ELIS I-134 (coe.sponsorinfo1) failed on a column name; I-134 sponsors are not in any result</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ELIS I-864 returned no DOB for any of its 5,096,864 entries</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PCIS party records: no column in upsert_party_c3 matched the PCIS record id, so that part produced no results</a:t>
            </a:r>
            <a:endParaRPr lang="en-US" sz="1300" dirty="0"/>
          </a:p>
          <a:p>
            <a:pPr lvl="1" marL="406400" indent="-203200">
              <a:spcAft>
                <a:spcPts val="400"/>
              </a:spcAft>
              <a:buSzPct val="100000"/>
              <a:buChar char="•"/>
            </a:pPr>
            <a:r>
              <a:rPr lang="en-US" sz="1150" dirty="0">
                <a:solidFill>
                  <a:srgbClr val="595959"/>
                </a:solidFill>
                <a:latin typeface="Calibri" pitchFamily="34" charset="0"/>
                <a:ea typeface="Calibri" pitchFamily="34" charset="-122"/>
                <a:cs typeface="Calibri" pitchFamily="34" charset="-120"/>
              </a:rPr>
              <a:t>Tables found with sponsor columns: upsert_party_c3, upsert_party_elis2, pcis_conformance party_sponsor_*, prod_v2_*_sponsor_*</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The PCIS status quo covers only sponsors found through their own I-865 receipt</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Status quo counts differ from the 10/05 run: 761 vs 17,136 sponsors with 2+ PCIS records; 18,065 PCIS records vs 123,889 receipts found on 10/05</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4,492,753 C3 I-864 affidavits (60%) are on receipts not in the C3 case table; they are included, but their form is not identified</a:t>
            </a:r>
            <a:endParaRPr lang="en-US" sz="1300" dirty="0"/>
          </a:p>
          <a:p>
            <a:pPr marL="177800" indent="-177800">
              <a:spcAft>
                <a:spcPts val="400"/>
              </a:spcAft>
              <a:buSzPct val="100000"/>
              <a:buChar char="•"/>
            </a:pPr>
            <a:r>
              <a:rPr lang="en-US" sz="1300" dirty="0">
                <a:solidFill>
                  <a:srgbClr val="000000"/>
                </a:solidFill>
                <a:latin typeface="Calibri" pitchFamily="34" charset="0"/>
                <a:ea typeface="Calibri" pitchFamily="34" charset="-122"/>
                <a:cs typeface="Calibri" pitchFamily="34" charset="-120"/>
              </a:rPr>
              <a:t>37 SSNs appear more than 50 times and are excluded from the agreement and pair counts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IDEN-45868 Sponsor Identity Study - All Sponsor Sources</dc:title>
  <dc:subject>PptxGenJS Presentation</dc:subject>
  <dc:creator>PptxGenJS</dc:creator>
  <cp:lastModifiedBy>PptxGenJS</cp:lastModifiedBy>
  <cp:revision>1</cp:revision>
  <dcterms:created xsi:type="dcterms:W3CDTF">2026-10-27T16:27:13Z</dcterms:created>
  <dcterms:modified xsi:type="dcterms:W3CDTF">2026-10-27T16:27:13Z</dcterms:modified>
</cp:coreProperties>
</file>