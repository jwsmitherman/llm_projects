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6.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count</c:v>
                </c:pt>
              </c:strCache>
            </c:strRef>
          </c:tx>
          <c:spPr>
            <a:solidFill>
              <a:srgbClr val="4472C4"/>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All receipts</c:v>
                  </c:pt>
                  <c:pt idx="1">
                    <c:v>Valid SSN</c:v>
                  </c:pt>
                  <c:pt idx="2">
                    <c:v>With DOB</c:v>
                  </c:pt>
                  <c:pt idx="3">
                    <c:v>In PCIS</c:v>
                  </c:pt>
                  <c:pt idx="4">
                    <c:v>In PCIS + SSN</c:v>
                  </c:pt>
                </c:lvl>
              </c:multiLvlStrCache>
            </c:multiLvlStrRef>
          </c:cat>
          <c:val>
            <c:numRef>
              <c:f>Sheet1!$B$2:$B$6</c:f>
              <c:numCache>
                <c:formatCode>General</c:formatCode>
                <c:ptCount val="5"/>
                <c:pt idx="0">
                  <c:v>285246</c:v>
                </c:pt>
                <c:pt idx="1">
                  <c:v>215336</c:v>
                </c:pt>
                <c:pt idx="2">
                  <c:v>1695</c:v>
                </c:pt>
                <c:pt idx="3">
                  <c:v>123889</c:v>
                </c:pt>
                <c:pt idx="4">
                  <c:v>116132</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95959"/>
                    </a:solidFill>
                    <a:latin typeface="Arial"/>
                  </a:defRPr>
                </a:pPr>
                <a:r>
                  <a:rPr sz="1000" b="0" i="0" u="none" strike="noStrike">
                    <a:solidFill>
                      <a:srgbClr val="595959"/>
                    </a:solidFill>
                    <a:latin typeface="Arial"/>
                  </a:rPr>
                  <a:t>Condition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title>
          <c:tx>
            <c:rich>
              <a:bodyPr/>
              <a:lstStyle/>
              <a:p>
                <a:pPr>
                  <a:defRPr sz="1000" b="0" i="0" u="none" strike="noStrike">
                    <a:solidFill>
                      <a:srgbClr val="595959"/>
                    </a:solidFill>
                    <a:latin typeface="Arial"/>
                  </a:defRPr>
                </a:pPr>
                <a:r>
                  <a:rPr sz="1000" b="0" i="0" u="none" strike="noStrike">
                    <a:solidFill>
                      <a:srgbClr val="595959"/>
                    </a:solidFill>
                    <a:latin typeface="Arial"/>
                  </a:rPr>
                  <a:t>I-865 receipts</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count</c:v>
                </c:pt>
              </c:strCache>
            </c:strRef>
          </c:tx>
          <c:spPr>
            <a:solidFill>
              <a:srgbClr val="4472C4"/>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135789</c:v>
                </c:pt>
                <c:pt idx="1">
                  <c:v>23465</c:v>
                </c:pt>
                <c:pt idx="2">
                  <c:v>6193</c:v>
                </c:pt>
                <c:pt idx="3">
                  <c:v>1939</c:v>
                </c:pt>
                <c:pt idx="4">
                  <c:v>642</c:v>
                </c:pt>
                <c:pt idx="5">
                  <c:v>262</c:v>
                </c:pt>
                <c:pt idx="6">
                  <c:v>118</c:v>
                </c:pt>
                <c:pt idx="7">
                  <c:v>38</c:v>
                </c:pt>
                <c:pt idx="8">
                  <c:v>21</c:v>
                </c:pt>
                <c:pt idx="9">
                  <c:v>16</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95959"/>
                    </a:solidFill>
                    <a:latin typeface="Arial"/>
                  </a:defRPr>
                </a:pPr>
                <a:r>
                  <a:rPr sz="1000" b="0" i="0" u="none" strike="noStrike">
                    <a:solidFill>
                      <a:srgbClr val="595959"/>
                    </a:solidFill>
                    <a:latin typeface="Arial"/>
                  </a:rPr>
                  <a:t>I-865 filings per sponsor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title>
          <c:tx>
            <c:rich>
              <a:bodyPr/>
              <a:lstStyle/>
              <a:p>
                <a:pPr>
                  <a:defRPr sz="1000" b="0" i="0" u="none" strike="noStrike">
                    <a:solidFill>
                      <a:srgbClr val="595959"/>
                    </a:solidFill>
                    <a:latin typeface="Arial"/>
                  </a:defRPr>
                </a:pPr>
                <a:r>
                  <a:rPr sz="1000" b="0" i="0" u="none" strike="noStrike">
                    <a:solidFill>
                      <a:srgbClr val="595959"/>
                    </a:solidFill>
                    <a:latin typeface="Arial"/>
                  </a:rPr>
                  <a:t>Sponsors</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count</c:v>
                </c:pt>
              </c:strCache>
            </c:strRef>
          </c:tx>
          <c:spPr>
            <a:solidFill>
              <a:srgbClr val="4472C4"/>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v0.0.116</c:v>
                  </c:pt>
                  <c:pt idx="1">
                    <c:v>v1.0.1</c:v>
                  </c:pt>
                  <c:pt idx="2">
                    <c:v>v1.0.0</c:v>
                  </c:pt>
                  <c:pt idx="3">
                    <c:v>vNone</c:v>
                  </c:pt>
                  <c:pt idx="4">
                    <c:v>v0.0.117</c:v>
                  </c:pt>
                </c:lvl>
              </c:multiLvlStrCache>
            </c:multiLvlStrRef>
          </c:cat>
          <c:val>
            <c:numRef>
              <c:f>Sheet1!$B$2:$B$6</c:f>
              <c:numCache>
                <c:formatCode>General</c:formatCode>
                <c:ptCount val="5"/>
                <c:pt idx="0">
                  <c:v>116726</c:v>
                </c:pt>
                <c:pt idx="1">
                  <c:v>3697</c:v>
                </c:pt>
                <c:pt idx="2">
                  <c:v>2913</c:v>
                </c:pt>
                <c:pt idx="3">
                  <c:v>501</c:v>
                </c:pt>
                <c:pt idx="4">
                  <c:v>210</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95959"/>
                    </a:solidFill>
                    <a:latin typeface="Arial"/>
                  </a:defRPr>
                </a:pPr>
                <a:r>
                  <a:rPr sz="1000" b="0" i="0" u="none" strike="noStrike">
                    <a:solidFill>
                      <a:srgbClr val="595959"/>
                    </a:solidFill>
                    <a:latin typeface="Arial"/>
                  </a:rPr>
                  <a:t>Model version (rule_name)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title>
          <c:tx>
            <c:rich>
              <a:bodyPr/>
              <a:lstStyle/>
              <a:p>
                <a:pPr>
                  <a:defRPr sz="1000" b="0" i="0" u="none" strike="noStrike">
                    <a:solidFill>
                      <a:srgbClr val="595959"/>
                    </a:solidFill>
                    <a:latin typeface="Arial"/>
                  </a:defRPr>
                </a:pPr>
                <a:r>
                  <a:rPr sz="1000" b="0" i="0" u="none" strike="noStrike">
                    <a:solidFill>
                      <a:srgbClr val="595959"/>
                    </a:solidFill>
                    <a:latin typeface="Arial"/>
                  </a:rPr>
                  <a:t>I-865 receipts</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4472C4"/>
              </a:solidFill>
              <a:effectLst/>
            </c:spPr>
          </c:dPt>
          <c:dPt>
            <c:idx val="1"/>
            <c:bubble3D val="0"/>
            <c:spPr>
              <a:solidFill>
                <a:srgbClr val="C00000"/>
              </a:solidFill>
              <a:effectLst/>
            </c:spPr>
          </c:dPt>
          <c:dLbls>
            <c:dLbl>
              <c:idx val="0"/>
              <c:numFmt formatCode="0.0%" sourceLinked="0"/>
              <c:spPr/>
              <c:txPr>
                <a:bodyPr/>
                <a:lstStyle/>
                <a:p>
                  <a:pPr>
                    <a:defRPr sz="1100" b="0" i="0" u="none" strike="noStrike">
                      <a:solidFill>
                        <a:srgbClr val="000000"/>
                      </a:solidFill>
                      <a:latin typeface="Arial"/>
                    </a:defRPr>
                  </a:pPr>
                </a:p>
              </c:txPr>
              <c:showLegendKey val="0"/>
              <c:showVal val="0"/>
              <c:showCatName val="0"/>
              <c:showSerName val="0"/>
              <c:showPercent val="1"/>
              <c:showBubbleSize val="0"/>
            </c:dLbl>
            <c:dLbl>
              <c:idx val="1"/>
              <c:numFmt formatCode="0.0%" sourceLinked="0"/>
              <c:spPr/>
              <c:txPr>
                <a:bodyPr/>
                <a:lstStyle/>
                <a:p>
                  <a:pPr>
                    <a:defRPr sz="1100" b="0" i="0" u="none" strike="noStrike">
                      <a:solidFill>
                        <a:srgbClr val="000000"/>
                      </a:solidFill>
                      <a:latin typeface="Arial"/>
                    </a:defRPr>
                  </a:pPr>
                </a:p>
              </c:txPr>
              <c:showLegendKey val="0"/>
              <c:showVal val="0"/>
              <c:showCatName val="0"/>
              <c:showSerName val="0"/>
              <c:showPercent val="1"/>
              <c:showBubbleSize val="0"/>
            </c:dLbl>
            <c:numFmt formatCode="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Linked</c:v>
                </c:pt>
                <c:pt idx="1">
                  <c:v>Split</c:v>
                </c:pt>
              </c:strCache>
            </c:strRef>
          </c:cat>
          <c:val>
            <c:numRef>
              <c:f>Sheet1!$B$2:$B$3</c:f>
              <c:numCache>
                <c:ptCount val="2"/>
                <c:pt idx="0">
                  <c:v>17010</c:v>
                </c:pt>
                <c:pt idx="1">
                  <c:v>126</c:v>
                </c:pt>
              </c:numCache>
            </c:numRef>
          </c:val>
        </c:ser>
        <c:firstSliceAng val="0"/>
      </c:pieChart>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count</c:v>
                </c:pt>
              </c:strCache>
            </c:strRef>
          </c:tx>
          <c:spPr>
            <a:solidFill>
              <a:srgbClr val="4472C4"/>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Never compared</c:v>
                  </c:pt>
                  <c:pt idx="1">
                    <c:v>0.98+</c:v>
                  </c:pt>
                  <c:pt idx="2">
                    <c:v>0.95-0.98</c:v>
                  </c:pt>
                  <c:pt idx="3">
                    <c:v>0.90-0.95</c:v>
                  </c:pt>
                  <c:pt idx="4">
                    <c:v>Below 0.90</c:v>
                  </c:pt>
                </c:lvl>
              </c:multiLvlStrCache>
            </c:multiLvlStrRef>
          </c:cat>
          <c:val>
            <c:numRef>
              <c:f>Sheet1!$B$2:$B$6</c:f>
              <c:numCache>
                <c:formatCode>General</c:formatCode>
                <c:ptCount val="5"/>
                <c:pt idx="0">
                  <c:v>2135</c:v>
                </c:pt>
                <c:pt idx="1">
                  <c:v>853</c:v>
                </c:pt>
                <c:pt idx="2">
                  <c:v>10</c:v>
                </c:pt>
                <c:pt idx="3">
                  <c:v>8</c:v>
                </c:pt>
                <c:pt idx="4">
                  <c:v>33</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95959"/>
                    </a:solidFill>
                    <a:latin typeface="Arial"/>
                  </a:defRPr>
                </a:pPr>
                <a:r>
                  <a:rPr sz="1000" b="0" i="0" u="none" strike="noStrike">
                    <a:solidFill>
                      <a:srgbClr val="595959"/>
                    </a:solidFill>
                    <a:latin typeface="Arial"/>
                  </a:rPr>
                  <a:t>Stored score between the two records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title>
          <c:tx>
            <c:rich>
              <a:bodyPr/>
              <a:lstStyle/>
              <a:p>
                <a:pPr>
                  <a:defRPr sz="1000" b="0" i="0" u="none" strike="noStrike">
                    <a:solidFill>
                      <a:srgbClr val="595959"/>
                    </a:solidFill>
                    <a:latin typeface="Arial"/>
                  </a:defRPr>
                </a:pPr>
                <a:r>
                  <a:rPr sz="1000" b="0" i="0" u="none" strike="noStrike">
                    <a:solidFill>
                      <a:srgbClr val="595959"/>
                    </a:solidFill>
                    <a:latin typeface="Arial"/>
                  </a:rPr>
                  <a:t>Record pairs</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Same-SSN pairs added</c:v>
                </c:pt>
              </c:strCache>
            </c:strRef>
          </c:tx>
          <c:spPr>
            <a:solidFill>
              <a:srgbClr val="4472C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0.95</c:v>
                  </c:pt>
                  <c:pt idx="1">
                    <c:v>0.90</c:v>
                  </c:pt>
                </c:lvl>
              </c:multiLvlStrCache>
            </c:multiLvlStrRef>
          </c:cat>
          <c:val>
            <c:numRef>
              <c:f>Sheet1!$B$2:$B$3</c:f>
              <c:numCache>
                <c:formatCode>General</c:formatCode>
                <c:ptCount val="2"/>
                <c:pt idx="0">
                  <c:v>10</c:v>
                </c:pt>
                <c:pt idx="1">
                  <c:v>18</c:v>
                </c:pt>
              </c:numCache>
            </c:numRef>
          </c:val>
        </c:ser>
        <c:ser>
          <c:idx val="1"/>
          <c:order val="1"/>
          <c:tx>
            <c:strRef>
              <c:f>Sheet1!$C$1</c:f>
              <c:strCache>
                <c:ptCount val="1"/>
                <c:pt idx="0">
                  <c:v>Different-SSN pairs added</c:v>
                </c:pt>
              </c:strCache>
            </c:strRef>
          </c:tx>
          <c:spPr>
            <a:solidFill>
              <a:srgbClr val="C0000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0.95</c:v>
                  </c:pt>
                  <c:pt idx="1">
                    <c:v>0.90</c:v>
                  </c:pt>
                </c:lvl>
              </c:multiLvlStrCache>
            </c:multiLvlStrRef>
          </c:cat>
          <c:val>
            <c:numRef>
              <c:f>Sheet1!$C$2:$C$3</c:f>
              <c:numCache>
                <c:formatCode>General</c:formatCode>
                <c:ptCount val="2"/>
                <c:pt idx="0">
                  <c:v>19</c:v>
                </c:pt>
                <c:pt idx="1">
                  <c:v>19</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95959"/>
                    </a:solidFill>
                    <a:latin typeface="Arial"/>
                  </a:defRPr>
                </a:pPr>
                <a:r>
                  <a:rPr sz="1000" b="0" i="0" u="none" strike="noStrike">
                    <a:solidFill>
                      <a:srgbClr val="595959"/>
                    </a:solidFill>
                    <a:latin typeface="Arial"/>
                  </a:rPr>
                  <a:t>Threshold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title>
          <c:tx>
            <c:rich>
              <a:bodyPr/>
              <a:lstStyle/>
              <a:p>
                <a:pPr>
                  <a:defRPr sz="1000" b="0" i="0" u="none" strike="noStrike">
                    <a:solidFill>
                      <a:srgbClr val="595959"/>
                    </a:solidFill>
                    <a:latin typeface="Arial"/>
                  </a:defRPr>
                </a:pPr>
                <a:r>
                  <a:rPr sz="1000" b="0" i="0" u="none" strike="noStrike">
                    <a:solidFill>
                      <a:srgbClr val="595959"/>
                    </a:solidFill>
                    <a:latin typeface="Arial"/>
                  </a:rPr>
                  <a:t>Record pairs added vs 0.98</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walks through the sponsor identity spike: what we were asked, how we measured it with production data, and what we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ticket was refined in two working sessions. The real question is whether a sponsor's multiple I-865 filings will match into one identity with today's matching, and what changes if the threshold is lowered.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Findings: 99.3 percent of repeat sponsors are in one identity at production's 0.98 threshold. Of 3,039 split pairs, 2,135 were never compared and 853 already score 0.98 or higher. Thresholds: production uses 0.98 for every pair. The 0.95 and 0.90 options come from the Confluence threshold analysis. At 0.95, 10 more same-sponsor pairs and 19 more different-SSN pairs reach the threshold; at 0.90, 18 and 19. Top-down, bottom-up, and custom give the same result as today because every record is from C3. Scope: 43 percent of C3 I-865 receipts are in PCIS.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99.3 percent: of sponsors with at least two I-865 records in PCIS, the share whose records all carry the same identityId. It is a sponsor-level rate. 98 percent: look only at the 126 split sponsors and list every pair of their records that ended up in different identities, 3,039 pairs. For each pair we look for a stored score between the two records. 2,135 have no score at all, meaning search never put them side by side, and 853 already scored 0.98 or higher. Together that is 2,988 of 3,039 pairs, or 98 percent, that a lower threshold would not change. Plus 18 versus plus 19: the gain is split pairs that would cross a 0.90 threshold but not today's 0.98, 871 minus 853. The risk is pairs of I-865 records with different SSNs whose stored score is 0.90 or higher but below 0.98, 250 minus 231. Both are counts of record pairs, not sponsors, and the risk count may include some pairs in both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every I-865 that PCIS ingested already has a scored record and an identity, we can see the actual outcome of today's matching rather than predicting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two production tables are queried. C3 petapp gives the I-865 filings and the sponsor's SSN; the PCIS scores table gives each record's identity and the stored model scores. They are joined on the receipt number, which is the last part of the PCIS record id. Every number in the deck comes from the steps listed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vocabulary so the numbers read the same way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is a separate count of the same 285,246 receipts under one condition: has a valid SSN, has a readable DOB, has a record in PCIS, or has both a PCIS record and a valid SSN. The bars are not steps in a sequence; the DOB bar, for example, is not a filter applied before the PCIS bar. The last bar is the working population for the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is a count of sponsors. The first bar, sponsors with a single I-865, is by far the largest. Everything to the right of it is a repeat sponsor. Only repeat sponsors with at least two records in PCIS can be measured for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counts I-865 receipts by the model version recorded on their PCIS record. 94 percent were scored by dedup_model_v0.0.116. The current v1.0 versions account for about 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pie covers every sponsor with at least two I-865 records in PCIS. Blue is sponsors whose records all have the same identityId. Red is sponsors whose records are in more than one identity. The red slice is the 126 sponsors analyzed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split pair is two I-865 records with the same SSN, so the same sponsor, that sit in different PCIS identities. In the example, A and B are in Identity 1 and C is in Identity 2, so A-C and B-C are split pairs and A-B is not. The number of pairs grows quickly with the number of records: 2 records in 2 identities give 1 pair, while 10 records spread evenly over 5 identities give 40. The model scores two records at a time, so each split pair can be checked for a stored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counts record pairs, not sponsors. A pair is two I-865 records with the same SSN that are in different identities. The first bar has no stored score at all. The second already scores at or above 0.98. The three small bars on the right are the only pairs where a lower threshold changes the outcome, and only the 0.90 to 0.98 bars, 18 pairs, would be added at 0.90.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853 pairs were compared. They are the opposite of the 2,135: the model scored them as a match, but the two records still have different identityIds. This study does not show why. Possible explanations are timing, where both records were processed before either was searchable, which is the refresh-lag issue in the Break the Chain work; a later unmerge or manual separation; or the way identity was read, since identityId came from each record's latest row in mv_es_mlaas_scores and may not reflect merges made after scoring. Comparing these pairs against current PCIS identity assignments would show which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threshold values in this deck come from one source: the Confluence page 2026 09 All Systems Threshold Combinations and Analysis by David Tegano. It proposes a separate threshold for each source system and describes rules for choosing a threshold when two records come from different systems. Production today uses 0.98 for every pair. The working sessions asked about lowering to 0.95 or 0.90; those values are taken from this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is production today. Top-down, bottom-up, and custom are the three rules from the Confluence page for picking a threshold when two records come from different systems. Flat 0.95 and flat 0.90 apply one value to every pair. Every I-865 record in this study is from C3, so every pair is C3 versus C3. C3 is 0.98 under top-down, bottom-up, and custom, so those three give the same results as current. The working sessions asked about 0.95 and 0.90; the three per-system rules were included because they are part of the same Confluence analysis. Top-down and bottom-up follow the definitions in the page's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of bars compares one lower threshold with today. Blue is same-SSN pairs that would newly reach the threshold. Red is different-SSN pairs that would newly reach it. At 0.95 it is 10 versus 19; at 0.90 it is 18 versus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554480"/>
            <a:ext cx="8229600" cy="731520"/>
          </a:xfrm>
          <a:prstGeom prst="rect">
            <a:avLst/>
          </a:prstGeom>
          <a:noFill/>
          <a:ln/>
        </p:spPr>
        <p:txBody>
          <a:bodyPr wrap="square" lIns="0" tIns="0" rIns="0" bIns="0" rtlCol="0" anchor="ctr"/>
          <a:lstStyle/>
          <a:p>
            <a:pPr indent="0" marL="0">
              <a:buNone/>
            </a:pPr>
            <a:r>
              <a:rPr lang="en-US" sz="3600" b="1" dirty="0">
                <a:solidFill>
                  <a:srgbClr val="000000"/>
                </a:solidFill>
                <a:latin typeface="Calibri" pitchFamily="34" charset="0"/>
                <a:ea typeface="Calibri" pitchFamily="34" charset="-122"/>
                <a:cs typeface="Calibri" pitchFamily="34" charset="-120"/>
              </a:rPr>
              <a:t>IDEN-45868: Sponsor Identity Study</a:t>
            </a:r>
            <a:endParaRPr lang="en-US" sz="3600" dirty="0"/>
          </a:p>
        </p:txBody>
      </p:sp>
      <p:sp>
        <p:nvSpPr>
          <p:cNvPr id="3" name="Text 1"/>
          <p:cNvSpPr txBox="1"/>
          <p:nvPr/>
        </p:nvSpPr>
        <p:spPr>
          <a:xfrm>
            <a:off x="457200" y="2286000"/>
            <a:ext cx="8229600" cy="457200"/>
          </a:xfrm>
          <a:prstGeom prst="rect">
            <a:avLst/>
          </a:prstGeom>
          <a:noFill/>
          <a:ln/>
        </p:spPr>
        <p:txBody>
          <a:bodyPr wrap="square" lIns="0" tIns="0" rIns="0" bIns="0" rtlCol="0" anchor="ctr"/>
          <a:lstStyle/>
          <a:p>
            <a:pPr indent="0" marL="0">
              <a:buNone/>
            </a:pPr>
            <a:r>
              <a:rPr lang="en-US" sz="2000" dirty="0">
                <a:solidFill>
                  <a:srgbClr val="595959"/>
                </a:solidFill>
                <a:latin typeface="Calibri" pitchFamily="34" charset="0"/>
                <a:ea typeface="Calibri" pitchFamily="34" charset="-122"/>
                <a:cs typeface="Calibri" pitchFamily="34" charset="-120"/>
              </a:rPr>
              <a:t>Will a sponsor's multiple I-865 filings match into one identity?</a:t>
            </a:r>
            <a:endParaRPr lang="en-US" sz="2000" dirty="0"/>
          </a:p>
        </p:txBody>
      </p:sp>
      <p:sp>
        <p:nvSpPr>
          <p:cNvPr id="4" name="Text 2"/>
          <p:cNvSpPr txBox="1"/>
          <p:nvPr/>
        </p:nvSpPr>
        <p:spPr>
          <a:xfrm>
            <a:off x="457200" y="3017520"/>
            <a:ext cx="8229600" cy="365760"/>
          </a:xfrm>
          <a:prstGeom prst="rect">
            <a:avLst/>
          </a:prstGeom>
          <a:noFill/>
          <a:ln/>
        </p:spPr>
        <p:txBody>
          <a:bodyPr wrap="square" lIns="0" tIns="0" rIns="0" bIns="0" rtlCol="0" anchor="ctr"/>
          <a:lstStyle/>
          <a:p>
            <a:pPr indent="0" marL="0">
              <a:buNone/>
            </a:pPr>
            <a:r>
              <a:rPr lang="en-US" sz="1400" dirty="0">
                <a:solidFill>
                  <a:srgbClr val="595959"/>
                </a:solidFill>
                <a:latin typeface="Calibri" pitchFamily="34" charset="0"/>
                <a:ea typeface="Calibri" pitchFamily="34" charset="-122"/>
                <a:cs typeface="Calibri" pitchFamily="34" charset="-120"/>
              </a:rPr>
              <a:t>PCIS Identity Team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What we were asked</a:t>
            </a:r>
            <a:endParaRPr lang="en-US" sz="2800" dirty="0"/>
          </a:p>
        </p:txBody>
      </p:sp>
      <p:sp>
        <p:nvSpPr>
          <p:cNvPr id="3" name="Text 1"/>
          <p:cNvSpPr txBox="1"/>
          <p:nvPr/>
        </p:nvSpPr>
        <p:spPr>
          <a:xfrm>
            <a:off x="457200" y="1051560"/>
            <a:ext cx="8229600" cy="37490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Jira IDEN-45868: study sponsor identities and identify potential impacts on matching</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Working session 1: sponsors will become their own identities per role type (like beneficiary and petitioner)</a:t>
            </a:r>
            <a:endParaRPr lang="en-US" sz="1600" dirty="0"/>
          </a:p>
          <a:p>
            <a:pPr lvl="1" marL="457200" indent="-228600">
              <a:spcAft>
                <a:spcPts val="600"/>
              </a:spcAft>
              <a:buSzPct val="100000"/>
              <a:buChar char="•"/>
            </a:pPr>
            <a:r>
              <a:rPr lang="en-US" sz="1400" dirty="0">
                <a:solidFill>
                  <a:srgbClr val="595959"/>
                </a:solidFill>
                <a:latin typeface="Calibri" pitchFamily="34" charset="0"/>
                <a:ea typeface="Calibri" pitchFamily="34" charset="-122"/>
                <a:cs typeface="Calibri" pitchFamily="34" charset="-120"/>
              </a:rPr>
              <a:t>Built from name, DOB, SSN, and address; SSN is the only reliable sponsor identifier</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Working session 2: would lower thresholds (0.95 or 0.90) help, and what is the risk?</a:t>
            </a:r>
            <a:endParaRPr lang="en-US" sz="1600" dirty="0"/>
          </a:p>
          <a:p>
            <a:pPr lvl="1" marL="457200" indent="-228600">
              <a:spcAft>
                <a:spcPts val="600"/>
              </a:spcAft>
              <a:buSzPct val="100000"/>
              <a:buChar char="•"/>
            </a:pPr>
            <a:r>
              <a:rPr lang="en-US" sz="1400" dirty="0">
                <a:solidFill>
                  <a:srgbClr val="595959"/>
                </a:solidFill>
                <a:latin typeface="Calibri" pitchFamily="34" charset="0"/>
                <a:ea typeface="Calibri" pitchFamily="34" charset="-122"/>
                <a:cs typeface="Calibri" pitchFamily="34" charset="-120"/>
              </a:rPr>
              <a:t>Concern raised: at 0.90, exact name + DOB with no other identifier starts to match</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Questions this study answers:</a:t>
            </a:r>
            <a:endParaRPr lang="en-US" sz="1600" dirty="0"/>
          </a:p>
          <a:p>
            <a:pPr lvl="1" marL="457200" indent="-228600">
              <a:spcAft>
                <a:spcPts val="600"/>
              </a:spcAft>
              <a:buSzPct val="100000"/>
              <a:buChar char="•"/>
            </a:pPr>
            <a:r>
              <a:rPr lang="en-US" sz="1400" dirty="0">
                <a:solidFill>
                  <a:srgbClr val="595959"/>
                </a:solidFill>
                <a:latin typeface="Calibri" pitchFamily="34" charset="0"/>
                <a:ea typeface="Calibri" pitchFamily="34" charset="-122"/>
                <a:cs typeface="Calibri" pitchFamily="34" charset="-120"/>
              </a:rPr>
              <a:t>Q1: If a sponsor filed several I-865s, how often are those records already in one identity?</a:t>
            </a:r>
            <a:endParaRPr lang="en-US" sz="1600" dirty="0"/>
          </a:p>
          <a:p>
            <a:pPr lvl="1" marL="457200" indent="-228600">
              <a:spcAft>
                <a:spcPts val="600"/>
              </a:spcAft>
              <a:buSzPct val="100000"/>
              <a:buChar char="•"/>
            </a:pPr>
            <a:r>
              <a:rPr lang="en-US" sz="1400" dirty="0">
                <a:solidFill>
                  <a:srgbClr val="595959"/>
                </a:solidFill>
                <a:latin typeface="Calibri" pitchFamily="34" charset="0"/>
                <a:ea typeface="Calibri" pitchFamily="34" charset="-122"/>
                <a:cs typeface="Calibri" pitchFamily="34" charset="-120"/>
              </a:rPr>
              <a:t>Q2: Where they are split, why, and would a lower threshold fix it?</a:t>
            </a:r>
            <a:endParaRPr lang="en-US" sz="1600" dirty="0"/>
          </a:p>
          <a:p>
            <a:pPr lvl="1" marL="457200" indent="-228600">
              <a:spcAft>
                <a:spcPts val="600"/>
              </a:spcAft>
              <a:buSzPct val="100000"/>
              <a:buChar char="•"/>
            </a:pPr>
            <a:r>
              <a:rPr lang="en-US" sz="1400" dirty="0">
                <a:solidFill>
                  <a:srgbClr val="595959"/>
                </a:solidFill>
                <a:latin typeface="Calibri" pitchFamily="34" charset="0"/>
                <a:ea typeface="Calibri" pitchFamily="34" charset="-122"/>
                <a:cs typeface="Calibri" pitchFamily="34" charset="-120"/>
              </a:rPr>
              <a:t>Q3: What would a lower threshold cost in wrong merges between different sponsors?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Summary and key takeaways</a:t>
            </a:r>
            <a:endParaRPr lang="en-US" sz="2800" dirty="0"/>
          </a:p>
        </p:txBody>
      </p:sp>
      <p:sp>
        <p:nvSpPr>
          <p:cNvPr id="4" name="Text 1"/>
          <p:cNvSpPr txBox="1"/>
          <p:nvPr/>
        </p:nvSpPr>
        <p:spPr>
          <a:xfrm>
            <a:off x="457200" y="914400"/>
            <a:ext cx="8229600" cy="4023360"/>
          </a:xfrm>
          <a:prstGeom prst="rect">
            <a:avLst/>
          </a:prstGeom>
          <a:noFill/>
          <a:ln/>
        </p:spPr>
        <p:txBody>
          <a:bodyPr wrap="square" lIns="0" tIns="0" rIns="0" bIns="0" rtlCol="0" anchor="t"/>
          <a:lstStyle/>
          <a:p>
            <a:pPr indent="0" marL="0">
              <a:spcBef>
                <a:spcPts val="600"/>
              </a:spcBef>
              <a:spcAft>
                <a:spcPts val="200"/>
              </a:spcAft>
              <a:buNone/>
            </a:pPr>
            <a:r>
              <a:rPr lang="en-US" sz="1400" b="1" dirty="0">
                <a:solidFill>
                  <a:srgbClr val="000000"/>
                </a:solidFill>
                <a:latin typeface="Calibri" pitchFamily="34" charset="0"/>
                <a:ea typeface="Calibri" pitchFamily="34" charset="-122"/>
                <a:cs typeface="Calibri" pitchFamily="34" charset="-120"/>
              </a:rPr>
              <a:t>Findings</a:t>
            </a:r>
            <a:endParaRPr lang="en-US" sz="1400" dirty="0"/>
          </a:p>
          <a:p>
            <a:pPr marL="342900" indent="-342900">
              <a:spcAft>
                <a:spcPts val="200"/>
              </a:spcAft>
              <a:buSzPct val="100000"/>
              <a:buChar char="•"/>
            </a:pPr>
            <a:r>
              <a:rPr lang="en-US" sz="1200" dirty="0">
                <a:solidFill>
                  <a:srgbClr val="000000"/>
                </a:solidFill>
                <a:latin typeface="Calibri" pitchFamily="34" charset="0"/>
                <a:ea typeface="Calibri" pitchFamily="34" charset="-122"/>
                <a:cs typeface="Calibri" pitchFamily="34" charset="-120"/>
              </a:rPr>
              <a:t>Q1: 99.3% of repeat sponsors are already in one identity (17,010 of 17,136 sponsors with 2+ I-865 records in PCIS)</a:t>
            </a:r>
            <a:endParaRPr lang="en-US" sz="1400" dirty="0"/>
          </a:p>
          <a:p>
            <a:pPr marL="342900" indent="-342900">
              <a:spcAft>
                <a:spcPts val="200"/>
              </a:spcAft>
              <a:buSzPct val="100000"/>
              <a:buChar char="•"/>
            </a:pPr>
            <a:r>
              <a:rPr lang="en-US" sz="1200" dirty="0">
                <a:solidFill>
                  <a:srgbClr val="000000"/>
                </a:solidFill>
                <a:latin typeface="Calibri" pitchFamily="34" charset="0"/>
                <a:ea typeface="Calibri" pitchFamily="34" charset="-122"/>
                <a:cs typeface="Calibri" pitchFamily="34" charset="-120"/>
              </a:rPr>
              <a:t>Q2: 98% of the 3,039 split record pairs would not change with a lower threshold: 2,135 (70%) were never compared; a separate 853 (28%) were compared, scored 0.98+, and are still in different identities</a:t>
            </a:r>
            <a:endParaRPr lang="en-US" sz="1400" dirty="0"/>
          </a:p>
          <a:p>
            <a:pPr marL="342900" indent="-342900">
              <a:spcAft>
                <a:spcPts val="200"/>
              </a:spcAft>
              <a:buSzPct val="100000"/>
              <a:buChar char="•"/>
            </a:pPr>
            <a:r>
              <a:rPr lang="en-US" sz="1200" dirty="0">
                <a:solidFill>
                  <a:srgbClr val="000000"/>
                </a:solidFill>
                <a:latin typeface="Calibri" pitchFamily="34" charset="0"/>
                <a:ea typeface="Calibri" pitchFamily="34" charset="-122"/>
                <a:cs typeface="Calibri" pitchFamily="34" charset="-120"/>
              </a:rPr>
              <a:t>Q3: Lowering to 0.90 adds 18 same-sponsor pairs and 19 different-SSN pairs at or above threshold</a:t>
            </a:r>
            <a:endParaRPr lang="en-US" sz="1400" dirty="0"/>
          </a:p>
          <a:p>
            <a:pPr indent="0" marL="0">
              <a:spcBef>
                <a:spcPts val="600"/>
              </a:spcBef>
              <a:spcAft>
                <a:spcPts val="200"/>
              </a:spcAft>
              <a:buNone/>
            </a:pPr>
            <a:r>
              <a:rPr lang="en-US" sz="1400" b="1" dirty="0">
                <a:solidFill>
                  <a:srgbClr val="000000"/>
                </a:solidFill>
                <a:latin typeface="Calibri" pitchFamily="34" charset="0"/>
                <a:ea typeface="Calibri" pitchFamily="34" charset="-122"/>
                <a:cs typeface="Calibri" pitchFamily="34" charset="-120"/>
              </a:rPr>
              <a:t>Thresholds</a:t>
            </a:r>
            <a:endParaRPr lang="en-US" sz="1400" dirty="0"/>
          </a:p>
          <a:p>
            <a:pPr marL="342900" indent="-342900">
              <a:spcAft>
                <a:spcPts val="200"/>
              </a:spcAft>
              <a:buSzPct val="100000"/>
              <a:buChar char="•"/>
            </a:pPr>
            <a:r>
              <a:rPr lang="en-US" sz="1200" dirty="0">
                <a:solidFill>
                  <a:srgbClr val="000000"/>
                </a:solidFill>
                <a:latin typeface="Calibri" pitchFamily="34" charset="0"/>
                <a:ea typeface="Calibri" pitchFamily="34" charset="-122"/>
                <a:cs typeface="Calibri" pitchFamily="34" charset="-120"/>
              </a:rPr>
              <a:t>Production today uses 0.98 for every pair</a:t>
            </a:r>
            <a:endParaRPr lang="en-US" sz="1400" dirty="0"/>
          </a:p>
          <a:p>
            <a:pPr marL="342900" indent="-342900">
              <a:spcAft>
                <a:spcPts val="200"/>
              </a:spcAft>
              <a:buSzPct val="100000"/>
              <a:buChar char="•"/>
            </a:pPr>
            <a:r>
              <a:rPr lang="en-US" sz="1200" dirty="0">
                <a:solidFill>
                  <a:srgbClr val="000000"/>
                </a:solidFill>
                <a:latin typeface="Calibri" pitchFamily="34" charset="0"/>
                <a:ea typeface="Calibri" pitchFamily="34" charset="-122"/>
                <a:cs typeface="Calibri" pitchFamily="34" charset="-120"/>
              </a:rPr>
              <a:t>0.95 and 0.90 come from Confluence: "2026 09 - All Systems Threshold Combinations and Analysis"</a:t>
            </a:r>
            <a:endParaRPr lang="en-US" sz="1400" dirty="0"/>
          </a:p>
          <a:p>
            <a:pPr marL="342900" indent="-342900">
              <a:spcAft>
                <a:spcPts val="200"/>
              </a:spcAft>
              <a:buSzPct val="100000"/>
              <a:buChar char="•"/>
            </a:pPr>
            <a:r>
              <a:rPr lang="en-US" sz="1200" dirty="0">
                <a:solidFill>
                  <a:srgbClr val="000000"/>
                </a:solidFill>
                <a:latin typeface="Calibri" pitchFamily="34" charset="0"/>
                <a:ea typeface="Calibri" pitchFamily="34" charset="-122"/>
                <a:cs typeface="Calibri" pitchFamily="34" charset="-120"/>
              </a:rPr>
              <a:t>At 0.95: +10 same-sponsor pairs, +19 different-SSN pairs. At 0.90: +18 and +19</a:t>
            </a:r>
            <a:endParaRPr lang="en-US" sz="1400" dirty="0"/>
          </a:p>
          <a:p>
            <a:pPr marL="342900" indent="-342900">
              <a:spcAft>
                <a:spcPts val="200"/>
              </a:spcAft>
              <a:buSzPct val="100000"/>
              <a:buChar char="•"/>
            </a:pPr>
            <a:r>
              <a:rPr lang="en-US" sz="1200" dirty="0">
                <a:solidFill>
                  <a:srgbClr val="000000"/>
                </a:solidFill>
                <a:latin typeface="Calibri" pitchFamily="34" charset="0"/>
                <a:ea typeface="Calibri" pitchFamily="34" charset="-122"/>
                <a:cs typeface="Calibri" pitchFamily="34" charset="-120"/>
              </a:rPr>
              <a:t>Top-down, bottom-up, and custom give the same result as 0.98 because all I-865 records are from C3 (0.98)</a:t>
            </a:r>
            <a:endParaRPr lang="en-US" sz="1400" dirty="0"/>
          </a:p>
          <a:p>
            <a:pPr indent="0" marL="0">
              <a:spcBef>
                <a:spcPts val="600"/>
              </a:spcBef>
              <a:spcAft>
                <a:spcPts val="200"/>
              </a:spcAft>
              <a:buNone/>
            </a:pPr>
            <a:r>
              <a:rPr lang="en-US" sz="1400" b="1" dirty="0">
                <a:solidFill>
                  <a:srgbClr val="000000"/>
                </a:solidFill>
                <a:latin typeface="Calibri" pitchFamily="34" charset="0"/>
                <a:ea typeface="Calibri" pitchFamily="34" charset="-122"/>
                <a:cs typeface="Calibri" pitchFamily="34" charset="-120"/>
              </a:rPr>
              <a:t>Key takeaways</a:t>
            </a:r>
            <a:endParaRPr lang="en-US" sz="1400" dirty="0"/>
          </a:p>
          <a:p>
            <a:pPr marL="342900" indent="-342900">
              <a:spcAft>
                <a:spcPts val="200"/>
              </a:spcAft>
              <a:buSzPct val="100000"/>
              <a:buChar char="•"/>
            </a:pPr>
            <a:r>
              <a:rPr lang="en-US" sz="1200" dirty="0">
                <a:solidFill>
                  <a:srgbClr val="000000"/>
                </a:solidFill>
                <a:latin typeface="Calibri" pitchFamily="34" charset="0"/>
                <a:ea typeface="Calibri" pitchFamily="34" charset="-122"/>
                <a:cs typeface="Calibri" pitchFamily="34" charset="-120"/>
              </a:rPr>
              <a:t>At today's 0.98 threshold, almost all repeat I-865 sponsors already resolve to one identity</a:t>
            </a:r>
            <a:endParaRPr lang="en-US" sz="1400" dirty="0"/>
          </a:p>
          <a:p>
            <a:pPr marL="342900" indent="-342900">
              <a:spcAft>
                <a:spcPts val="200"/>
              </a:spcAft>
              <a:buSzPct val="100000"/>
              <a:buChar char="•"/>
            </a:pPr>
            <a:r>
              <a:rPr lang="en-US" sz="1200" dirty="0">
                <a:solidFill>
                  <a:srgbClr val="000000"/>
                </a:solidFill>
                <a:latin typeface="Calibri" pitchFamily="34" charset="0"/>
                <a:ea typeface="Calibri" pitchFamily="34" charset="-122"/>
                <a:cs typeface="Calibri" pitchFamily="34" charset="-120"/>
              </a:rPr>
              <a:t>A lower threshold changes the outcome for 18 of 3,039 split pairs and adds about the same number of different-SSN pairs</a:t>
            </a:r>
            <a:endParaRPr lang="en-US" sz="1400" dirty="0"/>
          </a:p>
          <a:p>
            <a:pPr marL="342900" indent="-342900">
              <a:spcAft>
                <a:spcPts val="200"/>
              </a:spcAft>
              <a:buSzPct val="100000"/>
              <a:buChar char="•"/>
            </a:pPr>
            <a:r>
              <a:rPr lang="en-US" sz="1200" dirty="0">
                <a:solidFill>
                  <a:srgbClr val="000000"/>
                </a:solidFill>
                <a:latin typeface="Calibri" pitchFamily="34" charset="0"/>
                <a:ea typeface="Calibri" pitchFamily="34" charset="-122"/>
                <a:cs typeface="Calibri" pitchFamily="34" charset="-120"/>
              </a:rPr>
              <a:t>Most split pairs (2,135) have no stored score, so no threshold value affects them</a:t>
            </a:r>
            <a:endParaRPr lang="en-US" sz="1400" dirty="0"/>
          </a:p>
          <a:p>
            <a:pPr marL="342900" indent="-342900">
              <a:spcAft>
                <a:spcPts val="200"/>
              </a:spcAft>
              <a:buSzPct val="100000"/>
              <a:buChar char="•"/>
            </a:pPr>
            <a:r>
              <a:rPr lang="en-US" sz="1200" dirty="0">
                <a:solidFill>
                  <a:srgbClr val="000000"/>
                </a:solidFill>
                <a:latin typeface="Calibri" pitchFamily="34" charset="0"/>
                <a:ea typeface="Calibri" pitchFamily="34" charset="-122"/>
                <a:cs typeface="Calibri" pitchFamily="34" charset="-120"/>
              </a:rPr>
              <a:t>Results cover 123,889 of 285,246 C3 I-865 receipts (43%) that are in PCIS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What the summary numbers mean</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005840"/>
                <a:gridCol w="2011680"/>
                <a:gridCol w="3017520"/>
                <a:gridCol w="2194560"/>
              </a:tblGrid>
              <a:tr h="3200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Number</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What it measures</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How it was calculated</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9601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99.3%</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Share of repeat sponsors whose I-865 records are all in one identity</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Sponsors (by SSN) with 2+ I-865 records in PCIS = 17,136. Those whose records share one identityId = 17,010. 17,010 / 17,136 = 99.3%</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17,010 sponsors linked; 126 split</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9601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98%</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Share of split record pairs that a threshold change cannot fix</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126 split sponsors give 3,039 same-SSN pairs in different identities. 2,135 have no stored score (never compared) + 853 already score 0.98+ = 2,988. 2,988 / 3,039 = 98%</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Only 51 split pairs score below 0.98; 18 of them score 0.90 or higher</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9601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+18 vs +19</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What lowering to 0.90 adds compared with today</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Gain: split pairs scoring 0.90+ (871) minus those already 0.98+ (853) = 18. Risk: different-SSN pairs scoring 0.90+ (250) minus those already 0.98+ (231) = 19</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At 0.90: +18 same-sponsor, +19 different-SSN. At 0.95: +10 and +19</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bl>
          </a:graphicData>
        </a:graphic>
      </p:graphicFrame>
      <p:sp>
        <p:nvSpPr>
          <p:cNvPr id="5" name="Text 1"/>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1200" dirty="0">
                <a:solidFill>
                  <a:srgbClr val="595959"/>
                </a:solidFill>
                <a:latin typeface="Calibri" pitchFamily="34" charset="0"/>
                <a:ea typeface="Calibri" pitchFamily="34" charset="-122"/>
                <a:cs typeface="Calibri" pitchFamily="34" charset="-120"/>
              </a:rPr>
              <a:t>Gain and risk are counted in record pairs, not sponsors. 18 more linked pairs touch at most 18 sponsors, and may not fully link any of them.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How we measured it</a:t>
            </a:r>
            <a:endParaRPr lang="en-US" sz="2800" dirty="0"/>
          </a:p>
        </p:txBody>
      </p:sp>
      <p:sp>
        <p:nvSpPr>
          <p:cNvPr id="3" name="Text 1"/>
          <p:cNvSpPr txBox="1"/>
          <p:nvPr/>
        </p:nvSpPr>
        <p:spPr>
          <a:xfrm>
            <a:off x="457200" y="1051560"/>
            <a:ext cx="8229600" cy="37490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Used production results only: no model re-run, no synthetic data</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Step 1: Pulled 285,246 I-865 receipts from C3 (petapp, form I865); the sponsor is stored in the beneficiary fields</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Step 2: Cleaned the SSN into a sponsor key (digits only, padded to 9, placeholders removed)</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Step 3: Matched each receipt to its PCIS scored record (mv_es_mlaas_scores) and read its identity</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Step 4: Grouped by SSN and counted identities: 1 identity = linked, 2+ = split</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Step 5: For split pairs, read the stored score and tested each threshold policy; counted different-SSN pairs scoring 0.90+</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Tables used and how we got the numbers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3108960"/>
                <a:gridCol w="3108960"/>
                <a:gridCol w="2011680"/>
              </a:tblGrid>
              <a:tr h="274320">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Table</a:t>
                      </a:r>
                      <a:endParaRPr lang="en-US" sz="105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Used for</a:t>
                      </a:r>
                      <a:endParaRPr lang="en-US" sz="105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Key fields</a:t>
                      </a:r>
                      <a:endParaRPr lang="en-US" sz="105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5029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eciscor_prod.ecc3conods_mod.petapp</a:t>
                      </a:r>
                      <a:endParaRPr lang="en-US" sz="105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I-865 filings and sponsor SSN (FORM_NUMBER = 'I865', latest row per receipt)</a:t>
                      </a:r>
                      <a:endParaRPr lang="en-US" sz="105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RECEIPT_NUMBER, BEN_/PET_ name, DOB, SSN</a:t>
                      </a:r>
                      <a:endParaRPr lang="en-US" sz="105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5029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eciscor_prod.pcis_metadata.mv_es_mlaas_scores</a:t>
                      </a:r>
                      <a:endParaRPr lang="en-US" sz="105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Each record's identity and the stored model scores (latest per record pair)</a:t>
                      </a:r>
                      <a:endParaRPr lang="en-US" sz="105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_id, identityId, candidateSourceId, candidateScore, rule_name</a:t>
                      </a:r>
                      <a:endParaRPr lang="en-US" sz="105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bl>
          </a:graphicData>
        </a:graphic>
      </p:graphicFrame>
      <p:sp>
        <p:nvSpPr>
          <p:cNvPr id="5" name="Text 1"/>
          <p:cNvSpPr txBox="1"/>
          <p:nvPr/>
        </p:nvSpPr>
        <p:spPr>
          <a:xfrm>
            <a:off x="457200" y="2377440"/>
            <a:ext cx="8229600" cy="32004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They are joined on the receipt number, which is the last part of the PCIS _id. From there, each step narrows the data:</a:t>
            </a:r>
            <a:endParaRPr lang="en-US" sz="1300" dirty="0"/>
          </a:p>
        </p:txBody>
      </p:sp>
      <p:sp>
        <p:nvSpPr>
          <p:cNvPr id="6" name="Text 2"/>
          <p:cNvSpPr txBox="1"/>
          <p:nvPr/>
        </p:nvSpPr>
        <p:spPr>
          <a:xfrm>
            <a:off x="457200" y="2743200"/>
            <a:ext cx="8229600" cy="210312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250" dirty="0">
                <a:solidFill>
                  <a:srgbClr val="000000"/>
                </a:solidFill>
                <a:latin typeface="Calibri" pitchFamily="34" charset="0"/>
                <a:ea typeface="Calibri" pitchFamily="34" charset="-122"/>
                <a:cs typeface="Calibri" pitchFamily="34" charset="-120"/>
              </a:rPr>
              <a:t>285,246 I-865 receipts in C3.</a:t>
            </a:r>
            <a:endParaRPr lang="en-US" sz="1250" dirty="0"/>
          </a:p>
          <a:p>
            <a:pPr marL="342900" indent="-342900">
              <a:spcAft>
                <a:spcPts val="300"/>
              </a:spcAft>
              <a:buSzPct val="100000"/>
              <a:buFont typeface="+mj-lt"/>
              <a:buAutoNum type="arabicPeriod" startAt="1"/>
            </a:pPr>
            <a:r>
              <a:rPr lang="en-US" sz="1250" dirty="0">
                <a:solidFill>
                  <a:srgbClr val="000000"/>
                </a:solidFill>
                <a:latin typeface="Calibri" pitchFamily="34" charset="0"/>
                <a:ea typeface="Calibri" pitchFamily="34" charset="-122"/>
                <a:cs typeface="Calibri" pitchFamily="34" charset="-120"/>
              </a:rPr>
              <a:t>215,336 of them have a valid SSN.</a:t>
            </a:r>
            <a:endParaRPr lang="en-US" sz="1250" dirty="0"/>
          </a:p>
          <a:p>
            <a:pPr marL="342900" indent="-342900">
              <a:spcAft>
                <a:spcPts val="300"/>
              </a:spcAft>
              <a:buSzPct val="100000"/>
              <a:buFont typeface="+mj-lt"/>
              <a:buAutoNum type="arabicPeriod" startAt="1"/>
            </a:pPr>
            <a:r>
              <a:rPr lang="en-US" sz="1250" dirty="0">
                <a:solidFill>
                  <a:srgbClr val="000000"/>
                </a:solidFill>
                <a:latin typeface="Calibri" pitchFamily="34" charset="0"/>
                <a:ea typeface="Calibri" pitchFamily="34" charset="-122"/>
                <a:cs typeface="Calibri" pitchFamily="34" charset="-120"/>
              </a:rPr>
              <a:t>123,889 were found in PCIS.</a:t>
            </a:r>
            <a:endParaRPr lang="en-US" sz="1250" dirty="0"/>
          </a:p>
          <a:p>
            <a:pPr marL="342900" indent="-342900">
              <a:spcAft>
                <a:spcPts val="300"/>
              </a:spcAft>
              <a:buSzPct val="100000"/>
              <a:buFont typeface="+mj-lt"/>
              <a:buAutoNum type="arabicPeriod" startAt="1"/>
            </a:pPr>
            <a:r>
              <a:rPr lang="en-US" sz="1250" dirty="0">
                <a:solidFill>
                  <a:srgbClr val="000000"/>
                </a:solidFill>
                <a:latin typeface="Calibri" pitchFamily="34" charset="0"/>
                <a:ea typeface="Calibri" pitchFamily="34" charset="-122"/>
                <a:cs typeface="Calibri" pitchFamily="34" charset="-120"/>
              </a:rPr>
              <a:t>168,483 distinct sponsors, of whom 17,136 have two or more records in PCIS.</a:t>
            </a:r>
            <a:endParaRPr lang="en-US" sz="1250" dirty="0"/>
          </a:p>
          <a:p>
            <a:pPr marL="342900" indent="-342900">
              <a:spcAft>
                <a:spcPts val="300"/>
              </a:spcAft>
              <a:buSzPct val="100000"/>
              <a:buFont typeface="+mj-lt"/>
              <a:buAutoNum type="arabicPeriod" startAt="1"/>
            </a:pPr>
            <a:r>
              <a:rPr lang="en-US" sz="1250" dirty="0">
                <a:solidFill>
                  <a:srgbClr val="000000"/>
                </a:solidFill>
                <a:latin typeface="Calibri" pitchFamily="34" charset="0"/>
                <a:ea typeface="Calibri" pitchFamily="34" charset="-122"/>
                <a:cs typeface="Calibri" pitchFamily="34" charset="-120"/>
              </a:rPr>
              <a:t>17,010 of those are linked and 126 are split.</a:t>
            </a:r>
            <a:endParaRPr lang="en-US" sz="1250" dirty="0"/>
          </a:p>
          <a:p>
            <a:pPr marL="342900" indent="-342900">
              <a:spcAft>
                <a:spcPts val="300"/>
              </a:spcAft>
              <a:buSzPct val="100000"/>
              <a:buFont typeface="+mj-lt"/>
              <a:buAutoNum type="arabicPeriod" startAt="1"/>
            </a:pPr>
            <a:r>
              <a:rPr lang="en-US" sz="1250" dirty="0">
                <a:solidFill>
                  <a:srgbClr val="000000"/>
                </a:solidFill>
                <a:latin typeface="Calibri" pitchFamily="34" charset="0"/>
                <a:ea typeface="Calibri" pitchFamily="34" charset="-122"/>
                <a:cs typeface="Calibri" pitchFamily="34" charset="-120"/>
              </a:rPr>
              <a:t>The split sponsors produce 3,039 pairs, which break down as 2,135 never compared, 853 at 0.98 or higher, and 51 below 0.98.</a:t>
            </a:r>
            <a:endParaRPr lang="en-US" sz="1250" dirty="0"/>
          </a:p>
          <a:p>
            <a:pPr marL="342900" indent="-342900">
              <a:spcAft>
                <a:spcPts val="300"/>
              </a:spcAft>
              <a:buSzPct val="100000"/>
              <a:buFont typeface="+mj-lt"/>
              <a:buAutoNum type="arabicPeriod" startAt="1"/>
            </a:pPr>
            <a:r>
              <a:rPr lang="en-US" sz="1250" dirty="0">
                <a:solidFill>
                  <a:srgbClr val="000000"/>
                </a:solidFill>
                <a:latin typeface="Calibri" pitchFamily="34" charset="0"/>
                <a:ea typeface="Calibri" pitchFamily="34" charset="-122"/>
                <a:cs typeface="Calibri" pitchFamily="34" charset="-120"/>
              </a:rPr>
              <a:t>Separately, 250 different-SSN pairs score 0.90 or higher, of which 231 are already at 0.98 or higher.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Terms used</a:t>
            </a:r>
            <a:endParaRPr lang="en-US" sz="2800" dirty="0"/>
          </a:p>
        </p:txBody>
      </p:sp>
      <p:sp>
        <p:nvSpPr>
          <p:cNvPr id="3" name="Text 1"/>
          <p:cNvSpPr txBox="1"/>
          <p:nvPr/>
        </p:nvSpPr>
        <p:spPr>
          <a:xfrm>
            <a:off x="457200" y="1051560"/>
            <a:ext cx="8229600" cy="37490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Sponsor: one person, identified by SSN</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Linked: all of a sponsor's I-865 records are in one PCIS identity</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Split: a sponsor's records are spread across 2 or more identities</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Split pair: two records with the same SSN in different identities</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Never compared: search never returned one record for the other, so there is no score and no threshold can link them</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Different-SSN pair: two records with different SSNs that scored 0.90+; used as a measure of wrong-merge risk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Data coverage</a:t>
            </a:r>
            <a:endParaRPr lang="en-US" sz="2800" dirty="0"/>
          </a:p>
        </p:txBody>
      </p:sp>
      <p:sp>
        <p:nvSpPr>
          <p:cNvPr id="3" name="Text 1"/>
          <p:cNvSpPr txBox="1"/>
          <p:nvPr/>
        </p:nvSpPr>
        <p:spPr>
          <a:xfrm>
            <a:off x="457200" y="1051560"/>
            <a:ext cx="4023360" cy="37490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Chart: each bar counts the C3 I-865 receipts that meet one condition; every bar is a subset of the first, and the bars are not sequential steps</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All receipts: 285,246 I-865 receipts in C3 petapp</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Valid SSN: 215,336 (75.5%) have an SSN that passes cleaning</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With DOB: 1,695 (0.6%) have a readable date of birth</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In PCIS: 123,889 (43.4%) matched a record in mv_es_mlaas_scores by receipt number</a:t>
            </a:r>
            <a:endParaRPr lang="en-US" sz="1250" dirty="0"/>
          </a:p>
          <a:p>
            <a:pPr lvl="1" marL="457200" indent="-228600">
              <a:spcAft>
                <a:spcPts val="400"/>
              </a:spcAft>
              <a:buSzPct val="100000"/>
              <a:buChar char="•"/>
            </a:pPr>
            <a:r>
              <a:rPr lang="en-US" sz="1150" dirty="0">
                <a:solidFill>
                  <a:srgbClr val="595959"/>
                </a:solidFill>
                <a:latin typeface="Calibri" pitchFamily="34" charset="0"/>
                <a:ea typeface="Calibri" pitchFamily="34" charset="-122"/>
                <a:cs typeface="Calibri" pitchFamily="34" charset="-120"/>
              </a:rPr>
              <a:t>161,357 (56.6%) have no scored record and are outside this study</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In PCIS + SSN: 116,132 (40.7%) are in PCIS and have a valid SSN</a:t>
            </a:r>
            <a:endParaRPr lang="en-US" sz="1250" dirty="0"/>
          </a:p>
          <a:p>
            <a:pPr lvl="1" marL="457200" indent="-228600">
              <a:spcAft>
                <a:spcPts val="400"/>
              </a:spcAft>
              <a:buSzPct val="100000"/>
              <a:buChar char="•"/>
            </a:pPr>
            <a:r>
              <a:rPr lang="en-US" sz="1150" dirty="0">
                <a:solidFill>
                  <a:srgbClr val="595959"/>
                </a:solidFill>
                <a:latin typeface="Calibri" pitchFamily="34" charset="0"/>
                <a:ea typeface="Calibri" pitchFamily="34" charset="-122"/>
                <a:cs typeface="Calibri" pitchFamily="34" charset="-120"/>
              </a:rPr>
              <a:t>These are the records used for all sponsor matching results</a:t>
            </a:r>
            <a:endParaRPr lang="en-US" sz="1250" dirty="0"/>
          </a:p>
        </p:txBody>
      </p:sp>
      <p:graphicFrame>
        <p:nvGraphicFramePr>
          <p:cNvPr id="5" name="Chart 0" descr=""/>
          <p:cNvGraphicFramePr/>
          <p:nvPr/>
        </p:nvGraphicFramePr>
        <p:xfrm>
          <a:off x="4572000" y="1051560"/>
          <a:ext cx="4114800" cy="37490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I-865 filings per sponsor</a:t>
            </a:r>
            <a:endParaRPr lang="en-US" sz="2800" dirty="0"/>
          </a:p>
        </p:txBody>
      </p:sp>
      <p:sp>
        <p:nvSpPr>
          <p:cNvPr id="3" name="Text 1"/>
          <p:cNvSpPr txBox="1"/>
          <p:nvPr/>
        </p:nvSpPr>
        <p:spPr>
          <a:xfrm>
            <a:off x="457200" y="1051560"/>
            <a:ext cx="4023360" cy="37490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Chart: number of sponsors (by SSN) by how many I-865s each filed; 10+ groups 10 or more</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Counts all C3 filings, whether or not they are in PCIS</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168,483 distinct sponsors in total</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135,789 (80.6%) filed one I-865</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32,694 (19.4%) filed two or more</a:t>
            </a:r>
            <a:endParaRPr lang="en-US" sz="1250" dirty="0"/>
          </a:p>
          <a:p>
            <a:pPr lvl="1" marL="457200" indent="-228600">
              <a:spcAft>
                <a:spcPts val="400"/>
              </a:spcAft>
              <a:buSzPct val="100000"/>
              <a:buChar char="•"/>
            </a:pPr>
            <a:r>
              <a:rPr lang="en-US" sz="1150" dirty="0">
                <a:solidFill>
                  <a:srgbClr val="595959"/>
                </a:solidFill>
                <a:latin typeface="Calibri" pitchFamily="34" charset="0"/>
                <a:ea typeface="Calibri" pitchFamily="34" charset="-122"/>
                <a:cs typeface="Calibri" pitchFamily="34" charset="-120"/>
              </a:rPr>
              <a:t>23,465 filed 2; 6,193 filed 3; 3,036 filed 4 or more</a:t>
            </a:r>
            <a:endParaRPr lang="en-US" sz="1250" dirty="0"/>
          </a:p>
          <a:p>
            <a:pPr lvl="1" marL="457200" indent="-228600">
              <a:spcAft>
                <a:spcPts val="400"/>
              </a:spcAft>
              <a:buSzPct val="100000"/>
              <a:buChar char="•"/>
            </a:pPr>
            <a:r>
              <a:rPr lang="en-US" sz="1150" dirty="0">
                <a:solidFill>
                  <a:srgbClr val="595959"/>
                </a:solidFill>
                <a:latin typeface="Calibri" pitchFamily="34" charset="0"/>
                <a:ea typeface="Calibri" pitchFamily="34" charset="-122"/>
                <a:cs typeface="Calibri" pitchFamily="34" charset="-120"/>
              </a:rPr>
              <a:t>16 sponsors filed 10 or more</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17,136 of the 32,694 have 2+ filings that are in PCIS</a:t>
            </a:r>
            <a:endParaRPr lang="en-US" sz="1250" dirty="0"/>
          </a:p>
          <a:p>
            <a:pPr lvl="1" marL="457200" indent="-228600">
              <a:spcAft>
                <a:spcPts val="400"/>
              </a:spcAft>
              <a:buSzPct val="100000"/>
              <a:buChar char="•"/>
            </a:pPr>
            <a:r>
              <a:rPr lang="en-US" sz="1150" dirty="0">
                <a:solidFill>
                  <a:srgbClr val="595959"/>
                </a:solidFill>
                <a:latin typeface="Calibri" pitchFamily="34" charset="0"/>
                <a:ea typeface="Calibri" pitchFamily="34" charset="-122"/>
                <a:cs typeface="Calibri" pitchFamily="34" charset="-120"/>
              </a:rPr>
              <a:t>This group is the population for Q1</a:t>
            </a:r>
            <a:endParaRPr lang="en-US" sz="1250" dirty="0"/>
          </a:p>
        </p:txBody>
      </p:sp>
      <p:graphicFrame>
        <p:nvGraphicFramePr>
          <p:cNvPr id="5" name="Chart 0" descr=""/>
          <p:cNvGraphicFramePr/>
          <p:nvPr/>
        </p:nvGraphicFramePr>
        <p:xfrm>
          <a:off x="4572000" y="1051560"/>
          <a:ext cx="4114800" cy="37490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Model versions</a:t>
            </a:r>
            <a:endParaRPr lang="en-US" sz="2800" dirty="0"/>
          </a:p>
        </p:txBody>
      </p:sp>
      <p:sp>
        <p:nvSpPr>
          <p:cNvPr id="3" name="Text 1"/>
          <p:cNvSpPr txBox="1"/>
          <p:nvPr/>
        </p:nvSpPr>
        <p:spPr>
          <a:xfrm>
            <a:off x="457200" y="1051560"/>
            <a:ext cx="4023360" cy="37490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Chart: I-865 receipts in PCIS by the model version (rule_name) on their latest score row</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Covers only the 123,889 receipts found in PCIS</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dedup_model_v0.0.116: 116,726 (94.2%)</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dedup_model_v1.0.1: 3,697 (3.0%)</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dedup_model_v1.0.0: 2,913 (2.4%)</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dedup_model_vNone: 501 (0.4%); rule_name has no version number</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dedup_model_v0.0.117: 210 (0.2%)</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A receipt with more than one PCIS record can appear under more than one version, so the bars sum to 124,047</a:t>
            </a:r>
            <a:endParaRPr lang="en-US" sz="1250" dirty="0"/>
          </a:p>
        </p:txBody>
      </p:sp>
      <p:graphicFrame>
        <p:nvGraphicFramePr>
          <p:cNvPr id="5" name="Chart 0" descr=""/>
          <p:cNvGraphicFramePr/>
          <p:nvPr/>
        </p:nvGraphicFramePr>
        <p:xfrm>
          <a:off x="4572000" y="1051560"/>
          <a:ext cx="4114800" cy="37490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Q1: Repeat sponsors already match into one identity</a:t>
            </a:r>
            <a:endParaRPr lang="en-US" sz="2800" dirty="0"/>
          </a:p>
        </p:txBody>
      </p:sp>
      <p:sp>
        <p:nvSpPr>
          <p:cNvPr id="3" name="Text 1"/>
          <p:cNvSpPr txBox="1"/>
          <p:nvPr/>
        </p:nvSpPr>
        <p:spPr>
          <a:xfrm>
            <a:off x="457200" y="1051560"/>
            <a:ext cx="4206240" cy="37490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Chart: the 17,136 sponsors with 2+ I-865 records in PCIS, by whether all their records share one identityId</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Linked (blue): 17,010 sponsors (99.3%)</a:t>
            </a:r>
            <a:endParaRPr lang="en-US" sz="1250" dirty="0"/>
          </a:p>
          <a:p>
            <a:pPr lvl="1" marL="457200" indent="-228600">
              <a:spcAft>
                <a:spcPts val="400"/>
              </a:spcAft>
              <a:buSzPct val="100000"/>
              <a:buChar char="•"/>
            </a:pPr>
            <a:r>
              <a:rPr lang="en-US" sz="1150" dirty="0">
                <a:solidFill>
                  <a:srgbClr val="595959"/>
                </a:solidFill>
                <a:latin typeface="Calibri" pitchFamily="34" charset="0"/>
                <a:ea typeface="Calibri" pitchFamily="34" charset="-122"/>
                <a:cs typeface="Calibri" pitchFamily="34" charset="-120"/>
              </a:rPr>
              <a:t>Every I-865 record for the sponsor has the same identityId</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Split (red): 126 sponsors (0.7%)</a:t>
            </a:r>
            <a:endParaRPr lang="en-US" sz="1250" dirty="0"/>
          </a:p>
          <a:p>
            <a:pPr lvl="1" marL="457200" indent="-228600">
              <a:spcAft>
                <a:spcPts val="400"/>
              </a:spcAft>
              <a:buSzPct val="100000"/>
              <a:buChar char="•"/>
            </a:pPr>
            <a:r>
              <a:rPr lang="en-US" sz="1150" dirty="0">
                <a:solidFill>
                  <a:srgbClr val="595959"/>
                </a:solidFill>
                <a:latin typeface="Calibri" pitchFamily="34" charset="0"/>
                <a:ea typeface="Calibri" pitchFamily="34" charset="-122"/>
                <a:cs typeface="Calibri" pitchFamily="34" charset="-120"/>
              </a:rPr>
              <a:t>Records carry 2 or more identityIds</a:t>
            </a:r>
            <a:endParaRPr lang="en-US" sz="1250" dirty="0"/>
          </a:p>
          <a:p>
            <a:pPr lvl="1" marL="457200" indent="-228600">
              <a:spcAft>
                <a:spcPts val="400"/>
              </a:spcAft>
              <a:buSzPct val="100000"/>
              <a:buChar char="•"/>
            </a:pPr>
            <a:r>
              <a:rPr lang="en-US" sz="1150" dirty="0">
                <a:solidFill>
                  <a:srgbClr val="595959"/>
                </a:solidFill>
                <a:latin typeface="Calibri" pitchFamily="34" charset="0"/>
                <a:ea typeface="Calibri" pitchFamily="34" charset="-122"/>
                <a:cs typeface="Calibri" pitchFamily="34" charset="-120"/>
              </a:rPr>
              <a:t>88 in 2 identities; 7 in 3; 13 in 4; 18 in 5 or more</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All results are at today's 0.98 threshold</a:t>
            </a:r>
            <a:endParaRPr lang="en-US" sz="1250" dirty="0"/>
          </a:p>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Linked rate is near 100% for each first-filing year, FY1998 to FY2018</a:t>
            </a:r>
            <a:endParaRPr lang="en-US" sz="1250" dirty="0"/>
          </a:p>
        </p:txBody>
      </p:sp>
      <p:graphicFrame>
        <p:nvGraphicFramePr>
          <p:cNvPr id="5" name="Chart 0" descr=""/>
          <p:cNvGraphicFramePr/>
          <p:nvPr/>
        </p:nvGraphicFramePr>
        <p:xfrm>
          <a:off x="4846320" y="1051560"/>
          <a:ext cx="3840480" cy="37490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What is a split pair?</a:t>
            </a:r>
            <a:endParaRPr lang="en-US" sz="2800" dirty="0"/>
          </a:p>
        </p:txBody>
      </p:sp>
      <p:sp>
        <p:nvSpPr>
          <p:cNvPr id="4" name="Text 1"/>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Two I-865 records with the same SSN (same sponsor) that sit in different PCIS identities.</a:t>
            </a:r>
            <a:endParaRPr lang="en-US" sz="1400" dirty="0"/>
          </a:p>
        </p:txBody>
      </p:sp>
      <p:sp>
        <p:nvSpPr>
          <p:cNvPr id="5" name="Text 2"/>
          <p:cNvSpPr txBox="1"/>
          <p:nvPr/>
        </p:nvSpPr>
        <p:spPr>
          <a:xfrm>
            <a:off x="457200" y="1280160"/>
            <a:ext cx="8229600" cy="32004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Example: a sponsor filed three I-865s, records A, B, and C. A and B are in Identity 1; C is in Identity 2.</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943600" cy="914400"/>
        </p:xfrm>
        <a:graphic>
          <a:graphicData uri="http://schemas.openxmlformats.org/drawingml/2006/table">
            <a:tbl>
              <a:tblPr/>
              <a:tblGrid>
                <a:gridCol w="1097280"/>
                <a:gridCol w="1188720"/>
                <a:gridCol w="2286000"/>
                <a:gridCol w="1371600"/>
              </a:tblGrid>
              <a:tr h="29260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Pair</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Same SSN?</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Same identity?</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Split pair?</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29260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 – B</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Yes (both in Identity 1)</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29260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 – C</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29260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B – C</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bl>
          </a:graphicData>
        </a:graphic>
      </p:graphicFrame>
      <p:sp>
        <p:nvSpPr>
          <p:cNvPr id="7" name="Text 3"/>
          <p:cNvSpPr txBox="1"/>
          <p:nvPr/>
        </p:nvSpPr>
        <p:spPr>
          <a:xfrm>
            <a:off x="457200" y="2926080"/>
            <a:ext cx="8229600" cy="27432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This sponsor contributes 2 split pairs.</a:t>
            </a:r>
            <a:endParaRPr lang="en-US" sz="1250" dirty="0"/>
          </a:p>
        </p:txBody>
      </p:sp>
      <p:sp>
        <p:nvSpPr>
          <p:cNvPr id="8" name="Text 4"/>
          <p:cNvSpPr txBox="1"/>
          <p:nvPr/>
        </p:nvSpPr>
        <p:spPr>
          <a:xfrm>
            <a:off x="457200" y="3291840"/>
            <a:ext cx="8229600" cy="1554480"/>
          </a:xfrm>
          <a:prstGeom prst="rect">
            <a:avLst/>
          </a:prstGeom>
          <a:noFill/>
          <a:ln/>
        </p:spPr>
        <p:txBody>
          <a:bodyPr wrap="square" lIns="0" tIns="0" rIns="0" bIns="0" rtlCol="0" anchor="t"/>
          <a:lstStyle/>
          <a:p>
            <a:pPr indent="0" marL="0">
              <a:spcAft>
                <a:spcPts val="300"/>
              </a:spcAft>
              <a:buNone/>
            </a:pPr>
            <a:r>
              <a:rPr lang="en-US" sz="1200" b="1" dirty="0">
                <a:solidFill>
                  <a:srgbClr val="000000"/>
                </a:solidFill>
                <a:latin typeface="Calibri" pitchFamily="34" charset="0"/>
                <a:ea typeface="Calibri" pitchFamily="34" charset="-122"/>
                <a:cs typeface="Calibri" pitchFamily="34" charset="-120"/>
              </a:rPr>
              <a:t>Why 126 split sponsors produce 3,039 pairs</a:t>
            </a:r>
            <a:endParaRPr lang="en-US" sz="1200" dirty="0"/>
          </a:p>
          <a:p>
            <a:pPr marL="342900" indent="-342900">
              <a:buSzPct val="100000"/>
              <a:buChar char="•"/>
            </a:pPr>
            <a:r>
              <a:rPr lang="en-US" sz="1200" dirty="0">
                <a:solidFill>
                  <a:srgbClr val="000000"/>
                </a:solidFill>
                <a:latin typeface="Calibri" pitchFamily="34" charset="0"/>
                <a:ea typeface="Calibri" pitchFamily="34" charset="-122"/>
                <a:cs typeface="Calibri" pitchFamily="34" charset="-120"/>
              </a:rPr>
              <a:t>2 records in 2 identities = 1 split pair</a:t>
            </a:r>
            <a:endParaRPr lang="en-US" sz="1200" dirty="0"/>
          </a:p>
          <a:p>
            <a:pPr marL="342900" indent="-342900">
              <a:buSzPct val="100000"/>
              <a:buChar char="•"/>
            </a:pPr>
            <a:r>
              <a:rPr lang="en-US" sz="1200" dirty="0">
                <a:solidFill>
                  <a:srgbClr val="000000"/>
                </a:solidFill>
                <a:latin typeface="Calibri" pitchFamily="34" charset="0"/>
                <a:ea typeface="Calibri" pitchFamily="34" charset="-122"/>
                <a:cs typeface="Calibri" pitchFamily="34" charset="-120"/>
              </a:rPr>
              <a:t>10 records spread evenly over 5 identities = 40 split pairs</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The 18 sponsors spread over 5+ identities contribute many of the 3,039 pairs, so pair counts and sponsor counts are reported separately</a:t>
            </a:r>
            <a:endParaRPr lang="en-US" sz="1200" dirty="0"/>
          </a:p>
          <a:p>
            <a:pPr indent="0" marL="0">
              <a:buNone/>
            </a:pPr>
            <a:r>
              <a:rPr lang="en-US" sz="1200" b="1" dirty="0">
                <a:solidFill>
                  <a:srgbClr val="000000"/>
                </a:solidFill>
                <a:latin typeface="Calibri" pitchFamily="34" charset="0"/>
                <a:ea typeface="Calibri" pitchFamily="34" charset="-122"/>
                <a:cs typeface="Calibri" pitchFamily="34" charset="-120"/>
              </a:rPr>
              <a:t>Why pairs: </a:t>
            </a:r>
            <a:pPr indent="0" marL="0">
              <a:buNone/>
            </a:pPr>
            <a:r>
              <a:rPr lang="en-US" sz="1200" dirty="0">
                <a:solidFill>
                  <a:srgbClr val="000000"/>
                </a:solidFill>
                <a:latin typeface="Calibri" pitchFamily="34" charset="0"/>
                <a:ea typeface="Calibri" pitchFamily="34" charset="-122"/>
                <a:cs typeface="Calibri" pitchFamily="34" charset="-120"/>
              </a:rPr>
              <a:t>the model scores two records at a time, so each split pair can be checked for a stored score and tested against each threshold.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Q2: Why the split sponsors are split</a:t>
            </a:r>
            <a:endParaRPr lang="en-US" sz="2800" dirty="0"/>
          </a:p>
        </p:txBody>
      </p:sp>
      <p:sp>
        <p:nvSpPr>
          <p:cNvPr id="3" name="Text 1"/>
          <p:cNvSpPr txBox="1"/>
          <p:nvPr/>
        </p:nvSpPr>
        <p:spPr>
          <a:xfrm>
            <a:off x="457200" y="1051560"/>
            <a:ext cx="4206240" cy="37490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Chart: the 3,039 same-SSN record pairs that sit in different identities, grouped by the stored score between the two records</a:t>
            </a:r>
            <a:endParaRPr lang="en-US" sz="1200" dirty="0"/>
          </a:p>
          <a:p>
            <a:pPr marL="342900" indent="-3429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Never compared: 2,135 (70.3%)</a:t>
            </a:r>
            <a:endParaRPr lang="en-US" sz="1200" dirty="0"/>
          </a:p>
          <a:p>
            <a:pPr lvl="1" marL="457200" indent="-228600">
              <a:spcAft>
                <a:spcPts val="400"/>
              </a:spcAft>
              <a:buSzPct val="100000"/>
              <a:buChar char="•"/>
            </a:pPr>
            <a:r>
              <a:rPr lang="en-US" sz="1100" dirty="0">
                <a:solidFill>
                  <a:srgbClr val="595959"/>
                </a:solidFill>
                <a:latin typeface="Calibri" pitchFamily="34" charset="0"/>
                <a:ea typeface="Calibri" pitchFamily="34" charset="-122"/>
                <a:cs typeface="Calibri" pitchFamily="34" charset="-120"/>
              </a:rPr>
              <a:t>No score row exists in either direction; a threshold cannot link records that are never scored</a:t>
            </a:r>
            <a:endParaRPr lang="en-US" sz="1200" dirty="0"/>
          </a:p>
          <a:p>
            <a:pPr marL="342900" indent="-3429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0.98+: 853 (28.1%)</a:t>
            </a:r>
            <a:endParaRPr lang="en-US" sz="1200" dirty="0"/>
          </a:p>
          <a:p>
            <a:pPr lvl="1" marL="457200" indent="-228600">
              <a:spcAft>
                <a:spcPts val="400"/>
              </a:spcAft>
              <a:buSzPct val="100000"/>
              <a:buChar char="•"/>
            </a:pPr>
            <a:r>
              <a:rPr lang="en-US" sz="1100" dirty="0">
                <a:solidFill>
                  <a:srgbClr val="595959"/>
                </a:solidFill>
                <a:latin typeface="Calibri" pitchFamily="34" charset="0"/>
                <a:ea typeface="Calibri" pitchFamily="34" charset="-122"/>
                <a:cs typeface="Calibri" pitchFamily="34" charset="-120"/>
              </a:rPr>
              <a:t>Score meets today's threshold, but the records are in different identities</a:t>
            </a:r>
            <a:endParaRPr lang="en-US" sz="1200" dirty="0"/>
          </a:p>
          <a:p>
            <a:pPr marL="342900" indent="-3429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0.95 to 0.98: 10; 0.90 to 0.95: 8; below 0.90: 33</a:t>
            </a:r>
            <a:endParaRPr lang="en-US" sz="1200" dirty="0"/>
          </a:p>
          <a:p>
            <a:pPr marL="342900" indent="-3429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18 pairs (0.6%) score 0.90 or higher and below 0.98</a:t>
            </a:r>
            <a:endParaRPr lang="en-US" sz="1200" dirty="0"/>
          </a:p>
          <a:p>
            <a:pPr lvl="1" marL="457200" indent="-228600">
              <a:spcAft>
                <a:spcPts val="400"/>
              </a:spcAft>
              <a:buSzPct val="100000"/>
              <a:buChar char="•"/>
            </a:pPr>
            <a:r>
              <a:rPr lang="en-US" sz="1100" dirty="0">
                <a:solidFill>
                  <a:srgbClr val="595959"/>
                </a:solidFill>
                <a:latin typeface="Calibri" pitchFamily="34" charset="0"/>
                <a:ea typeface="Calibri" pitchFamily="34" charset="-122"/>
                <a:cs typeface="Calibri" pitchFamily="34" charset="-120"/>
              </a:rPr>
              <a:t>These are the only pairs a 0.90 threshold would add</a:t>
            </a:r>
            <a:endParaRPr lang="en-US" sz="1200" dirty="0"/>
          </a:p>
        </p:txBody>
      </p:sp>
      <p:graphicFrame>
        <p:nvGraphicFramePr>
          <p:cNvPr id="5" name="Chart 0" descr=""/>
          <p:cNvGraphicFramePr/>
          <p:nvPr/>
        </p:nvGraphicFramePr>
        <p:xfrm>
          <a:off x="4754880" y="1051560"/>
          <a:ext cx="3931920" cy="37490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Q2: The three groups of split pairs</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280160"/>
                <a:gridCol w="1005840"/>
                <a:gridCol w="914400"/>
                <a:gridCol w="5029200"/>
              </a:tblGrid>
              <a:tr h="27432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Group</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Pairs</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Compared?</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What the data shows</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45720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Never compared</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2,135 (70%)</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No score row exists between the two records in either direction. Candidate search never put them side by side, so the model never scored them.</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45720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Already 0.98+</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853 (28%)</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 stored score of 0.98 or higher exists, which meets today's threshold, but the records still carry different identityIds.</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2004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Below 0.98</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51 (2%)</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 score exists but is under today's threshold. 18 of these score 0.90 to 0.98.</a:t>
                      </a:r>
                      <a:endParaRPr lang="en-US" sz="1100" dirty="0">
                        <a:latin typeface="Calibri" charset="0"/>
                        <a:ea typeface="Calibri" charset="0"/>
                        <a:cs typeface="Calibri" charset="0"/>
                      </a:endParaRPr>
                    </a:p>
                  </a:txBody>
                  <a:tcPr marL="45720" marR="45720" marT="45720" marB="45720" anchor="t">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bl>
          </a:graphicData>
        </a:graphic>
      </p:graphicFrame>
      <p:sp>
        <p:nvSpPr>
          <p:cNvPr id="5" name="Text 1"/>
          <p:cNvSpPr txBox="1"/>
          <p:nvPr/>
        </p:nvSpPr>
        <p:spPr>
          <a:xfrm>
            <a:off x="457200" y="2697480"/>
            <a:ext cx="8229600" cy="2194560"/>
          </a:xfrm>
          <a:prstGeom prst="rect">
            <a:avLst/>
          </a:prstGeom>
          <a:noFill/>
          <a:ln/>
        </p:spPr>
        <p:txBody>
          <a:bodyPr wrap="square" lIns="0" tIns="0" rIns="0" bIns="0" rtlCol="0" anchor="t"/>
          <a:lstStyle/>
          <a:p>
            <a:pPr indent="0" marL="0">
              <a:spcAft>
                <a:spcPts val="400"/>
              </a:spcAft>
              <a:buNone/>
            </a:pPr>
            <a:r>
              <a:rPr lang="en-US" sz="1150" b="1" dirty="0">
                <a:solidFill>
                  <a:srgbClr val="000000"/>
                </a:solidFill>
                <a:latin typeface="Calibri" pitchFamily="34" charset="0"/>
                <a:ea typeface="Calibri" pitchFamily="34" charset="-122"/>
                <a:cs typeface="Calibri" pitchFamily="34" charset="-120"/>
              </a:rPr>
              <a:t>Why the 853 are still split: not shown by this data. The scores table records the model's score, not what happened to the identities afterward. Possible explanations:</a:t>
            </a:r>
            <a:endParaRPr lang="en-US" sz="1150" dirty="0"/>
          </a:p>
          <a:p>
            <a:pPr marL="342900" indent="-342900">
              <a:spcAft>
                <a:spcPts val="300"/>
              </a:spcAft>
              <a:buSzPct val="100000"/>
              <a:buChar char="•"/>
            </a:pPr>
            <a:r>
              <a:rPr lang="en-US" sz="1150" dirty="0">
                <a:solidFill>
                  <a:srgbClr val="000000"/>
                </a:solidFill>
                <a:latin typeface="Calibri" pitchFamily="34" charset="0"/>
                <a:ea typeface="Calibri" pitchFamily="34" charset="-122"/>
                <a:cs typeface="Calibri" pitchFamily="34" charset="-120"/>
              </a:rPr>
              <a:t>Timing (race condition): both records processed before either was searchable in OpenSearch; the refresh-lag issue in the Break the Chain work</a:t>
            </a:r>
            <a:endParaRPr lang="en-US" sz="1150" dirty="0"/>
          </a:p>
          <a:p>
            <a:pPr marL="342900" indent="-342900">
              <a:spcAft>
                <a:spcPts val="300"/>
              </a:spcAft>
              <a:buSzPct val="100000"/>
              <a:buChar char="•"/>
            </a:pPr>
            <a:r>
              <a:rPr lang="en-US" sz="1150" dirty="0">
                <a:solidFill>
                  <a:srgbClr val="000000"/>
                </a:solidFill>
                <a:latin typeface="Calibri" pitchFamily="34" charset="0"/>
                <a:ea typeface="Calibri" pitchFamily="34" charset="-122"/>
                <a:cs typeface="Calibri" pitchFamily="34" charset="-120"/>
              </a:rPr>
              <a:t>A later unmerge or manual separation: the records were merged, then split apart again</a:t>
            </a:r>
            <a:endParaRPr lang="en-US" sz="1150" dirty="0"/>
          </a:p>
          <a:p>
            <a:pPr marL="342900" indent="-342900">
              <a:spcAft>
                <a:spcPts val="300"/>
              </a:spcAft>
              <a:buSzPct val="100000"/>
              <a:buChar char="•"/>
            </a:pPr>
            <a:r>
              <a:rPr lang="en-US" sz="1150" dirty="0">
                <a:solidFill>
                  <a:srgbClr val="000000"/>
                </a:solidFill>
                <a:latin typeface="Calibri" pitchFamily="34" charset="0"/>
                <a:ea typeface="Calibri" pitchFamily="34" charset="-122"/>
                <a:cs typeface="Calibri" pitchFamily="34" charset="-120"/>
              </a:rPr>
              <a:t>How identity was read: identityId came from each record's latest row in mv_es_mlaas_scores; if identities were merged after scoring and that table does not reflect it, some of the 853 may be in one identity today, and the split count would be too high</a:t>
            </a:r>
            <a:endParaRPr lang="en-US" sz="1150" dirty="0"/>
          </a:p>
          <a:p>
            <a:pPr indent="0" marL="0">
              <a:buNone/>
            </a:pPr>
            <a:r>
              <a:rPr lang="en-US" sz="1150" i="1" dirty="0">
                <a:solidFill>
                  <a:srgbClr val="595959"/>
                </a:solidFill>
                <a:latin typeface="Calibri" pitchFamily="34" charset="0"/>
                <a:ea typeface="Calibri" pitchFamily="34" charset="-122"/>
                <a:cs typeface="Calibri" pitchFamily="34" charset="-120"/>
              </a:rPr>
              <a:t>Not checked in this study: comparing the 853 pairs (identityIds and score timestamps) against current PCIS identity assignments would show which explanation applies.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Where the threshold values come from</a:t>
            </a:r>
            <a:endParaRPr lang="en-US" sz="2800" dirty="0"/>
          </a:p>
        </p:txBody>
      </p:sp>
      <p:sp>
        <p:nvSpPr>
          <p:cNvPr id="4" name="Text 1"/>
          <p:cNvSpPr txBox="1"/>
          <p:nvPr/>
        </p:nvSpPr>
        <p:spPr>
          <a:xfrm>
            <a:off x="457200" y="1051560"/>
            <a:ext cx="4572000" cy="3657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Source: Confluence, "2026 09 - All Systems Threshold Combinations and Analysis" (David Tegano)</a:t>
            </a:r>
            <a:endParaRPr lang="en-US" sz="1300" dirty="0"/>
          </a:p>
          <a:p>
            <a:pPr marL="342900" indent="-3429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Production today: 0.98 for every pair, regardless of source system</a:t>
            </a:r>
            <a:endParaRPr lang="en-US" sz="1300" dirty="0"/>
          </a:p>
          <a:p>
            <a:pPr marL="342900" indent="-3429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The page proposes a separate threshold for each source system (table at right)</a:t>
            </a:r>
            <a:endParaRPr lang="en-US" sz="1300" dirty="0"/>
          </a:p>
          <a:p>
            <a:pPr marL="342900" indent="-3429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When two records come from different systems, a rule picks which threshold applies; the page describes three rules: top-down, bottom-up, custom</a:t>
            </a:r>
            <a:endParaRPr lang="en-US" sz="1300" dirty="0"/>
          </a:p>
          <a:p>
            <a:pPr marL="342900" indent="-342900">
              <a:buSzPct val="100000"/>
              <a:buChar char="•"/>
            </a:pPr>
            <a:r>
              <a:rPr lang="en-US" sz="1300" dirty="0">
                <a:solidFill>
                  <a:srgbClr val="000000"/>
                </a:solidFill>
                <a:latin typeface="Calibri" pitchFamily="34" charset="0"/>
                <a:ea typeface="Calibri" pitchFamily="34" charset="-122"/>
                <a:cs typeface="Calibri" pitchFamily="34" charset="-120"/>
              </a:rPr>
              <a:t>The 0.95 and 0.90 values asked about in working session 2 come from this page</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0" y="1051560"/>
          <a:ext cx="3200400" cy="914400"/>
        </p:xfrm>
        <a:graphic>
          <a:graphicData uri="http://schemas.openxmlformats.org/drawingml/2006/table">
            <a:tbl>
              <a:tblPr/>
              <a:tblGrid>
                <a:gridCol w="1600200"/>
                <a:gridCol w="1600200"/>
              </a:tblGrid>
              <a:tr h="329184">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Source system</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Proposed threshold</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2918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ar11</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0.98</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2918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camino</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0.98</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2918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c3</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0.98</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2918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c4</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0.98</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2918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cis2</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2918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elis</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2918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global</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2918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cpms</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Threshold policies tested</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868680"/>
                <a:gridCol w="3063240"/>
                <a:gridCol w="1143000"/>
                <a:gridCol w="822960"/>
                <a:gridCol w="1005840"/>
                <a:gridCol w="1325880"/>
              </a:tblGrid>
              <a:tr h="310896">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Policy</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Rule</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Example: ELIS vs CPMS pair</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C3 vs C3 pair</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Split pairs at/above</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Different-SSN pairs at/above</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108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Current</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0.98 for every pair (production today)</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0.98</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0.98</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853</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231</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108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Top-down</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Higher (stricter) of the two systems' thresholds</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0.95</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0.98</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853</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231</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108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Bottom-up</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Lower (looser) of the two systems' thresholds</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0.90</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0.98</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853</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231</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108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Custom</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Bottom-up, but CPMS vs CIS2 and CPMS vs ELIS use 0.95</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0.95</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0.98</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853</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231</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108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Flat 0.95</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0.95 for every pair</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0.95</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0.95</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863</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108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Flat 0.90</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0.90 for every pair</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0.90</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0.90</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871</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marL="91440" marR="91440" marT="45720" marB="4572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bl>
          </a:graphicData>
        </a:graphic>
      </p:graphicFrame>
      <p:sp>
        <p:nvSpPr>
          <p:cNvPr id="5" name="Text 1"/>
          <p:cNvSpPr txBox="1"/>
          <p:nvPr/>
        </p:nvSpPr>
        <p:spPr>
          <a:xfrm>
            <a:off x="457200" y="3611880"/>
            <a:ext cx="8229600" cy="9144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All I-865 records in this study are from C3, so every pair is C3 vs C3. C3 is 0.98 under top-down, bottom-up, and custom, so those rows equal Current.</a:t>
            </a:r>
            <a:endParaRPr lang="en-US" sz="1250" dirty="0"/>
          </a:p>
          <a:p>
            <a:pPr marL="342900" indent="-342900">
              <a:buSzPct val="100000"/>
              <a:buChar char="•"/>
            </a:pPr>
            <a:r>
              <a:rPr lang="en-US" sz="1250" dirty="0">
                <a:solidFill>
                  <a:srgbClr val="000000"/>
                </a:solidFill>
                <a:latin typeface="Calibri" pitchFamily="34" charset="0"/>
                <a:ea typeface="Calibri" pitchFamily="34" charset="-122"/>
                <a:cs typeface="Calibri" pitchFamily="34" charset="-120"/>
              </a:rPr>
              <a:t>Working session 2 asked about 0.95 and 0.90. Top-down, bottom-up, and custom are included because they are part of the same Confluence analysis.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Q3: Cost of lowering the threshold</a:t>
            </a:r>
            <a:endParaRPr lang="en-US" sz="2800" dirty="0"/>
          </a:p>
        </p:txBody>
      </p:sp>
      <p:sp>
        <p:nvSpPr>
          <p:cNvPr id="3" name="Text 1"/>
          <p:cNvSpPr txBox="1"/>
          <p:nvPr/>
        </p:nvSpPr>
        <p:spPr>
          <a:xfrm>
            <a:off x="457200" y="1051560"/>
            <a:ext cx="4206240" cy="37490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Chart: record pairs that would newly meet the threshold at 0.95 and 0.90, compared with today's 0.98</a:t>
            </a:r>
            <a:endParaRPr lang="en-US" sz="1200" dirty="0"/>
          </a:p>
          <a:p>
            <a:pPr marL="342900" indent="-3429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Blue: same-SSN split pairs that would newly meet the threshold</a:t>
            </a:r>
            <a:endParaRPr lang="en-US" sz="1200" dirty="0"/>
          </a:p>
          <a:p>
            <a:pPr marL="342900" indent="-3429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Red: different-SSN I-865 pairs that would newly meet the threshold</a:t>
            </a:r>
            <a:endParaRPr lang="en-US" sz="1200" dirty="0"/>
          </a:p>
          <a:p>
            <a:pPr marL="342900" indent="-3429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Lower to 0.95: +10 blue (863 vs 853), +19 red (250 vs 231)</a:t>
            </a:r>
            <a:endParaRPr lang="en-US" sz="1200" dirty="0"/>
          </a:p>
          <a:p>
            <a:pPr marL="342900" indent="-3429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Lower to 0.90: +18 blue (871 vs 853), +19 red (250 vs 231)</a:t>
            </a:r>
            <a:endParaRPr lang="en-US" sz="1200" dirty="0"/>
          </a:p>
          <a:p>
            <a:pPr marL="342900" indent="-3429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No different-SSN pairs score between 0.90 and 0.95, so red is the same at both</a:t>
            </a:r>
            <a:endParaRPr lang="en-US" sz="1200" dirty="0"/>
          </a:p>
          <a:p>
            <a:pPr marL="342900" indent="-3429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231 different-SSN pairs already score 0.98+ today</a:t>
            </a:r>
            <a:endParaRPr lang="en-US" sz="1200" dirty="0"/>
          </a:p>
          <a:p>
            <a:pPr marL="342900" indent="-3429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Different-SSN counts are score rows and may count a pair in both directions</a:t>
            </a:r>
            <a:endParaRPr lang="en-US" sz="1200" dirty="0"/>
          </a:p>
        </p:txBody>
      </p:sp>
      <p:graphicFrame>
        <p:nvGraphicFramePr>
          <p:cNvPr id="5" name="Chart 0" descr=""/>
          <p:cNvGraphicFramePr/>
          <p:nvPr/>
        </p:nvGraphicFramePr>
        <p:xfrm>
          <a:off x="4846320" y="1051560"/>
          <a:ext cx="3840480" cy="37490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IDEN-45868 Sponsor Identity Study</dc:title>
  <dc:subject>PptxGenJS Presentation</dc:subject>
  <dc:creator>PptxGenJS</dc:creator>
  <cp:lastModifiedBy>PptxGenJS</cp:lastModifiedBy>
  <cp:revision>1</cp:revision>
  <dcterms:created xsi:type="dcterms:W3CDTF">2026-10-06T11:41:31Z</dcterms:created>
  <dcterms:modified xsi:type="dcterms:W3CDTF">2026-10-06T11:41:31Z</dcterms:modified>
</cp:coreProperties>
</file>