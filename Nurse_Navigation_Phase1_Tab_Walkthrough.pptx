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Nurse Navigation - Phase 1: Executive Summary</a:t>
            </a:r>
            <a:endParaRPr lang="en-US" sz="2800" dirty="0"/>
          </a:p>
        </p:txBody>
      </p:sp>
      <p:sp>
        <p:nvSpPr>
          <p:cNvPr id="3" name="Text 1"/>
          <p:cNvSpPr/>
          <p:nvPr/>
        </p:nvSpPr>
        <p:spPr>
          <a:xfrm>
            <a:off x="548640" y="1143000"/>
            <a:ext cx="11064240" cy="320040"/>
          </a:xfrm>
          <a:prstGeom prst="rect">
            <a:avLst/>
          </a:prstGeom>
          <a:noFill/>
          <a:ln/>
        </p:spPr>
        <p:txBody>
          <a:bodyPr wrap="square"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The problem</a:t>
            </a:r>
            <a:endParaRPr lang="en-US" sz="1500" dirty="0"/>
          </a:p>
        </p:txBody>
      </p:sp>
      <p:sp>
        <p:nvSpPr>
          <p:cNvPr id="4" name="Text 2"/>
          <p:cNvSpPr/>
          <p:nvPr/>
        </p:nvSpPr>
        <p:spPr>
          <a:xfrm>
            <a:off x="685800" y="1508760"/>
            <a:ext cx="10927080" cy="621792"/>
          </a:xfrm>
          <a:prstGeom prst="rect">
            <a:avLst/>
          </a:prstGeom>
          <a:noFill/>
          <a:ln/>
        </p:spPr>
        <p:txBody>
          <a:bodyPr wrap="square" rtlCol="0" anchor="t"/>
          <a:lstStyle/>
          <a:p>
            <a:pPr marL="342900" indent="-342900">
              <a:lnSpc>
                <a:spcPts val="1700"/>
              </a:lnSpc>
              <a:spcAft>
                <a:spcPts val="700"/>
              </a:spcAft>
              <a:buSzPct val="100000"/>
              <a:buChar char="•"/>
            </a:pPr>
            <a:r>
              <a:rPr lang="en-US" sz="1300" dirty="0">
                <a:solidFill>
                  <a:srgbClr val="000000"/>
                </a:solidFill>
                <a:latin typeface="Calibri" pitchFamily="34" charset="0"/>
                <a:ea typeface="Calibri" pitchFamily="34" charset="-122"/>
                <a:cs typeface="Calibri" pitchFamily="34" charset="-120"/>
              </a:rPr>
              <a:t>The current system records where each patient was sent, but not why. The reason for each navigation decision exists only in free-text nurse notes and cannot be reported at scale.</a:t>
            </a:r>
            <a:endParaRPr lang="en-US" sz="1300" dirty="0"/>
          </a:p>
        </p:txBody>
      </p:sp>
      <p:sp>
        <p:nvSpPr>
          <p:cNvPr id="5" name="Text 3"/>
          <p:cNvSpPr/>
          <p:nvPr/>
        </p:nvSpPr>
        <p:spPr>
          <a:xfrm>
            <a:off x="548640" y="2386584"/>
            <a:ext cx="11064240" cy="320040"/>
          </a:xfrm>
          <a:prstGeom prst="rect">
            <a:avLst/>
          </a:prstGeom>
          <a:noFill/>
          <a:ln/>
        </p:spPr>
        <p:txBody>
          <a:bodyPr wrap="square"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How the findings were produced</a:t>
            </a:r>
            <a:endParaRPr lang="en-US" sz="1500" dirty="0"/>
          </a:p>
        </p:txBody>
      </p:sp>
      <p:sp>
        <p:nvSpPr>
          <p:cNvPr id="6" name="Text 4"/>
          <p:cNvSpPr/>
          <p:nvPr/>
        </p:nvSpPr>
        <p:spPr>
          <a:xfrm>
            <a:off x="685800" y="2752344"/>
            <a:ext cx="10927080" cy="1645920"/>
          </a:xfrm>
          <a:prstGeom prst="rect">
            <a:avLst/>
          </a:prstGeom>
          <a:noFill/>
          <a:ln/>
        </p:spPr>
        <p:txBody>
          <a:bodyPr wrap="square" rtlCol="0" anchor="t"/>
          <a:lstStyle/>
          <a:p>
            <a:pPr marL="342900" indent="-342900">
              <a:lnSpc>
                <a:spcPts val="1700"/>
              </a:lnSpc>
              <a:spcAft>
                <a:spcPts val="700"/>
              </a:spcAft>
              <a:buSzPct val="100000"/>
              <a:buChar char="•"/>
            </a:pPr>
            <a:r>
              <a:rPr lang="en-US" sz="1300" dirty="0">
                <a:solidFill>
                  <a:srgbClr val="000000"/>
                </a:solidFill>
                <a:latin typeface="Calibri" pitchFamily="34" charset="0"/>
                <a:ea typeface="Calibri" pitchFamily="34" charset="-122"/>
                <a:cs typeface="Calibri" pitchFamily="34" charset="-120"/>
              </a:rPr>
              <a:t>5,708 historical calls from January 2025 through February 2025 (two months) were analyzed. Each call was sorted into one of four groups from its recorded disposition code and triage level (0 to 6).</a:t>
            </a:r>
            <a:endParaRPr lang="en-US" sz="1300" dirty="0"/>
          </a:p>
          <a:p>
            <a:pPr marL="342900" indent="-342900">
              <a:lnSpc>
                <a:spcPts val="1700"/>
              </a:lnSpc>
              <a:spcAft>
                <a:spcPts val="700"/>
              </a:spcAft>
              <a:buSzPct val="100000"/>
              <a:buChar char="•"/>
            </a:pPr>
            <a:r>
              <a:rPr lang="en-US" sz="1300" dirty="0">
                <a:solidFill>
                  <a:srgbClr val="000000"/>
                </a:solidFill>
                <a:latin typeface="Calibri" pitchFamily="34" charset="0"/>
                <a:ea typeface="Calibri" pitchFamily="34" charset="-122"/>
                <a:cs typeface="Calibri" pitchFamily="34" charset="-120"/>
              </a:rPr>
              <a:t>For the three groups of interest, an AI model read the free-text note on a sample of calls and extracted the documented reason for each decision, with a direct quote behind every finding.</a:t>
            </a:r>
            <a:endParaRPr lang="en-US" sz="1300" dirty="0"/>
          </a:p>
          <a:p>
            <a:pPr marL="342900" indent="-342900">
              <a:lnSpc>
                <a:spcPts val="1700"/>
              </a:lnSpc>
              <a:spcAft>
                <a:spcPts val="700"/>
              </a:spcAft>
              <a:buSzPct val="100000"/>
              <a:buChar char="•"/>
            </a:pPr>
            <a:r>
              <a:rPr lang="en-US" sz="1300" dirty="0">
                <a:solidFill>
                  <a:srgbClr val="000000"/>
                </a:solidFill>
                <a:latin typeface="Calibri" pitchFamily="34" charset="0"/>
                <a:ea typeface="Calibri" pitchFamily="34" charset="-122"/>
                <a:cs typeface="Calibri" pitchFamily="34" charset="-120"/>
              </a:rPr>
              <a:t>The AI reads and abstracts facts from the notes; a fixed rule set assigns the categories. Results were compared against the disposition codes the current system already records.</a:t>
            </a:r>
            <a:endParaRPr lang="en-US" sz="1300" dirty="0"/>
          </a:p>
        </p:txBody>
      </p:sp>
      <p:sp>
        <p:nvSpPr>
          <p:cNvPr id="7" name="Text 5"/>
          <p:cNvSpPr/>
          <p:nvPr/>
        </p:nvSpPr>
        <p:spPr>
          <a:xfrm>
            <a:off x="548640" y="4654296"/>
            <a:ext cx="11064240" cy="320040"/>
          </a:xfrm>
          <a:prstGeom prst="rect">
            <a:avLst/>
          </a:prstGeom>
          <a:noFill/>
          <a:ln/>
        </p:spPr>
        <p:txBody>
          <a:bodyPr wrap="square"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Key findings</a:t>
            </a:r>
            <a:endParaRPr lang="en-US" sz="1500" dirty="0"/>
          </a:p>
        </p:txBody>
      </p:sp>
      <p:sp>
        <p:nvSpPr>
          <p:cNvPr id="8" name="Text 6"/>
          <p:cNvSpPr/>
          <p:nvPr/>
        </p:nvSpPr>
        <p:spPr>
          <a:xfrm>
            <a:off x="685800" y="5020056"/>
            <a:ext cx="10927080" cy="1389888"/>
          </a:xfrm>
          <a:prstGeom prst="rect">
            <a:avLst/>
          </a:prstGeom>
          <a:noFill/>
          <a:ln/>
        </p:spPr>
        <p:txBody>
          <a:bodyPr wrap="square" rtlCol="0" anchor="t"/>
          <a:lstStyle/>
          <a:p>
            <a:pPr marL="342900" indent="-342900">
              <a:lnSpc>
                <a:spcPts val="1700"/>
              </a:lnSpc>
              <a:spcAft>
                <a:spcPts val="700"/>
              </a:spcAft>
              <a:buSzPct val="100000"/>
              <a:buChar char="•"/>
            </a:pPr>
            <a:r>
              <a:rPr lang="en-US" sz="1300" dirty="0">
                <a:solidFill>
                  <a:srgbClr val="000000"/>
                </a:solidFill>
                <a:latin typeface="Calibri" pitchFamily="34" charset="0"/>
                <a:ea typeface="Calibri" pitchFamily="34" charset="-122"/>
                <a:cs typeface="Calibri" pitchFamily="34" charset="-120"/>
              </a:rPr>
              <a:t>Self-care: of the self-care calls read, 90.2% were patient-managed (71.1% stayed home, 19.1% arranged their own ride); 9.9% were program-arranged or the note did not state who arranged the ride.</a:t>
            </a:r>
            <a:endParaRPr lang="en-US" sz="1300" dirty="0"/>
          </a:p>
          <a:p>
            <a:pPr marL="342900" indent="-342900">
              <a:lnSpc>
                <a:spcPts val="1700"/>
              </a:lnSpc>
              <a:spcAft>
                <a:spcPts val="700"/>
              </a:spcAft>
              <a:buSzPct val="100000"/>
              <a:buChar char="•"/>
            </a:pPr>
            <a:r>
              <a:rPr lang="en-US" sz="1300" dirty="0">
                <a:solidFill>
                  <a:srgbClr val="000000"/>
                </a:solidFill>
                <a:latin typeface="Calibri" pitchFamily="34" charset="0"/>
                <a:ea typeface="Calibri" pitchFamily="34" charset="-122"/>
                <a:cs typeface="Calibri" pitchFamily="34" charset="-120"/>
              </a:rPr>
              <a:t>Triage not completed: 60.5% of these calls were the patient declining to answer the triage questions.</a:t>
            </a:r>
            <a:endParaRPr lang="en-US" sz="1300" dirty="0"/>
          </a:p>
          <a:p>
            <a:pPr marL="342900" indent="-342900">
              <a:lnSpc>
                <a:spcPts val="1700"/>
              </a:lnSpc>
              <a:spcAft>
                <a:spcPts val="700"/>
              </a:spcAft>
              <a:buSzPct val="100000"/>
              <a:buChar char="•"/>
            </a:pPr>
            <a:r>
              <a:rPr lang="en-US" sz="1300" dirty="0">
                <a:solidFill>
                  <a:srgbClr val="000000"/>
                </a:solidFill>
                <a:latin typeface="Calibri" pitchFamily="34" charset="0"/>
                <a:ea typeface="Calibri" pitchFamily="34" charset="-122"/>
                <a:cs typeface="Calibri" pitchFamily="34" charset="-120"/>
              </a:rPr>
              <a:t>Ambulance overrides: 72.6% were the nurse escalating on clinical judgement; patient-driven reasons were 31.8%.</a:t>
            </a:r>
            <a:endParaRPr lang="en-US" sz="1300" dirty="0"/>
          </a:p>
          <a:p>
            <a:pPr marL="342900" indent="-342900">
              <a:lnSpc>
                <a:spcPts val="1700"/>
              </a:lnSpc>
              <a:spcAft>
                <a:spcPts val="700"/>
              </a:spcAft>
              <a:buSzPct val="100000"/>
              <a:buChar char="•"/>
            </a:pPr>
            <a:r>
              <a:rPr lang="en-US" sz="1300" dirty="0">
                <a:solidFill>
                  <a:srgbClr val="000000"/>
                </a:solidFill>
                <a:latin typeface="Calibri" pitchFamily="34" charset="0"/>
                <a:ea typeface="Calibri" pitchFamily="34" charset="-122"/>
                <a:cs typeface="Calibri" pitchFamily="34" charset="-120"/>
              </a:rPr>
              <a:t>Agreement with system codes: 92.9% for emergency-department outcomes, 76.9% for self-care.</a:t>
            </a:r>
            <a:endParaRPr lang="en-US" sz="1300" dirty="0"/>
          </a:p>
        </p:txBody>
      </p:sp>
      <p:sp>
        <p:nvSpPr>
          <p:cNvPr id="9" name="Text 7"/>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NMTARA 6 = triage acuity level 6, meaning triage was not completed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How the Analysis Was Built</a:t>
            </a:r>
            <a:endParaRPr lang="en-US" sz="2800" dirty="0"/>
          </a:p>
        </p:txBody>
      </p:sp>
      <p:sp>
        <p:nvSpPr>
          <p:cNvPr id="3" name="Text 1"/>
          <p:cNvSpPr/>
          <p:nvPr/>
        </p:nvSpPr>
        <p:spPr>
          <a:xfrm>
            <a:off x="548640" y="1325880"/>
            <a:ext cx="11064240" cy="5212080"/>
          </a:xfrm>
          <a:prstGeom prst="rect">
            <a:avLst/>
          </a:prstGeom>
          <a:noFill/>
          <a:ln/>
        </p:spPr>
        <p:txBody>
          <a:bodyPr wrap="square" rtlCol="0" anchor="t"/>
          <a:lstStyle/>
          <a:p>
            <a:pPr marL="342900" indent="-342900">
              <a:lnSpc>
                <a:spcPts val="2100"/>
              </a:lnSpc>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Source data: 5,708 historical nurse-navigation calls covering January 2025 through February 2025 (two months), each with a recorded disposition code, a triage level, and a free-text nurse note.</a:t>
            </a:r>
            <a:endParaRPr lang="en-US" sz="1400" dirty="0"/>
          </a:p>
          <a:p>
            <a:pPr marL="342900" indent="-342900">
              <a:lnSpc>
                <a:spcPts val="2100"/>
              </a:lnSpc>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Step 1 - cleaning: records that document only operational actions (for example a nurse calling a facility to confirm a ride, with no patient contact) were separated out and excluded.</a:t>
            </a:r>
            <a:endParaRPr lang="en-US" sz="1400" dirty="0"/>
          </a:p>
          <a:p>
            <a:pPr marL="342900" indent="-342900">
              <a:lnSpc>
                <a:spcPts val="2100"/>
              </a:lnSpc>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Step 2 - sorting: four ordered rules assign every call to exactly one group using the disposition code and triage level (detailed on the Bucket Sizes slide).</a:t>
            </a:r>
            <a:endParaRPr lang="en-US" sz="1400" dirty="0"/>
          </a:p>
          <a:p>
            <a:pPr marL="342900" indent="-342900">
              <a:lnSpc>
                <a:spcPts val="2100"/>
              </a:lnSpc>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Step 3 - abstraction: for the three groups of interest, an AI model read a sample of notes and returned only facts stated in the note, each with a supporting quote. It did not infer or fill gaps.</a:t>
            </a:r>
            <a:endParaRPr lang="en-US" sz="1400" dirty="0"/>
          </a:p>
          <a:p>
            <a:pPr marL="342900" indent="-342900">
              <a:lnSpc>
                <a:spcPts val="2100"/>
              </a:lnSpc>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Step 4 - assignment: a fixed rule set turned those extracted facts into categories, kept separate from the AI so the rules can change without re-reading the notes.</a:t>
            </a:r>
            <a:endParaRPr lang="en-US" sz="1400" dirty="0"/>
          </a:p>
          <a:p>
            <a:pPr marL="342900" indent="-342900">
              <a:lnSpc>
                <a:spcPts val="2100"/>
              </a:lnSpc>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Step 5 - checking: the AI categories were compared against the disposition codes the current system records, and against a set of cases coded by hand.</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500" b="1" dirty="0">
                <a:solidFill>
                  <a:srgbClr val="000000"/>
                </a:solidFill>
                <a:latin typeface="Calibri" pitchFamily="34" charset="0"/>
                <a:ea typeface="Calibri" pitchFamily="34" charset="-122"/>
                <a:cs typeface="Calibri" pitchFamily="34" charset="-120"/>
              </a:rPr>
              <a:t>Bucket Sizes</a:t>
            </a:r>
            <a:endParaRPr lang="en-US" sz="2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11064240" cy="914400"/>
        </p:xfrm>
        <a:graphic>
          <a:graphicData uri="http://schemas.openxmlformats.org/drawingml/2006/table">
            <a:tbl>
              <a:tblPr/>
              <a:tblGrid>
                <a:gridCol w="5486400"/>
                <a:gridCol w="2788920"/>
                <a:gridCol w="2788920"/>
              </a:tblGrid>
              <a:tr h="27432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Group</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Calls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 of navigations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Other</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3,008</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52.7%</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1-5 ambulance override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1,365</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23.9%</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NMTARA 6 (triage not completed)</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692</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12.1%</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Self-care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643</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11.3%</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4" name="Text 1"/>
          <p:cNvSpPr/>
          <p:nvPr/>
        </p:nvSpPr>
        <p:spPr>
          <a:xfrm>
            <a:off x="548640" y="2560320"/>
            <a:ext cx="11064240" cy="146304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How it was derived: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Source: all 5,708 calls from January 2025 through February 2025 (two months). Each carries a disposition code the nurse selected and a triage level from 0 to 6. Four rules run in order on every call: (1) triage level 6 makes it 'triage not completed'; (2) otherwise, triage level 1 to 5 with an ambulance disposition makes it an 'ambulance override'; (3) otherwise, a self-care disposition makes it 'self-care'; (4) every remaining call is 'Other'. A call stops at the first rule it matches, so no call is counted in two groups. Each percentage is the group's call count divided by 5,708.</a:t>
            </a:r>
            <a:endParaRPr lang="en-US" sz="1200" dirty="0"/>
          </a:p>
        </p:txBody>
      </p:sp>
      <p:sp>
        <p:nvSpPr>
          <p:cNvPr id="5" name="Text 2"/>
          <p:cNvSpPr/>
          <p:nvPr/>
        </p:nvSpPr>
        <p:spPr>
          <a:xfrm>
            <a:off x="548640" y="4014216"/>
            <a:ext cx="11064240" cy="128016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What the numbers show: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The three groups analyzed total 47.3% of calls (1,365 + 692 + 643 = 2,700). Other is 52.7% (3,008 calls): triage was completed and the disposition was consistent with the triage level, so there is no reason to explain.</a:t>
            </a:r>
            <a:endParaRPr lang="en-US" sz="1200" dirty="0"/>
          </a:p>
        </p:txBody>
      </p:sp>
      <p:sp>
        <p:nvSpPr>
          <p:cNvPr id="6" name="Text 3"/>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NMTARA 6 = triage acuity level 6, meaning triage was not completed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400" b="1" dirty="0">
                <a:solidFill>
                  <a:srgbClr val="000000"/>
                </a:solidFill>
                <a:latin typeface="Calibri" pitchFamily="34" charset="0"/>
                <a:ea typeface="Calibri" pitchFamily="34" charset="-122"/>
                <a:cs typeface="Calibri" pitchFamily="34" charset="-120"/>
              </a:rPr>
              <a:t>Bucket Sizes - Example</a:t>
            </a:r>
            <a:endParaRPr lang="en-US" sz="2400" dirty="0"/>
          </a:p>
        </p:txBody>
      </p:sp>
      <p:sp>
        <p:nvSpPr>
          <p:cNvPr id="3" name="Text 1"/>
          <p:cNvSpPr/>
          <p:nvPr/>
        </p:nvSpPr>
        <p:spPr>
          <a:xfrm>
            <a:off x="548640" y="914400"/>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Example input</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25296"/>
          <a:ext cx="11064240" cy="914400"/>
        </p:xfrm>
        <a:graphic>
          <a:graphicData uri="http://schemas.openxmlformats.org/drawingml/2006/table">
            <a:tbl>
              <a:tblPr/>
              <a:tblGrid>
                <a:gridCol w="1188720"/>
                <a:gridCol w="2011680"/>
                <a:gridCol w="3108960"/>
                <a:gridCol w="4754880"/>
              </a:tblGrid>
              <a:tr h="274320">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Call</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Triage level</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Disposition code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Lands in</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BLS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Triage not completed</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BLS Ambulance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Ambulance override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Self Care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Self-care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Urgent Care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Other</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5" name="Text 2"/>
          <p:cNvSpPr/>
          <p:nvPr/>
        </p:nvSpPr>
        <p:spPr>
          <a:xfrm>
            <a:off x="548640" y="2852928"/>
            <a:ext cx="548640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The logic</a:t>
            </a:r>
            <a:endParaRPr lang="en-US" sz="1300" dirty="0"/>
          </a:p>
        </p:txBody>
      </p:sp>
      <p:sp>
        <p:nvSpPr>
          <p:cNvPr id="6" name="Shape 3"/>
          <p:cNvSpPr/>
          <p:nvPr/>
        </p:nvSpPr>
        <p:spPr>
          <a:xfrm>
            <a:off x="548640" y="3145536"/>
            <a:ext cx="11064240" cy="1293876"/>
          </a:xfrm>
          <a:prstGeom prst="rect">
            <a:avLst/>
          </a:prstGeom>
          <a:solidFill>
            <a:srgbClr val="F0F0F0"/>
          </a:solidFill>
          <a:ln w="9525">
            <a:solidFill>
              <a:srgbClr val="D6D6D6"/>
            </a:solidFill>
            <a:prstDash val="solid"/>
          </a:ln>
        </p:spPr>
      </p:sp>
      <p:sp>
        <p:nvSpPr>
          <p:cNvPr id="7" name="Text 4"/>
          <p:cNvSpPr/>
          <p:nvPr/>
        </p:nvSpPr>
        <p:spPr>
          <a:xfrm>
            <a:off x="685800" y="3236976"/>
            <a:ext cx="10789920" cy="1110996"/>
          </a:xfrm>
          <a:prstGeom prst="rect">
            <a:avLst/>
          </a:prstGeom>
          <a:noFill/>
          <a:ln/>
        </p:spPr>
        <p:txBody>
          <a:bodyPr wrap="square" rtlCol="0" anchor="t"/>
          <a:lstStyle/>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FOR each call:</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  IF triage level = 6                              -&gt; Triage not completed</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  ELSE IF triage level is 1-5 AND disposition is an ambulance -&gt; Ambulance override</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  ELSE IF disposition is self-care                 -&gt; Self-care</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  ELSE                                             -&gt; Other</a:t>
            </a:r>
            <a:endParaRPr lang="en-US" sz="1100" dirty="0"/>
          </a:p>
        </p:txBody>
      </p:sp>
      <p:sp>
        <p:nvSpPr>
          <p:cNvPr id="8" name="Text 5"/>
          <p:cNvSpPr/>
          <p:nvPr/>
        </p:nvSpPr>
        <p:spPr>
          <a:xfrm>
            <a:off x="548640" y="4668012"/>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Applied to the example</a:t>
            </a:r>
            <a:endParaRPr lang="en-US" sz="1300" dirty="0"/>
          </a:p>
        </p:txBody>
      </p:sp>
      <p:sp>
        <p:nvSpPr>
          <p:cNvPr id="9" name="Text 6"/>
          <p:cNvSpPr/>
          <p:nvPr/>
        </p:nvSpPr>
        <p:spPr>
          <a:xfrm>
            <a:off x="685800" y="4978908"/>
            <a:ext cx="10927080" cy="1005840"/>
          </a:xfrm>
          <a:prstGeom prst="rect">
            <a:avLst/>
          </a:prstGeom>
          <a:noFill/>
          <a:ln/>
        </p:spPr>
        <p:txBody>
          <a:bodyPr wrap="square" rtlCol="0" anchor="t"/>
          <a:lstStyle/>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Call A: triage level is 6, so it stops at rule 1 -&gt; Triage not completed.</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Call B: not level 6; level 3 with an ambulance disposition -&gt; rule 2 -&gt; Ambulance override.</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Call C: not level 6; not an ambulance; self-care disposition -&gt; rule 3 -&gt; Self-care.</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Call D: none of the first three rules apply -&gt; Other.</a:t>
            </a:r>
            <a:endParaRPr lang="en-US" sz="1200" dirty="0"/>
          </a:p>
        </p:txBody>
      </p:sp>
      <p:sp>
        <p:nvSpPr>
          <p:cNvPr id="10" name="Text 7"/>
          <p:cNvSpPr/>
          <p:nvPr/>
        </p:nvSpPr>
        <p:spPr>
          <a:xfrm>
            <a:off x="548640" y="6076188"/>
            <a:ext cx="11064240" cy="457200"/>
          </a:xfrm>
          <a:prstGeom prst="rect">
            <a:avLst/>
          </a:prstGeom>
          <a:noFill/>
          <a:ln/>
        </p:spPr>
        <p:txBody>
          <a:bodyPr wrap="square" rtlCol="0" anchor="t"/>
          <a:lstStyle/>
          <a:p>
            <a:pPr indent="0" marL="0">
              <a:buNone/>
            </a:pPr>
            <a:r>
              <a:rPr lang="en-US" sz="1200" b="1" dirty="0">
                <a:solidFill>
                  <a:srgbClr val="000000"/>
                </a:solidFill>
                <a:latin typeface="Calibri" pitchFamily="34" charset="0"/>
                <a:ea typeface="Calibri" pitchFamily="34" charset="-122"/>
                <a:cs typeface="Calibri" pitchFamily="34" charset="-120"/>
              </a:rPr>
              <a:t>Result:  </a:t>
            </a:r>
            <a:pPr indent="0" marL="0">
              <a:buNone/>
            </a:pPr>
            <a:r>
              <a:rPr lang="en-US" sz="1200" dirty="0">
                <a:solidFill>
                  <a:srgbClr val="000000"/>
                </a:solidFill>
                <a:latin typeface="Calibri" pitchFamily="34" charset="0"/>
                <a:ea typeface="Calibri" pitchFamily="34" charset="-122"/>
                <a:cs typeface="Calibri" pitchFamily="34" charset="-120"/>
              </a:rPr>
              <a:t>Count the calls in each group across all 5,708 and divide. Example: 643 self-care / 5,708 = 11.3%.</a:t>
            </a:r>
            <a:endParaRPr lang="en-US" sz="1200" dirty="0"/>
          </a:p>
        </p:txBody>
      </p:sp>
      <p:sp>
        <p:nvSpPr>
          <p:cNvPr id="11" name="Text 8"/>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BLS = Basic Life Support ambulance    NMTARA 6 = triage acuity level 6, meaning triage was not completed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500" b="1" dirty="0">
                <a:solidFill>
                  <a:srgbClr val="000000"/>
                </a:solidFill>
                <a:latin typeface="Calibri" pitchFamily="34" charset="0"/>
                <a:ea typeface="Calibri" pitchFamily="34" charset="-122"/>
                <a:cs typeface="Calibri" pitchFamily="34" charset="-120"/>
              </a:rPr>
              <a:t>Self-Care by Ride</a:t>
            </a:r>
            <a:endParaRPr lang="en-US" sz="2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11064240" cy="914400"/>
        </p:xfrm>
        <a:graphic>
          <a:graphicData uri="http://schemas.openxmlformats.org/drawingml/2006/table">
            <a:tbl>
              <a:tblPr/>
              <a:tblGrid>
                <a:gridCol w="6583680"/>
                <a:gridCol w="2240280"/>
                <a:gridCol w="2240280"/>
              </a:tblGrid>
              <a:tr h="27432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Category</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 of self-care read</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Calls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No ride - stayed home (self-care)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71.1%</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108</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Patient / family arranged ride (self-care)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19.1%</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29</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Program / nurse arranged ride (not self-care)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6.6%</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Ride not attributed - assumed program (not self-care)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3.3%</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4" name="Text 1"/>
          <p:cNvSpPr/>
          <p:nvPr/>
        </p:nvSpPr>
        <p:spPr>
          <a:xfrm>
            <a:off x="548640" y="2560320"/>
            <a:ext cx="11064240" cy="146304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How it was derived: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Source: the calls the system coded as self-care. The AI read the note for each call in the sample (152 calls) and determined whether the patient stayed home with no care sought, and if a ride occurred, who arranged it. A ride counts as patient- or family-arranged only when the note names the patient or family (for example 'patient ordered own Lyft'). When the note says a ride was ordered without naming who, the ride is classified as program-arranged. Each call falls into exactly one category. Percentages are category count divided by 152.</a:t>
            </a:r>
            <a:endParaRPr lang="en-US" sz="1200" dirty="0"/>
          </a:p>
        </p:txBody>
      </p:sp>
      <p:sp>
        <p:nvSpPr>
          <p:cNvPr id="5" name="Text 2"/>
          <p:cNvSpPr/>
          <p:nvPr/>
        </p:nvSpPr>
        <p:spPr>
          <a:xfrm>
            <a:off x="548640" y="4014216"/>
            <a:ext cx="11064240" cy="128016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What the numbers show: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90.2% of the self-care calls read were patient-managed: 71.1% (108) stayed home, 19.1% (29) arranged their own ride. 9.9% were program-arranged (6.6%, 10) or unattributed (3.3%, 5). The 5 unattributed calls are notes that recorded a ride without naming who ordered it.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400" b="1" dirty="0">
                <a:solidFill>
                  <a:srgbClr val="000000"/>
                </a:solidFill>
                <a:latin typeface="Calibri" pitchFamily="34" charset="0"/>
                <a:ea typeface="Calibri" pitchFamily="34" charset="-122"/>
                <a:cs typeface="Calibri" pitchFamily="34" charset="-120"/>
              </a:rPr>
              <a:t>Self-Care by Ride - Example</a:t>
            </a:r>
            <a:endParaRPr lang="en-US" sz="2400" dirty="0"/>
          </a:p>
        </p:txBody>
      </p:sp>
      <p:sp>
        <p:nvSpPr>
          <p:cNvPr id="3" name="Text 1"/>
          <p:cNvSpPr/>
          <p:nvPr/>
        </p:nvSpPr>
        <p:spPr>
          <a:xfrm>
            <a:off x="548640" y="914400"/>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Example input</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25296"/>
          <a:ext cx="11064240" cy="914400"/>
        </p:xfrm>
        <a:graphic>
          <a:graphicData uri="http://schemas.openxmlformats.org/drawingml/2006/table">
            <a:tbl>
              <a:tblPr/>
              <a:tblGrid>
                <a:gridCol w="6400800"/>
                <a:gridCol w="4663440"/>
              </a:tblGrid>
              <a:tr h="274320">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Note excerpt</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Classified as</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"Advised self-care, patient will monitor at home."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Stayed home (self-care)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"Patient ordered own Lyft to urgent care."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Patient arranged (self-care)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"Ride ordered to ED."</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Unattributed - assumed program (not self-care)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"Nurse arranged transport to ER."</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Program arranged (not self-care)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5" name="Text 2"/>
          <p:cNvSpPr/>
          <p:nvPr/>
        </p:nvSpPr>
        <p:spPr>
          <a:xfrm>
            <a:off x="548640" y="2852928"/>
            <a:ext cx="548640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The logic</a:t>
            </a:r>
            <a:endParaRPr lang="en-US" sz="1300" dirty="0"/>
          </a:p>
        </p:txBody>
      </p:sp>
      <p:sp>
        <p:nvSpPr>
          <p:cNvPr id="6" name="Shape 3"/>
          <p:cNvSpPr/>
          <p:nvPr/>
        </p:nvSpPr>
        <p:spPr>
          <a:xfrm>
            <a:off x="548640" y="3145536"/>
            <a:ext cx="11064240" cy="1078992"/>
          </a:xfrm>
          <a:prstGeom prst="rect">
            <a:avLst/>
          </a:prstGeom>
          <a:solidFill>
            <a:srgbClr val="F0F0F0"/>
          </a:solidFill>
          <a:ln w="9525">
            <a:solidFill>
              <a:srgbClr val="D6D6D6"/>
            </a:solidFill>
            <a:prstDash val="solid"/>
          </a:ln>
        </p:spPr>
      </p:sp>
      <p:sp>
        <p:nvSpPr>
          <p:cNvPr id="7" name="Text 4"/>
          <p:cNvSpPr/>
          <p:nvPr/>
        </p:nvSpPr>
        <p:spPr>
          <a:xfrm>
            <a:off x="685800" y="3236976"/>
            <a:ext cx="10789920" cy="896112"/>
          </a:xfrm>
          <a:prstGeom prst="rect">
            <a:avLst/>
          </a:prstGeom>
          <a:noFill/>
          <a:ln/>
        </p:spPr>
        <p:txBody>
          <a:bodyPr wrap="square" rtlCol="0" anchor="t"/>
          <a:lstStyle/>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IF patient stayed home (no care sought)              -&gt; Self-care</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ELSE IF note names patient or family arranging ride  -&gt; Self-care</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ELSE IF note says program or nurse arranged ride     -&gt; Not self-care</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ELSE IF note says a ride was ordered (no name given) -&gt; Assume program -&gt; Not self-care</a:t>
            </a:r>
            <a:endParaRPr lang="en-US" sz="1100" dirty="0"/>
          </a:p>
        </p:txBody>
      </p:sp>
      <p:sp>
        <p:nvSpPr>
          <p:cNvPr id="8" name="Text 5"/>
          <p:cNvSpPr/>
          <p:nvPr/>
        </p:nvSpPr>
        <p:spPr>
          <a:xfrm>
            <a:off x="548640" y="4453128"/>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Applied to the example</a:t>
            </a:r>
            <a:endParaRPr lang="en-US" sz="1300" dirty="0"/>
          </a:p>
        </p:txBody>
      </p:sp>
      <p:sp>
        <p:nvSpPr>
          <p:cNvPr id="9" name="Text 6"/>
          <p:cNvSpPr/>
          <p:nvPr/>
        </p:nvSpPr>
        <p:spPr>
          <a:xfrm>
            <a:off x="685800" y="4764024"/>
            <a:ext cx="10927080" cy="1005840"/>
          </a:xfrm>
          <a:prstGeom prst="rect">
            <a:avLst/>
          </a:prstGeom>
          <a:noFill/>
          <a:ln/>
        </p:spPr>
        <p:txBody>
          <a:bodyPr wrap="square" rtlCol="0" anchor="t"/>
          <a:lstStyle/>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Row 1: no ride, patient stays home -&gt; Self-care.</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Row 2: the note names the patient arranging the Lyft -&gt; Self-care.</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Row 3: a ride was ordered but no one is named -&gt; assumed program-arranged -&gt; Not self-care.</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Row 4: the note says the nurse arranged it -&gt; Not self-care.</a:t>
            </a:r>
            <a:endParaRPr lang="en-US" sz="1200" dirty="0"/>
          </a:p>
        </p:txBody>
      </p:sp>
      <p:sp>
        <p:nvSpPr>
          <p:cNvPr id="10" name="Text 7"/>
          <p:cNvSpPr/>
          <p:nvPr/>
        </p:nvSpPr>
        <p:spPr>
          <a:xfrm>
            <a:off x="548640" y="5861304"/>
            <a:ext cx="11064240" cy="457200"/>
          </a:xfrm>
          <a:prstGeom prst="rect">
            <a:avLst/>
          </a:prstGeom>
          <a:noFill/>
          <a:ln/>
        </p:spPr>
        <p:txBody>
          <a:bodyPr wrap="square" rtlCol="0" anchor="t"/>
          <a:lstStyle/>
          <a:p>
            <a:pPr indent="0" marL="0">
              <a:buNone/>
            </a:pPr>
            <a:r>
              <a:rPr lang="en-US" sz="1200" b="1" dirty="0">
                <a:solidFill>
                  <a:srgbClr val="000000"/>
                </a:solidFill>
                <a:latin typeface="Calibri" pitchFamily="34" charset="0"/>
                <a:ea typeface="Calibri" pitchFamily="34" charset="-122"/>
                <a:cs typeface="Calibri" pitchFamily="34" charset="-120"/>
              </a:rPr>
              <a:t>Result:  </a:t>
            </a:r>
            <a:pPr indent="0" marL="0">
              <a:buNone/>
            </a:pPr>
            <a:r>
              <a:rPr lang="en-US" sz="1200" dirty="0">
                <a:solidFill>
                  <a:srgbClr val="000000"/>
                </a:solidFill>
                <a:latin typeface="Calibri" pitchFamily="34" charset="0"/>
                <a:ea typeface="Calibri" pitchFamily="34" charset="-122"/>
                <a:cs typeface="Calibri" pitchFamily="34" charset="-120"/>
              </a:rPr>
              <a:t>Each category count divided by the 152 self-care calls read. Example: 29 patient-arranged / 152 = 19.1%.</a:t>
            </a:r>
            <a:endParaRPr lang="en-US" sz="1200" dirty="0"/>
          </a:p>
        </p:txBody>
      </p:sp>
      <p:sp>
        <p:nvSpPr>
          <p:cNvPr id="11" name="Text 8"/>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ED = Emergency Department    ER = Emergency Room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500" b="1" dirty="0">
                <a:solidFill>
                  <a:srgbClr val="000000"/>
                </a:solidFill>
                <a:latin typeface="Calibri" pitchFamily="34" charset="0"/>
                <a:ea typeface="Calibri" pitchFamily="34" charset="-122"/>
                <a:cs typeface="Calibri" pitchFamily="34" charset="-120"/>
              </a:rPr>
              <a:t>NMTARA 6 Reasons (Triage Not Completed)</a:t>
            </a:r>
            <a:endParaRPr lang="en-US" sz="2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11064240" cy="914400"/>
        </p:xfrm>
        <a:graphic>
          <a:graphicData uri="http://schemas.openxmlformats.org/drawingml/2006/table">
            <a:tbl>
              <a:tblPr/>
              <a:tblGrid>
                <a:gridCol w="3108960"/>
                <a:gridCol w="5943600"/>
                <a:gridCol w="2011680"/>
              </a:tblGrid>
              <a:tr h="27432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Reason</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 of calls read</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Patient refused triage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Would not answer the triage questions (typically wanted the ER)</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60.5%</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Patient unable to participate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Could not take part (confused, unresponsive, or intoxicated)</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19.1%</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Call disconnected or technical</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The call dropped or hit a technical problem</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17.9%</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Caller was not patient</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The caller was someone other than the patient</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9.3%</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Protocol exclusion</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The protocol did not allow triage for this type of call</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4" name="Text 1"/>
          <p:cNvSpPr/>
          <p:nvPr/>
        </p:nvSpPr>
        <p:spPr>
          <a:xfrm>
            <a:off x="548640" y="2834640"/>
            <a:ext cx="11064240" cy="146304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How it was derived: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Source: calls coded NMTARA 6. For each call in the sample, the AI extracted which of five documented reasons appear in the note, each backed by a direct quote. A call can carry more than one reason. Each percentage is the count of sampled NMTARA 6 calls where that reason appears, divided by the number of sampled NMTARA 6 calls. The total exceeds 100% because reasons co-occur in the same note.</a:t>
            </a:r>
            <a:endParaRPr lang="en-US" sz="1200" dirty="0"/>
          </a:p>
        </p:txBody>
      </p:sp>
      <p:sp>
        <p:nvSpPr>
          <p:cNvPr id="5" name="Text 2"/>
          <p:cNvSpPr/>
          <p:nvPr/>
        </p:nvSpPr>
        <p:spPr>
          <a:xfrm>
            <a:off x="548640" y="3858768"/>
            <a:ext cx="11064240" cy="128016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What the numbers show: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60.5% of these calls were the patient declining the triage questions. Next were the patient unable to participate (19.1%), the call dropping (17.9%), and the caller not being the patient (9.3%). Protocol exclusion was rare (0.6%).</a:t>
            </a:r>
            <a:endParaRPr lang="en-US" sz="1200" dirty="0"/>
          </a:p>
        </p:txBody>
      </p:sp>
      <p:sp>
        <p:nvSpPr>
          <p:cNvPr id="6" name="Text 3"/>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NMTARA 6 = triage acuity level 6, meaning triage was not completed    ER = Emergency Room</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400" b="1" dirty="0">
                <a:solidFill>
                  <a:srgbClr val="000000"/>
                </a:solidFill>
                <a:latin typeface="Calibri" pitchFamily="34" charset="0"/>
                <a:ea typeface="Calibri" pitchFamily="34" charset="-122"/>
                <a:cs typeface="Calibri" pitchFamily="34" charset="-120"/>
              </a:rPr>
              <a:t>NMTARA 6 Reasons - Example</a:t>
            </a:r>
            <a:endParaRPr lang="en-US" sz="2400" dirty="0"/>
          </a:p>
        </p:txBody>
      </p:sp>
      <p:sp>
        <p:nvSpPr>
          <p:cNvPr id="3" name="Text 1"/>
          <p:cNvSpPr/>
          <p:nvPr/>
        </p:nvSpPr>
        <p:spPr>
          <a:xfrm>
            <a:off x="548640" y="914400"/>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Example input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25296"/>
          <a:ext cx="11064240" cy="914400"/>
        </p:xfrm>
        <a:graphic>
          <a:graphicData uri="http://schemas.openxmlformats.org/drawingml/2006/table">
            <a:tbl>
              <a:tblPr/>
              <a:tblGrid>
                <a:gridCol w="4937760"/>
                <a:gridCol w="6126480"/>
              </a:tblGrid>
              <a:tr h="274320">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Note excerpt</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Reasons the AI marks TRUE (with quote)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"Pt refused to answer questions, insisted on going to ED."</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Patient refused triage ("refused to answer questions")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"Caller was daughter; patient unresponsive in background."</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Caller was not patient ("caller was daughter"); Patient unable to participate ("patient unresponsive")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5" name="Text 2"/>
          <p:cNvSpPr/>
          <p:nvPr/>
        </p:nvSpPr>
        <p:spPr>
          <a:xfrm>
            <a:off x="548640" y="2304288"/>
            <a:ext cx="548640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The logic</a:t>
            </a:r>
            <a:endParaRPr lang="en-US" sz="1300" dirty="0"/>
          </a:p>
        </p:txBody>
      </p:sp>
      <p:sp>
        <p:nvSpPr>
          <p:cNvPr id="6" name="Shape 3"/>
          <p:cNvSpPr/>
          <p:nvPr/>
        </p:nvSpPr>
        <p:spPr>
          <a:xfrm>
            <a:off x="548640" y="2596896"/>
            <a:ext cx="11064240" cy="1293876"/>
          </a:xfrm>
          <a:prstGeom prst="rect">
            <a:avLst/>
          </a:prstGeom>
          <a:solidFill>
            <a:srgbClr val="F0F0F0"/>
          </a:solidFill>
          <a:ln w="9525">
            <a:solidFill>
              <a:srgbClr val="D6D6D6"/>
            </a:solidFill>
            <a:prstDash val="solid"/>
          </a:ln>
        </p:spPr>
      </p:sp>
      <p:sp>
        <p:nvSpPr>
          <p:cNvPr id="7" name="Text 4"/>
          <p:cNvSpPr/>
          <p:nvPr/>
        </p:nvSpPr>
        <p:spPr>
          <a:xfrm>
            <a:off x="685800" y="2688336"/>
            <a:ext cx="10789920" cy="1110996"/>
          </a:xfrm>
          <a:prstGeom prst="rect">
            <a:avLst/>
          </a:prstGeom>
          <a:noFill/>
          <a:ln/>
        </p:spPr>
        <p:txBody>
          <a:bodyPr wrap="square" rtlCol="0" anchor="t"/>
          <a:lstStyle/>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FOR each NMTARA 6 call:</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  AI reads the note and marks a reason TRUE only if the note states it,</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  with a supporting quote. A call can have more than one reason.</a:t>
            </a:r>
            <a:endParaRPr lang="en-US" sz="1100" dirty="0"/>
          </a:p>
          <a:p>
            <a:pPr indent="0" marL="0">
              <a:lnSpc>
                <a:spcPts val="1400"/>
              </a:lnSpc>
              <a:spcAft>
                <a:spcPts val="100"/>
              </a:spcAft>
              <a:buNone/>
            </a:pP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Percentage of a reason = calls where reason = TRUE / NMTARA 6 calls read</a:t>
            </a:r>
            <a:endParaRPr lang="en-US" sz="1100" dirty="0"/>
          </a:p>
        </p:txBody>
      </p:sp>
      <p:sp>
        <p:nvSpPr>
          <p:cNvPr id="8" name="Text 5"/>
          <p:cNvSpPr/>
          <p:nvPr/>
        </p:nvSpPr>
        <p:spPr>
          <a:xfrm>
            <a:off x="548640" y="4119372"/>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Applied to the example</a:t>
            </a:r>
            <a:endParaRPr lang="en-US" sz="1300" dirty="0"/>
          </a:p>
        </p:txBody>
      </p:sp>
      <p:sp>
        <p:nvSpPr>
          <p:cNvPr id="9" name="Text 6"/>
          <p:cNvSpPr/>
          <p:nvPr/>
        </p:nvSpPr>
        <p:spPr>
          <a:xfrm>
            <a:off x="685800" y="4430268"/>
            <a:ext cx="10927080" cy="777240"/>
          </a:xfrm>
          <a:prstGeom prst="rect">
            <a:avLst/>
          </a:prstGeom>
          <a:noFill/>
          <a:ln/>
        </p:spPr>
        <p:txBody>
          <a:bodyPr wrap="square" rtlCol="0" anchor="t"/>
          <a:lstStyle/>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Note 1 has one reason: patient refused triage.</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Note 2 has two reasons: caller was not patient AND patient unable to participate.</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Because note 2 counts toward two categories, the reason percentages total more than 100%.</a:t>
            </a:r>
            <a:endParaRPr lang="en-US" sz="1200" dirty="0"/>
          </a:p>
        </p:txBody>
      </p:sp>
      <p:sp>
        <p:nvSpPr>
          <p:cNvPr id="10" name="Text 7"/>
          <p:cNvSpPr/>
          <p:nvPr/>
        </p:nvSpPr>
        <p:spPr>
          <a:xfrm>
            <a:off x="548640" y="5298948"/>
            <a:ext cx="11064240" cy="457200"/>
          </a:xfrm>
          <a:prstGeom prst="rect">
            <a:avLst/>
          </a:prstGeom>
          <a:noFill/>
          <a:ln/>
        </p:spPr>
        <p:txBody>
          <a:bodyPr wrap="square" rtlCol="0" anchor="t"/>
          <a:lstStyle/>
          <a:p>
            <a:pPr indent="0" marL="0">
              <a:buNone/>
            </a:pPr>
            <a:r>
              <a:rPr lang="en-US" sz="1200" b="1" dirty="0">
                <a:solidFill>
                  <a:srgbClr val="000000"/>
                </a:solidFill>
                <a:latin typeface="Calibri" pitchFamily="34" charset="0"/>
                <a:ea typeface="Calibri" pitchFamily="34" charset="-122"/>
                <a:cs typeface="Calibri" pitchFamily="34" charset="-120"/>
              </a:rPr>
              <a:t>Result:  </a:t>
            </a:r>
            <a:pPr indent="0" marL="0">
              <a:buNone/>
            </a:pPr>
            <a:r>
              <a:rPr lang="en-US" sz="1200" dirty="0">
                <a:solidFill>
                  <a:srgbClr val="000000"/>
                </a:solidFill>
                <a:latin typeface="Calibri" pitchFamily="34" charset="0"/>
                <a:ea typeface="Calibri" pitchFamily="34" charset="-122"/>
                <a:cs typeface="Calibri" pitchFamily="34" charset="-120"/>
              </a:rPr>
              <a:t>Example: patient-refused-triage is TRUE in 60.5% of the NMTARA 6 calls read.</a:t>
            </a:r>
            <a:endParaRPr lang="en-US" sz="1200" dirty="0"/>
          </a:p>
        </p:txBody>
      </p:sp>
      <p:sp>
        <p:nvSpPr>
          <p:cNvPr id="11" name="Text 8"/>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NMTARA 6 = triage acuity level 6, meaning triage was not completed    ED = Emergency Department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500" b="1" dirty="0">
                <a:solidFill>
                  <a:srgbClr val="000000"/>
                </a:solidFill>
                <a:latin typeface="Calibri" pitchFamily="34" charset="0"/>
                <a:ea typeface="Calibri" pitchFamily="34" charset="-122"/>
                <a:cs typeface="Calibri" pitchFamily="34" charset="-120"/>
              </a:rPr>
              <a:t>Override Reasons</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11064240" cy="914400"/>
        </p:xfrm>
        <a:graphic>
          <a:graphicData uri="http://schemas.openxmlformats.org/drawingml/2006/table">
            <a:tbl>
              <a:tblPr/>
              <a:tblGrid>
                <a:gridCol w="3291840"/>
                <a:gridCol w="5760720"/>
                <a:gridCol w="2011680"/>
              </a:tblGrid>
              <a:tr h="27432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Reason</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 of override calls read</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Clinical escalation by nurse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The nurse escalated on clinical judgement</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72.6%</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Patient requested ambulance or ED</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The patient asked for an ambulance or the ER</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28.0%</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Mobility or transport barrier</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Could not get there another way (bedbound, no transport)</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20.4%</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Patient refused recommendation</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Declined the recommended lower-acuity option</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11.5%</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No provider available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No provider or facility was available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0.6%</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4" name="Text 1"/>
          <p:cNvSpPr/>
          <p:nvPr/>
        </p:nvSpPr>
        <p:spPr>
          <a:xfrm>
            <a:off x="548640" y="2834640"/>
            <a:ext cx="11064240" cy="146304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How it was derived: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Source: calls classified as 1-5 ambulance overrides. For each call in the sample, the AI extracted which documented reasons appear in the note, each backed by a quote. A call can carry more than one reason. Each percentage is the count of sampled override calls where that reason appears, divided by the number of sampled override calls. Five reasons at 0% (facility closed, no appointment, device or procedure, cost, language) are not shown.</a:t>
            </a:r>
            <a:endParaRPr lang="en-US" sz="1200" dirty="0"/>
          </a:p>
        </p:txBody>
      </p:sp>
      <p:sp>
        <p:nvSpPr>
          <p:cNvPr id="5" name="Text 2"/>
          <p:cNvSpPr/>
          <p:nvPr/>
        </p:nvSpPr>
        <p:spPr>
          <a:xfrm>
            <a:off x="548640" y="4073652"/>
            <a:ext cx="11064240" cy="128016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What the numbers show: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72.6% of override calls were the nurse escalating on clinical judgement. Patient-driven reasons followed: requested an ambulance or the ER (28.0%) and refused the recommendation (11.5%). A mobility or transport barrier appeared in 20.4%.</a:t>
            </a:r>
            <a:endParaRPr lang="en-US" sz="1200" dirty="0"/>
          </a:p>
        </p:txBody>
      </p:sp>
      <p:sp>
        <p:nvSpPr>
          <p:cNvPr id="6" name="Text 3"/>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ED = Emergency Department    ER = Emergency Room</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400" b="1" dirty="0">
                <a:solidFill>
                  <a:srgbClr val="000000"/>
                </a:solidFill>
                <a:latin typeface="Calibri" pitchFamily="34" charset="0"/>
                <a:ea typeface="Calibri" pitchFamily="34" charset="-122"/>
                <a:cs typeface="Calibri" pitchFamily="34" charset="-120"/>
              </a:rPr>
              <a:t>Override Reasons - Example</a:t>
            </a:r>
            <a:endParaRPr lang="en-US" sz="2400" dirty="0"/>
          </a:p>
        </p:txBody>
      </p:sp>
      <p:sp>
        <p:nvSpPr>
          <p:cNvPr id="3" name="Text 1"/>
          <p:cNvSpPr/>
          <p:nvPr/>
        </p:nvSpPr>
        <p:spPr>
          <a:xfrm>
            <a:off x="548640" y="914400"/>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Example input</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25296"/>
          <a:ext cx="11064240" cy="914400"/>
        </p:xfrm>
        <a:graphic>
          <a:graphicData uri="http://schemas.openxmlformats.org/drawingml/2006/table">
            <a:tbl>
              <a:tblPr/>
              <a:tblGrid>
                <a:gridCol w="5852160"/>
                <a:gridCol w="5212080"/>
              </a:tblGrid>
              <a:tr h="274320">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Note excerpt</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Reasons the AI marks TRUE (with quote)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"Triage indicated urgent care. Patient bedbound, unable to travel. Nurse escalated to BLS ambulance."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Clinical escalation by nurse ("nurse escalated"); Mobility or transport barrier ("bedbound, unable to travel")</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5" name="Text 2"/>
          <p:cNvSpPr/>
          <p:nvPr/>
        </p:nvSpPr>
        <p:spPr>
          <a:xfrm>
            <a:off x="548640" y="2029968"/>
            <a:ext cx="548640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The logic</a:t>
            </a:r>
            <a:endParaRPr lang="en-US" sz="1300" dirty="0"/>
          </a:p>
        </p:txBody>
      </p:sp>
      <p:sp>
        <p:nvSpPr>
          <p:cNvPr id="6" name="Shape 3"/>
          <p:cNvSpPr/>
          <p:nvPr/>
        </p:nvSpPr>
        <p:spPr>
          <a:xfrm>
            <a:off x="548640" y="2322576"/>
            <a:ext cx="11064240" cy="1293876"/>
          </a:xfrm>
          <a:prstGeom prst="rect">
            <a:avLst/>
          </a:prstGeom>
          <a:solidFill>
            <a:srgbClr val="F0F0F0"/>
          </a:solidFill>
          <a:ln w="9525">
            <a:solidFill>
              <a:srgbClr val="D6D6D6"/>
            </a:solidFill>
            <a:prstDash val="solid"/>
          </a:ln>
        </p:spPr>
      </p:sp>
      <p:sp>
        <p:nvSpPr>
          <p:cNvPr id="7" name="Text 4"/>
          <p:cNvSpPr/>
          <p:nvPr/>
        </p:nvSpPr>
        <p:spPr>
          <a:xfrm>
            <a:off x="685800" y="2414016"/>
            <a:ext cx="10789920" cy="1110996"/>
          </a:xfrm>
          <a:prstGeom prst="rect">
            <a:avLst/>
          </a:prstGeom>
          <a:noFill/>
          <a:ln/>
        </p:spPr>
        <p:txBody>
          <a:bodyPr wrap="square" rtlCol="0" anchor="t"/>
          <a:lstStyle/>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FOR each override call:</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  AI marks each reason TRUE only if the note states it, with a quote.</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  A call can carry more than one reason.</a:t>
            </a:r>
            <a:endParaRPr lang="en-US" sz="1100" dirty="0"/>
          </a:p>
          <a:p>
            <a:pPr indent="0" marL="0">
              <a:lnSpc>
                <a:spcPts val="1400"/>
              </a:lnSpc>
              <a:spcAft>
                <a:spcPts val="100"/>
              </a:spcAft>
              <a:buNone/>
            </a:pP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Percentage of a reason = override calls where reason = TRUE / override calls read</a:t>
            </a:r>
            <a:endParaRPr lang="en-US" sz="1100" dirty="0"/>
          </a:p>
        </p:txBody>
      </p:sp>
      <p:sp>
        <p:nvSpPr>
          <p:cNvPr id="8" name="Text 5"/>
          <p:cNvSpPr/>
          <p:nvPr/>
        </p:nvSpPr>
        <p:spPr>
          <a:xfrm>
            <a:off x="548640" y="3845052"/>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Applied to the example</a:t>
            </a:r>
            <a:endParaRPr lang="en-US" sz="1300" dirty="0"/>
          </a:p>
        </p:txBody>
      </p:sp>
      <p:sp>
        <p:nvSpPr>
          <p:cNvPr id="9" name="Text 6"/>
          <p:cNvSpPr/>
          <p:nvPr/>
        </p:nvSpPr>
        <p:spPr>
          <a:xfrm>
            <a:off x="685800" y="4155948"/>
            <a:ext cx="10927080" cy="777240"/>
          </a:xfrm>
          <a:prstGeom prst="rect">
            <a:avLst/>
          </a:prstGeom>
          <a:noFill/>
          <a:ln/>
        </p:spPr>
        <p:txBody>
          <a:bodyPr wrap="square" rtlCol="0" anchor="t"/>
          <a:lstStyle/>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This note carries two reasons: clinical escalation by nurse AND mobility or transport barrier.</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The call counts toward both categories.</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Because calls like this carry multiple reasons, the column totals more than 100%.</a:t>
            </a:r>
            <a:endParaRPr lang="en-US" sz="1200" dirty="0"/>
          </a:p>
        </p:txBody>
      </p:sp>
      <p:sp>
        <p:nvSpPr>
          <p:cNvPr id="10" name="Text 7"/>
          <p:cNvSpPr/>
          <p:nvPr/>
        </p:nvSpPr>
        <p:spPr>
          <a:xfrm>
            <a:off x="548640" y="5024628"/>
            <a:ext cx="11064240" cy="457200"/>
          </a:xfrm>
          <a:prstGeom prst="rect">
            <a:avLst/>
          </a:prstGeom>
          <a:noFill/>
          <a:ln/>
        </p:spPr>
        <p:txBody>
          <a:bodyPr wrap="square" rtlCol="0" anchor="t"/>
          <a:lstStyle/>
          <a:p>
            <a:pPr indent="0" marL="0">
              <a:buNone/>
            </a:pPr>
            <a:r>
              <a:rPr lang="en-US" sz="1200" b="1" dirty="0">
                <a:solidFill>
                  <a:srgbClr val="000000"/>
                </a:solidFill>
                <a:latin typeface="Calibri" pitchFamily="34" charset="0"/>
                <a:ea typeface="Calibri" pitchFamily="34" charset="-122"/>
                <a:cs typeface="Calibri" pitchFamily="34" charset="-120"/>
              </a:rPr>
              <a:t>Result:  </a:t>
            </a:r>
            <a:pPr indent="0" marL="0">
              <a:buNone/>
            </a:pPr>
            <a:r>
              <a:rPr lang="en-US" sz="1200" dirty="0">
                <a:solidFill>
                  <a:srgbClr val="000000"/>
                </a:solidFill>
                <a:latin typeface="Calibri" pitchFamily="34" charset="0"/>
                <a:ea typeface="Calibri" pitchFamily="34" charset="-122"/>
                <a:cs typeface="Calibri" pitchFamily="34" charset="-120"/>
              </a:rPr>
              <a:t>Example: clinical-escalation is TRUE in 72.6% of the override calls read.</a:t>
            </a:r>
            <a:endParaRPr lang="en-US" sz="1200" dirty="0"/>
          </a:p>
        </p:txBody>
      </p:sp>
      <p:sp>
        <p:nvSpPr>
          <p:cNvPr id="11" name="Text 8"/>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BLS = Basic Life Support ambulance    ED = Emergency Department</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500" b="1" dirty="0">
                <a:solidFill>
                  <a:srgbClr val="000000"/>
                </a:solidFill>
                <a:latin typeface="Calibri" pitchFamily="34" charset="0"/>
                <a:ea typeface="Calibri" pitchFamily="34" charset="-122"/>
                <a:cs typeface="Calibri" pitchFamily="34" charset="-120"/>
              </a:rPr>
              <a:t>Override Driver Split</a:t>
            </a:r>
            <a:endParaRPr lang="en-US" sz="2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11064240" cy="914400"/>
        </p:xfrm>
        <a:graphic>
          <a:graphicData uri="http://schemas.openxmlformats.org/drawingml/2006/table">
            <a:tbl>
              <a:tblPr/>
              <a:tblGrid>
                <a:gridCol w="7315200"/>
                <a:gridCol w="3749040"/>
              </a:tblGrid>
              <a:tr h="27432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Driver group</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 of override calls read</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Nurse / clinical</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72.6%</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Patient</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31.8%</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Access / logistics</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21.0%</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Calls with more than one reason</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32.5%</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4" name="Text 1"/>
          <p:cNvSpPr/>
          <p:nvPr/>
        </p:nvSpPr>
        <p:spPr>
          <a:xfrm>
            <a:off x="548640" y="2560320"/>
            <a:ext cx="11064240" cy="146304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How it was derived: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The ten override reasons are mapped to three groups: nurse/clinical (clinical escalation); patient (requested ambulance or ED, refused recommendation); and access/logistics (no provider, facility closed, no appointment, mobility or transport, device or procedure, cost, language). A call counts toward a group if any reason in that group appears in its note, so one call can count toward more than one group. The final row is the share of override calls carrying more than one documented reason. Denominator for each row is the number of sampled override calls.</a:t>
            </a:r>
            <a:endParaRPr lang="en-US" sz="1200" dirty="0"/>
          </a:p>
        </p:txBody>
      </p:sp>
      <p:sp>
        <p:nvSpPr>
          <p:cNvPr id="5" name="Text 2"/>
          <p:cNvSpPr/>
          <p:nvPr/>
        </p:nvSpPr>
        <p:spPr>
          <a:xfrm>
            <a:off x="548640" y="4014216"/>
            <a:ext cx="11064240" cy="128016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What the numbers show: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The nurse/clinical group appears in 72.6% of override calls; the patient group in 31.8%; access/logistics in 21.0%. 32.5% of override calls carry more than one reason, which is why the individual reason percentages total over 100%.</a:t>
            </a:r>
            <a:endParaRPr lang="en-US" sz="1200" dirty="0"/>
          </a:p>
        </p:txBody>
      </p:sp>
      <p:sp>
        <p:nvSpPr>
          <p:cNvPr id="6" name="Text 3"/>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ED = Emergency Department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400" b="1" dirty="0">
                <a:solidFill>
                  <a:srgbClr val="000000"/>
                </a:solidFill>
                <a:latin typeface="Calibri" pitchFamily="34" charset="0"/>
                <a:ea typeface="Calibri" pitchFamily="34" charset="-122"/>
                <a:cs typeface="Calibri" pitchFamily="34" charset="-120"/>
              </a:rPr>
              <a:t>Override Driver Split - Example</a:t>
            </a:r>
            <a:endParaRPr lang="en-US" sz="2400" dirty="0"/>
          </a:p>
        </p:txBody>
      </p:sp>
      <p:sp>
        <p:nvSpPr>
          <p:cNvPr id="3" name="Text 1"/>
          <p:cNvSpPr/>
          <p:nvPr/>
        </p:nvSpPr>
        <p:spPr>
          <a:xfrm>
            <a:off x="548640" y="914400"/>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Example input</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25296"/>
          <a:ext cx="11064240" cy="914400"/>
        </p:xfrm>
        <a:graphic>
          <a:graphicData uri="http://schemas.openxmlformats.org/drawingml/2006/table">
            <a:tbl>
              <a:tblPr/>
              <a:tblGrid>
                <a:gridCol w="6400800"/>
                <a:gridCol w="4663440"/>
              </a:tblGrid>
              <a:tr h="274320">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Reason</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Group it maps to</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Clinical escalation by nurse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Nurse / clinical</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Patient requested ambulance or ED / refused recommendation</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Patient</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No provider, closed, no appointment, mobility, device, cost, language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Access / logistics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5" name="Text 2"/>
          <p:cNvSpPr/>
          <p:nvPr/>
        </p:nvSpPr>
        <p:spPr>
          <a:xfrm>
            <a:off x="548640" y="2578608"/>
            <a:ext cx="548640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The logic</a:t>
            </a:r>
            <a:endParaRPr lang="en-US" sz="1300" dirty="0"/>
          </a:p>
        </p:txBody>
      </p:sp>
      <p:sp>
        <p:nvSpPr>
          <p:cNvPr id="6" name="Shape 3"/>
          <p:cNvSpPr/>
          <p:nvPr/>
        </p:nvSpPr>
        <p:spPr>
          <a:xfrm>
            <a:off x="548640" y="2871216"/>
            <a:ext cx="11064240" cy="1508760"/>
          </a:xfrm>
          <a:prstGeom prst="rect">
            <a:avLst/>
          </a:prstGeom>
          <a:solidFill>
            <a:srgbClr val="F0F0F0"/>
          </a:solidFill>
          <a:ln w="9525">
            <a:solidFill>
              <a:srgbClr val="D6D6D6"/>
            </a:solidFill>
            <a:prstDash val="solid"/>
          </a:ln>
        </p:spPr>
      </p:sp>
      <p:sp>
        <p:nvSpPr>
          <p:cNvPr id="7" name="Text 4"/>
          <p:cNvSpPr/>
          <p:nvPr/>
        </p:nvSpPr>
        <p:spPr>
          <a:xfrm>
            <a:off x="685800" y="2962656"/>
            <a:ext cx="10789920" cy="1325880"/>
          </a:xfrm>
          <a:prstGeom prst="rect">
            <a:avLst/>
          </a:prstGeom>
          <a:noFill/>
          <a:ln/>
        </p:spPr>
        <p:txBody>
          <a:bodyPr wrap="square" rtlCol="0" anchor="t"/>
          <a:lstStyle/>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Example call has reasons: { Clinical escalation, Mobility barrier }</a:t>
            </a:r>
            <a:endParaRPr lang="en-US" sz="1100" dirty="0"/>
          </a:p>
          <a:p>
            <a:pPr indent="0" marL="0">
              <a:lnSpc>
                <a:spcPts val="1400"/>
              </a:lnSpc>
              <a:spcAft>
                <a:spcPts val="100"/>
              </a:spcAft>
              <a:buNone/>
            </a:pP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Nurse / clinical group  -&gt; YES (clinical escalation present)</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Patient group           -&gt; no</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Access / logistics group-&gt; YES (mobility barrier present)</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More than one reason    -&gt; YES (two reasons)</a:t>
            </a:r>
            <a:endParaRPr lang="en-US" sz="1100" dirty="0"/>
          </a:p>
        </p:txBody>
      </p:sp>
      <p:sp>
        <p:nvSpPr>
          <p:cNvPr id="8" name="Text 5"/>
          <p:cNvSpPr/>
          <p:nvPr/>
        </p:nvSpPr>
        <p:spPr>
          <a:xfrm>
            <a:off x="548640" y="4608576"/>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Applied to the example</a:t>
            </a:r>
            <a:endParaRPr lang="en-US" sz="1300" dirty="0"/>
          </a:p>
        </p:txBody>
      </p:sp>
      <p:sp>
        <p:nvSpPr>
          <p:cNvPr id="9" name="Text 6"/>
          <p:cNvSpPr/>
          <p:nvPr/>
        </p:nvSpPr>
        <p:spPr>
          <a:xfrm>
            <a:off x="685800" y="4919472"/>
            <a:ext cx="10927080" cy="777240"/>
          </a:xfrm>
          <a:prstGeom prst="rect">
            <a:avLst/>
          </a:prstGeom>
          <a:noFill/>
          <a:ln/>
        </p:spPr>
        <p:txBody>
          <a:bodyPr wrap="square" rtlCol="0" anchor="t"/>
          <a:lstStyle/>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This one call counts toward both the Nurse/clinical group and the Access/logistics group.</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It also counts in the 'more than one reason' row.</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A group's percentage = override calls with any reason in that group / override calls read.</a:t>
            </a:r>
            <a:endParaRPr lang="en-US" sz="1200" dirty="0"/>
          </a:p>
        </p:txBody>
      </p:sp>
      <p:sp>
        <p:nvSpPr>
          <p:cNvPr id="10" name="Text 7"/>
          <p:cNvSpPr/>
          <p:nvPr/>
        </p:nvSpPr>
        <p:spPr>
          <a:xfrm>
            <a:off x="548640" y="5788152"/>
            <a:ext cx="11064240" cy="457200"/>
          </a:xfrm>
          <a:prstGeom prst="rect">
            <a:avLst/>
          </a:prstGeom>
          <a:noFill/>
          <a:ln/>
        </p:spPr>
        <p:txBody>
          <a:bodyPr wrap="square" rtlCol="0" anchor="t"/>
          <a:lstStyle/>
          <a:p>
            <a:pPr indent="0" marL="0">
              <a:buNone/>
            </a:pPr>
            <a:r>
              <a:rPr lang="en-US" sz="1200" b="1" dirty="0">
                <a:solidFill>
                  <a:srgbClr val="000000"/>
                </a:solidFill>
                <a:latin typeface="Calibri" pitchFamily="34" charset="0"/>
                <a:ea typeface="Calibri" pitchFamily="34" charset="-122"/>
                <a:cs typeface="Calibri" pitchFamily="34" charset="-120"/>
              </a:rPr>
              <a:t>Result:  </a:t>
            </a:r>
            <a:pPr indent="0" marL="0">
              <a:buNone/>
            </a:pPr>
            <a:r>
              <a:rPr lang="en-US" sz="1200" dirty="0">
                <a:solidFill>
                  <a:srgbClr val="000000"/>
                </a:solidFill>
                <a:latin typeface="Calibri" pitchFamily="34" charset="0"/>
                <a:ea typeface="Calibri" pitchFamily="34" charset="-122"/>
                <a:cs typeface="Calibri" pitchFamily="34" charset="-120"/>
              </a:rPr>
              <a:t>Example: any nurse/clinical reason is present in 72.6% of the override calls read.</a:t>
            </a:r>
            <a:endParaRPr lang="en-US" sz="1200" dirty="0"/>
          </a:p>
        </p:txBody>
      </p:sp>
      <p:sp>
        <p:nvSpPr>
          <p:cNvPr id="11" name="Text 8"/>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ED = Emergency Department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500" b="1" dirty="0">
                <a:solidFill>
                  <a:srgbClr val="000000"/>
                </a:solidFill>
                <a:latin typeface="Calibri" pitchFamily="34" charset="0"/>
                <a:ea typeface="Calibri" pitchFamily="34" charset="-122"/>
                <a:cs typeface="Calibri" pitchFamily="34" charset="-120"/>
              </a:rPr>
              <a:t>Override Combinations</a:t>
            </a:r>
            <a:endParaRPr lang="en-US" sz="25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11064240" cy="914400"/>
        </p:xfrm>
        <a:graphic>
          <a:graphicData uri="http://schemas.openxmlformats.org/drawingml/2006/table">
            <a:tbl>
              <a:tblPr/>
              <a:tblGrid>
                <a:gridCol w="7040880"/>
                <a:gridCol w="2011680"/>
                <a:gridCol w="2011680"/>
              </a:tblGrid>
              <a:tr h="27432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Reasons included</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Calls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 of override calls read</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Clinical escalation by nurse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72</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45.9%</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Mobility/transport barrier + Clinical escalation</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23</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14.6%</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Patient requested ambulance or ED</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14.0%</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None documented</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6.4%</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Refused rec + Requested amb/ED + Clinical escalation</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4.5%</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Requested amb/ED + Clinical escalation</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3.8%</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Requested amb/ED + Mobility barrier</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Refused rec + Requested amb/ED</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4" name="Text 1"/>
          <p:cNvSpPr/>
          <p:nvPr/>
        </p:nvSpPr>
        <p:spPr>
          <a:xfrm>
            <a:off x="548640" y="3657600"/>
            <a:ext cx="11064240" cy="146304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How it was derived: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For each override call in the sample, the reasons present in the note are joined into one combination label, so a call with several reasons shows the full set. Combinations are counted across the sample. Each percentage is the combination's count divided by the number of sampled override calls. The eight most common combinations are shown.</a:t>
            </a:r>
            <a:endParaRPr lang="en-US" sz="1200" dirty="0"/>
          </a:p>
        </p:txBody>
      </p:sp>
      <p:sp>
        <p:nvSpPr>
          <p:cNvPr id="5" name="Text 2"/>
          <p:cNvSpPr/>
          <p:nvPr/>
        </p:nvSpPr>
        <p:spPr>
          <a:xfrm>
            <a:off x="548640" y="4681728"/>
            <a:ext cx="11064240" cy="128016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What the numbers show: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45.9% of override calls have clinical escalation as the only documented reason. The next most common combinations pair clinical escalation with a mobility barrier (14.6%) or a patient request. 6.4% of override calls (10) had no reason documented in the note.</a:t>
            </a:r>
            <a:endParaRPr lang="en-US" sz="1200" dirty="0"/>
          </a:p>
        </p:txBody>
      </p:sp>
      <p:sp>
        <p:nvSpPr>
          <p:cNvPr id="6" name="Text 3"/>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amb/ED = ambulance or Emergency Department    ED = Emergency Department</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400" b="1" dirty="0">
                <a:solidFill>
                  <a:srgbClr val="000000"/>
                </a:solidFill>
                <a:latin typeface="Calibri" pitchFamily="34" charset="0"/>
                <a:ea typeface="Calibri" pitchFamily="34" charset="-122"/>
                <a:cs typeface="Calibri" pitchFamily="34" charset="-120"/>
              </a:rPr>
              <a:t>Override Combinations - Example</a:t>
            </a:r>
            <a:endParaRPr lang="en-US" sz="2400" dirty="0"/>
          </a:p>
        </p:txBody>
      </p:sp>
      <p:sp>
        <p:nvSpPr>
          <p:cNvPr id="3" name="Text 1"/>
          <p:cNvSpPr/>
          <p:nvPr/>
        </p:nvSpPr>
        <p:spPr>
          <a:xfrm>
            <a:off x="548640" y="914400"/>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Example input</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225296"/>
          <a:ext cx="11064240" cy="914400"/>
        </p:xfrm>
        <a:graphic>
          <a:graphicData uri="http://schemas.openxmlformats.org/drawingml/2006/table">
            <a:tbl>
              <a:tblPr/>
              <a:tblGrid>
                <a:gridCol w="1005840"/>
                <a:gridCol w="5486400"/>
                <a:gridCol w="4572000"/>
              </a:tblGrid>
              <a:tr h="274320">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Call</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Reasons present in the note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Combination label</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Clinical escalation</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Clinical escalation by nurse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Mobility barrier + Clinical escalation</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Mobility/transport barrier + Clinical escalation</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(none stated)</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None documented</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5" name="Text 2"/>
          <p:cNvSpPr/>
          <p:nvPr/>
        </p:nvSpPr>
        <p:spPr>
          <a:xfrm>
            <a:off x="548640" y="2578608"/>
            <a:ext cx="548640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The logic</a:t>
            </a:r>
            <a:endParaRPr lang="en-US" sz="1300" dirty="0"/>
          </a:p>
        </p:txBody>
      </p:sp>
      <p:sp>
        <p:nvSpPr>
          <p:cNvPr id="6" name="Shape 3"/>
          <p:cNvSpPr/>
          <p:nvPr/>
        </p:nvSpPr>
        <p:spPr>
          <a:xfrm>
            <a:off x="548640" y="2871216"/>
            <a:ext cx="11064240" cy="1293876"/>
          </a:xfrm>
          <a:prstGeom prst="rect">
            <a:avLst/>
          </a:prstGeom>
          <a:solidFill>
            <a:srgbClr val="F0F0F0"/>
          </a:solidFill>
          <a:ln w="9525">
            <a:solidFill>
              <a:srgbClr val="D6D6D6"/>
            </a:solidFill>
            <a:prstDash val="solid"/>
          </a:ln>
        </p:spPr>
      </p:sp>
      <p:sp>
        <p:nvSpPr>
          <p:cNvPr id="7" name="Text 4"/>
          <p:cNvSpPr/>
          <p:nvPr/>
        </p:nvSpPr>
        <p:spPr>
          <a:xfrm>
            <a:off x="685800" y="2962656"/>
            <a:ext cx="10789920" cy="1110996"/>
          </a:xfrm>
          <a:prstGeom prst="rect">
            <a:avLst/>
          </a:prstGeom>
          <a:noFill/>
          <a:ln/>
        </p:spPr>
        <p:txBody>
          <a:bodyPr wrap="square" rtlCol="0" anchor="t"/>
          <a:lstStyle/>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FOR each override call:</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  combination = join every reason present in the note with " + "</a:t>
            </a:r>
            <a:endParaRPr lang="en-US" sz="1100" dirty="0"/>
          </a:p>
          <a:p>
            <a:pPr indent="0" marL="0">
              <a:lnSpc>
                <a:spcPts val="1400"/>
              </a:lnSpc>
              <a:spcAft>
                <a:spcPts val="100"/>
              </a:spcAft>
              <a:buNone/>
            </a:pP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Count each distinct combination across the calls read.</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Percentage = combination count / override calls read</a:t>
            </a:r>
            <a:endParaRPr lang="en-US" sz="1100" dirty="0"/>
          </a:p>
        </p:txBody>
      </p:sp>
      <p:sp>
        <p:nvSpPr>
          <p:cNvPr id="8" name="Text 5"/>
          <p:cNvSpPr/>
          <p:nvPr/>
        </p:nvSpPr>
        <p:spPr>
          <a:xfrm>
            <a:off x="548640" y="4393692"/>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Applied to the example</a:t>
            </a:r>
            <a:endParaRPr lang="en-US" sz="1300" dirty="0"/>
          </a:p>
        </p:txBody>
      </p:sp>
      <p:sp>
        <p:nvSpPr>
          <p:cNvPr id="9" name="Text 6"/>
          <p:cNvSpPr/>
          <p:nvPr/>
        </p:nvSpPr>
        <p:spPr>
          <a:xfrm>
            <a:off x="685800" y="4704588"/>
            <a:ext cx="10927080" cy="777240"/>
          </a:xfrm>
          <a:prstGeom prst="rect">
            <a:avLst/>
          </a:prstGeom>
          <a:noFill/>
          <a:ln/>
        </p:spPr>
        <p:txBody>
          <a:bodyPr wrap="square" rtlCol="0" anchor="t"/>
          <a:lstStyle/>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Call A has one reason, so its combination is just that reason.</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Call B has two reasons joined into one label.</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Call C has no reason in the note, so it is labelled 'None documented'.</a:t>
            </a:r>
            <a:endParaRPr lang="en-US" sz="1200" dirty="0"/>
          </a:p>
        </p:txBody>
      </p:sp>
      <p:sp>
        <p:nvSpPr>
          <p:cNvPr id="10" name="Text 7"/>
          <p:cNvSpPr/>
          <p:nvPr/>
        </p:nvSpPr>
        <p:spPr>
          <a:xfrm>
            <a:off x="548640" y="5573268"/>
            <a:ext cx="11064240" cy="457200"/>
          </a:xfrm>
          <a:prstGeom prst="rect">
            <a:avLst/>
          </a:prstGeom>
          <a:noFill/>
          <a:ln/>
        </p:spPr>
        <p:txBody>
          <a:bodyPr wrap="square" rtlCol="0" anchor="t"/>
          <a:lstStyle/>
          <a:p>
            <a:pPr indent="0" marL="0">
              <a:buNone/>
            </a:pPr>
            <a:r>
              <a:rPr lang="en-US" sz="1200" b="1" dirty="0">
                <a:solidFill>
                  <a:srgbClr val="000000"/>
                </a:solidFill>
                <a:latin typeface="Calibri" pitchFamily="34" charset="0"/>
                <a:ea typeface="Calibri" pitchFamily="34" charset="-122"/>
                <a:cs typeface="Calibri" pitchFamily="34" charset="-120"/>
              </a:rPr>
              <a:t>Result:  </a:t>
            </a:r>
            <a:pPr indent="0" marL="0">
              <a:buNone/>
            </a:pPr>
            <a:r>
              <a:rPr lang="en-US" sz="1200" dirty="0">
                <a:solidFill>
                  <a:srgbClr val="000000"/>
                </a:solidFill>
                <a:latin typeface="Calibri" pitchFamily="34" charset="0"/>
                <a:ea typeface="Calibri" pitchFamily="34" charset="-122"/>
                <a:cs typeface="Calibri" pitchFamily="34" charset="-120"/>
              </a:rPr>
              <a:t>Example: the 'Clinical escalation' label appeared on 72 calls = 45.9% of the override calls read.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500" b="1" dirty="0">
                <a:solidFill>
                  <a:srgbClr val="000000"/>
                </a:solidFill>
                <a:latin typeface="Calibri" pitchFamily="34" charset="0"/>
                <a:ea typeface="Calibri" pitchFamily="34" charset="-122"/>
                <a:cs typeface="Calibri" pitchFamily="34" charset="-120"/>
              </a:rPr>
              <a:t>AI Read vs System Code</a:t>
            </a:r>
            <a:endParaRPr lang="en-US" sz="25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11064240" cy="914400"/>
        </p:xfrm>
        <a:graphic>
          <a:graphicData uri="http://schemas.openxmlformats.org/drawingml/2006/table">
            <a:tbl>
              <a:tblPr/>
              <a:tblGrid>
                <a:gridCol w="5486400"/>
                <a:gridCol w="2788920"/>
                <a:gridCol w="2788920"/>
              </a:tblGrid>
              <a:tr h="27432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System code (setting)</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Calls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Agreement %</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Emergency department</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168</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92.9%</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Home / no care (self-care)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173</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76.9%</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4" name="Text 1"/>
          <p:cNvSpPr/>
          <p:nvPr/>
        </p:nvSpPr>
        <p:spPr>
          <a:xfrm>
            <a:off x="548640" y="2011680"/>
            <a:ext cx="11064240" cy="146304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How it was derived: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For each call in the sample, the recorded disposition code is mapped to a care setting, and the AI's read of where the patient actually ended up is mapped to the same set of settings. A call is a match when both point to the same setting. For each system-coded setting, agreement is the number of matches divided by the number of calls the system coded to that setting. The two settings with enough calls to report are shown: 168 calls coded emergency department and 173 coded home/no care.</a:t>
            </a:r>
            <a:endParaRPr lang="en-US" sz="1200" dirty="0"/>
          </a:p>
        </p:txBody>
      </p:sp>
      <p:sp>
        <p:nvSpPr>
          <p:cNvPr id="5" name="Text 2"/>
          <p:cNvSpPr/>
          <p:nvPr/>
        </p:nvSpPr>
        <p:spPr>
          <a:xfrm>
            <a:off x="548640" y="3250692"/>
            <a:ext cx="11064240" cy="128016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What the numbers show: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When the system codes an emergency-department outcome, the note agrees 92.9% of the time. When it codes self-care (home/no care), the note agrees 76.9%. In the remaining 23.1% of self-care-coded calls, the note indicates the patient went somewhere for care.</a:t>
            </a:r>
            <a:endParaRPr lang="en-US" sz="1200" dirty="0"/>
          </a:p>
        </p:txBody>
      </p:sp>
      <p:sp>
        <p:nvSpPr>
          <p:cNvPr id="6" name="Text 3"/>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ED = Emergency Department</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400" b="1" dirty="0">
                <a:solidFill>
                  <a:srgbClr val="000000"/>
                </a:solidFill>
                <a:latin typeface="Calibri" pitchFamily="34" charset="0"/>
                <a:ea typeface="Calibri" pitchFamily="34" charset="-122"/>
                <a:cs typeface="Calibri" pitchFamily="34" charset="-120"/>
              </a:rPr>
              <a:t>AI Read vs System Code - Example</a:t>
            </a:r>
            <a:endParaRPr lang="en-US" sz="2400" dirty="0"/>
          </a:p>
        </p:txBody>
      </p:sp>
      <p:sp>
        <p:nvSpPr>
          <p:cNvPr id="3" name="Text 1"/>
          <p:cNvSpPr/>
          <p:nvPr/>
        </p:nvSpPr>
        <p:spPr>
          <a:xfrm>
            <a:off x="548640" y="914400"/>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Example input</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25296"/>
          <a:ext cx="11064240" cy="914400"/>
        </p:xfrm>
        <a:graphic>
          <a:graphicData uri="http://schemas.openxmlformats.org/drawingml/2006/table">
            <a:tbl>
              <a:tblPr/>
              <a:tblGrid>
                <a:gridCol w="3840480"/>
                <a:gridCol w="5394960"/>
                <a:gridCol w="1828800"/>
              </a:tblGrid>
              <a:tr h="274320">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System code (setting)</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AI read of the note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Match?</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Self Care (home / no care)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"Patient went to ED by private car" -&gt; Emergency department</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BLS (emergency department)</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"Transported to ED" -&gt; Emergency department</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Self Care (home / no care)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"Patient monitoring at home" -&gt; Home / no care</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5" name="Text 2"/>
          <p:cNvSpPr/>
          <p:nvPr/>
        </p:nvSpPr>
        <p:spPr>
          <a:xfrm>
            <a:off x="548640" y="2578608"/>
            <a:ext cx="548640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The logic</a:t>
            </a:r>
            <a:endParaRPr lang="en-US" sz="1300" dirty="0"/>
          </a:p>
        </p:txBody>
      </p:sp>
      <p:sp>
        <p:nvSpPr>
          <p:cNvPr id="6" name="Shape 3"/>
          <p:cNvSpPr/>
          <p:nvPr/>
        </p:nvSpPr>
        <p:spPr>
          <a:xfrm>
            <a:off x="548640" y="2871216"/>
            <a:ext cx="11064240" cy="1293876"/>
          </a:xfrm>
          <a:prstGeom prst="rect">
            <a:avLst/>
          </a:prstGeom>
          <a:solidFill>
            <a:srgbClr val="F0F0F0"/>
          </a:solidFill>
          <a:ln w="9525">
            <a:solidFill>
              <a:srgbClr val="D6D6D6"/>
            </a:solidFill>
            <a:prstDash val="solid"/>
          </a:ln>
        </p:spPr>
      </p:sp>
      <p:sp>
        <p:nvSpPr>
          <p:cNvPr id="7" name="Text 4"/>
          <p:cNvSpPr/>
          <p:nvPr/>
        </p:nvSpPr>
        <p:spPr>
          <a:xfrm>
            <a:off x="685800" y="2962656"/>
            <a:ext cx="10789920" cy="1110996"/>
          </a:xfrm>
          <a:prstGeom prst="rect">
            <a:avLst/>
          </a:prstGeom>
          <a:noFill/>
          <a:ln/>
        </p:spPr>
        <p:txBody>
          <a:bodyPr wrap="square" rtlCol="0" anchor="t"/>
          <a:lstStyle/>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map system disposition -&gt; setting</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map AI note-read       -&gt; setting</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match = (system setting equals AI setting)</a:t>
            </a:r>
            <a:endParaRPr lang="en-US" sz="1100" dirty="0"/>
          </a:p>
          <a:p>
            <a:pPr indent="0" marL="0">
              <a:lnSpc>
                <a:spcPts val="1400"/>
              </a:lnSpc>
              <a:spcAft>
                <a:spcPts val="100"/>
              </a:spcAft>
              <a:buNone/>
            </a:pP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Agreement for a setting = matches / calls the system coded to that setting</a:t>
            </a:r>
            <a:endParaRPr lang="en-US" sz="1100" dirty="0"/>
          </a:p>
        </p:txBody>
      </p:sp>
      <p:sp>
        <p:nvSpPr>
          <p:cNvPr id="8" name="Text 5"/>
          <p:cNvSpPr/>
          <p:nvPr/>
        </p:nvSpPr>
        <p:spPr>
          <a:xfrm>
            <a:off x="548640" y="4393692"/>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Applied to the example</a:t>
            </a:r>
            <a:endParaRPr lang="en-US" sz="1300" dirty="0"/>
          </a:p>
        </p:txBody>
      </p:sp>
      <p:sp>
        <p:nvSpPr>
          <p:cNvPr id="9" name="Text 6"/>
          <p:cNvSpPr/>
          <p:nvPr/>
        </p:nvSpPr>
        <p:spPr>
          <a:xfrm>
            <a:off x="685800" y="4704588"/>
            <a:ext cx="10927080" cy="777240"/>
          </a:xfrm>
          <a:prstGeom prst="rect">
            <a:avLst/>
          </a:prstGeom>
          <a:noFill/>
          <a:ln/>
        </p:spPr>
        <p:txBody>
          <a:bodyPr wrap="square" rtlCol="0" anchor="t"/>
          <a:lstStyle/>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Row 1: system says self-care, the note shows the ED -&gt; no match (a mislabeled self-care call).</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Row 2: both point to the ED -&gt; match.</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Row 3: both point to home -&gt; match.</a:t>
            </a:r>
            <a:endParaRPr lang="en-US" sz="1200" dirty="0"/>
          </a:p>
        </p:txBody>
      </p:sp>
      <p:sp>
        <p:nvSpPr>
          <p:cNvPr id="10" name="Text 7"/>
          <p:cNvSpPr/>
          <p:nvPr/>
        </p:nvSpPr>
        <p:spPr>
          <a:xfrm>
            <a:off x="548640" y="5573268"/>
            <a:ext cx="11064240" cy="457200"/>
          </a:xfrm>
          <a:prstGeom prst="rect">
            <a:avLst/>
          </a:prstGeom>
          <a:noFill/>
          <a:ln/>
        </p:spPr>
        <p:txBody>
          <a:bodyPr wrap="square" rtlCol="0" anchor="t"/>
          <a:lstStyle/>
          <a:p>
            <a:pPr indent="0" marL="0">
              <a:buNone/>
            </a:pPr>
            <a:r>
              <a:rPr lang="en-US" sz="1200" b="1" dirty="0">
                <a:solidFill>
                  <a:srgbClr val="000000"/>
                </a:solidFill>
                <a:latin typeface="Calibri" pitchFamily="34" charset="0"/>
                <a:ea typeface="Calibri" pitchFamily="34" charset="-122"/>
                <a:cs typeface="Calibri" pitchFamily="34" charset="-120"/>
              </a:rPr>
              <a:t>Result:  </a:t>
            </a:r>
            <a:pPr indent="0" marL="0">
              <a:buNone/>
            </a:pPr>
            <a:r>
              <a:rPr lang="en-US" sz="1200" dirty="0">
                <a:solidFill>
                  <a:srgbClr val="000000"/>
                </a:solidFill>
                <a:latin typeface="Calibri" pitchFamily="34" charset="0"/>
                <a:ea typeface="Calibri" pitchFamily="34" charset="-122"/>
                <a:cs typeface="Calibri" pitchFamily="34" charset="-120"/>
              </a:rPr>
              <a:t>Example: of 173 calls coded home/no care, 76.9% matched the AI read of the note.</a:t>
            </a:r>
            <a:endParaRPr lang="en-US" sz="1200" dirty="0"/>
          </a:p>
        </p:txBody>
      </p:sp>
      <p:sp>
        <p:nvSpPr>
          <p:cNvPr id="11" name="Text 8"/>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BLS = Basic Life Support ambulance    ED = Emergency Department</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500" b="1" dirty="0">
                <a:solidFill>
                  <a:srgbClr val="000000"/>
                </a:solidFill>
                <a:latin typeface="Calibri" pitchFamily="34" charset="0"/>
                <a:ea typeface="Calibri" pitchFamily="34" charset="-122"/>
                <a:cs typeface="Calibri" pitchFamily="34" charset="-120"/>
              </a:rPr>
              <a:t>Coded Rate vs Note-Abstracted Rate</a:t>
            </a:r>
            <a:endParaRPr lang="en-US" sz="2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960120"/>
          <a:ext cx="11064240" cy="914400"/>
        </p:xfrm>
        <a:graphic>
          <a:graphicData uri="http://schemas.openxmlformats.org/drawingml/2006/table">
            <a:tbl>
              <a:tblPr/>
              <a:tblGrid>
                <a:gridCol w="4389120"/>
                <a:gridCol w="2194560"/>
                <a:gridCol w="2377440"/>
                <a:gridCol w="2103120"/>
              </a:tblGrid>
              <a:tr h="27432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Bucket</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Coded %</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Abstracted %</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Gap (pts)</a:t>
                      </a:r>
                      <a:endParaRPr lang="en-US" sz="120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2F2F2"/>
                    </a:solidFill>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Self-care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14.3</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-11.9</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NMTARA 6 (triage not completed)</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12.1</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-9.6</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r h="274320">
                <a:tc>
                  <a:txBody>
                    <a:bodyPr/>
                    <a:lstStyle/>
                    <a:p>
                      <a:pPr algn="l" indent="0" marL="0">
                        <a:buNone/>
                      </a:pPr>
                      <a:r>
                        <a:rPr lang="en-US" sz="1150" dirty="0">
                          <a:solidFill>
                            <a:srgbClr val="000000"/>
                          </a:solidFill>
                          <a:latin typeface="Calibri" pitchFamily="34" charset="0"/>
                          <a:ea typeface="Calibri" pitchFamily="34" charset="-122"/>
                          <a:cs typeface="Calibri" pitchFamily="34" charset="-120"/>
                        </a:rPr>
                        <a:t>1-5 ambulance override</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23.9</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c>
                  <a:txBody>
                    <a:bodyPr/>
                    <a:lstStyle/>
                    <a:p>
                      <a:pPr algn="ctr" indent="0" marL="0">
                        <a:buNone/>
                      </a:pPr>
                      <a:r>
                        <a:rPr lang="en-US" sz="1150" dirty="0">
                          <a:solidFill>
                            <a:srgbClr val="000000"/>
                          </a:solidFill>
                          <a:latin typeface="Calibri" pitchFamily="34" charset="0"/>
                          <a:ea typeface="Calibri" pitchFamily="34" charset="-122"/>
                          <a:cs typeface="Calibri" pitchFamily="34" charset="-120"/>
                        </a:rPr>
                        <a:t>-21.3</a:t>
                      </a:r>
                      <a:endParaRPr lang="en-US" sz="1150" dirty="0">
                        <a:latin typeface="Calibri" charset="0"/>
                        <a:ea typeface="Calibri" charset="0"/>
                        <a:cs typeface="Calibri" charset="0"/>
                      </a:endParaRPr>
                    </a:p>
                  </a:txBody>
                  <a:tcPr marL="91440" marR="91440" marT="45720" marB="4572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tcPr>
                </a:tc>
              </a:tr>
            </a:tbl>
          </a:graphicData>
        </a:graphic>
      </p:graphicFrame>
      <p:sp>
        <p:nvSpPr>
          <p:cNvPr id="4" name="Text 1"/>
          <p:cNvSpPr/>
          <p:nvPr/>
        </p:nvSpPr>
        <p:spPr>
          <a:xfrm>
            <a:off x="548640" y="2286000"/>
            <a:ext cx="11064240" cy="146304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How it was derived: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Coded % is the share of all 5,708 calls whose Logis disposition code maps to each bucket. Abstracted % is the number of sampled calls the note confirms for each bucket, divided by all 5,708 calls. Because the AI has read a sample rather than every call, the abstracted numerator is a sample count while the denominator is the full population, so the two columns are not yet on the same basis.</a:t>
            </a:r>
            <a:endParaRPr lang="en-US" sz="1200" dirty="0"/>
          </a:p>
        </p:txBody>
      </p:sp>
      <p:sp>
        <p:nvSpPr>
          <p:cNvPr id="5" name="Text 2"/>
          <p:cNvSpPr/>
          <p:nvPr/>
        </p:nvSpPr>
        <p:spPr>
          <a:xfrm>
            <a:off x="548640" y="3310128"/>
            <a:ext cx="11064240" cy="1280160"/>
          </a:xfrm>
          <a:prstGeom prst="rect">
            <a:avLst/>
          </a:prstGeom>
          <a:noFill/>
          <a:ln/>
        </p:spPr>
        <p:txBody>
          <a:bodyPr wrap="square" rtlCol="0" anchor="t"/>
          <a:lstStyle/>
          <a:p>
            <a:pPr indent="0" marL="0">
              <a:lnSpc>
                <a:spcPts val="1550"/>
              </a:lnSpc>
              <a:buNone/>
            </a:pPr>
            <a:r>
              <a:rPr lang="en-US" sz="1200" b="1" dirty="0">
                <a:solidFill>
                  <a:srgbClr val="000000"/>
                </a:solidFill>
                <a:latin typeface="Calibri" pitchFamily="34" charset="0"/>
                <a:ea typeface="Calibri" pitchFamily="34" charset="-122"/>
                <a:cs typeface="Calibri" pitchFamily="34" charset="-120"/>
              </a:rPr>
              <a:t>What the numbers show:  </a:t>
            </a:r>
            <a:pPr indent="0" marL="0">
              <a:lnSpc>
                <a:spcPts val="1550"/>
              </a:lnSpc>
              <a:buNone/>
            </a:pPr>
            <a:r>
              <a:rPr lang="en-US" sz="1200" dirty="0">
                <a:solidFill>
                  <a:srgbClr val="000000"/>
                </a:solidFill>
                <a:latin typeface="Calibri" pitchFamily="34" charset="0"/>
                <a:ea typeface="Calibri" pitchFamily="34" charset="-122"/>
                <a:cs typeface="Calibri" pitchFamily="34" charset="-120"/>
              </a:rPr>
              <a:t>The coded column is the population rate for each bucket: self-care 14.3%, triage not completed 12.1%, ambulance override 23.9%. The abstracted column is a sample count placed over the full population and will rise as the AI reads more calls. The gap is not a measure of missing data until the AI has read every call.</a:t>
            </a:r>
            <a:endParaRPr lang="en-US" sz="1200" dirty="0"/>
          </a:p>
        </p:txBody>
      </p:sp>
      <p:sp>
        <p:nvSpPr>
          <p:cNvPr id="6" name="Text 3"/>
          <p:cNvSpPr/>
          <p:nvPr/>
        </p:nvSpPr>
        <p:spPr>
          <a:xfrm>
            <a:off x="548640" y="6446520"/>
            <a:ext cx="11064240" cy="320040"/>
          </a:xfrm>
          <a:prstGeom prst="rect">
            <a:avLst/>
          </a:prstGeom>
          <a:noFill/>
          <a:ln/>
        </p:spPr>
        <p:txBody>
          <a:bodyPr wrap="square" rtlCol="0" anchor="ctr"/>
          <a:lstStyle/>
          <a:p>
            <a:pPr indent="0" marL="0">
              <a:buNone/>
            </a:pPr>
            <a:r>
              <a:rPr lang="en-US" sz="900" dirty="0">
                <a:solidFill>
                  <a:srgbClr val="808080"/>
                </a:solidFill>
                <a:latin typeface="Calibri" pitchFamily="34" charset="0"/>
                <a:ea typeface="Calibri" pitchFamily="34" charset="-122"/>
                <a:cs typeface="Calibri" pitchFamily="34" charset="-120"/>
              </a:rPr>
              <a:t>NMTARA 6 = triage acuity level 6, meaning triage was not completed</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20040"/>
            <a:ext cx="11064240" cy="502920"/>
          </a:xfrm>
          <a:prstGeom prst="rect">
            <a:avLst/>
          </a:prstGeom>
          <a:noFill/>
          <a:ln/>
        </p:spPr>
        <p:txBody>
          <a:bodyPr wrap="square" rtlCol="0" anchor="ctr"/>
          <a:lstStyle/>
          <a:p>
            <a:pPr indent="0" marL="0">
              <a:buNone/>
            </a:pPr>
            <a:r>
              <a:rPr lang="en-US" sz="2400" b="1" dirty="0">
                <a:solidFill>
                  <a:srgbClr val="000000"/>
                </a:solidFill>
                <a:latin typeface="Calibri" pitchFamily="34" charset="0"/>
                <a:ea typeface="Calibri" pitchFamily="34" charset="-122"/>
                <a:cs typeface="Calibri" pitchFamily="34" charset="-120"/>
              </a:rPr>
              <a:t>Coded vs Abstracted - Example</a:t>
            </a:r>
            <a:endParaRPr lang="en-US" sz="2400" dirty="0"/>
          </a:p>
        </p:txBody>
      </p:sp>
      <p:sp>
        <p:nvSpPr>
          <p:cNvPr id="3" name="Text 1"/>
          <p:cNvSpPr/>
          <p:nvPr/>
        </p:nvSpPr>
        <p:spPr>
          <a:xfrm>
            <a:off x="548640" y="914400"/>
            <a:ext cx="548640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The logic</a:t>
            </a:r>
            <a:endParaRPr lang="en-US" sz="1300" dirty="0"/>
          </a:p>
        </p:txBody>
      </p:sp>
      <p:sp>
        <p:nvSpPr>
          <p:cNvPr id="4" name="Shape 2"/>
          <p:cNvSpPr/>
          <p:nvPr/>
        </p:nvSpPr>
        <p:spPr>
          <a:xfrm>
            <a:off x="548640" y="1207008"/>
            <a:ext cx="11064240" cy="1293876"/>
          </a:xfrm>
          <a:prstGeom prst="rect">
            <a:avLst/>
          </a:prstGeom>
          <a:solidFill>
            <a:srgbClr val="F0F0F0"/>
          </a:solidFill>
          <a:ln w="9525">
            <a:solidFill>
              <a:srgbClr val="D6D6D6"/>
            </a:solidFill>
            <a:prstDash val="solid"/>
          </a:ln>
        </p:spPr>
      </p:sp>
      <p:sp>
        <p:nvSpPr>
          <p:cNvPr id="5" name="Text 3"/>
          <p:cNvSpPr/>
          <p:nvPr/>
        </p:nvSpPr>
        <p:spPr>
          <a:xfrm>
            <a:off x="685800" y="1298448"/>
            <a:ext cx="10789920" cy="1110996"/>
          </a:xfrm>
          <a:prstGeom prst="rect">
            <a:avLst/>
          </a:prstGeom>
          <a:noFill/>
          <a:ln/>
        </p:spPr>
        <p:txBody>
          <a:bodyPr wrap="square" rtlCol="0" anchor="t"/>
          <a:lstStyle/>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Self-care, coded rate (uses every call's disposition code):</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  coded % = (calls with a self-care disposition code) / 5,708 = 14.3%</a:t>
            </a:r>
            <a:endParaRPr lang="en-US" sz="1100" dirty="0"/>
          </a:p>
          <a:p>
            <a:pPr indent="0" marL="0">
              <a:lnSpc>
                <a:spcPts val="1400"/>
              </a:lnSpc>
              <a:spcAft>
                <a:spcPts val="100"/>
              </a:spcAft>
              <a:buNone/>
            </a:pP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Self-care, abstracted rate (uses only the sampled calls the AI has read):</a:t>
            </a:r>
            <a:endParaRPr lang="en-US" sz="1100" dirty="0"/>
          </a:p>
          <a:p>
            <a:pPr indent="0" marL="0">
              <a:lnSpc>
                <a:spcPts val="1400"/>
              </a:lnSpc>
              <a:spcAft>
                <a:spcPts val="100"/>
              </a:spcAft>
              <a:buNone/>
            </a:pPr>
            <a:r>
              <a:rPr lang="en-US" sz="1100" dirty="0">
                <a:solidFill>
                  <a:srgbClr val="000000"/>
                </a:solidFill>
                <a:latin typeface="Courier New" pitchFamily="34" charset="0"/>
                <a:ea typeface="Courier New" pitchFamily="34" charset="-122"/>
                <a:cs typeface="Courier New" pitchFamily="34" charset="-120"/>
              </a:rPr>
              <a:t>  abstracted % = (sampled calls the note confirms as self-care) / 5,708 = 2.4%</a:t>
            </a:r>
            <a:endParaRPr lang="en-US" sz="1100" dirty="0"/>
          </a:p>
        </p:txBody>
      </p:sp>
      <p:sp>
        <p:nvSpPr>
          <p:cNvPr id="6" name="Text 4"/>
          <p:cNvSpPr/>
          <p:nvPr/>
        </p:nvSpPr>
        <p:spPr>
          <a:xfrm>
            <a:off x="548640" y="2729484"/>
            <a:ext cx="11064240" cy="274320"/>
          </a:xfrm>
          <a:prstGeom prst="rect">
            <a:avLst/>
          </a:prstGeom>
          <a:noFill/>
          <a:ln/>
        </p:spPr>
        <p:txBody>
          <a:bodyPr wrap="square" rtlCol="0" anchor="ctr"/>
          <a:lstStyle/>
          <a:p>
            <a:pPr indent="0" marL="0">
              <a:buNone/>
            </a:pPr>
            <a:r>
              <a:rPr lang="en-US" sz="1300" b="1" dirty="0">
                <a:solidFill>
                  <a:srgbClr val="595959"/>
                </a:solidFill>
                <a:latin typeface="Calibri" pitchFamily="34" charset="0"/>
                <a:ea typeface="Calibri" pitchFamily="34" charset="-122"/>
                <a:cs typeface="Calibri" pitchFamily="34" charset="-120"/>
              </a:rPr>
              <a:t>Applied to the example</a:t>
            </a:r>
            <a:endParaRPr lang="en-US" sz="1300" dirty="0"/>
          </a:p>
        </p:txBody>
      </p:sp>
      <p:sp>
        <p:nvSpPr>
          <p:cNvPr id="7" name="Text 5"/>
          <p:cNvSpPr/>
          <p:nvPr/>
        </p:nvSpPr>
        <p:spPr>
          <a:xfrm>
            <a:off x="685800" y="3040380"/>
            <a:ext cx="10927080" cy="777240"/>
          </a:xfrm>
          <a:prstGeom prst="rect">
            <a:avLst/>
          </a:prstGeom>
          <a:noFill/>
          <a:ln/>
        </p:spPr>
        <p:txBody>
          <a:bodyPr wrap="square" rtlCol="0" anchor="t"/>
          <a:lstStyle/>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The coded rate counts every one of the 5,708 calls, because every call has a disposition code.</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The abstracted rate counts only the sampled calls the AI has read so far, but still divides by all 5,708.</a:t>
            </a:r>
            <a:endParaRPr lang="en-US" sz="1200" dirty="0"/>
          </a:p>
          <a:p>
            <a:pPr marL="342900" indent="-342900">
              <a:lnSpc>
                <a:spcPts val="1500"/>
              </a:lnSpc>
              <a:spcAft>
                <a:spcPts val="400"/>
              </a:spcAft>
              <a:buSzPct val="100000"/>
              <a:buChar char="•"/>
            </a:pPr>
            <a:r>
              <a:rPr lang="en-US" sz="1200" dirty="0">
                <a:solidFill>
                  <a:srgbClr val="000000"/>
                </a:solidFill>
                <a:latin typeface="Calibri" pitchFamily="34" charset="0"/>
                <a:ea typeface="Calibri" pitchFamily="34" charset="-122"/>
                <a:cs typeface="Calibri" pitchFamily="34" charset="-120"/>
              </a:rPr>
              <a:t>So the abstracted numerator is small while the denominator is the full population - the two are not on the same basis yet.</a:t>
            </a:r>
            <a:endParaRPr lang="en-US" sz="1200" dirty="0"/>
          </a:p>
        </p:txBody>
      </p:sp>
      <p:sp>
        <p:nvSpPr>
          <p:cNvPr id="8" name="Text 6"/>
          <p:cNvSpPr/>
          <p:nvPr/>
        </p:nvSpPr>
        <p:spPr>
          <a:xfrm>
            <a:off x="548640" y="3909060"/>
            <a:ext cx="11064240" cy="457200"/>
          </a:xfrm>
          <a:prstGeom prst="rect">
            <a:avLst/>
          </a:prstGeom>
          <a:noFill/>
          <a:ln/>
        </p:spPr>
        <p:txBody>
          <a:bodyPr wrap="square" rtlCol="0" anchor="t"/>
          <a:lstStyle/>
          <a:p>
            <a:pPr indent="0" marL="0">
              <a:buNone/>
            </a:pPr>
            <a:r>
              <a:rPr lang="en-US" sz="1200" b="1" dirty="0">
                <a:solidFill>
                  <a:srgbClr val="000000"/>
                </a:solidFill>
                <a:latin typeface="Calibri" pitchFamily="34" charset="0"/>
                <a:ea typeface="Calibri" pitchFamily="34" charset="-122"/>
                <a:cs typeface="Calibri" pitchFamily="34" charset="-120"/>
              </a:rPr>
              <a:t>Result:  </a:t>
            </a:r>
            <a:pPr indent="0" marL="0">
              <a:buNone/>
            </a:pPr>
            <a:r>
              <a:rPr lang="en-US" sz="1200" dirty="0">
                <a:solidFill>
                  <a:srgbClr val="000000"/>
                </a:solidFill>
                <a:latin typeface="Calibri" pitchFamily="34" charset="0"/>
                <a:ea typeface="Calibri" pitchFamily="34" charset="-122"/>
                <a:cs typeface="Calibri" pitchFamily="34" charset="-120"/>
              </a:rPr>
              <a:t>As the AI reads more calls, the abstracted rate rises toward the coded rate. The gap is not a completeness measure until the AI has read every call.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2026-08-04T11:49:26Z</dcterms:created>
  <dcterms:modified xsi:type="dcterms:W3CDTF">2026-08-04T11:49:26Z</dcterms:modified>
</cp:coreProperties>
</file>