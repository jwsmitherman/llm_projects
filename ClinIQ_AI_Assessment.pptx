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0015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691640"/>
            <a:ext cx="9144000" cy="1783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ClinIQ.ai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</a:rPr>
              <a:t>AI-Powered Medication Review &amp; Clinical Intelligence Platform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48716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CCF2EF"/>
                </a:solidFill>
              </a:rPr>
              <a:t>Current State  ·  AI Opportunities  ·  Recommended Future State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18096"/>
                </a:solidFill>
              </a:rPr>
              <a:t>March 2026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4873752"/>
            <a:ext cx="777240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18096"/>
                </a:solidFill>
              </a:rPr>
              <a:t>ClinIQ.ai  |  AI-Powered Medication Review &amp; Clinical Intelligence Platform  |  March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138160" y="4873752"/>
            <a:ext cx="82296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</a:rPr>
              <a:t>1 / 14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Agenda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28600" y="713232"/>
            <a:ext cx="4297680" cy="62179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" y="713232"/>
            <a:ext cx="50292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28600" y="713232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74980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Current State Workflow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104241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18096"/>
                </a:solidFill>
              </a:rPr>
              <a:t>How pharmacy consultant MRR works today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" y="1417320"/>
            <a:ext cx="4297680" cy="62179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28600" y="1417320"/>
            <a:ext cx="50292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28600" y="1417320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145389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Current State Flow Chart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17465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18096"/>
                </a:solidFill>
              </a:rPr>
              <a:t>Step-by-step manual review process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2121408"/>
            <a:ext cx="4297680" cy="62179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28600" y="2121408"/>
            <a:ext cx="50292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28600" y="2121408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" y="215798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Challenges &amp; Regulatory Gaps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245059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18096"/>
                </a:solidFill>
              </a:rPr>
              <a:t>Pain points + CMS F756 compliance gaps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28600" y="2825496"/>
            <a:ext cx="4297680" cy="62179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28600" y="2825496"/>
            <a:ext cx="50292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28600" y="2825496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" y="286207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F756 Regulatory Requirements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7240" y="315468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18096"/>
                </a:solidFill>
              </a:rPr>
              <a:t>CMS §483.45(c) Drug Regimen Review requirements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28600" y="3529584"/>
            <a:ext cx="4297680" cy="62179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28600" y="3529584"/>
            <a:ext cx="50292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28600" y="3529584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" y="35661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AI Opportunities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77240" y="385876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18096"/>
                </a:solidFill>
              </a:rPr>
              <a:t>Where AI can eliminate manual work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28600" y="4233672"/>
            <a:ext cx="4297680" cy="62179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28600" y="4233672"/>
            <a:ext cx="50292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28600" y="4233672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77240" y="4270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AI Opportunity Map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77240" y="456285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18096"/>
                </a:solidFill>
              </a:rPr>
              <a:t>Current vs. future capability by workflow step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09160" y="713232"/>
            <a:ext cx="4297680" cy="62179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709160" y="713232"/>
            <a:ext cx="50292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709160" y="713232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57800" y="74980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AI Model Strategy &amp; Data Arch.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257800" y="104241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18096"/>
                </a:solidFill>
              </a:rPr>
              <a:t>Technology components + required data sources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709160" y="1417320"/>
            <a:ext cx="4297680" cy="62179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709160" y="1417320"/>
            <a:ext cx="50292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09160" y="1417320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08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57800" y="145389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MVP Scope Definition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257800" y="17465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18096"/>
                </a:solidFill>
              </a:rPr>
              <a:t>What's in Phase 1 vs. future phases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709160" y="2121408"/>
            <a:ext cx="4297680" cy="62179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709160" y="2121408"/>
            <a:ext cx="50292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709160" y="2121408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09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57800" y="215798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ClinIQ Architecture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257800" y="245059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18096"/>
                </a:solidFill>
              </a:rPr>
              <a:t>12 functional blocks across 5 processing layers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709160" y="2825496"/>
            <a:ext cx="4297680" cy="62179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4709160" y="2825496"/>
            <a:ext cx="50292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709160" y="2825496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10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257800" y="286207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Future State Flow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257800" y="315468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18096"/>
                </a:solidFill>
              </a:rPr>
              <a:t>AI-powered MRR end-to-end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709160" y="3529584"/>
            <a:ext cx="4297680" cy="62179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4709160" y="3529584"/>
            <a:ext cx="50292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4709160" y="3529584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11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257800" y="35661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Before vs. After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257800" y="385876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18096"/>
                </a:solidFill>
              </a:rPr>
              <a:t>Side-by-side transformation comparison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709160" y="4233672"/>
            <a:ext cx="4297680" cy="62179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709160" y="4233672"/>
            <a:ext cx="50292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709160" y="4233672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12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257800" y="4270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Implementation Roadmap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5257800" y="456285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18096"/>
                </a:solidFill>
              </a:rPr>
              <a:t>3-phase approach: MVP &gt;&gt; Integration &gt;&gt; Intelligence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274320" y="4873752"/>
            <a:ext cx="777240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18096"/>
                </a:solidFill>
              </a:rPr>
              <a:t>ClinIQ.ai  |  AI-Powered Medication Review &amp; Clinical Intelligence Platform  |  March 2026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8138160" y="4873752"/>
            <a:ext cx="82296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</a:rPr>
              <a:t>2 / 14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Current State: Pharmacy Consultant Workflow Overview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82880" y="685800"/>
            <a:ext cx="2011680" cy="10058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82880" y="68580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9488"/>
                </a:solidFill>
              </a:rPr>
              <a:t>~40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82880" y="1252728"/>
            <a:ext cx="201168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CCCCCC"/>
                </a:solidFill>
              </a:rPr>
              <a:t>Patients reviewed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CCCCC"/>
                </a:solidFill>
              </a:rPr>
              <a:t>per day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377440" y="685800"/>
            <a:ext cx="2011680" cy="10058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377440" y="68580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9488"/>
                </a:solidFill>
              </a:rPr>
              <a:t>300+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377440" y="1252728"/>
            <a:ext cx="201168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CCCCCC"/>
                </a:solidFill>
              </a:rPr>
              <a:t>Recommendation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CCCCC"/>
                </a:solidFill>
              </a:rPr>
              <a:t>templates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0" y="685800"/>
            <a:ext cx="2011680" cy="10058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0" y="68580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9488"/>
                </a:solidFill>
              </a:rPr>
              <a:t>8–15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572000" y="1252728"/>
            <a:ext cx="201168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CCCCCC"/>
                </a:solidFill>
              </a:rPr>
              <a:t>Facilities per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CCCCC"/>
                </a:solidFill>
              </a:rPr>
              <a:t>consultant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766560" y="685800"/>
            <a:ext cx="2011680" cy="10058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66560" y="68580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9488"/>
                </a:solidFill>
              </a:rPr>
              <a:t>2x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766560" y="1252728"/>
            <a:ext cx="201168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CCCCCC"/>
                </a:solidFill>
              </a:rPr>
              <a:t>Documentation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CCCCC"/>
                </a:solidFill>
              </a:rPr>
              <a:t>(EHR + consulting SW)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28600" y="18288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</a:rPr>
              <a:t>How It Works Today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28600" y="2212848"/>
            <a:ext cx="868680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Consultant pharmacists manually log into each facility's EHR (PointClickCare, MatrixCare) and run census + MAR reports.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Each resident's medications, diagnoses, lab results, and prior recommendations are reviewed one by one.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Pharmacists identify irregularities and manually select from 300+ recommendation templates.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Recommendations are entered twice — once in the EHR and once in consulting software (double documentation).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Irregularities are documented in a written report and manually distributed to the attending physician, Medical Director, and DON.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Monthly facility CMS summary reports are generated manually for F756 compliance submission.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74320" y="4873752"/>
            <a:ext cx="777240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18096"/>
                </a:solidFill>
              </a:rPr>
              <a:t>ClinIQ.ai  |  AI-Powered Medication Review &amp; Clinical Intelligence Platform  |  March 2026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138160" y="4873752"/>
            <a:ext cx="82296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</a:rPr>
              <a:t>3 / 14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Current State Flow Chart: Medication Regimen Review (MRR)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64592" y="777240"/>
            <a:ext cx="1572768" cy="658368"/>
          </a:xfrm>
          <a:prstGeom prst="rect">
            <a:avLst/>
          </a:prstGeom>
          <a:solidFill>
            <a:srgbClr val="1B3A5C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64592" y="777240"/>
            <a:ext cx="1572768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1. Log into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Facility EHR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(PCC / MatrixCare)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737360" y="1097280"/>
            <a:ext cx="256032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956816" y="777240"/>
            <a:ext cx="1572768" cy="658368"/>
          </a:xfrm>
          <a:prstGeom prst="rect">
            <a:avLst/>
          </a:prstGeom>
          <a:solidFill>
            <a:srgbClr val="1B3A5C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956816" y="777240"/>
            <a:ext cx="1572768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2. Run Census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&amp; MAR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Reports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529584" y="1097280"/>
            <a:ext cx="256032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749040" y="777240"/>
            <a:ext cx="1572768" cy="658368"/>
          </a:xfrm>
          <a:prstGeom prst="rect">
            <a:avLst/>
          </a:prstGeom>
          <a:solidFill>
            <a:srgbClr val="1B3A5C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777240"/>
            <a:ext cx="1572768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3. Identify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Residents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for Review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321808" y="1097280"/>
            <a:ext cx="256032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541264" y="777240"/>
            <a:ext cx="1572768" cy="658368"/>
          </a:xfrm>
          <a:prstGeom prst="rect">
            <a:avLst/>
          </a:prstGeom>
          <a:solidFill>
            <a:srgbClr val="1B3A5C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541264" y="777240"/>
            <a:ext cx="1572768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4. Review Meds,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Diagnoses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&amp; Labs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114032" y="1097280"/>
            <a:ext cx="256032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33488" y="777240"/>
            <a:ext cx="1572768" cy="658368"/>
          </a:xfrm>
          <a:prstGeom prst="rect">
            <a:avLst/>
          </a:prstGeom>
          <a:solidFill>
            <a:srgbClr val="1B3A5C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33488" y="777240"/>
            <a:ext cx="1572768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5. Check Prior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Recommenda-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tions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110728" y="1435608"/>
            <a:ext cx="0" cy="256032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64592" y="1810512"/>
            <a:ext cx="1572768" cy="658368"/>
          </a:xfrm>
          <a:prstGeom prst="rect">
            <a:avLst/>
          </a:prstGeom>
          <a:solidFill>
            <a:srgbClr val="0D9488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64592" y="1810512"/>
            <a:ext cx="1572768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10. Enter in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Consulting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Software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737360" y="2130552"/>
            <a:ext cx="256032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956816" y="1810512"/>
            <a:ext cx="1572768" cy="658368"/>
          </a:xfrm>
          <a:prstGeom prst="rect">
            <a:avLst/>
          </a:prstGeom>
          <a:solidFill>
            <a:srgbClr val="0D9488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956816" y="1810512"/>
            <a:ext cx="1572768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9. Enter in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EHR (double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documentation)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529584" y="2130552"/>
            <a:ext cx="256032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749040" y="1810512"/>
            <a:ext cx="1572768" cy="658368"/>
          </a:xfrm>
          <a:prstGeom prst="rect">
            <a:avLst/>
          </a:prstGeom>
          <a:solidFill>
            <a:srgbClr val="0D9488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749040" y="1810512"/>
            <a:ext cx="1572768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8. Draft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Recommenda-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tion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321808" y="2130552"/>
            <a:ext cx="256032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541264" y="1810512"/>
            <a:ext cx="1572768" cy="658368"/>
          </a:xfrm>
          <a:prstGeom prst="rect">
            <a:avLst/>
          </a:prstGeom>
          <a:solidFill>
            <a:srgbClr val="0D9488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541264" y="1810512"/>
            <a:ext cx="1572768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7. Select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Template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(300+ options)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114032" y="2130552"/>
            <a:ext cx="256032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333488" y="1810512"/>
            <a:ext cx="1572768" cy="658368"/>
          </a:xfrm>
          <a:prstGeom prst="rect">
            <a:avLst/>
          </a:prstGeom>
          <a:solidFill>
            <a:srgbClr val="0D9488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333488" y="1810512"/>
            <a:ext cx="1572768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6. Identify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Irregularities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&amp; Issues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941832" y="2468880"/>
            <a:ext cx="0" cy="256032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64592" y="2834640"/>
            <a:ext cx="1984248" cy="658368"/>
          </a:xfrm>
          <a:prstGeom prst="rect">
            <a:avLst/>
          </a:prstGeom>
          <a:solidFill>
            <a:srgbClr val="C05621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64592" y="2834640"/>
            <a:ext cx="1984248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11. Send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Report to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MD / Dir / DON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148840" y="3154680"/>
            <a:ext cx="256032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331720" y="2834640"/>
            <a:ext cx="1984248" cy="658368"/>
          </a:xfrm>
          <a:prstGeom prst="rect">
            <a:avLst/>
          </a:prstGeom>
          <a:solidFill>
            <a:srgbClr val="C05621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331720" y="2834640"/>
            <a:ext cx="1984248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12. Physician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Review &amp;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Response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15968" y="3154680"/>
            <a:ext cx="256032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498848" y="2834640"/>
            <a:ext cx="1984248" cy="658368"/>
          </a:xfrm>
          <a:prstGeom prst="rect">
            <a:avLst/>
          </a:prstGeom>
          <a:solidFill>
            <a:srgbClr val="C05621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498848" y="2834640"/>
            <a:ext cx="1984248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13. Generate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Monthly CMS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Summary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483096" y="3154680"/>
            <a:ext cx="256032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665976" y="2834640"/>
            <a:ext cx="1984248" cy="658368"/>
          </a:xfrm>
          <a:prstGeom prst="rect">
            <a:avLst/>
          </a:prstGeom>
          <a:solidFill>
            <a:srgbClr val="C05621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665976" y="2834640"/>
            <a:ext cx="1984248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14. CMS F756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Compliance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Submission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7200" y="4462272"/>
            <a:ext cx="201168" cy="14630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94944" y="4443984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D3748"/>
                </a:solidFill>
              </a:rPr>
              <a:t>Data Collection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3291840" y="4462272"/>
            <a:ext cx="201168" cy="14630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3529584" y="4443984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D3748"/>
                </a:solidFill>
              </a:rPr>
              <a:t>Review &amp; Documentation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126480" y="4462272"/>
            <a:ext cx="201168" cy="146304"/>
          </a:xfrm>
          <a:prstGeom prst="rect">
            <a:avLst/>
          </a:prstGeom>
          <a:solidFill>
            <a:srgbClr val="C05621"/>
          </a:solidFill>
          <a:ln w="12700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364224" y="4443984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D3748"/>
                </a:solidFill>
              </a:rPr>
              <a:t>Reporting &amp; Compliance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274320" y="4873752"/>
            <a:ext cx="777240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18096"/>
                </a:solidFill>
              </a:rPr>
              <a:t>ClinIQ.ai  |  AI-Powered Medication Review &amp; Clinical Intelligence Platform  |  March 2026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138160" y="4873752"/>
            <a:ext cx="82296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</a:rPr>
              <a:t>4 / 14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Current State: Key Challenges &amp; Regulatory Gaps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82880" y="685800"/>
            <a:ext cx="4160520" cy="32918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82880" y="685800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Operational Pain Points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82880" y="1088136"/>
            <a:ext cx="4160520" cy="292608"/>
          </a:xfrm>
          <a:prstGeom prst="rect">
            <a:avLst/>
          </a:prstGeom>
          <a:solidFill>
            <a:srgbClr val="F7FAFC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8600" y="1088136"/>
            <a:ext cx="406908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B2C2C"/>
                </a:solidFill>
              </a:rPr>
              <a:t>[!] Manual EHR login to multiple facilities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82880" y="1421892"/>
            <a:ext cx="41605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28600" y="1421892"/>
            <a:ext cx="406908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B2C2C"/>
                </a:solidFill>
              </a:rPr>
              <a:t>[!] No automated triggers for review (new admit, order change)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82880" y="1755648"/>
            <a:ext cx="4160520" cy="292608"/>
          </a:xfrm>
          <a:prstGeom prst="rect">
            <a:avLst/>
          </a:prstGeom>
          <a:solidFill>
            <a:srgbClr val="F7FAFC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28600" y="1755648"/>
            <a:ext cx="406908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B2C2C"/>
                </a:solidFill>
              </a:rPr>
              <a:t>[!] Manual template selection from 300+ options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82880" y="2089404"/>
            <a:ext cx="41605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28600" y="2089404"/>
            <a:ext cx="406908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B2C2C"/>
                </a:solidFill>
              </a:rPr>
              <a:t>[!] Double documentation: EHR + consulting software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82880" y="2423160"/>
            <a:ext cx="4160520" cy="292608"/>
          </a:xfrm>
          <a:prstGeom prst="rect">
            <a:avLst/>
          </a:prstGeom>
          <a:solidFill>
            <a:srgbClr val="F7FAFC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28600" y="2423160"/>
            <a:ext cx="406908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B2C2C"/>
                </a:solidFill>
              </a:rPr>
              <a:t>[!] Manual drug-interaction lookups (no integrated DB)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82880" y="2756916"/>
            <a:ext cx="41605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8600" y="2756916"/>
            <a:ext cx="406908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B2C2C"/>
                </a:solidFill>
              </a:rPr>
              <a:t>[!] PDF census tracking — manual check-off per resident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82880" y="3090672"/>
            <a:ext cx="4160520" cy="292608"/>
          </a:xfrm>
          <a:prstGeom prst="rect">
            <a:avLst/>
          </a:prstGeom>
          <a:solidFill>
            <a:srgbClr val="F7FAFC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28600" y="3090672"/>
            <a:ext cx="406908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B2C2C"/>
                </a:solidFill>
              </a:rPr>
              <a:t>[!] ~40 patients/day high cognitive load per pharmacist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82880" y="3424428"/>
            <a:ext cx="41605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28600" y="3424428"/>
            <a:ext cx="406908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B2C2C"/>
                </a:solidFill>
              </a:rPr>
              <a:t>[!] Limited data integration between EHR systems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82880" y="3758184"/>
            <a:ext cx="4160520" cy="292608"/>
          </a:xfrm>
          <a:prstGeom prst="rect">
            <a:avLst/>
          </a:prstGeom>
          <a:solidFill>
            <a:srgbClr val="F7FAFC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28600" y="3758184"/>
            <a:ext cx="406908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B2C2C"/>
                </a:solidFill>
              </a:rPr>
              <a:t>[!] Medication reconciliation is 100% manual (pre-hospital, hospital, post-discharge)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82880" y="4091940"/>
            <a:ext cx="41605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28600" y="4091940"/>
            <a:ext cx="406908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B2C2C"/>
                </a:solidFill>
              </a:rPr>
              <a:t>[!] CRM time-keeping: manual charting &amp; documenting consultant hours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82880" y="4425696"/>
            <a:ext cx="4160520" cy="292608"/>
          </a:xfrm>
          <a:prstGeom prst="rect">
            <a:avLst/>
          </a:prstGeom>
          <a:solidFill>
            <a:srgbClr val="F7FAFC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28600" y="4425696"/>
            <a:ext cx="406908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B2C2C"/>
                </a:solidFill>
              </a:rPr>
              <a:t>[!] Notes, vitals, labs, orders all in separate EHR tabs — no unified view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663440" y="685800"/>
            <a:ext cx="42976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663440" y="68580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CMS F756 Compliance Gaps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663440" y="1088136"/>
            <a:ext cx="4297680" cy="292608"/>
          </a:xfrm>
          <a:prstGeom prst="rect">
            <a:avLst/>
          </a:prstGeom>
          <a:solidFill>
            <a:srgbClr val="F0FFF4"/>
          </a:solidFill>
          <a:ln w="508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09160" y="1088136"/>
            <a:ext cx="420624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76749"/>
                </a:solidFill>
              </a:rPr>
              <a:t>[X] No system-enforced monthly MRR cadence tracking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663440" y="1421892"/>
            <a:ext cx="429768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09160" y="1421892"/>
            <a:ext cx="420624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76749"/>
                </a:solidFill>
              </a:rPr>
              <a:t>[X] Physician response not digitally tracked in one place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1755648"/>
            <a:ext cx="4297680" cy="292608"/>
          </a:xfrm>
          <a:prstGeom prst="rect">
            <a:avLst/>
          </a:prstGeom>
          <a:solidFill>
            <a:srgbClr val="F0FFF4"/>
          </a:solidFill>
          <a:ln w="508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709160" y="1755648"/>
            <a:ext cx="420624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76749"/>
                </a:solidFill>
              </a:rPr>
              <a:t>[X] No SLA enforcement (urgent: same-day; normal: 30-day)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663440" y="2089404"/>
            <a:ext cx="429768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09160" y="2089404"/>
            <a:ext cx="420624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76749"/>
                </a:solidFill>
              </a:rPr>
              <a:t>[X] Irregularity reports manually created — no standard format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663440" y="2423160"/>
            <a:ext cx="4297680" cy="292608"/>
          </a:xfrm>
          <a:prstGeom prst="rect">
            <a:avLst/>
          </a:prstGeom>
          <a:solidFill>
            <a:srgbClr val="F0FFF4"/>
          </a:solidFill>
          <a:ln w="508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709160" y="2423160"/>
            <a:ext cx="420624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76749"/>
                </a:solidFill>
              </a:rPr>
              <a:t>[X] No automated distribution to MD, Medical Director, DON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63440" y="2756916"/>
            <a:ext cx="429768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09160" y="2756916"/>
            <a:ext cx="420624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76749"/>
                </a:solidFill>
              </a:rPr>
              <a:t>[X] No automated escalation for urgent irregularities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663440" y="3090672"/>
            <a:ext cx="4297680" cy="292608"/>
          </a:xfrm>
          <a:prstGeom prst="rect">
            <a:avLst/>
          </a:prstGeom>
          <a:solidFill>
            <a:srgbClr val="F0FFF4"/>
          </a:solidFill>
          <a:ln w="508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709160" y="3090672"/>
            <a:ext cx="420624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76749"/>
                </a:solidFill>
              </a:rPr>
              <a:t>[X] P&amp;P time frames not enforced by any system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663440" y="3424428"/>
            <a:ext cx="429768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709160" y="3424428"/>
            <a:ext cx="420624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76749"/>
                </a:solidFill>
              </a:rPr>
              <a:t>[X] No audit trail linking review &gt;&gt; report &gt;&gt; physician response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663440" y="3758184"/>
            <a:ext cx="4297680" cy="292608"/>
          </a:xfrm>
          <a:prstGeom prst="rect">
            <a:avLst/>
          </a:prstGeom>
          <a:solidFill>
            <a:srgbClr val="F0FFF4"/>
          </a:solidFill>
          <a:ln w="508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709160" y="3758184"/>
            <a:ext cx="420624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76749"/>
                </a:solidFill>
              </a:rPr>
              <a:t>[X] Monthly CMS summary report compiled manually per facility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663440" y="4091940"/>
            <a:ext cx="429768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709160" y="4091940"/>
            <a:ext cx="420624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76749"/>
                </a:solidFill>
              </a:rPr>
              <a:t>[X] No Epic integration — Phase 2 requirement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663440" y="4425696"/>
            <a:ext cx="4297680" cy="292608"/>
          </a:xfrm>
          <a:prstGeom prst="rect">
            <a:avLst/>
          </a:prstGeom>
          <a:solidFill>
            <a:srgbClr val="F0FFF4"/>
          </a:solidFill>
          <a:ln w="508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709160" y="4425696"/>
            <a:ext cx="420624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76749"/>
                </a:solidFill>
              </a:rPr>
              <a:t>[X] Full EHR writeback not yet automated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74320" y="4873752"/>
            <a:ext cx="777240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18096"/>
                </a:solidFill>
              </a:rPr>
              <a:t>ClinIQ.ai  |  AI-Powered Medication Review &amp; Clinical Intelligence Platform  |  March 2026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138160" y="4873752"/>
            <a:ext cx="82296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</a:rPr>
              <a:t>5 / 14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CMS F756: Drug Regimen Review — Regulatory Requirements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28600" y="6858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</a:rPr>
              <a:t>§483.45(c) — Monthly Drug Regimen Review for Long Term Care Facilities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" y="1051560"/>
            <a:ext cx="4297680" cy="1645920"/>
          </a:xfrm>
          <a:prstGeom prst="rect">
            <a:avLst/>
          </a:prstGeom>
          <a:solidFill>
            <a:srgbClr val="F7FAFC"/>
          </a:solidFill>
          <a:ln w="762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82880" y="1051560"/>
            <a:ext cx="457200" cy="1645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1051560"/>
            <a:ext cx="457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1143000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</a:rPr>
              <a:t>Monthly Chart Review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1463040"/>
            <a:ext cx="3730752" cy="1170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Each resident's drug regimen must be reviewed at least once a month by a licensed pharmacist. The review must include a full review of the resident's medical chart (MAR, orders, progress notes, assessments).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4297680" cy="1645920"/>
          </a:xfrm>
          <a:prstGeom prst="rect">
            <a:avLst/>
          </a:prstGeom>
          <a:solidFill>
            <a:srgbClr val="F7FAFC"/>
          </a:solidFill>
          <a:ln w="762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457200" cy="1645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63440" y="1051560"/>
            <a:ext cx="457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166360" y="1143000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</a:rPr>
              <a:t>Report Irregularities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66360" y="1463040"/>
            <a:ext cx="3730752" cy="1170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Any irregularities must be documented in a separate written report and sent to the attending physician, medical director, and DON. Irregularities include: unnecessary drugs, duplicate therapy, excessive dose/duration, inadequate monitoring, adverse consequences.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2880" y="2880360"/>
            <a:ext cx="4297680" cy="1645920"/>
          </a:xfrm>
          <a:prstGeom prst="rect">
            <a:avLst/>
          </a:prstGeom>
          <a:solidFill>
            <a:srgbClr val="F7FAFC"/>
          </a:solidFill>
          <a:ln w="762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82880" y="2880360"/>
            <a:ext cx="457200" cy="1645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82880" y="2880360"/>
            <a:ext cx="457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85800" y="2971800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</a:rPr>
              <a:t>Physician Response Required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291840"/>
            <a:ext cx="3730752" cy="1170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The attending physician must document their review of each identified irregularity and what action was taken — or provide a written rationale for no action — in the resident's medical record.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2880360"/>
            <a:ext cx="4297680" cy="1645920"/>
          </a:xfrm>
          <a:prstGeom prst="rect">
            <a:avLst/>
          </a:prstGeom>
          <a:solidFill>
            <a:srgbClr val="F7FAFC"/>
          </a:solidFill>
          <a:ln w="762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63440" y="2880360"/>
            <a:ext cx="457200" cy="1645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663440" y="2880360"/>
            <a:ext cx="457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166360" y="2971800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</a:rPr>
              <a:t>P&amp;P + Time Frames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66360" y="3291840"/>
            <a:ext cx="3730752" cy="1170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Facility must maintain MRR policies &amp; procedures with defined time frames: high-priority irregularities addressed by midnight of the next calendar day; standard irregularities within 30 days. Urgent escalation pathway required.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74320" y="4873752"/>
            <a:ext cx="777240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18096"/>
                </a:solidFill>
              </a:rPr>
              <a:t>ClinIQ.ai  |  AI-Powered Medication Review &amp; Clinical Intelligence Platform  |  March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138160" y="4873752"/>
            <a:ext cx="82296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</a:rPr>
              <a:t>6 / 14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AI Opportunities Across the MRR Workflow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82880" y="749808"/>
            <a:ext cx="2743200" cy="187452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82880" y="749808"/>
            <a:ext cx="2743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37744" y="749808"/>
            <a:ext cx="2651760" cy="34747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01  Automated Data Ingestion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56032" y="1133856"/>
            <a:ext cx="2615184" cy="1444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</a:rPr>
              <a:t>Auto-pull from PCC/MatrixCare via FHIR/APIs. Eliminate manual EHR login. Auto-detect new admissions and trigger review pipelines automatically.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127248" y="749808"/>
            <a:ext cx="2743200" cy="187452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127248" y="749808"/>
            <a:ext cx="2743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182112" y="749808"/>
            <a:ext cx="2651760" cy="34747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02  AI Clinical Review Engine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00400" y="1133856"/>
            <a:ext cx="2615184" cy="1444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</a:rPr>
              <a:t>GenAI analysis of meds, diagnoses, labs, and MAR records. Auto-flag duplicate therapy, unnecessary drugs, adverse interactions, and dosing issues.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71616" y="749808"/>
            <a:ext cx="2743200" cy="187452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071616" y="749808"/>
            <a:ext cx="2743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26480" y="749808"/>
            <a:ext cx="2651760" cy="34747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03  Intelligent Recommendation Generation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144768" y="1133856"/>
            <a:ext cx="2615184" cy="1444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</a:rPr>
              <a:t>LLM auto-generates recommendations mapped to appropriate templates. Drafts pharmacist-ready reports with clinical rationale — eliminates manual template selection.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2880" y="2834640"/>
            <a:ext cx="2743200" cy="187452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82880" y="2834640"/>
            <a:ext cx="2743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37744" y="2834640"/>
            <a:ext cx="2651760" cy="34747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04  Drug Knowledge Integration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6032" y="3218688"/>
            <a:ext cx="2615184" cy="1444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</a:rPr>
              <a:t>Real-time integration with First DataBank / Medispan APIs. Automated drug interaction checks and clinical guideline lookups — no manual reference needed.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127248" y="2834640"/>
            <a:ext cx="2743200" cy="187452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127248" y="2834640"/>
            <a:ext cx="2743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182112" y="2834640"/>
            <a:ext cx="2651760" cy="34747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05  Human-in-the-Loop Validation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00400" y="3218688"/>
            <a:ext cx="2615184" cy="1444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</a:rPr>
              <a:t>Pharmacist review dashboard to accept, edit, or reject AI-generated recommendations. Maintains clinical accountability and satisfies CMS HITL requirements.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71616" y="2834640"/>
            <a:ext cx="2743200" cy="187452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743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126480" y="2834640"/>
            <a:ext cx="2651760" cy="34747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06  Automated Compliance Reporting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144768" y="3218688"/>
            <a:ext cx="2615184" cy="1444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</a:rPr>
              <a:t>Auto-generate F756 irregularity reports. Auto-route to MD, Medical Director &amp; DON. Track physician responses + SLA enforcement (urgent: same-day; standard: 30-day).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74320" y="4873752"/>
            <a:ext cx="777240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18096"/>
                </a:solidFill>
              </a:rPr>
              <a:t>ClinIQ.ai  |  AI-Powered Medication Review &amp; Clinical Intelligence Platform  |  March 2026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138160" y="4873752"/>
            <a:ext cx="82296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</a:rPr>
              <a:t>7 / 14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AI Opportunity Map: Current vs. Future Capability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82880" y="749808"/>
            <a:ext cx="2011680" cy="347472"/>
          </a:xfrm>
          <a:prstGeom prst="rect">
            <a:avLst/>
          </a:prstGeom>
          <a:solidFill>
            <a:srgbClr val="1B3A5C"/>
          </a:solidFill>
          <a:ln w="381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82880" y="74980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Workflow Step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749808"/>
            <a:ext cx="3291840" cy="347472"/>
          </a:xfrm>
          <a:prstGeom prst="rect">
            <a:avLst/>
          </a:prstGeom>
          <a:solidFill>
            <a:srgbClr val="718096"/>
          </a:solidFill>
          <a:ln w="381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86000" y="74980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Current State (Manual)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0" y="749808"/>
            <a:ext cx="3474720" cy="347472"/>
          </a:xfrm>
          <a:prstGeom prst="rect">
            <a:avLst/>
          </a:prstGeom>
          <a:solidFill>
            <a:srgbClr val="0D9488"/>
          </a:solidFill>
          <a:ln w="381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0" y="74980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Future AI Capability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1170432"/>
            <a:ext cx="201168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37744" y="1170432"/>
            <a:ext cx="192024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</a:rPr>
              <a:t>Patient Identification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0" y="1170432"/>
            <a:ext cx="329184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40864" y="1170432"/>
            <a:ext cx="3200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42A2A"/>
                </a:solidFill>
              </a:rPr>
              <a:t>Manual census review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669280" y="1170432"/>
            <a:ext cx="347472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724144" y="1170432"/>
            <a:ext cx="338328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76749"/>
                </a:solidFill>
              </a:rPr>
              <a:t>Event-based triggers (new admission, med change)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2880" y="1655064"/>
            <a:ext cx="201168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37744" y="1655064"/>
            <a:ext cx="192024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</a:rPr>
              <a:t>Medication Review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86000" y="1655064"/>
            <a:ext cx="329184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40864" y="1655064"/>
            <a:ext cx="3200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42A2A"/>
                </a:solidFill>
              </a:rPr>
              <a:t>Manual chart review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0" y="1655064"/>
            <a:ext cx="34747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724144" y="1655064"/>
            <a:ext cx="338328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76749"/>
                </a:solidFill>
              </a:rPr>
              <a:t>AI clinical rule engine + GenAI processing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82880" y="2139696"/>
            <a:ext cx="201168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37744" y="2139696"/>
            <a:ext cx="192024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</a:rPr>
              <a:t>Drug Interaction Lookup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286000" y="2139696"/>
            <a:ext cx="329184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340864" y="2139696"/>
            <a:ext cx="3200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42A2A"/>
                </a:solidFill>
              </a:rPr>
              <a:t>Manual reference checks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0" y="2139696"/>
            <a:ext cx="347472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724144" y="2139696"/>
            <a:ext cx="338328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76749"/>
                </a:solidFill>
              </a:rPr>
              <a:t>Automated via First DataBank / Medispan APIs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82880" y="2624328"/>
            <a:ext cx="201168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37744" y="2624328"/>
            <a:ext cx="192024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</a:rPr>
              <a:t>Recommendation Writing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86000" y="2624328"/>
            <a:ext cx="329184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340864" y="2624328"/>
            <a:ext cx="3200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42A2A"/>
                </a:solidFill>
              </a:rPr>
              <a:t>Template selection (300+ opts)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69280" y="2624328"/>
            <a:ext cx="34747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724144" y="2624328"/>
            <a:ext cx="338328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76749"/>
                </a:solidFill>
              </a:rPr>
              <a:t>LLM-generated recommendations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82880" y="3108960"/>
            <a:ext cx="201168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37744" y="3108960"/>
            <a:ext cx="192024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</a:rPr>
              <a:t>Documentation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286000" y="3108960"/>
            <a:ext cx="329184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340864" y="3108960"/>
            <a:ext cx="3200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42A2A"/>
                </a:solidFill>
              </a:rPr>
              <a:t>Double entry (EHR + consult SW)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669280" y="3108960"/>
            <a:ext cx="347472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724144" y="3108960"/>
            <a:ext cx="338328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76749"/>
                </a:solidFill>
              </a:rPr>
              <a:t>Auto-population into EHR systems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82880" y="3593592"/>
            <a:ext cx="201168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237744" y="3593592"/>
            <a:ext cx="192024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</a:rPr>
              <a:t>Medication Reconciliation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286000" y="3593592"/>
            <a:ext cx="329184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340864" y="3593592"/>
            <a:ext cx="3200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42A2A"/>
                </a:solidFill>
              </a:rPr>
              <a:t>100% manual (pre/during/post-hospital)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0" y="3593592"/>
            <a:ext cx="34747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724144" y="3593592"/>
            <a:ext cx="338328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76749"/>
                </a:solidFill>
              </a:rPr>
              <a:t>AI-powered comparison &amp; mismatch flagging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82880" y="4078224"/>
            <a:ext cx="201168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237744" y="4078224"/>
            <a:ext cx="192024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</a:rPr>
              <a:t>Monthly Reports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286000" y="4078224"/>
            <a:ext cx="329184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340864" y="4078224"/>
            <a:ext cx="3200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42A2A"/>
                </a:solidFill>
              </a:rPr>
              <a:t>Manual CMS compilation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669280" y="4078224"/>
            <a:ext cx="347472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724144" y="4078224"/>
            <a:ext cx="338328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76749"/>
                </a:solidFill>
              </a:rPr>
              <a:t>Automated CMS reporting (Phase 2)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74320" y="4873752"/>
            <a:ext cx="777240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18096"/>
                </a:solidFill>
              </a:rPr>
              <a:t>ClinIQ.ai  |  AI-Powered Medication Review &amp; Clinical Intelligence Platform  |  March 2026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138160" y="4873752"/>
            <a:ext cx="82296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</a:rPr>
              <a:t>8 / 14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AI Model Strategy: Technology Components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82880" y="7132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AI Component Technologies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82880" y="1024128"/>
            <a:ext cx="2011680" cy="31089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82880" y="10241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AI Component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0" y="1024128"/>
            <a:ext cx="2194560" cy="31089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286000" y="102412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Technology / Approach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" y="1371600"/>
            <a:ext cx="201168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37744" y="1371600"/>
            <a:ext cx="192024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</a:rPr>
              <a:t>Recommendation Generation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0" y="1371600"/>
            <a:ext cx="219456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340864" y="1371600"/>
            <a:ext cx="210312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LLM (Azure OpenAI / GPT)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82880" y="1874520"/>
            <a:ext cx="201168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37744" y="1874520"/>
            <a:ext cx="192024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</a:rPr>
              <a:t>Drug Interaction Detection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0" y="1874520"/>
            <a:ext cx="219456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340864" y="1874520"/>
            <a:ext cx="210312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Rule engine + drug database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" y="2377440"/>
            <a:ext cx="201168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37744" y="2377440"/>
            <a:ext cx="192024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</a:rPr>
              <a:t>Duplicate Therapy Detection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286000" y="2377440"/>
            <a:ext cx="219456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340864" y="2377440"/>
            <a:ext cx="210312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Knowledge graph / rules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82880" y="2880360"/>
            <a:ext cx="201168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37744" y="2880360"/>
            <a:ext cx="192024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</a:rPr>
              <a:t>Clinical Reasoning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86000" y="2880360"/>
            <a:ext cx="219456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340864" y="2880360"/>
            <a:ext cx="210312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LLM + prompt templates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82880" y="3383280"/>
            <a:ext cx="201168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37744" y="3383280"/>
            <a:ext cx="192024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</a:rPr>
              <a:t>Template Selection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86000" y="3383280"/>
            <a:ext cx="219456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340864" y="3383280"/>
            <a:ext cx="210312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Classification model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54880" y="7132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Data Architecture: Required Sources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754880" y="1024128"/>
            <a:ext cx="1920240" cy="3108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54880" y="102412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Data Source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766560" y="1024128"/>
            <a:ext cx="2194560" cy="3108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766560" y="102412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Data Provided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54880" y="1371600"/>
            <a:ext cx="192024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09744" y="1371600"/>
            <a:ext cx="18288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</a:rPr>
              <a:t>PointClickCare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766560" y="1371600"/>
            <a:ext cx="219456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821424" y="1371600"/>
            <a:ext cx="210312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MAR, medication orders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54880" y="1874520"/>
            <a:ext cx="192024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809744" y="1874520"/>
            <a:ext cx="18288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</a:rPr>
              <a:t>MatrixCare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766560" y="1874520"/>
            <a:ext cx="219456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821424" y="1874520"/>
            <a:ext cx="210312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Patient charts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754880" y="2377440"/>
            <a:ext cx="192024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809744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</a:rPr>
              <a:t>Consulting Software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766560" y="2377440"/>
            <a:ext cx="219456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821424" y="2377440"/>
            <a:ext cx="210312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Previous recommendations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754880" y="2880360"/>
            <a:ext cx="192024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09744" y="2880360"/>
            <a:ext cx="18288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</a:rPr>
              <a:t>First DataBank / Medispan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766560" y="2880360"/>
            <a:ext cx="219456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821424" y="2880360"/>
            <a:ext cx="210312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Drug knowledge &amp; interactions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754880" y="3383280"/>
            <a:ext cx="192024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809744" y="3383280"/>
            <a:ext cx="18288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</a:rPr>
              <a:t>Facility Census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766560" y="3383280"/>
            <a:ext cx="2194560" cy="438912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821424" y="3383280"/>
            <a:ext cx="210312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Resident lists &amp; admissions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82880" y="4005072"/>
            <a:ext cx="8778240" cy="804672"/>
          </a:xfrm>
          <a:prstGeom prst="rect">
            <a:avLst/>
          </a:prstGeom>
          <a:solidFill>
            <a:srgbClr val="EBF8FF"/>
          </a:solidFill>
          <a:ln w="7620">
            <a:solidFill>
              <a:srgbClr val="BEE3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20040" y="404164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6CB0"/>
                </a:solidFill>
              </a:rPr>
              <a:t>Human-in-the-Loop (HITL) Governance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20040" y="4315968"/>
            <a:ext cx="8503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</a:rPr>
              <a:t>AI generates recommendation  &gt;&gt;  Pharmacist reviews (Accept / Modify / Reject)  &gt;&gt;  Approved recommendation sent to physician.  This HITL step protects against AI errors and satisfies CMS clinical accountability requirements.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274320" y="4873752"/>
            <a:ext cx="777240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18096"/>
                </a:solidFill>
              </a:rPr>
              <a:t>ClinIQ.ai  |  AI-Powered Medication Review &amp; Clinical Intelligence Platform  |  March 2026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138160" y="4873752"/>
            <a:ext cx="82296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</a:rPr>
              <a:t>9 / 14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MVP Scope Definition: Phase 1 Build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82880" y="713232"/>
            <a:ext cx="4297680" cy="3474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82880" y="713232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IN MVP — Phase 1 (0–6 Months)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1133856"/>
            <a:ext cx="4297680" cy="80467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82880" y="1133856"/>
            <a:ext cx="109728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9184" y="118872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</a:rPr>
              <a:t>[&gt;] Automated Medication Review Engine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9184" y="1481328"/>
            <a:ext cx="4096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</a:rPr>
              <a:t>AI clinical rule + GenAI engine reviews meds, labs, diagnoses per resident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82880" y="2048256"/>
            <a:ext cx="429768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82880" y="2048256"/>
            <a:ext cx="109728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9184" y="210312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</a:rPr>
              <a:t>[&gt;] LLM Recommendation Generator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9184" y="2395728"/>
            <a:ext cx="4096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</a:rPr>
              <a:t>Auto-draft recommendations using appropriate templates and clinical reasoning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82880" y="2962656"/>
            <a:ext cx="4297680" cy="80467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82880" y="2962656"/>
            <a:ext cx="109728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9184" y="301752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</a:rPr>
              <a:t>[&gt;] Pharmacist Approval Interface (HITL)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9184" y="3310128"/>
            <a:ext cx="4096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</a:rPr>
              <a:t>Pharmacist reviews, edits, and approves all AI-generated recommendations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82880" y="3877056"/>
            <a:ext cx="429768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82880" y="3877056"/>
            <a:ext cx="109728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29184" y="393192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</a:rPr>
              <a:t>[&gt;] Patient-Level Recommendation Reports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9184" y="4224528"/>
            <a:ext cx="4096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</a:rPr>
              <a:t>Generated per resident per visit with full clinical rationale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54880" y="713232"/>
            <a:ext cx="4206240" cy="347472"/>
          </a:xfrm>
          <a:prstGeom prst="rect">
            <a:avLst/>
          </a:prstGeom>
          <a:solidFill>
            <a:srgbClr val="718096"/>
          </a:solidFill>
          <a:ln w="127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54880" y="7132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NOT IN MVP — Future Phases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1133856"/>
            <a:ext cx="4206240" cy="41148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09744" y="1133856"/>
            <a:ext cx="32004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42A2A"/>
                </a:solidFill>
              </a:rPr>
              <a:t>[X] Epic / Surescripts integration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28432" y="1197864"/>
            <a:ext cx="82296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028432" y="11978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Phase 2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754880" y="1609344"/>
            <a:ext cx="420624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09744" y="1609344"/>
            <a:ext cx="32004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42A2A"/>
                </a:solidFill>
              </a:rPr>
              <a:t>[X] Monthly CMS facility summary report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028432" y="1673352"/>
            <a:ext cx="82296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028432" y="16733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Phase 2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754880" y="2084832"/>
            <a:ext cx="4206240" cy="41148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809744" y="2084832"/>
            <a:ext cx="32004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42A2A"/>
                </a:solidFill>
              </a:rPr>
              <a:t>[X] Provider direct messaging automation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028432" y="2148840"/>
            <a:ext cx="82296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028432" y="2148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Phase 2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754880" y="2560320"/>
            <a:ext cx="420624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809744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42A2A"/>
                </a:solidFill>
              </a:rPr>
              <a:t>[X] Full EHR writeback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028432" y="2624328"/>
            <a:ext cx="82296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028432" y="26243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Phase 2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754880" y="3035808"/>
            <a:ext cx="4206240" cy="41148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809744" y="3035808"/>
            <a:ext cx="32004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42A2A"/>
                </a:solidFill>
              </a:rPr>
              <a:t>[X] Advanced clinical decision support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028432" y="3099816"/>
            <a:ext cx="822960" cy="274320"/>
          </a:xfrm>
          <a:prstGeom prst="rect">
            <a:avLst/>
          </a:prstGeom>
          <a:solidFill>
            <a:srgbClr val="C05621"/>
          </a:solidFill>
          <a:ln w="12700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8028432" y="309981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Phase 3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754880" y="3511296"/>
            <a:ext cx="420624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809744" y="3511296"/>
            <a:ext cx="32004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42A2A"/>
                </a:solidFill>
              </a:rPr>
              <a:t>[X] Predictive medication risk scoring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028432" y="3575304"/>
            <a:ext cx="822960" cy="274320"/>
          </a:xfrm>
          <a:prstGeom prst="rect">
            <a:avLst/>
          </a:prstGeom>
          <a:solidFill>
            <a:srgbClr val="C05621"/>
          </a:solidFill>
          <a:ln w="12700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8028432" y="35753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Phase 3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754880" y="3986784"/>
            <a:ext cx="4206240" cy="41148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809744" y="3986784"/>
            <a:ext cx="32004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42A2A"/>
                </a:solidFill>
              </a:rPr>
              <a:t>[X] RPA / full workflow automation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028432" y="4050792"/>
            <a:ext cx="822960" cy="274320"/>
          </a:xfrm>
          <a:prstGeom prst="rect">
            <a:avLst/>
          </a:prstGeom>
          <a:solidFill>
            <a:srgbClr val="C05621"/>
          </a:solidFill>
          <a:ln w="12700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8028432" y="40507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Phase 3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74320" y="4873752"/>
            <a:ext cx="777240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18096"/>
                </a:solidFill>
              </a:rPr>
              <a:t>ClinIQ.ai  |  AI-Powered Medication Review &amp; Clinical Intelligence Platform  |  March 2026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138160" y="4873752"/>
            <a:ext cx="82296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</a:rPr>
              <a:t>10 / 14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ClinIQ Architecture: 12 Functional Blocks × 5 Processing Layers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" y="713232"/>
            <a:ext cx="685800" cy="896112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" y="713232"/>
            <a:ext cx="685800" cy="8961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Intake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Layer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41248" y="758952"/>
            <a:ext cx="2633472" cy="80467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41248" y="758952"/>
            <a:ext cx="292608" cy="804672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41248" y="758952"/>
            <a:ext cx="292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70432" y="77724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5C"/>
                </a:solidFill>
              </a:rPr>
              <a:t>Source Data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70432" y="1051560"/>
            <a:ext cx="2267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D3748"/>
                </a:solidFill>
              </a:rPr>
              <a:t>EMR/APIs, PCC, MatrixCare, Lab Reports, Historical Records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584448" y="758952"/>
            <a:ext cx="2633472" cy="80467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584448" y="758952"/>
            <a:ext cx="292608" cy="804672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584448" y="758952"/>
            <a:ext cx="292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913632" y="77724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5C"/>
                </a:solidFill>
              </a:rPr>
              <a:t>Ingestion &amp; Extraction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913632" y="1051560"/>
            <a:ext cx="2267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D3748"/>
                </a:solidFill>
              </a:rPr>
              <a:t>Pipelines / OCR — Multi-source intake &amp; Knowledge Base creation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327648" y="758952"/>
            <a:ext cx="2633472" cy="80467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27648" y="758952"/>
            <a:ext cx="292608" cy="804672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27648" y="758952"/>
            <a:ext cx="292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03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656832" y="77724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5C"/>
                </a:solidFill>
              </a:rPr>
              <a:t>Data Standardization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656832" y="1051560"/>
            <a:ext cx="2267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D3748"/>
                </a:solidFill>
              </a:rPr>
              <a:t>Unified, longitudinal patient-centric record per consultant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1440" y="1737360"/>
            <a:ext cx="685800" cy="896112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1440" y="1737360"/>
            <a:ext cx="685800" cy="8961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AI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Processing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41248" y="1783080"/>
            <a:ext cx="2633472" cy="80467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41248" y="1783080"/>
            <a:ext cx="292608" cy="804672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41248" y="1783080"/>
            <a:ext cx="292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04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70432" y="180136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5C"/>
                </a:solidFill>
              </a:rPr>
              <a:t>Clinical Intel Processing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2075688"/>
            <a:ext cx="2267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D3748"/>
                </a:solidFill>
              </a:rPr>
              <a:t>GenAI Engine — Summaries, audit, risk/health assessment, discrepancy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584448" y="1783080"/>
            <a:ext cx="2633472" cy="80467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584448" y="1783080"/>
            <a:ext cx="292608" cy="804672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584448" y="1783080"/>
            <a:ext cx="292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05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13632" y="180136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5C"/>
                </a:solidFill>
              </a:rPr>
              <a:t>Recommendations &amp; MRR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913632" y="2075688"/>
            <a:ext cx="2267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D3748"/>
                </a:solidFill>
              </a:rPr>
              <a:t>Rec. Engine — Evidence-based clinical recommendations &amp; MRR reports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6327648" y="1783080"/>
            <a:ext cx="2633472" cy="80467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327648" y="1783080"/>
            <a:ext cx="292608" cy="804672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327648" y="1783080"/>
            <a:ext cx="292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06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656832" y="180136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5C"/>
                </a:solidFill>
              </a:rPr>
              <a:t>AI Pharmacy Assistant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656832" y="2075688"/>
            <a:ext cx="2267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D3748"/>
                </a:solidFill>
              </a:rPr>
              <a:t>LLM powered — Context-aware copilot for guided review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91440" y="2761488"/>
            <a:ext cx="685800" cy="896112"/>
          </a:xfrm>
          <a:prstGeom prst="rect">
            <a:avLst/>
          </a:prstGeom>
          <a:solidFill>
            <a:srgbClr val="553C9A"/>
          </a:solidFill>
          <a:ln w="12700">
            <a:solidFill>
              <a:srgbClr val="553C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91440" y="2761488"/>
            <a:ext cx="685800" cy="8961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User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Experience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841248" y="2807208"/>
            <a:ext cx="2633472" cy="80467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841248" y="2807208"/>
            <a:ext cx="292608" cy="804672"/>
          </a:xfrm>
          <a:prstGeom prst="rect">
            <a:avLst/>
          </a:prstGeom>
          <a:solidFill>
            <a:srgbClr val="553C9A"/>
          </a:solidFill>
          <a:ln w="12700">
            <a:solidFill>
              <a:srgbClr val="553C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41248" y="2807208"/>
            <a:ext cx="292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07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70432" y="282549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5C"/>
                </a:solidFill>
              </a:rPr>
              <a:t>Core UX / Apps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170432" y="3099816"/>
            <a:ext cx="2267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D3748"/>
                </a:solidFill>
              </a:rPr>
              <a:t>Web App — Login, Directory, Overview &amp; Submission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584448" y="2807208"/>
            <a:ext cx="2633472" cy="804672"/>
          </a:xfrm>
          <a:prstGeom prst="rect">
            <a:avLst/>
          </a:prstGeom>
          <a:solidFill>
            <a:srgbClr val="F7FAFC"/>
          </a:solidFill>
          <a:ln w="15240">
            <a:solidFill>
              <a:srgbClr val="D69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584448" y="2807208"/>
            <a:ext cx="292608" cy="804672"/>
          </a:xfrm>
          <a:prstGeom prst="rect">
            <a:avLst/>
          </a:prstGeom>
          <a:solidFill>
            <a:srgbClr val="553C9A"/>
          </a:solidFill>
          <a:ln w="12700">
            <a:solidFill>
              <a:srgbClr val="553C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584448" y="2807208"/>
            <a:ext cx="292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08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3913632" y="282549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5C"/>
                </a:solidFill>
              </a:rPr>
              <a:t>Clinical Dashboard [Core]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913632" y="3099816"/>
            <a:ext cx="2267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D3748"/>
                </a:solidFill>
              </a:rPr>
              <a:t>Dashboard UI — Vitals, alerts, AI panel, chatbot, recommendations  (Core Screen)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327648" y="2807208"/>
            <a:ext cx="2633472" cy="80467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327648" y="2807208"/>
            <a:ext cx="292608" cy="804672"/>
          </a:xfrm>
          <a:prstGeom prst="rect">
            <a:avLst/>
          </a:prstGeom>
          <a:solidFill>
            <a:srgbClr val="553C9A"/>
          </a:solidFill>
          <a:ln w="12700">
            <a:solidFill>
              <a:srgbClr val="553C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327648" y="2807208"/>
            <a:ext cx="292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09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656832" y="282549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5C"/>
                </a:solidFill>
              </a:rPr>
              <a:t>Review &amp; Validation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656832" y="3099816"/>
            <a:ext cx="2267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D3748"/>
                </a:solidFill>
              </a:rPr>
              <a:t>Workflow Engine — Human-in-the-loop: edit, validate &amp; approve MRR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91440" y="3785616"/>
            <a:ext cx="685800" cy="896112"/>
          </a:xfrm>
          <a:prstGeom prst="rect">
            <a:avLst/>
          </a:prstGeom>
          <a:solidFill>
            <a:srgbClr val="C05621"/>
          </a:solidFill>
          <a:ln w="12700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91440" y="3785616"/>
            <a:ext cx="685800" cy="8961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Down-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stream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841248" y="3831336"/>
            <a:ext cx="2633472" cy="80467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841248" y="3831336"/>
            <a:ext cx="292608" cy="804672"/>
          </a:xfrm>
          <a:prstGeom prst="rect">
            <a:avLst/>
          </a:prstGeom>
          <a:solidFill>
            <a:srgbClr val="C05621"/>
          </a:solidFill>
          <a:ln w="12700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841248" y="3831336"/>
            <a:ext cx="292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10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1170432" y="384962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5C"/>
                </a:solidFill>
              </a:rPr>
              <a:t>Downstream Workflow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1170432" y="4123944"/>
            <a:ext cx="2267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D3748"/>
                </a:solidFill>
              </a:rPr>
              <a:t>Integrations — MD review, approval, DB update &amp; cost realization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3584448" y="3831336"/>
            <a:ext cx="2633472" cy="80467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3584448" y="3831336"/>
            <a:ext cx="292608" cy="804672"/>
          </a:xfrm>
          <a:prstGeom prst="rect">
            <a:avLst/>
          </a:prstGeom>
          <a:solidFill>
            <a:srgbClr val="C05621"/>
          </a:solidFill>
          <a:ln w="12700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3584448" y="3831336"/>
            <a:ext cx="292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11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3913632" y="384962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5C"/>
                </a:solidFill>
              </a:rPr>
              <a:t>External Screens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3913632" y="4123944"/>
            <a:ext cx="2267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D3748"/>
                </a:solidFill>
              </a:rPr>
              <a:t>Portal/UI — External user portal &amp; email workflow for Physician approval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327648" y="3831336"/>
            <a:ext cx="2633472" cy="804672"/>
          </a:xfrm>
          <a:prstGeom prst="rect">
            <a:avLst/>
          </a:prstGeom>
          <a:solidFill>
            <a:srgbClr val="F7FAFC"/>
          </a:solidFill>
          <a:ln w="508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6327648" y="3831336"/>
            <a:ext cx="292608" cy="804672"/>
          </a:xfrm>
          <a:prstGeom prst="rect">
            <a:avLst/>
          </a:prstGeom>
          <a:solidFill>
            <a:srgbClr val="C05621"/>
          </a:solidFill>
          <a:ln w="12700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6327648" y="3831336"/>
            <a:ext cx="292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12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6656832" y="384962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5C"/>
                </a:solidFill>
              </a:rPr>
              <a:t>Reporting &amp; Monitoring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656832" y="4123944"/>
            <a:ext cx="2267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D3748"/>
                </a:solidFill>
              </a:rPr>
              <a:t>BI / Observability — MRR reports, alert tracking &amp; workload analytics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1440" y="4818888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718096"/>
                </a:solidFill>
              </a:rPr>
              <a:t>[Core] = Core Screen / Most Critical View (gold border)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274320" y="4873752"/>
            <a:ext cx="777240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18096"/>
                </a:solidFill>
              </a:rPr>
              <a:t>ClinIQ.ai  |  AI-Powered Medication Review &amp; Clinical Intelligence Platform  |  March 2026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138160" y="4873752"/>
            <a:ext cx="82296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</a:rPr>
              <a:t>11 / 14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Recommended Future State: AI-Powered MRR Flow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64592" y="749808"/>
            <a:ext cx="2606040" cy="658368"/>
          </a:xfrm>
          <a:prstGeom prst="rect">
            <a:avLst/>
          </a:prstGeom>
          <a:solidFill>
            <a:srgbClr val="1B3A5C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64592" y="749808"/>
            <a:ext cx="2606040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1. EHR Data Ingestion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(FHIR / PCC API — auto-sync)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458468" y="1408176"/>
            <a:ext cx="0" cy="256032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64592" y="1554480"/>
            <a:ext cx="2606040" cy="658368"/>
          </a:xfrm>
          <a:prstGeom prst="rect">
            <a:avLst/>
          </a:prstGeom>
          <a:solidFill>
            <a:srgbClr val="1B3A5C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4592" y="1554480"/>
            <a:ext cx="2606040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2. Patient Directory &amp;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Data Standardization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458468" y="2212848"/>
            <a:ext cx="0" cy="256032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64592" y="2359152"/>
            <a:ext cx="2606040" cy="658368"/>
          </a:xfrm>
          <a:prstGeom prst="rect">
            <a:avLst/>
          </a:prstGeom>
          <a:solidFill>
            <a:srgbClr val="1B3A5C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64592" y="2359152"/>
            <a:ext cx="2606040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3. AI Trigger: New Admit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or Monthly Review Due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458468" y="3017520"/>
            <a:ext cx="0" cy="256032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64592" y="3163824"/>
            <a:ext cx="2606040" cy="658368"/>
          </a:xfrm>
          <a:prstGeom prst="rect">
            <a:avLst/>
          </a:prstGeom>
          <a:solidFill>
            <a:srgbClr val="1B3A5C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64592" y="3163824"/>
            <a:ext cx="2606040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4. GenAI Clinical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Intel Processing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458468" y="3822192"/>
            <a:ext cx="0" cy="256032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64592" y="3968496"/>
            <a:ext cx="2606040" cy="658368"/>
          </a:xfrm>
          <a:prstGeom prst="rect">
            <a:avLst/>
          </a:prstGeom>
          <a:solidFill>
            <a:srgbClr val="1B3A5C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64592" y="3968496"/>
            <a:ext cx="2606040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5. LLM Recommendation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Draft Generation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08960" y="749808"/>
            <a:ext cx="2606040" cy="658368"/>
          </a:xfrm>
          <a:prstGeom prst="rect">
            <a:avLst/>
          </a:prstGeom>
          <a:solidFill>
            <a:srgbClr val="0D9488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108960" y="749808"/>
            <a:ext cx="2606040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6. Clinical Dashboard: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Pharmacist Reviews AI Draft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02836" y="1408176"/>
            <a:ext cx="0" cy="256032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108960" y="1554480"/>
            <a:ext cx="2606040" cy="658368"/>
          </a:xfrm>
          <a:prstGeom prst="rect">
            <a:avLst/>
          </a:prstGeom>
          <a:solidFill>
            <a:srgbClr val="0D9488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108960" y="1554480"/>
            <a:ext cx="2606040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7. Human-in-the-Loop: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Accept / Edit / Reject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402836" y="2212848"/>
            <a:ext cx="0" cy="256032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108960" y="2359152"/>
            <a:ext cx="2606040" cy="658368"/>
          </a:xfrm>
          <a:prstGeom prst="rect">
            <a:avLst/>
          </a:prstGeom>
          <a:solidFill>
            <a:srgbClr val="0D9488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108960" y="2359152"/>
            <a:ext cx="2606040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8. Auto-Generate F756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Irregularity Report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402836" y="3017520"/>
            <a:ext cx="0" cy="256032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108960" y="3163824"/>
            <a:ext cx="2606040" cy="658368"/>
          </a:xfrm>
          <a:prstGeom prst="rect">
            <a:avLst/>
          </a:prstGeom>
          <a:solidFill>
            <a:srgbClr val="0D9488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108960" y="3163824"/>
            <a:ext cx="2606040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9. Auto-Route to MD,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Medical Director &amp; DON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402836" y="3822192"/>
            <a:ext cx="0" cy="256032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108960" y="3968496"/>
            <a:ext cx="2606040" cy="658368"/>
          </a:xfrm>
          <a:prstGeom prst="rect">
            <a:avLst/>
          </a:prstGeom>
          <a:solidFill>
            <a:srgbClr val="0D9488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108960" y="3968496"/>
            <a:ext cx="2606040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10. Track Physician Response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&amp; SLA Compliance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126480" y="987552"/>
            <a:ext cx="2834640" cy="960120"/>
          </a:xfrm>
          <a:prstGeom prst="rect">
            <a:avLst/>
          </a:prstGeom>
          <a:solidFill>
            <a:srgbClr val="C05621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126480" y="987552"/>
            <a:ext cx="2834640" cy="9601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11. Monthly CMS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Summary Report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Auto-Generated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126480" y="2377440"/>
            <a:ext cx="2834640" cy="960120"/>
          </a:xfrm>
          <a:prstGeom prst="rect">
            <a:avLst/>
          </a:prstGeom>
          <a:solidFill>
            <a:srgbClr val="C05621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126480" y="2377440"/>
            <a:ext cx="2834640" cy="9601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12. F756 Compliance: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SLAs enforced,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urgent escalation auto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126480" y="3767328"/>
            <a:ext cx="2834640" cy="960120"/>
          </a:xfrm>
          <a:prstGeom prst="rect">
            <a:avLst/>
          </a:prstGeom>
          <a:solidFill>
            <a:srgbClr val="C05621"/>
          </a:solidFill>
          <a:ln w="508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126480" y="3767328"/>
            <a:ext cx="2834640" cy="9601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13. BI Dashboards: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Workload, outcomes,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alert tracking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70632" y="4288536"/>
            <a:ext cx="256032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715000" y="1069848"/>
            <a:ext cx="256032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715000" y="2679192"/>
            <a:ext cx="256032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715000" y="4288536"/>
            <a:ext cx="256032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64592" y="4663440"/>
            <a:ext cx="8778240" cy="201168"/>
          </a:xfrm>
          <a:prstGeom prst="rect">
            <a:avLst/>
          </a:prstGeom>
          <a:solidFill>
            <a:srgbClr val="EBF8FF"/>
          </a:solidFill>
          <a:ln w="6350">
            <a:solidFill>
              <a:srgbClr val="BEE3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56032" y="466344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2B6CB0"/>
                </a:solidFill>
              </a:rPr>
              <a:t>Drug Intelligence Layer: First DataBank / Medispan integration powers real-time drug interaction checks at steps 4 &amp; 5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4873752"/>
            <a:ext cx="777240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18096"/>
                </a:solidFill>
              </a:rPr>
              <a:t>ClinIQ.ai  |  AI-Powered Medication Review &amp; Clinical Intelligence Platform  |  March 2026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8138160" y="4873752"/>
            <a:ext cx="82296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</a:rPr>
              <a:t>12 / 14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Before vs. After: AI Transformation at a Glance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82880" y="685800"/>
            <a:ext cx="3931920" cy="320040"/>
          </a:xfrm>
          <a:prstGeom prst="rect">
            <a:avLst/>
          </a:prstGeom>
          <a:solidFill>
            <a:srgbClr val="718096"/>
          </a:solidFill>
          <a:ln w="127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82880" y="685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Current State (Manual)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206240" y="845820"/>
            <a:ext cx="685800" cy="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0" y="685800"/>
            <a:ext cx="39319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0" y="685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Future State (AI-Powered)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82880" y="1078992"/>
            <a:ext cx="3931920" cy="310896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28600" y="1078992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2A2A"/>
                </a:solidFill>
              </a:rPr>
              <a:t>[X] Manual EHR login per facility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6240" y="1234440"/>
            <a:ext cx="640080" cy="0"/>
          </a:xfrm>
          <a:prstGeom prst="line">
            <a:avLst/>
          </a:prstGeom>
          <a:noFill/>
          <a:ln w="127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0" y="1078992"/>
            <a:ext cx="3931920" cy="310896"/>
          </a:xfrm>
          <a:prstGeom prst="rect">
            <a:avLst/>
          </a:prstGeom>
          <a:solidFill>
            <a:srgbClr val="F0FFF4"/>
          </a:solidFill>
          <a:ln w="381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74920" y="1078992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76749"/>
                </a:solidFill>
              </a:rPr>
              <a:t>[&gt;] Automated data pull via FHIR/PCC API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82880" y="1426464"/>
            <a:ext cx="39319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28600" y="1426464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2A2A"/>
                </a:solidFill>
              </a:rPr>
              <a:t>[X] Manual census &amp; MAR report running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06240" y="1581912"/>
            <a:ext cx="640080" cy="0"/>
          </a:xfrm>
          <a:prstGeom prst="line">
            <a:avLst/>
          </a:prstGeom>
          <a:noFill/>
          <a:ln w="127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29200" y="1426464"/>
            <a:ext cx="39319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74920" y="1426464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76749"/>
                </a:solidFill>
              </a:rPr>
              <a:t>[&gt;] Real-time patient data sync with auto-alerts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82880" y="1773936"/>
            <a:ext cx="3931920" cy="310896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28600" y="1773936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2A2A"/>
                </a:solidFill>
              </a:rPr>
              <a:t>[X] Manual patient identification for review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06240" y="1929384"/>
            <a:ext cx="640080" cy="0"/>
          </a:xfrm>
          <a:prstGeom prst="line">
            <a:avLst/>
          </a:prstGeom>
          <a:noFill/>
          <a:ln w="127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029200" y="1773936"/>
            <a:ext cx="3931920" cy="310896"/>
          </a:xfrm>
          <a:prstGeom prst="rect">
            <a:avLst/>
          </a:prstGeom>
          <a:solidFill>
            <a:srgbClr val="F0FFF4"/>
          </a:solidFill>
          <a:ln w="381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74920" y="1773936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76749"/>
                </a:solidFill>
              </a:rPr>
              <a:t>[&gt;] AI-triggered pipeline on admission or monthly cadence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82880" y="2121408"/>
            <a:ext cx="39319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28600" y="2121408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2A2A"/>
                </a:solidFill>
              </a:rPr>
              <a:t>[X] Manual chart review (meds, labs, notes)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06240" y="2276856"/>
            <a:ext cx="640080" cy="0"/>
          </a:xfrm>
          <a:prstGeom prst="line">
            <a:avLst/>
          </a:prstGeom>
          <a:noFill/>
          <a:ln w="127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029200" y="2121408"/>
            <a:ext cx="39319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74920" y="2121408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76749"/>
                </a:solidFill>
              </a:rPr>
              <a:t>[&gt;] GenAI clinical intel processing with evidence base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82880" y="2468880"/>
            <a:ext cx="3931920" cy="310896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28600" y="2468880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2A2A"/>
                </a:solidFill>
              </a:rPr>
              <a:t>[X] Manual template selection (300+ options)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206240" y="2624328"/>
            <a:ext cx="640080" cy="0"/>
          </a:xfrm>
          <a:prstGeom prst="line">
            <a:avLst/>
          </a:prstGeom>
          <a:noFill/>
          <a:ln w="127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029200" y="2468880"/>
            <a:ext cx="3931920" cy="310896"/>
          </a:xfrm>
          <a:prstGeom prst="rect">
            <a:avLst/>
          </a:prstGeom>
          <a:solidFill>
            <a:srgbClr val="F0FFF4"/>
          </a:solidFill>
          <a:ln w="381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74920" y="2468880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76749"/>
                </a:solidFill>
              </a:rPr>
              <a:t>[&gt;] LLM auto-selects template &amp; drafts recommendation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82880" y="2816352"/>
            <a:ext cx="39319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28600" y="2816352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2A2A"/>
                </a:solidFill>
              </a:rPr>
              <a:t>[X] Double documentation (EHR + consulting SW)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206240" y="2971800"/>
            <a:ext cx="640080" cy="0"/>
          </a:xfrm>
          <a:prstGeom prst="line">
            <a:avLst/>
          </a:prstGeom>
          <a:noFill/>
          <a:ln w="127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029200" y="2816352"/>
            <a:ext cx="39319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74920" y="2816352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76749"/>
                </a:solidFill>
              </a:rPr>
              <a:t>[&gt;] Single-source documentation with auto EHR write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82880" y="3163824"/>
            <a:ext cx="3931920" cy="310896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28600" y="3163824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2A2A"/>
                </a:solidFill>
              </a:rPr>
              <a:t>[X] Manual drug interaction lookup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206240" y="3319272"/>
            <a:ext cx="640080" cy="0"/>
          </a:xfrm>
          <a:prstGeom prst="line">
            <a:avLst/>
          </a:prstGeom>
          <a:noFill/>
          <a:ln w="127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029200" y="3163824"/>
            <a:ext cx="3931920" cy="310896"/>
          </a:xfrm>
          <a:prstGeom prst="rect">
            <a:avLst/>
          </a:prstGeom>
          <a:solidFill>
            <a:srgbClr val="F0FFF4"/>
          </a:solidFill>
          <a:ln w="381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074920" y="3163824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76749"/>
                </a:solidFill>
              </a:rPr>
              <a:t>[&gt;] Real-time First DataBank / Medispan integration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82880" y="3511296"/>
            <a:ext cx="39319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28600" y="3511296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2A2A"/>
                </a:solidFill>
              </a:rPr>
              <a:t>[X] Manual irregularity report creation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206240" y="3666744"/>
            <a:ext cx="640080" cy="0"/>
          </a:xfrm>
          <a:prstGeom prst="line">
            <a:avLst/>
          </a:prstGeom>
          <a:noFill/>
          <a:ln w="127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5029200" y="3511296"/>
            <a:ext cx="39319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5074920" y="3511296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76749"/>
                </a:solidFill>
              </a:rPr>
              <a:t>[&gt;] Auto-generated F756 report with routing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82880" y="3858768"/>
            <a:ext cx="3931920" cy="310896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228600" y="3858768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2A2A"/>
                </a:solidFill>
              </a:rPr>
              <a:t>[X] No SLA tracking for physician responses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206240" y="4014216"/>
            <a:ext cx="640080" cy="0"/>
          </a:xfrm>
          <a:prstGeom prst="line">
            <a:avLst/>
          </a:prstGeom>
          <a:noFill/>
          <a:ln w="127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029200" y="3858768"/>
            <a:ext cx="3931920" cy="310896"/>
          </a:xfrm>
          <a:prstGeom prst="rect">
            <a:avLst/>
          </a:prstGeom>
          <a:solidFill>
            <a:srgbClr val="F0FFF4"/>
          </a:solidFill>
          <a:ln w="381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074920" y="3858768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76749"/>
                </a:solidFill>
              </a:rPr>
              <a:t>[&gt;] Automated SLA: urgent (24h), standard (30 days)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82880" y="4206240"/>
            <a:ext cx="39319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228600" y="4206240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2A2A"/>
                </a:solidFill>
              </a:rPr>
              <a:t>[X] Manual monthly CMS summary report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206240" y="4361688"/>
            <a:ext cx="640080" cy="0"/>
          </a:xfrm>
          <a:prstGeom prst="line">
            <a:avLst/>
          </a:prstGeom>
          <a:noFill/>
          <a:ln w="127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5029200" y="4206240"/>
            <a:ext cx="39319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C6F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5074920" y="4206240"/>
            <a:ext cx="38404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76749"/>
                </a:solidFill>
              </a:rPr>
              <a:t>[&gt;] BI-driven auto-generated compliance reports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274320" y="4873752"/>
            <a:ext cx="777240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18096"/>
                </a:solidFill>
              </a:rPr>
              <a:t>ClinIQ.ai  |  AI-Powered Medication Review &amp; Clinical Intelligence Platform  |  March 2026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8138160" y="4873752"/>
            <a:ext cx="82296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</a:rPr>
              <a:t>13 / 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Implementation Roadmap: 3-Phase Approach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82880" y="713232"/>
            <a:ext cx="2788920" cy="74980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82880" y="71323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Phase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82880" y="107899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D1FAE5"/>
                </a:solidFill>
              </a:rPr>
              <a:t>MVP — Core AI Engine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94360" y="1554480"/>
            <a:ext cx="1965960" cy="256032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155448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</a:rPr>
              <a:t>0–6 Months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8600" y="1920240"/>
            <a:ext cx="2697480" cy="36576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PCC data ingestion via FHIR/API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8600" y="2336292"/>
            <a:ext cx="26974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4320" y="2336292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AI clinical review engine (GenAI)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8600" y="2752344"/>
            <a:ext cx="2697480" cy="36576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2752344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LLM recommendation generation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8600" y="3168396"/>
            <a:ext cx="26974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" y="3168396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Pharmacist approval interface (HITL)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8600" y="3584448"/>
            <a:ext cx="2697480" cy="36576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7432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Patient-level MRR recommendation reports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28600" y="4000500"/>
            <a:ext cx="26974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74320" y="4000500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Basic irregularity routing to MD / DON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28600" y="4416552"/>
            <a:ext cx="2697480" cy="36576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74320" y="4416552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Medication reconciliation flagging (admits)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154680" y="713232"/>
            <a:ext cx="2788920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154680" y="71323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Phase 2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154680" y="107899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D1FAE5"/>
                </a:solidFill>
              </a:rPr>
              <a:t>Integration &amp; Compliance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566160" y="1554480"/>
            <a:ext cx="1965960" cy="256032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566160" y="155448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</a:rPr>
              <a:t>6–12 Months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0" y="1920240"/>
            <a:ext cx="2697480" cy="36576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4612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First DataBank / Medispan integration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0" y="2336292"/>
            <a:ext cx="26974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246120" y="2336292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Monthly CMS facility summary report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00400" y="2752344"/>
            <a:ext cx="2697480" cy="36576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46120" y="2752344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F756 SLA tracking &amp; compliance dashboard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200400" y="3168396"/>
            <a:ext cx="26974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246120" y="3168396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Physician response portal (external screens)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00400" y="3584448"/>
            <a:ext cx="2697480" cy="36576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24612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Epic / Surescripts integration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0" y="4000500"/>
            <a:ext cx="26974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246120" y="4000500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Automated escalation for urgent items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0" y="4416552"/>
            <a:ext cx="2697480" cy="36576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246120" y="4416552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Multi-EHR support (MatrixCare etc.)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126480" y="713232"/>
            <a:ext cx="2788920" cy="749808"/>
          </a:xfrm>
          <a:prstGeom prst="rect">
            <a:avLst/>
          </a:prstGeom>
          <a:solidFill>
            <a:srgbClr val="C05621"/>
          </a:solidFill>
          <a:ln w="12700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126480" y="71323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Phase 3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126480" y="107899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D1FAE5"/>
                </a:solidFill>
              </a:rPr>
              <a:t>Intelligent Automation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537960" y="1554480"/>
            <a:ext cx="1965960" cy="256032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537960" y="155448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</a:rPr>
              <a:t>12–18 Months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172200" y="1920240"/>
            <a:ext cx="2697480" cy="36576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21792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Predictive medication risk scoring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172200" y="2336292"/>
            <a:ext cx="26974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17920" y="2336292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Population analytics &amp; insights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172200" y="2752344"/>
            <a:ext cx="2697480" cy="36576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217920" y="2752344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Automated intervention prioritization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72200" y="3168396"/>
            <a:ext cx="26974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217920" y="3168396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Provider direct messaging integration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172200" y="3584448"/>
            <a:ext cx="2697480" cy="36576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621792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AI-powered new admission reconciliation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72200" y="4000500"/>
            <a:ext cx="26974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217920" y="4000500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RPA for full workflow automation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72200" y="4416552"/>
            <a:ext cx="2697480" cy="365760"/>
          </a:xfrm>
          <a:prstGeom prst="rect">
            <a:avLst/>
          </a:prstGeom>
          <a:solidFill>
            <a:srgbClr val="F7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6217920" y="4416552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</a:rPr>
              <a:t>- BI dashboards &amp; workload analytics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EDF2F7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274320" y="4873752"/>
            <a:ext cx="777240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18096"/>
                </a:solidFill>
              </a:rPr>
              <a:t>ClinIQ.ai  |  AI-Powered Medication Review &amp; Clinical Intelligence Platform  |  March 2026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8138160" y="4873752"/>
            <a:ext cx="82296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</a:rPr>
              <a:t>14 / 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2352</Words>
  <Application>Microsoft Macintosh PowerPoint</Application>
  <PresentationFormat>On-screen Show (16:9)</PresentationFormat>
  <Paragraphs>411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ClinIQ.ai – AI-Powered Medication Review Platform</dc:title>
  <dc:subject>PptxGenJS Presentation</dc:subject>
  <dc:creator>PptxGenJS</dc:creator>
  <cp:lastModifiedBy>josh smitherman</cp:lastModifiedBy>
  <cp:revision>1</cp:revision>
  <dcterms:created xsi:type="dcterms:W3CDTF">2026-03-19T13:56:22Z</dcterms:created>
  <dcterms:modified xsi:type="dcterms:W3CDTF">2026-03-19T13:58:38Z</dcterms:modified>
</cp:coreProperties>
</file>