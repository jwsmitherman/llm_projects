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of the proposed Azure build for the medical necessity API. Transport.net makes a standard REST call with the order form answers as JSON. The FastAPI application runs on Azure App Service, deployed from an Azure DevOps repo, and orchestrates a rule retrieval from Azure AI Search followed by a call to Azure OpenAI. Azure OpenAI replaces the Databricks serving endpoint used in the prototype. The response comes back in-line with the determination, the denial risk flag and the CMS citation. All resources are provisioned in the Transport.net subscription. Latency needs to be measured by load test after the environment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28600"/>
            <a:ext cx="12191695" cy="822960"/>
          </a:xfrm>
          <a:prstGeom prst="rect">
            <a:avLst/>
          </a:prstGeom>
          <a:solidFill>
            <a:srgbClr val="0F62A8"/>
          </a:solidFill>
          <a:ln w="12700">
            <a:solidFill>
              <a:srgbClr val="0F62A8"/>
            </a:solidFill>
            <a:prstDash val="solid"/>
          </a:ln>
        </p:spPr>
      </p:sp>
      <p:sp>
        <p:nvSpPr>
          <p:cNvPr id="3" name="Text 1"/>
          <p:cNvSpPr txBox="1"/>
          <p:nvPr/>
        </p:nvSpPr>
        <p:spPr>
          <a:xfrm>
            <a:off x="502920" y="274320"/>
            <a:ext cx="859536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Medical necessity API — Azure architecture</a:t>
            </a:r>
            <a:endParaRPr lang="en-US" sz="2600" dirty="0"/>
          </a:p>
        </p:txBody>
      </p:sp>
      <p:sp>
        <p:nvSpPr>
          <p:cNvPr id="4" name="Text 2"/>
          <p:cNvSpPr txBox="1"/>
          <p:nvPr/>
        </p:nvSpPr>
        <p:spPr>
          <a:xfrm>
            <a:off x="9235440" y="274320"/>
            <a:ext cx="2468880" cy="73152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Global Medical Response</a:t>
            </a:r>
            <a:endParaRPr lang="en-US" sz="1300" dirty="0"/>
          </a:p>
        </p:txBody>
      </p:sp>
      <p:sp>
        <p:nvSpPr>
          <p:cNvPr id="5" name="Text 3"/>
          <p:cNvSpPr txBox="1"/>
          <p:nvPr/>
        </p:nvSpPr>
        <p:spPr>
          <a:xfrm>
            <a:off x="411480" y="1143000"/>
            <a:ext cx="11247120" cy="274320"/>
          </a:xfrm>
          <a:prstGeom prst="rect">
            <a:avLst/>
          </a:prstGeom>
          <a:noFill/>
          <a:ln/>
        </p:spPr>
        <p:txBody>
          <a:bodyPr wrap="square" lIns="0" tIns="0" rIns="0" bIns="0" rtlCol="0" anchor="ctr"/>
          <a:lstStyle/>
          <a:p>
            <a:pPr indent="0" marL="0">
              <a:buNone/>
            </a:pPr>
            <a:r>
              <a:rPr lang="en-US" sz="1300" dirty="0">
                <a:solidFill>
                  <a:srgbClr val="555555"/>
                </a:solidFill>
                <a:latin typeface="Calibri" pitchFamily="34" charset="0"/>
                <a:ea typeface="Calibri" pitchFamily="34" charset="-122"/>
                <a:cs typeface="Calibri" pitchFamily="34" charset="-120"/>
              </a:rPr>
              <a:t>Transport.net makes a standard REST call and receives a determination in real time at order entry.</a:t>
            </a:r>
            <a:endParaRPr lang="en-US" sz="1300" dirty="0"/>
          </a:p>
        </p:txBody>
      </p:sp>
      <p:sp>
        <p:nvSpPr>
          <p:cNvPr id="6" name="Shape 4"/>
          <p:cNvSpPr/>
          <p:nvPr/>
        </p:nvSpPr>
        <p:spPr>
          <a:xfrm>
            <a:off x="2697480" y="1645920"/>
            <a:ext cx="8961120" cy="4251960"/>
          </a:xfrm>
          <a:prstGeom prst="roundRect">
            <a:avLst>
              <a:gd name="adj" fmla="val 645"/>
            </a:avLst>
          </a:prstGeom>
          <a:solidFill>
            <a:srgbClr val="FFFFFF"/>
          </a:solidFill>
          <a:ln w="12700">
            <a:solidFill>
              <a:srgbClr val="0F62A8"/>
            </a:solidFill>
            <a:prstDash val="dash"/>
          </a:ln>
        </p:spPr>
      </p:sp>
      <p:sp>
        <p:nvSpPr>
          <p:cNvPr id="7" name="Text 5"/>
          <p:cNvSpPr txBox="1"/>
          <p:nvPr/>
        </p:nvSpPr>
        <p:spPr>
          <a:xfrm>
            <a:off x="2880360" y="1737360"/>
            <a:ext cx="5943600" cy="274320"/>
          </a:xfrm>
          <a:prstGeom prst="rect">
            <a:avLst/>
          </a:prstGeom>
          <a:noFill/>
          <a:ln/>
        </p:spPr>
        <p:txBody>
          <a:bodyPr wrap="square" lIns="0" tIns="0" rIns="0" bIns="0" rtlCol="0" anchor="ctr"/>
          <a:lstStyle/>
          <a:p>
            <a:pPr indent="0" marL="0">
              <a:buNone/>
            </a:pPr>
            <a:r>
              <a:rPr lang="en-US" sz="1100" b="1" dirty="0">
                <a:solidFill>
                  <a:srgbClr val="0F62A8"/>
                </a:solidFill>
                <a:latin typeface="Calibri" pitchFamily="34" charset="0"/>
                <a:ea typeface="Calibri" pitchFamily="34" charset="-122"/>
                <a:cs typeface="Calibri" pitchFamily="34" charset="-120"/>
              </a:rPr>
              <a:t>Transport.net Azure subscription  ·  one resource group  ·  one region</a:t>
            </a:r>
            <a:endParaRPr lang="en-US" sz="1100" dirty="0"/>
          </a:p>
        </p:txBody>
      </p:sp>
      <p:sp>
        <p:nvSpPr>
          <p:cNvPr id="8" name="Shape 6"/>
          <p:cNvSpPr/>
          <p:nvPr/>
        </p:nvSpPr>
        <p:spPr>
          <a:xfrm>
            <a:off x="411480" y="3063240"/>
            <a:ext cx="1828800" cy="1234440"/>
          </a:xfrm>
          <a:prstGeom prst="roundRect">
            <a:avLst>
              <a:gd name="adj" fmla="val 3704"/>
            </a:avLst>
          </a:prstGeom>
          <a:solidFill>
            <a:srgbClr val="EDEFF2"/>
          </a:solidFill>
          <a:ln w="15875">
            <a:solidFill>
              <a:srgbClr val="8A8F98"/>
            </a:solidFill>
            <a:prstDash val="solid"/>
          </a:ln>
        </p:spPr>
      </p:sp>
      <p:sp>
        <p:nvSpPr>
          <p:cNvPr id="9" name="Text 7"/>
          <p:cNvSpPr txBox="1"/>
          <p:nvPr/>
        </p:nvSpPr>
        <p:spPr>
          <a:xfrm>
            <a:off x="548640" y="3182112"/>
            <a:ext cx="1554480" cy="457200"/>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Transport.net order form</a:t>
            </a:r>
            <a:endParaRPr lang="en-US" sz="1250" dirty="0"/>
          </a:p>
        </p:txBody>
      </p:sp>
      <p:sp>
        <p:nvSpPr>
          <p:cNvPr id="10" name="Text 8"/>
          <p:cNvSpPr txBox="1"/>
          <p:nvPr/>
        </p:nvSpPr>
        <p:spPr>
          <a:xfrm>
            <a:off x="548640" y="3666744"/>
            <a:ext cx="1554480" cy="685800"/>
          </a:xfrm>
          <a:prstGeom prst="rect">
            <a:avLst/>
          </a:prstGeom>
          <a:noFill/>
          <a:ln/>
        </p:spPr>
        <p:txBody>
          <a:bodyPr wrap="square" lIns="0" tIns="0" rIns="0" bIns="0" rtlCol="0" anchor="t"/>
          <a:lstStyle/>
          <a:p>
            <a:pPr indent="0" marL="0">
              <a:lnSpc>
                <a:spcPct val="102000"/>
              </a:lnSpc>
              <a:buNone/>
            </a:pPr>
            <a:r>
              <a:rPr lang="en-US" sz="1050" dirty="0">
                <a:solidFill>
                  <a:srgbClr val="1A1A1A"/>
                </a:solidFill>
                <a:latin typeface="Calibri" pitchFamily="34" charset="0"/>
                <a:ea typeface="Calibri" pitchFamily="34" charset="-122"/>
                <a:cs typeface="Calibri" pitchFamily="34" charset="-120"/>
              </a:rPr>
              <a:t>Posts reason for transport, level of service and market as JSON.</a:t>
            </a:r>
            <a:endParaRPr lang="en-US" sz="1050" dirty="0"/>
          </a:p>
        </p:txBody>
      </p:sp>
      <p:sp>
        <p:nvSpPr>
          <p:cNvPr id="11" name="Shape 9"/>
          <p:cNvSpPr/>
          <p:nvPr/>
        </p:nvSpPr>
        <p:spPr>
          <a:xfrm>
            <a:off x="2971800" y="3063240"/>
            <a:ext cx="2560320" cy="1234440"/>
          </a:xfrm>
          <a:prstGeom prst="roundRect">
            <a:avLst>
              <a:gd name="adj" fmla="val 3704"/>
            </a:avLst>
          </a:prstGeom>
          <a:solidFill>
            <a:srgbClr val="0F62A8"/>
          </a:solidFill>
          <a:ln w="15875">
            <a:solidFill>
              <a:srgbClr val="0F62A8"/>
            </a:solidFill>
            <a:prstDash val="solid"/>
          </a:ln>
        </p:spPr>
      </p:sp>
      <p:sp>
        <p:nvSpPr>
          <p:cNvPr id="12" name="Text 10"/>
          <p:cNvSpPr txBox="1"/>
          <p:nvPr/>
        </p:nvSpPr>
        <p:spPr>
          <a:xfrm>
            <a:off x="3108960" y="3182112"/>
            <a:ext cx="22860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Azure App Service (Linux)</a:t>
            </a:r>
            <a:endParaRPr lang="en-US" sz="1350" dirty="0"/>
          </a:p>
        </p:txBody>
      </p:sp>
      <p:sp>
        <p:nvSpPr>
          <p:cNvPr id="13" name="Text 11"/>
          <p:cNvSpPr txBox="1"/>
          <p:nvPr/>
        </p:nvSpPr>
        <p:spPr>
          <a:xfrm>
            <a:off x="3108960" y="3520440"/>
            <a:ext cx="2286000" cy="685800"/>
          </a:xfrm>
          <a:prstGeom prst="rect">
            <a:avLst/>
          </a:prstGeom>
          <a:noFill/>
          <a:ln/>
        </p:spPr>
        <p:txBody>
          <a:bodyPr wrap="square" lIns="0" tIns="0" rIns="0" bIns="0" rtlCol="0" anchor="t"/>
          <a:lstStyle/>
          <a:p>
            <a:pPr indent="0" marL="0">
              <a:lnSpc>
                <a:spcPct val="102000"/>
              </a:lnSpc>
              <a:buNone/>
            </a:pPr>
            <a:r>
              <a:rPr lang="en-US" sz="1050" dirty="0">
                <a:solidFill>
                  <a:srgbClr val="FFFFFF"/>
                </a:solidFill>
                <a:latin typeface="Calibri" pitchFamily="34" charset="0"/>
                <a:ea typeface="Calibri" pitchFamily="34" charset="-122"/>
                <a:cs typeface="Calibri" pitchFamily="34" charset="-120"/>
              </a:rPr>
              <a:t>Python / FastAPI. Validates the payload, assembles the prompt, orchestrates the call, shapes the response.</a:t>
            </a:r>
            <a:endParaRPr lang="en-US" sz="1050" dirty="0"/>
          </a:p>
        </p:txBody>
      </p:sp>
      <p:sp>
        <p:nvSpPr>
          <p:cNvPr id="14" name="Shape 12"/>
          <p:cNvSpPr/>
          <p:nvPr/>
        </p:nvSpPr>
        <p:spPr>
          <a:xfrm>
            <a:off x="5943600" y="3063240"/>
            <a:ext cx="2377440" cy="1234440"/>
          </a:xfrm>
          <a:prstGeom prst="roundRect">
            <a:avLst>
              <a:gd name="adj" fmla="val 3704"/>
            </a:avLst>
          </a:prstGeom>
          <a:solidFill>
            <a:srgbClr val="FFFFFF"/>
          </a:solidFill>
          <a:ln w="15875">
            <a:solidFill>
              <a:srgbClr val="0F62A8"/>
            </a:solidFill>
            <a:prstDash val="solid"/>
          </a:ln>
        </p:spPr>
      </p:sp>
      <p:sp>
        <p:nvSpPr>
          <p:cNvPr id="15" name="Text 13"/>
          <p:cNvSpPr txBox="1"/>
          <p:nvPr/>
        </p:nvSpPr>
        <p:spPr>
          <a:xfrm>
            <a:off x="6080760" y="3182112"/>
            <a:ext cx="2103120" cy="274320"/>
          </a:xfrm>
          <a:prstGeom prst="rect">
            <a:avLst/>
          </a:prstGeom>
          <a:noFill/>
          <a:ln/>
        </p:spPr>
        <p:txBody>
          <a:bodyPr wrap="square" lIns="0" tIns="0" rIns="0" bIns="0" rtlCol="0" anchor="ctr"/>
          <a:lstStyle/>
          <a:p>
            <a:pPr indent="0" marL="0">
              <a:buNone/>
            </a:pPr>
            <a:r>
              <a:rPr lang="en-US" sz="1350" b="1" dirty="0">
                <a:solidFill>
                  <a:srgbClr val="0F62A8"/>
                </a:solidFill>
                <a:latin typeface="Calibri" pitchFamily="34" charset="0"/>
                <a:ea typeface="Calibri" pitchFamily="34" charset="-122"/>
                <a:cs typeface="Calibri" pitchFamily="34" charset="-120"/>
              </a:rPr>
              <a:t>Azure AI Search</a:t>
            </a:r>
            <a:endParaRPr lang="en-US" sz="1350" dirty="0"/>
          </a:p>
        </p:txBody>
      </p:sp>
      <p:sp>
        <p:nvSpPr>
          <p:cNvPr id="16" name="Text 14"/>
          <p:cNvSpPr txBox="1"/>
          <p:nvPr/>
        </p:nvSpPr>
        <p:spPr>
          <a:xfrm>
            <a:off x="6080760" y="3520440"/>
            <a:ext cx="2103120" cy="685800"/>
          </a:xfrm>
          <a:prstGeom prst="rect">
            <a:avLst/>
          </a:prstGeom>
          <a:noFill/>
          <a:ln/>
        </p:spPr>
        <p:txBody>
          <a:bodyPr wrap="square" lIns="0" tIns="0" rIns="0" bIns="0" rtlCol="0" anchor="t"/>
          <a:lstStyle/>
          <a:p>
            <a:pPr indent="0" marL="0">
              <a:lnSpc>
                <a:spcPct val="102000"/>
              </a:lnSpc>
              <a:buNone/>
            </a:pPr>
            <a:r>
              <a:rPr lang="en-US" sz="1050" dirty="0">
                <a:solidFill>
                  <a:srgbClr val="1A1A1A"/>
                </a:solidFill>
                <a:latin typeface="Calibri" pitchFamily="34" charset="0"/>
                <a:ea typeface="Calibri" pitchFamily="34" charset="-122"/>
                <a:cs typeface="Calibri" pitchFamily="34" charset="-120"/>
              </a:rPr>
              <a:t>Returns the CMS rules and few-shot examples that apply to that market.</a:t>
            </a:r>
            <a:endParaRPr lang="en-US" sz="1050" dirty="0"/>
          </a:p>
        </p:txBody>
      </p:sp>
      <p:sp>
        <p:nvSpPr>
          <p:cNvPr id="17" name="Shape 15"/>
          <p:cNvSpPr/>
          <p:nvPr/>
        </p:nvSpPr>
        <p:spPr>
          <a:xfrm>
            <a:off x="8732520" y="3063240"/>
            <a:ext cx="2651760" cy="1234440"/>
          </a:xfrm>
          <a:prstGeom prst="roundRect">
            <a:avLst>
              <a:gd name="adj" fmla="val 3704"/>
            </a:avLst>
          </a:prstGeom>
          <a:solidFill>
            <a:srgbClr val="FFFFFF"/>
          </a:solidFill>
          <a:ln w="15875">
            <a:solidFill>
              <a:srgbClr val="0F62A8"/>
            </a:solidFill>
            <a:prstDash val="solid"/>
          </a:ln>
        </p:spPr>
      </p:sp>
      <p:sp>
        <p:nvSpPr>
          <p:cNvPr id="18" name="Text 16"/>
          <p:cNvSpPr txBox="1"/>
          <p:nvPr/>
        </p:nvSpPr>
        <p:spPr>
          <a:xfrm>
            <a:off x="8869680" y="3182112"/>
            <a:ext cx="2377440" cy="274320"/>
          </a:xfrm>
          <a:prstGeom prst="rect">
            <a:avLst/>
          </a:prstGeom>
          <a:noFill/>
          <a:ln/>
        </p:spPr>
        <p:txBody>
          <a:bodyPr wrap="square" lIns="0" tIns="0" rIns="0" bIns="0" rtlCol="0" anchor="ctr"/>
          <a:lstStyle/>
          <a:p>
            <a:pPr indent="0" marL="0">
              <a:buNone/>
            </a:pPr>
            <a:r>
              <a:rPr lang="en-US" sz="1350" b="1" dirty="0">
                <a:solidFill>
                  <a:srgbClr val="0F62A8"/>
                </a:solidFill>
                <a:latin typeface="Calibri" pitchFamily="34" charset="0"/>
                <a:ea typeface="Calibri" pitchFamily="34" charset="-122"/>
                <a:cs typeface="Calibri" pitchFamily="34" charset="-120"/>
              </a:rPr>
              <a:t>Azure OpenAI Service</a:t>
            </a:r>
            <a:endParaRPr lang="en-US" sz="1350" dirty="0"/>
          </a:p>
        </p:txBody>
      </p:sp>
      <p:sp>
        <p:nvSpPr>
          <p:cNvPr id="19" name="Text 17"/>
          <p:cNvSpPr txBox="1"/>
          <p:nvPr/>
        </p:nvSpPr>
        <p:spPr>
          <a:xfrm>
            <a:off x="8869680" y="3520440"/>
            <a:ext cx="2377440" cy="685800"/>
          </a:xfrm>
          <a:prstGeom prst="rect">
            <a:avLst/>
          </a:prstGeom>
          <a:noFill/>
          <a:ln/>
        </p:spPr>
        <p:txBody>
          <a:bodyPr wrap="square" lIns="0" tIns="0" rIns="0" bIns="0" rtlCol="0" anchor="t"/>
          <a:lstStyle/>
          <a:p>
            <a:pPr indent="0" marL="0">
              <a:lnSpc>
                <a:spcPct val="102000"/>
              </a:lnSpc>
              <a:buNone/>
            </a:pPr>
            <a:r>
              <a:rPr lang="en-US" sz="1050" dirty="0">
                <a:solidFill>
                  <a:srgbClr val="1A1A1A"/>
                </a:solidFill>
                <a:latin typeface="Calibri" pitchFamily="34" charset="0"/>
                <a:ea typeface="Calibri" pitchFamily="34" charset="-122"/>
                <a:cs typeface="Calibri" pitchFamily="34" charset="-120"/>
              </a:rPr>
              <a:t>Evaluates the documentation against the retrieved rules and returns structured JSON.</a:t>
            </a:r>
            <a:endParaRPr lang="en-US" sz="1050" dirty="0"/>
          </a:p>
        </p:txBody>
      </p:sp>
      <p:sp>
        <p:nvSpPr>
          <p:cNvPr id="20" name="Shape 18"/>
          <p:cNvSpPr/>
          <p:nvPr/>
        </p:nvSpPr>
        <p:spPr>
          <a:xfrm>
            <a:off x="2468880" y="3570732"/>
            <a:ext cx="274320" cy="219456"/>
          </a:xfrm>
          <a:prstGeom prst="rightArrow">
            <a:avLst/>
          </a:prstGeom>
          <a:solidFill>
            <a:srgbClr val="0F62A8"/>
          </a:solidFill>
          <a:ln w="12700">
            <a:solidFill>
              <a:srgbClr val="0F62A8"/>
            </a:solidFill>
            <a:prstDash val="solid"/>
          </a:ln>
        </p:spPr>
      </p:sp>
      <p:sp>
        <p:nvSpPr>
          <p:cNvPr id="21" name="Shape 19"/>
          <p:cNvSpPr/>
          <p:nvPr/>
        </p:nvSpPr>
        <p:spPr>
          <a:xfrm>
            <a:off x="5596128" y="3570732"/>
            <a:ext cx="274320" cy="219456"/>
          </a:xfrm>
          <a:prstGeom prst="rightArrow">
            <a:avLst/>
          </a:prstGeom>
          <a:solidFill>
            <a:srgbClr val="0F62A8"/>
          </a:solidFill>
          <a:ln w="12700">
            <a:solidFill>
              <a:srgbClr val="0F62A8"/>
            </a:solidFill>
            <a:prstDash val="solid"/>
          </a:ln>
        </p:spPr>
      </p:sp>
      <p:sp>
        <p:nvSpPr>
          <p:cNvPr id="22" name="Shape 20"/>
          <p:cNvSpPr/>
          <p:nvPr/>
        </p:nvSpPr>
        <p:spPr>
          <a:xfrm>
            <a:off x="8385048" y="3570732"/>
            <a:ext cx="274320" cy="219456"/>
          </a:xfrm>
          <a:prstGeom prst="rightArrow">
            <a:avLst/>
          </a:prstGeom>
          <a:solidFill>
            <a:srgbClr val="0F62A8"/>
          </a:solidFill>
          <a:ln w="12700">
            <a:solidFill>
              <a:srgbClr val="0F62A8"/>
            </a:solidFill>
            <a:prstDash val="solid"/>
          </a:ln>
        </p:spPr>
      </p:sp>
      <p:sp>
        <p:nvSpPr>
          <p:cNvPr id="23" name="Shape 21"/>
          <p:cNvSpPr/>
          <p:nvPr/>
        </p:nvSpPr>
        <p:spPr>
          <a:xfrm>
            <a:off x="4251960" y="2542032"/>
            <a:ext cx="0" cy="521208"/>
          </a:xfrm>
          <a:prstGeom prst="line">
            <a:avLst/>
          </a:prstGeom>
          <a:noFill/>
          <a:ln w="19050">
            <a:solidFill>
              <a:srgbClr val="0F62A8"/>
            </a:solidFill>
            <a:prstDash val="solid"/>
          </a:ln>
        </p:spPr>
      </p:sp>
      <p:sp>
        <p:nvSpPr>
          <p:cNvPr id="24" name="Shape 22"/>
          <p:cNvSpPr/>
          <p:nvPr/>
        </p:nvSpPr>
        <p:spPr>
          <a:xfrm>
            <a:off x="1325880" y="2542032"/>
            <a:ext cx="2926080" cy="0"/>
          </a:xfrm>
          <a:prstGeom prst="line">
            <a:avLst/>
          </a:prstGeom>
          <a:noFill/>
          <a:ln w="19050">
            <a:solidFill>
              <a:srgbClr val="0F62A8"/>
            </a:solidFill>
            <a:prstDash val="solid"/>
          </a:ln>
        </p:spPr>
      </p:sp>
      <p:sp>
        <p:nvSpPr>
          <p:cNvPr id="25" name="Shape 23"/>
          <p:cNvSpPr/>
          <p:nvPr/>
        </p:nvSpPr>
        <p:spPr>
          <a:xfrm>
            <a:off x="1325880" y="2542032"/>
            <a:ext cx="0" cy="521208"/>
          </a:xfrm>
          <a:prstGeom prst="line">
            <a:avLst/>
          </a:prstGeom>
          <a:noFill/>
          <a:ln w="19050">
            <a:solidFill>
              <a:srgbClr val="0F62A8"/>
            </a:solidFill>
            <a:prstDash val="solid"/>
            <a:tailEnd type="triangle"/>
          </a:ln>
        </p:spPr>
      </p:sp>
      <p:sp>
        <p:nvSpPr>
          <p:cNvPr id="26" name="Text 24"/>
          <p:cNvSpPr txBox="1"/>
          <p:nvPr/>
        </p:nvSpPr>
        <p:spPr>
          <a:xfrm>
            <a:off x="411480" y="2212848"/>
            <a:ext cx="5029200" cy="274320"/>
          </a:xfrm>
          <a:prstGeom prst="rect">
            <a:avLst/>
          </a:prstGeom>
          <a:noFill/>
          <a:ln/>
        </p:spPr>
        <p:txBody>
          <a:bodyPr wrap="square" lIns="0" tIns="0" rIns="0" bIns="0" rtlCol="0" anchor="ctr"/>
          <a:lstStyle/>
          <a:p>
            <a:pPr indent="0" marL="0">
              <a:buNone/>
            </a:pPr>
            <a:r>
              <a:rPr lang="en-US" sz="1050" i="1" dirty="0">
                <a:solidFill>
                  <a:srgbClr val="0F62A8"/>
                </a:solidFill>
                <a:latin typeface="Calibri" pitchFamily="34" charset="0"/>
                <a:ea typeface="Calibri" pitchFamily="34" charset="-122"/>
                <a:cs typeface="Calibri" pitchFamily="34" charset="-120"/>
              </a:rPr>
              <a:t>Determination, denial risk flag and CMS citation — returned in-line</a:t>
            </a:r>
            <a:endParaRPr lang="en-US" sz="1050" dirty="0"/>
          </a:p>
        </p:txBody>
      </p:sp>
      <p:sp>
        <p:nvSpPr>
          <p:cNvPr id="27" name="Text 25"/>
          <p:cNvSpPr txBox="1"/>
          <p:nvPr/>
        </p:nvSpPr>
        <p:spPr>
          <a:xfrm>
            <a:off x="2926080" y="4498848"/>
            <a:ext cx="3657600" cy="256032"/>
          </a:xfrm>
          <a:prstGeom prst="rect">
            <a:avLst/>
          </a:prstGeom>
          <a:noFill/>
          <a:ln/>
        </p:spPr>
        <p:txBody>
          <a:bodyPr wrap="square" lIns="0" tIns="0" rIns="0" bIns="0" rtlCol="0" anchor="ctr"/>
          <a:lstStyle/>
          <a:p>
            <a:pPr indent="0" marL="0">
              <a:buNone/>
            </a:pPr>
            <a:r>
              <a:rPr lang="en-US" sz="1250" b="1" dirty="0">
                <a:solidFill>
                  <a:srgbClr val="1A1A1A"/>
                </a:solidFill>
                <a:latin typeface="Calibri" pitchFamily="34" charset="0"/>
                <a:ea typeface="Calibri" pitchFamily="34" charset="-122"/>
                <a:cs typeface="Calibri" pitchFamily="34" charset="-120"/>
              </a:rPr>
              <a:t>Supporting resources</a:t>
            </a:r>
            <a:endParaRPr lang="en-US" sz="1250" dirty="0"/>
          </a:p>
        </p:txBody>
      </p:sp>
      <p:sp>
        <p:nvSpPr>
          <p:cNvPr id="28" name="Shape 26"/>
          <p:cNvSpPr/>
          <p:nvPr/>
        </p:nvSpPr>
        <p:spPr>
          <a:xfrm>
            <a:off x="2926080" y="4828032"/>
            <a:ext cx="1539850" cy="914400"/>
          </a:xfrm>
          <a:prstGeom prst="rect">
            <a:avLst/>
          </a:prstGeom>
          <a:solidFill>
            <a:srgbClr val="E8F1FA"/>
          </a:solidFill>
          <a:ln w="12700">
            <a:solidFill>
              <a:srgbClr val="E8F1FA"/>
            </a:solidFill>
            <a:prstDash val="solid"/>
          </a:ln>
        </p:spPr>
      </p:sp>
      <p:sp>
        <p:nvSpPr>
          <p:cNvPr id="29" name="Text 27"/>
          <p:cNvSpPr txBox="1"/>
          <p:nvPr/>
        </p:nvSpPr>
        <p:spPr>
          <a:xfrm>
            <a:off x="3035808" y="4919472"/>
            <a:ext cx="1320394" cy="731520"/>
          </a:xfrm>
          <a:prstGeom prst="rect">
            <a:avLst/>
          </a:prstGeom>
          <a:noFill/>
          <a:ln/>
        </p:spPr>
        <p:txBody>
          <a:bodyPr wrap="square" lIns="0" tIns="0" rIns="0" bIns="0" rtlCol="0" anchor="t"/>
          <a:lstStyle/>
          <a:p>
            <a:pPr indent="0" marL="0">
              <a:buNone/>
            </a:pPr>
            <a:r>
              <a:rPr lang="en-US" sz="1100" b="1" dirty="0">
                <a:solidFill>
                  <a:srgbClr val="0F62A8"/>
                </a:solidFill>
                <a:latin typeface="Calibri" pitchFamily="34" charset="0"/>
                <a:ea typeface="Calibri" pitchFamily="34" charset="-122"/>
                <a:cs typeface="Calibri" pitchFamily="34" charset="-120"/>
              </a:rPr>
              <a:t>Azure DevOps repo</a:t>
            </a:r>
            <a:endParaRPr lang="en-US" sz="1100" dirty="0"/>
          </a:p>
          <a:p>
            <a:pPr indent="0" marL="0">
              <a:buNone/>
            </a:pPr>
            <a:r>
              <a:rPr lang="en-US" sz="950" dirty="0">
                <a:solidFill>
                  <a:srgbClr val="1A1A1A"/>
                </a:solidFill>
                <a:latin typeface="Calibri" pitchFamily="34" charset="0"/>
                <a:ea typeface="Calibri" pitchFamily="34" charset="-122"/>
                <a:cs typeface="Calibri" pitchFamily="34" charset="-120"/>
              </a:rPr>
              <a:t>Python source; deploys into App Service</a:t>
            </a:r>
            <a:endParaRPr lang="en-US" sz="1100" dirty="0"/>
          </a:p>
        </p:txBody>
      </p:sp>
      <p:sp>
        <p:nvSpPr>
          <p:cNvPr id="30" name="Shape 28"/>
          <p:cNvSpPr/>
          <p:nvPr/>
        </p:nvSpPr>
        <p:spPr>
          <a:xfrm>
            <a:off x="4667098" y="4828032"/>
            <a:ext cx="1539850" cy="914400"/>
          </a:xfrm>
          <a:prstGeom prst="rect">
            <a:avLst/>
          </a:prstGeom>
          <a:solidFill>
            <a:srgbClr val="E8F1FA"/>
          </a:solidFill>
          <a:ln w="12700">
            <a:solidFill>
              <a:srgbClr val="E8F1FA"/>
            </a:solidFill>
            <a:prstDash val="solid"/>
          </a:ln>
        </p:spPr>
      </p:sp>
      <p:sp>
        <p:nvSpPr>
          <p:cNvPr id="31" name="Text 29"/>
          <p:cNvSpPr txBox="1"/>
          <p:nvPr/>
        </p:nvSpPr>
        <p:spPr>
          <a:xfrm>
            <a:off x="4776826" y="4919472"/>
            <a:ext cx="1320394" cy="731520"/>
          </a:xfrm>
          <a:prstGeom prst="rect">
            <a:avLst/>
          </a:prstGeom>
          <a:noFill/>
          <a:ln/>
        </p:spPr>
        <p:txBody>
          <a:bodyPr wrap="square" lIns="0" tIns="0" rIns="0" bIns="0" rtlCol="0" anchor="t"/>
          <a:lstStyle/>
          <a:p>
            <a:pPr indent="0" marL="0">
              <a:buNone/>
            </a:pPr>
            <a:r>
              <a:rPr lang="en-US" sz="1100" b="1" dirty="0">
                <a:solidFill>
                  <a:srgbClr val="0F62A8"/>
                </a:solidFill>
                <a:latin typeface="Calibri" pitchFamily="34" charset="0"/>
                <a:ea typeface="Calibri" pitchFamily="34" charset="-122"/>
                <a:cs typeface="Calibri" pitchFamily="34" charset="-120"/>
              </a:rPr>
              <a:t>Blob Storage</a:t>
            </a:r>
            <a:endParaRPr lang="en-US" sz="1100" dirty="0"/>
          </a:p>
          <a:p>
            <a:pPr indent="0" marL="0">
              <a:buNone/>
            </a:pPr>
            <a:r>
              <a:rPr lang="en-US" sz="950" dirty="0">
                <a:solidFill>
                  <a:srgbClr val="1A1A1A"/>
                </a:solidFill>
                <a:latin typeface="Calibri" pitchFamily="34" charset="0"/>
                <a:ea typeface="Calibri" pitchFamily="34" charset="-122"/>
                <a:cs typeface="Calibri" pitchFamily="34" charset="-120"/>
              </a:rPr>
              <a:t>Prompts, few-shot examples, CMS documents</a:t>
            </a:r>
            <a:endParaRPr lang="en-US" sz="1100" dirty="0"/>
          </a:p>
        </p:txBody>
      </p:sp>
      <p:sp>
        <p:nvSpPr>
          <p:cNvPr id="32" name="Shape 30"/>
          <p:cNvSpPr/>
          <p:nvPr/>
        </p:nvSpPr>
        <p:spPr>
          <a:xfrm>
            <a:off x="6408115" y="4828032"/>
            <a:ext cx="1539850" cy="914400"/>
          </a:xfrm>
          <a:prstGeom prst="rect">
            <a:avLst/>
          </a:prstGeom>
          <a:solidFill>
            <a:srgbClr val="E8F1FA"/>
          </a:solidFill>
          <a:ln w="12700">
            <a:solidFill>
              <a:srgbClr val="E8F1FA"/>
            </a:solidFill>
            <a:prstDash val="solid"/>
          </a:ln>
        </p:spPr>
      </p:sp>
      <p:sp>
        <p:nvSpPr>
          <p:cNvPr id="33" name="Text 31"/>
          <p:cNvSpPr txBox="1"/>
          <p:nvPr/>
        </p:nvSpPr>
        <p:spPr>
          <a:xfrm>
            <a:off x="6517843" y="4919472"/>
            <a:ext cx="1320394" cy="731520"/>
          </a:xfrm>
          <a:prstGeom prst="rect">
            <a:avLst/>
          </a:prstGeom>
          <a:noFill/>
          <a:ln/>
        </p:spPr>
        <p:txBody>
          <a:bodyPr wrap="square" lIns="0" tIns="0" rIns="0" bIns="0" rtlCol="0" anchor="t"/>
          <a:lstStyle/>
          <a:p>
            <a:pPr indent="0" marL="0">
              <a:buNone/>
            </a:pPr>
            <a:r>
              <a:rPr lang="en-US" sz="1100" b="1" dirty="0">
                <a:solidFill>
                  <a:srgbClr val="0F62A8"/>
                </a:solidFill>
                <a:latin typeface="Calibri" pitchFamily="34" charset="0"/>
                <a:ea typeface="Calibri" pitchFamily="34" charset="-122"/>
                <a:cs typeface="Calibri" pitchFamily="34" charset="-120"/>
              </a:rPr>
              <a:t>Key Vault + identity</a:t>
            </a:r>
            <a:endParaRPr lang="en-US" sz="1100" dirty="0"/>
          </a:p>
          <a:p>
            <a:pPr indent="0" marL="0">
              <a:buNone/>
            </a:pPr>
            <a:r>
              <a:rPr lang="en-US" sz="950" dirty="0">
                <a:solidFill>
                  <a:srgbClr val="1A1A1A"/>
                </a:solidFill>
                <a:latin typeface="Calibri" pitchFamily="34" charset="0"/>
                <a:ea typeface="Calibri" pitchFamily="34" charset="-122"/>
                <a:cs typeface="Calibri" pitchFamily="34" charset="-120"/>
              </a:rPr>
              <a:t>Secrets and model keys; none in code</a:t>
            </a:r>
            <a:endParaRPr lang="en-US" sz="1100" dirty="0"/>
          </a:p>
        </p:txBody>
      </p:sp>
      <p:sp>
        <p:nvSpPr>
          <p:cNvPr id="34" name="Shape 32"/>
          <p:cNvSpPr/>
          <p:nvPr/>
        </p:nvSpPr>
        <p:spPr>
          <a:xfrm>
            <a:off x="8149133" y="4828032"/>
            <a:ext cx="1539850" cy="914400"/>
          </a:xfrm>
          <a:prstGeom prst="rect">
            <a:avLst/>
          </a:prstGeom>
          <a:solidFill>
            <a:srgbClr val="E8F1FA"/>
          </a:solidFill>
          <a:ln w="12700">
            <a:solidFill>
              <a:srgbClr val="E8F1FA"/>
            </a:solidFill>
            <a:prstDash val="solid"/>
          </a:ln>
        </p:spPr>
      </p:sp>
      <p:sp>
        <p:nvSpPr>
          <p:cNvPr id="35" name="Text 33"/>
          <p:cNvSpPr txBox="1"/>
          <p:nvPr/>
        </p:nvSpPr>
        <p:spPr>
          <a:xfrm>
            <a:off x="8258861" y="4919472"/>
            <a:ext cx="1320394" cy="731520"/>
          </a:xfrm>
          <a:prstGeom prst="rect">
            <a:avLst/>
          </a:prstGeom>
          <a:noFill/>
          <a:ln/>
        </p:spPr>
        <p:txBody>
          <a:bodyPr wrap="square" lIns="0" tIns="0" rIns="0" bIns="0" rtlCol="0" anchor="t"/>
          <a:lstStyle/>
          <a:p>
            <a:pPr indent="0" marL="0">
              <a:buNone/>
            </a:pPr>
            <a:r>
              <a:rPr lang="en-US" sz="1100" b="1" dirty="0">
                <a:solidFill>
                  <a:srgbClr val="0F62A8"/>
                </a:solidFill>
                <a:latin typeface="Calibri" pitchFamily="34" charset="0"/>
                <a:ea typeface="Calibri" pitchFamily="34" charset="-122"/>
                <a:cs typeface="Calibri" pitchFamily="34" charset="-120"/>
              </a:rPr>
              <a:t>Application Insights</a:t>
            </a:r>
            <a:endParaRPr lang="en-US" sz="1100" dirty="0"/>
          </a:p>
          <a:p>
            <a:pPr indent="0" marL="0">
              <a:buNone/>
            </a:pPr>
            <a:r>
              <a:rPr lang="en-US" sz="950" dirty="0">
                <a:solidFill>
                  <a:srgbClr val="1A1A1A"/>
                </a:solidFill>
                <a:latin typeface="Calibri" pitchFamily="34" charset="0"/>
                <a:ea typeface="Calibri" pitchFamily="34" charset="-122"/>
                <a:cs typeface="Calibri" pitchFamily="34" charset="-120"/>
              </a:rPr>
              <a:t>Latency, errors and token spend per request</a:t>
            </a:r>
            <a:endParaRPr lang="en-US" sz="1100" dirty="0"/>
          </a:p>
        </p:txBody>
      </p:sp>
      <p:sp>
        <p:nvSpPr>
          <p:cNvPr id="36" name="Shape 34"/>
          <p:cNvSpPr/>
          <p:nvPr/>
        </p:nvSpPr>
        <p:spPr>
          <a:xfrm>
            <a:off x="9890150" y="4828032"/>
            <a:ext cx="1539850" cy="914400"/>
          </a:xfrm>
          <a:prstGeom prst="rect">
            <a:avLst/>
          </a:prstGeom>
          <a:solidFill>
            <a:srgbClr val="E8F1FA"/>
          </a:solidFill>
          <a:ln w="12700">
            <a:solidFill>
              <a:srgbClr val="E8F1FA"/>
            </a:solidFill>
            <a:prstDash val="solid"/>
          </a:ln>
        </p:spPr>
      </p:sp>
      <p:sp>
        <p:nvSpPr>
          <p:cNvPr id="37" name="Text 35"/>
          <p:cNvSpPr txBox="1"/>
          <p:nvPr/>
        </p:nvSpPr>
        <p:spPr>
          <a:xfrm>
            <a:off x="9999878" y="4919472"/>
            <a:ext cx="1320394" cy="731520"/>
          </a:xfrm>
          <a:prstGeom prst="rect">
            <a:avLst/>
          </a:prstGeom>
          <a:noFill/>
          <a:ln/>
        </p:spPr>
        <p:txBody>
          <a:bodyPr wrap="square" lIns="0" tIns="0" rIns="0" bIns="0" rtlCol="0" anchor="t"/>
          <a:lstStyle/>
          <a:p>
            <a:pPr indent="0" marL="0">
              <a:buNone/>
            </a:pPr>
            <a:r>
              <a:rPr lang="en-US" sz="1100" b="1" dirty="0">
                <a:solidFill>
                  <a:srgbClr val="0F62A8"/>
                </a:solidFill>
                <a:latin typeface="Calibri" pitchFamily="34" charset="0"/>
                <a:ea typeface="Calibri" pitchFamily="34" charset="-122"/>
                <a:cs typeface="Calibri" pitchFamily="34" charset="-120"/>
              </a:rPr>
              <a:t>Azure SQL / Delta</a:t>
            </a:r>
            <a:endParaRPr lang="en-US" sz="1100" dirty="0"/>
          </a:p>
          <a:p>
            <a:pPr indent="0" marL="0">
              <a:buNone/>
            </a:pPr>
            <a:r>
              <a:rPr lang="en-US" sz="950" dirty="0">
                <a:solidFill>
                  <a:srgbClr val="1A1A1A"/>
                </a:solidFill>
                <a:latin typeface="Calibri" pitchFamily="34" charset="0"/>
                <a:ea typeface="Calibri" pitchFamily="34" charset="-122"/>
                <a:cs typeface="Calibri" pitchFamily="34" charset="-120"/>
              </a:rPr>
              <a:t>Determination and audit log</a:t>
            </a:r>
            <a:endParaRPr lang="en-US" sz="1100" dirty="0"/>
          </a:p>
        </p:txBody>
      </p:sp>
      <p:sp>
        <p:nvSpPr>
          <p:cNvPr id="38" name="Text 36"/>
          <p:cNvSpPr txBox="1"/>
          <p:nvPr/>
        </p:nvSpPr>
        <p:spPr>
          <a:xfrm>
            <a:off x="411480" y="6053328"/>
            <a:ext cx="11247120" cy="274320"/>
          </a:xfrm>
          <a:prstGeom prst="rect">
            <a:avLst/>
          </a:prstGeom>
          <a:noFill/>
          <a:ln/>
        </p:spPr>
        <p:txBody>
          <a:bodyPr wrap="square" lIns="0" tIns="0" rIns="0" bIns="0" rtlCol="0" anchor="ctr"/>
          <a:lstStyle/>
          <a:p>
            <a:pPr indent="0" marL="0">
              <a:buNone/>
            </a:pPr>
            <a:r>
              <a:rPr lang="en-US" sz="1050" i="1" dirty="0">
                <a:solidFill>
                  <a:srgbClr val="555555"/>
                </a:solidFill>
                <a:latin typeface="Calibri" pitchFamily="34" charset="0"/>
                <a:ea typeface="Calibri" pitchFamily="34" charset="-122"/>
                <a:cs typeface="Calibri" pitchFamily="34" charset="-120"/>
              </a:rPr>
              <a:t>Latency to be confirmed by load test once the endpoint is live.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2026-09-15T16:11:48Z</dcterms:created>
  <dcterms:modified xsi:type="dcterms:W3CDTF">2026-09-15T16:11:48Z</dcterms:modified>
</cp:coreProperties>
</file>