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1E70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19</c:v>
                </c:pt>
                <c:pt idx="2">
                  <c:v>27</c:v>
                </c:pt>
                <c:pt idx="3">
                  <c:v>16</c:v>
                </c:pt>
                <c:pt idx="4">
                  <c:v>26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1E70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1E70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23</c:v>
                </c:pt>
                <c:pt idx="3">
                  <c:v>24</c:v>
                </c:pt>
                <c:pt idx="4">
                  <c:v>17</c:v>
                </c:pt>
                <c:pt idx="5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1E70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4</c:v>
                </c:pt>
                <c:pt idx="3">
                  <c:v>6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1E70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1E70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0</c:v>
                </c:pt>
                <c:pt idx="2">
                  <c:v>4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1E70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256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 air transports/mo.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County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RCH UCLA  ·  Nov 2025 – Apr 2026 (6 months)  ·  Scene (pickup) county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9344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3444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(6-mo)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Long-ground transports  (Total Mileage ≥ 20 miles, Critical &amp; Emergent 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(&gt;30 min trip time, Lights &amp; Sirens, target clinical segment: Trauma/Stroke/OB/Peds&lt;5/Cardiac)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Air-eligible  (&gt;60 min trip time, Lights &amp; Sirens, target clinical segment: Trauma/Stroke/OB/Peds&lt;5)*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649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travel time (eligible): </a:t>
            </a:r>
            <a:pPr indent="0" marL="0">
              <a:buNone/>
            </a:pPr>
            <a:r>
              <a:rPr lang="en-US" sz="1100" b="1" dirty="0">
                <a:solidFill>
                  <a:srgbClr val="1E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min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median 68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Pediatrics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Cardiac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321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(Red)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Emergent (Yellow)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7223760" y="1335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223760" y="164592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8"/>
          <p:cNvSpPr/>
          <p:nvPr/>
        </p:nvSpPr>
        <p:spPr>
          <a:xfrm>
            <a:off x="7223760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315200" y="446227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air-eligible transports (~22/month) at the &gt;60 min gate; 589 (~98/month) at the &gt;30 min gate. Average travel time 76 min (median 68).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convertible volume of any market reviewed. Trauma-led; 100% high-acuity (Red/Yellow).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2920" y="614476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*Directional signal; requires SME calibration.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E70B8"/>
          </a:solidFill>
          <a:ln/>
        </p:spPr>
      </p:sp>
      <p:sp>
        <p:nvSpPr>
          <p:cNvPr id="18" name="Shape 12"/>
          <p:cNvSpPr/>
          <p:nvPr/>
        </p:nvSpPr>
        <p:spPr>
          <a:xfrm>
            <a:off x="-548640" y="6437376"/>
            <a:ext cx="4206240" cy="420624"/>
          </a:xfrm>
          <a:prstGeom prst="chevron">
            <a:avLst/>
          </a:prstGeom>
          <a:solidFill>
            <a:srgbClr val="0C3B63"/>
          </a:solidFill>
          <a:ln/>
        </p:spPr>
      </p:sp>
      <p:sp>
        <p:nvSpPr>
          <p:cNvPr id="19" name="Shape 13"/>
          <p:cNvSpPr/>
          <p:nvPr/>
        </p:nvSpPr>
        <p:spPr>
          <a:xfrm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 rot="27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 rot="54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 rot="81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3" name="Text 17"/>
          <p:cNvSpPr/>
          <p:nvPr/>
        </p:nvSpPr>
        <p:spPr>
          <a:xfrm>
            <a:off x="10561320" y="6455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Medical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256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 air transports/mo.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Macon County, Illinois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MTC Colona (Medforce I)  ·  Nov 2025 – Apr 2026 (6 months)  ·  Scene (pickup) county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9344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3444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(6-mo)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Long-ground transports  (Total Mileage ≥ 20 miles, Critical &amp; Emergent 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(&gt;30 min trip time, Lights &amp; Sirens, target clinical segment: Trauma/Stroke/OB/Peds&lt;5/Cardiac)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Air-eligible  (&gt;60 min trip time, Lights &amp; Sirens, target clinical segment: Trauma/Stroke/OB/Peds&lt;5)*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649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travel time (eligible): </a:t>
            </a:r>
            <a:pPr indent="0" marL="0">
              <a:buNone/>
            </a:pPr>
            <a:r>
              <a:rPr lang="en-US" sz="1100" b="1" dirty="0">
                <a:solidFill>
                  <a:srgbClr val="1E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min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median 76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Pediatrics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Cardiac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321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(Red)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Emergent (Yellow)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7223760" y="1335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223760" y="164592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8"/>
          <p:cNvSpPr/>
          <p:nvPr/>
        </p:nvSpPr>
        <p:spPr>
          <a:xfrm>
            <a:off x="7223760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315200" y="446227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air-eligible transports (~7/month) at the &gt;60 min gate; average travel time 80 min (median 76). Volume is steady across all six months.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Critical (Red) share of any market at 60% — strongest clinical justification for air despite moderate volume.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2920" y="614476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*Directional signal; requires SME calibration.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E70B8"/>
          </a:solidFill>
          <a:ln/>
        </p:spPr>
      </p:sp>
      <p:sp>
        <p:nvSpPr>
          <p:cNvPr id="18" name="Shape 12"/>
          <p:cNvSpPr/>
          <p:nvPr/>
        </p:nvSpPr>
        <p:spPr>
          <a:xfrm>
            <a:off x="-548640" y="6437376"/>
            <a:ext cx="4206240" cy="420624"/>
          </a:xfrm>
          <a:prstGeom prst="chevron">
            <a:avLst/>
          </a:prstGeom>
          <a:solidFill>
            <a:srgbClr val="0C3B63"/>
          </a:solidFill>
          <a:ln/>
        </p:spPr>
      </p:sp>
      <p:sp>
        <p:nvSpPr>
          <p:cNvPr id="19" name="Shape 13"/>
          <p:cNvSpPr/>
          <p:nvPr/>
        </p:nvSpPr>
        <p:spPr>
          <a:xfrm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 rot="27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 rot="54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 rot="81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3" name="Text 17"/>
          <p:cNvSpPr/>
          <p:nvPr/>
        </p:nvSpPr>
        <p:spPr>
          <a:xfrm>
            <a:off x="10561320" y="6455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Medical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256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 air transports/mo.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 County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RCH Merced  ·  Nov 2025 – Apr 2026 (6 months)  ·  Scene (pickup) county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9344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3444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(6-mo)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Long-ground transports  (Total Mileage ≥ 20 miles, Critical &amp; Emergent 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(&gt;30 min trip time, Lights &amp; Sirens, target clinical segment: Trauma/Stroke/OB/Peds&lt;5/Cardiac)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Air-eligible  (&gt;60 min trip time, Lights &amp; Sirens, target clinical segment: Trauma/Stroke/OB/Peds&lt;5)*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649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travel time (eligible): </a:t>
            </a:r>
            <a:pPr indent="0" marL="0">
              <a:buNone/>
            </a:pPr>
            <a:r>
              <a:rPr lang="en-US" sz="1100" b="1" dirty="0">
                <a:solidFill>
                  <a:srgbClr val="1E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min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median 79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Pediatrics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Cardiac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321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(Red)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Emergent (Yellow)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7223760" y="1335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223760" y="164592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8"/>
          <p:cNvSpPr/>
          <p:nvPr/>
        </p:nvSpPr>
        <p:spPr>
          <a:xfrm>
            <a:off x="7223760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315200" y="446227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air-eligible transports (~16/month) at the &gt;60 min gate; average travel time 81 min (median 79).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Second-largest convertible volume; 44% Critical (Red). Eligible volume concentrated Jan–Apr.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2920" y="614476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*Directional signal; requires SME calibration.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E70B8"/>
          </a:solidFill>
          <a:ln/>
        </p:spPr>
      </p:sp>
      <p:sp>
        <p:nvSpPr>
          <p:cNvPr id="18" name="Shape 12"/>
          <p:cNvSpPr/>
          <p:nvPr/>
        </p:nvSpPr>
        <p:spPr>
          <a:xfrm>
            <a:off x="-548640" y="6437376"/>
            <a:ext cx="4206240" cy="420624"/>
          </a:xfrm>
          <a:prstGeom prst="chevron">
            <a:avLst/>
          </a:prstGeom>
          <a:solidFill>
            <a:srgbClr val="0C3B63"/>
          </a:solidFill>
          <a:ln/>
        </p:spPr>
      </p:sp>
      <p:sp>
        <p:nvSpPr>
          <p:cNvPr id="19" name="Shape 13"/>
          <p:cNvSpPr/>
          <p:nvPr/>
        </p:nvSpPr>
        <p:spPr>
          <a:xfrm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 rot="27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 rot="54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 rot="81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3" name="Text 17"/>
          <p:cNvSpPr/>
          <p:nvPr/>
        </p:nvSpPr>
        <p:spPr>
          <a:xfrm>
            <a:off x="10561320" y="6455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Medical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256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air transports/mo.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Buchanan County, Iowa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MTC Burlington (Medforce II)  ·  Nov 2025 – Apr 2026 (6 months)  ·  Scene (pickup) county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9344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3444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(6-mo)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Long-ground transports  (Total Mileage ≥ 20 miles, Critical &amp; Emergent 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(&gt;30 min trip time, Lights &amp; Sirens, target clinical segment: Trauma/Stroke/OB/Peds&lt;5/Cardiac)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Air-eligible  (&gt;60 min trip time, Lights &amp; Sirens, target clinical segment: Trauma/Stroke/OB/Peds&lt;5)*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649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travel time (eligible): </a:t>
            </a:r>
            <a:pPr indent="0" marL="0">
              <a:buNone/>
            </a:pPr>
            <a:r>
              <a:rPr lang="en-US" sz="1100" b="1" dirty="0">
                <a:solidFill>
                  <a:srgbClr val="1E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median 70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Pediatrics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Cardiac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321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(Red)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Emergent (Yellow)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7223760" y="1335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223760" y="164592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8"/>
          <p:cNvSpPr/>
          <p:nvPr/>
        </p:nvSpPr>
        <p:spPr>
          <a:xfrm>
            <a:off x="7223760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315200" y="446227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air-eligible transports (~5/month) at the &gt;60 min gate; average travel time 75 min (median 70).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trauma. Volume trends down over the period (7 in Nov → 1 in Apr).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2920" y="614476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*Directional signal; requires SME calibration.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E70B8"/>
          </a:solidFill>
          <a:ln/>
        </p:spPr>
      </p:sp>
      <p:sp>
        <p:nvSpPr>
          <p:cNvPr id="18" name="Shape 12"/>
          <p:cNvSpPr/>
          <p:nvPr/>
        </p:nvSpPr>
        <p:spPr>
          <a:xfrm>
            <a:off x="-548640" y="6437376"/>
            <a:ext cx="4206240" cy="420624"/>
          </a:xfrm>
          <a:prstGeom prst="chevron">
            <a:avLst/>
          </a:prstGeom>
          <a:solidFill>
            <a:srgbClr val="0C3B63"/>
          </a:solidFill>
          <a:ln/>
        </p:spPr>
      </p:sp>
      <p:sp>
        <p:nvSpPr>
          <p:cNvPr id="19" name="Shape 13"/>
          <p:cNvSpPr/>
          <p:nvPr/>
        </p:nvSpPr>
        <p:spPr>
          <a:xfrm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 rot="27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 rot="54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 rot="81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3" name="Text 17"/>
          <p:cNvSpPr/>
          <p:nvPr/>
        </p:nvSpPr>
        <p:spPr>
          <a:xfrm>
            <a:off x="10561320" y="6455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Medical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256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air transports/mo.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Floyd County, Iowa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MTC Burlington (Medforce II)  ·  Nov 2025 – Apr 2026 (6 months)  ·  Scene (pickup) county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9344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3444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(6-mo)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Long-ground transports  (Total Mileage ≥ 20 miles, Critical &amp; Emergent 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(&gt;30 min trip time, Lights &amp; Sirens, target clinical segment: Trauma/Stroke/OB/Peds&lt;5/Cardiac)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Air-eligible  (&gt;60 min trip time, Lights &amp; Sirens, target clinical segment: Trauma/Stroke/OB/Peds&lt;5)*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649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travel time (eligible): </a:t>
            </a:r>
            <a:pPr indent="0" marL="0">
              <a:buNone/>
            </a:pPr>
            <a:r>
              <a:rPr lang="en-US" sz="1100" b="1" dirty="0">
                <a:solidFill>
                  <a:srgbClr val="1E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min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median 68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Pediatrics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Cardiac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321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(Red)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Emergent (Yellow)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7223760" y="1335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223760" y="164592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8"/>
          <p:cNvSpPr/>
          <p:nvPr/>
        </p:nvSpPr>
        <p:spPr>
          <a:xfrm>
            <a:off x="7223760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315200" y="446227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air-eligible transports (~2/month) at the &gt;60 min gate; average travel time 72 min (median 68) — the shortest of the group.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convertible volume; all trauma, 50% Critical (Red).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2920" y="614476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*Directional signal; requires SME calibration.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E70B8"/>
          </a:solidFill>
          <a:ln/>
        </p:spPr>
      </p:sp>
      <p:sp>
        <p:nvSpPr>
          <p:cNvPr id="18" name="Shape 12"/>
          <p:cNvSpPr/>
          <p:nvPr/>
        </p:nvSpPr>
        <p:spPr>
          <a:xfrm>
            <a:off x="-548640" y="6437376"/>
            <a:ext cx="4206240" cy="420624"/>
          </a:xfrm>
          <a:prstGeom prst="chevron">
            <a:avLst/>
          </a:prstGeom>
          <a:solidFill>
            <a:srgbClr val="0C3B63"/>
          </a:solidFill>
          <a:ln/>
        </p:spPr>
      </p:sp>
      <p:sp>
        <p:nvSpPr>
          <p:cNvPr id="19" name="Shape 13"/>
          <p:cNvSpPr/>
          <p:nvPr/>
        </p:nvSpPr>
        <p:spPr>
          <a:xfrm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 rot="27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 rot="54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 rot="81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3" name="Text 17"/>
          <p:cNvSpPr/>
          <p:nvPr/>
        </p:nvSpPr>
        <p:spPr>
          <a:xfrm>
            <a:off x="10561320" y="6455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Medical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256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air transports/mo.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 County (Oceanside)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RCH Oceanside  ·  Nov 2025 – Apr 2026 (6 months)  ·  Scene (pickup) county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9344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3444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(6-mo)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Long-ground transports  (Total Mileage ≥ 20 miles, Critical &amp; Emergent 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(&gt;30 min trip time, Lights &amp; Sirens, target clinical segment: Trauma/Stroke/OB/Peds&lt;5/Cardiac)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Air-eligible  (&gt;60 min trip time, Lights &amp; Sirens, target clinical segment: Trauma/Stroke/OB/Peds&lt;5)*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649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travel time (eligible): </a:t>
            </a:r>
            <a:pPr indent="0" marL="0">
              <a:buNone/>
            </a:pPr>
            <a:r>
              <a:rPr lang="en-US" sz="1100" b="1" dirty="0">
                <a:solidFill>
                  <a:srgbClr val="1E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min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median 79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Pediatrics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Cardiac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321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(Red)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Emergent (Yellow)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7223760" y="1335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223760" y="164592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8"/>
          <p:cNvSpPr/>
          <p:nvPr/>
        </p:nvSpPr>
        <p:spPr>
          <a:xfrm>
            <a:off x="7223760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315200" y="446227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air-eligible transports (~2/month) at the &gt;60 min gate; average travel time 84 min (median 79).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thin convertible volume, with no eligible trips in Dec, Mar or Apr.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2920" y="614476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*Directional signal; requires SME calibration.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E70B8"/>
          </a:solidFill>
          <a:ln/>
        </p:spPr>
      </p:sp>
      <p:sp>
        <p:nvSpPr>
          <p:cNvPr id="18" name="Shape 12"/>
          <p:cNvSpPr/>
          <p:nvPr/>
        </p:nvSpPr>
        <p:spPr>
          <a:xfrm>
            <a:off x="-548640" y="6437376"/>
            <a:ext cx="4206240" cy="420624"/>
          </a:xfrm>
          <a:prstGeom prst="chevron">
            <a:avLst/>
          </a:prstGeom>
          <a:solidFill>
            <a:srgbClr val="0C3B63"/>
          </a:solidFill>
          <a:ln/>
        </p:spPr>
      </p:sp>
      <p:sp>
        <p:nvSpPr>
          <p:cNvPr id="19" name="Shape 13"/>
          <p:cNvSpPr/>
          <p:nvPr/>
        </p:nvSpPr>
        <p:spPr>
          <a:xfrm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 rot="27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 rot="54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 rot="81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3" name="Text 17"/>
          <p:cNvSpPr/>
          <p:nvPr/>
        </p:nvSpPr>
        <p:spPr>
          <a:xfrm>
            <a:off x="10561320" y="6455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Medical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256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air transports/mo.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6BA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County, Alabama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MTC Birmingham (Childrens)  ·  Nov 2025 – Apr 2026 (6 months)  ·  Scene (pickup) county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9344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3444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(6-mo)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Long-ground transports  (Total Mileage ≥ 20 miles, Critical &amp; Emergent 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(&gt;30 min trip time, Lights &amp; Sirens, target clinical segment: Trauma/Stroke/OB/Peds&lt;5/Cardiac)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Air-eligible  (&gt;60 min trip time, Lights &amp; Sirens, target clinical segment: Trauma/Stroke/OB/Peds&lt;5)*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D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649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travel time (eligible): </a:t>
            </a:r>
            <a:pPr indent="0" marL="0">
              <a:buNone/>
            </a:pPr>
            <a:r>
              <a:rPr lang="en-US" sz="1100" b="1" dirty="0">
                <a:solidFill>
                  <a:srgbClr val="1E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min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median 82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Pediatrics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Cardiac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321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6400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11430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0B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(Red)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Emergent (Yellow)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7223760" y="1335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223760" y="164592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8"/>
          <p:cNvSpPr/>
          <p:nvPr/>
        </p:nvSpPr>
        <p:spPr>
          <a:xfrm>
            <a:off x="7223760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315200" y="446227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air-eligible transports (~2/month) at the &gt;60 min gate; average travel time 86 min (median 82) — the longest of the group.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long-ground base (79 trips ≥20 mi). All trauma; 44% Critical (Red).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2920" y="614476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C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*Directional signal; requires SME calibration.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E70B8"/>
          </a:solidFill>
          <a:ln/>
        </p:spPr>
      </p:sp>
      <p:sp>
        <p:nvSpPr>
          <p:cNvPr id="18" name="Shape 12"/>
          <p:cNvSpPr/>
          <p:nvPr/>
        </p:nvSpPr>
        <p:spPr>
          <a:xfrm>
            <a:off x="-548640" y="6437376"/>
            <a:ext cx="4206240" cy="420624"/>
          </a:xfrm>
          <a:prstGeom prst="chevron">
            <a:avLst/>
          </a:prstGeom>
          <a:solidFill>
            <a:srgbClr val="0C3B63"/>
          </a:solidFill>
          <a:ln/>
        </p:spPr>
      </p:sp>
      <p:sp>
        <p:nvSpPr>
          <p:cNvPr id="19" name="Shape 13"/>
          <p:cNvSpPr/>
          <p:nvPr/>
        </p:nvSpPr>
        <p:spPr>
          <a:xfrm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 rot="27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 rot="54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 rot="8100000">
            <a:off x="10140696" y="6615684"/>
            <a:ext cx="347472" cy="6400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/>
        </p:spPr>
      </p:sp>
      <p:sp>
        <p:nvSpPr>
          <p:cNvPr id="23" name="Text 17"/>
          <p:cNvSpPr/>
          <p:nvPr/>
        </p:nvSpPr>
        <p:spPr>
          <a:xfrm>
            <a:off x="10561320" y="6455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Medical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Ground-to-Air — GMR</dc:title>
  <dc:subject>PptxGenJS Presentation</dc:subject>
  <dc:creator>PptxGenJS</dc:creator>
  <cp:lastModifiedBy>PptxGenJS</cp:lastModifiedBy>
  <cp:revision>1</cp:revision>
  <dcterms:created xsi:type="dcterms:W3CDTF">2026-07-14T15:56:54Z</dcterms:created>
  <dcterms:modified xsi:type="dcterms:W3CDTF">2026-07-14T15:56:54Z</dcterms:modified>
</cp:coreProperties>
</file>