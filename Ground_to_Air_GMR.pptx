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</c:v>
                </c:pt>
                <c:pt idx="1">
                  <c:v>19</c:v>
                </c:pt>
                <c:pt idx="2">
                  <c:v>27</c:v>
                </c:pt>
                <c:pt idx="3">
                  <c:v>16</c:v>
                </c:pt>
                <c:pt idx="4">
                  <c:v>26</c:v>
                </c:pt>
                <c:pt idx="5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0</c:v>
                </c:pt>
                <c:pt idx="2">
                  <c:v>4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7</c:v>
                </c:pt>
                <c:pt idx="2">
                  <c:v>4</c:v>
                </c:pt>
                <c:pt idx="3">
                  <c:v>4</c:v>
                </c:pt>
                <c:pt idx="4">
                  <c:v>6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Air-eligible</c:v>
                </c:pt>
              </c:strCache>
            </c:strRef>
          </c:tx>
          <c:spPr>
            <a:solidFill>
              <a:srgbClr val="1E70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Nov</c:v>
                  </c:pt>
                  <c:pt idx="1">
                    <c:v>Dec</c:v>
                  </c:pt>
                  <c:pt idx="2">
                    <c:v>Jan</c:v>
                  </c:pt>
                  <c:pt idx="3">
                    <c:v>Feb</c:v>
                  </c:pt>
                  <c:pt idx="4">
                    <c:v>Mar</c:v>
                  </c:pt>
                  <c:pt idx="5">
                    <c:v>Apr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23</c:v>
                </c:pt>
                <c:pt idx="3">
                  <c:v>24</c:v>
                </c:pt>
                <c:pt idx="4">
                  <c:v>17</c:v>
                </c:pt>
                <c:pt idx="5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6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74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Angeles County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transport summary  ·  Nov 2025 – Apr 2026 (6 months)  ·  Scene (pickup) county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25526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68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4048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035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4264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737360"/>
          <a:ext cx="4754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2245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526280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 air-eligible long-ground transports over the period (~22/month) after the 60–200 min travel-time gate; average travel time 76 min (median 68).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Trauma-led (99%); 100% high-acuity (Red/Yellow). 491 trips under 60 min were excluded as too short to favor air over ground.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07161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74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Diego County (Oceanside)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transport summary  ·  Nov 2025 – Apr 2026 (6 months)  ·  Scene (pickup) county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25526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79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4048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035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4264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737360"/>
          <a:ext cx="4754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2245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526280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10 air-eligible long-ground transports over the period (~2/month) after the travel-time gate; average travel time 84 min (median 79).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thin convertible volume; predominantly trauma (90%) with one stroke; 40% Critical (Red).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07161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74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Clark County, Nevada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transport summary  ·  Nov 2025 – Apr 2026 (6 months)  ·  Scene (pickup) county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25526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91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4048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035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4264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737360"/>
          <a:ext cx="4754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2245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526280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air-eligible long-ground transports over the period (~7/month) after the 60–200 min travel-time gate; average travel time 94 min (median 91) — the longest average of the group.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Trauma-led (98%); 38% Critical (Red). Volume is steady across all six months; 13 sub-60-min trips excluded.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07161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274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~16 air transports/mo.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rgbClr val="6BA5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Merced County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transport summary  ·  Nov 2025 – Apr 2026 (6 months)  ·  Scene (pickup) county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Ground transport volume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"/>
                <a:gridCol w="1051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(6-mo)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Long-ground transports  (Total Mileage ≥ 20 miles, Critical &amp; Emergent 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Air-eligible  (&gt;60 min trip time, Lights &amp; Sirens, target clinical segment: Trauma/Stroke/OB/Peds &lt;5)*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D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25526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travel time (eligible): </a:t>
            </a:r>
            <a:pPr indent="0" marL="0">
              <a:buNone/>
            </a:pPr>
            <a:r>
              <a:rPr lang="en-US" sz="1100" b="1" dirty="0">
                <a:solidFill>
                  <a:srgbClr val="1E7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min</a:t>
            </a:r>
            <a:pPr indent="0" marL="0">
              <a:buNone/>
            </a:pPr>
            <a:r>
              <a:rPr lang="en-US" sz="11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median 79 min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Distribution by condition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4048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Trauma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Stroke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Pediatrics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Distribution by criticality</a:t>
            </a:r>
            <a:endParaRPr lang="en-US" sz="130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303520"/>
          <a:ext cx="6400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143000"/>
                <a:gridCol w="11430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0B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 (Red)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Emergent (Yellow)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7223760" y="14264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Air-eligible trips by month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223760" y="1737360"/>
          <a:ext cx="47548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8"/>
          <p:cNvSpPr/>
          <p:nvPr/>
        </p:nvSpPr>
        <p:spPr>
          <a:xfrm>
            <a:off x="7223760" y="42245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Interpretation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7315200" y="4526280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air-eligible long-ground transports over the period (~16/month) after the 60–200 min travel-time gate; average travel time 81 min (median 79).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Trauma-led (98%); highest Critical (Red) share of the group at 44%. Air-eligible volume falls in Jan–Apr; 49 sub-60-min trips excluded.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02920" y="607161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C3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*Directional signal; requires SME calibration.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0" y="6437376"/>
            <a:ext cx="12188952" cy="420624"/>
          </a:xfrm>
          <a:prstGeom prst="rect">
            <a:avLst/>
          </a:prstGeom>
          <a:solidFill>
            <a:srgbClr val="1E70B8"/>
          </a:solidFill>
          <a:ln/>
        </p:spPr>
      </p:sp>
      <p:sp>
        <p:nvSpPr>
          <p:cNvPr id="18" name="Shape 12"/>
          <p:cNvSpPr/>
          <p:nvPr/>
        </p:nvSpPr>
        <p:spPr>
          <a:xfrm>
            <a:off x="-548640" y="6437376"/>
            <a:ext cx="4206240" cy="420624"/>
          </a:xfrm>
          <a:prstGeom prst="chevron">
            <a:avLst/>
          </a:prstGeom>
          <a:solidFill>
            <a:srgbClr val="0C3B63"/>
          </a:solidFill>
          <a:ln/>
        </p:spPr>
      </p:sp>
      <p:sp>
        <p:nvSpPr>
          <p:cNvPr id="19" name="Shape 13"/>
          <p:cNvSpPr/>
          <p:nvPr/>
        </p:nvSpPr>
        <p:spPr>
          <a:xfrm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0" name="Shape 14"/>
          <p:cNvSpPr/>
          <p:nvPr/>
        </p:nvSpPr>
        <p:spPr>
          <a:xfrm rot="27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1" name="Shape 15"/>
          <p:cNvSpPr/>
          <p:nvPr/>
        </p:nvSpPr>
        <p:spPr>
          <a:xfrm rot="54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2" name="Shape 16"/>
          <p:cNvSpPr/>
          <p:nvPr/>
        </p:nvSpPr>
        <p:spPr>
          <a:xfrm rot="8100000">
            <a:off x="10140696" y="6615684"/>
            <a:ext cx="347472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/>
        </p:spPr>
      </p:sp>
      <p:sp>
        <p:nvSpPr>
          <p:cNvPr id="23" name="Text 17"/>
          <p:cNvSpPr/>
          <p:nvPr/>
        </p:nvSpPr>
        <p:spPr>
          <a:xfrm>
            <a:off x="10561320" y="6455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Medical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Ground-to-Air — GMR</dc:title>
  <dc:subject>PptxGenJS Presentation</dc:subject>
  <dc:creator>PptxGenJS</dc:creator>
  <cp:lastModifiedBy>PptxGenJS</cp:lastModifiedBy>
  <cp:revision>1</cp:revision>
  <dcterms:created xsi:type="dcterms:W3CDTF">2026-07-06T15:41:26Z</dcterms:created>
  <dcterms:modified xsi:type="dcterms:W3CDTF">2026-07-06T15:41:26Z</dcterms:modified>
</cp:coreProperties>
</file>