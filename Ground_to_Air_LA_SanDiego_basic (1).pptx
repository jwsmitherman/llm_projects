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Air-eligible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Nov</c:v>
                  </c:pt>
                  <c:pt idx="1">
                    <c:v>Dec</c:v>
                  </c:pt>
                  <c:pt idx="2">
                    <c:v>Jan</c:v>
                  </c:pt>
                  <c:pt idx="3">
                    <c:v>Feb</c:v>
                  </c:pt>
                  <c:pt idx="4">
                    <c:v>Mar</c:v>
                  </c:pt>
                  <c:pt idx="5">
                    <c:v>Apr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</c:v>
                </c:pt>
                <c:pt idx="1">
                  <c:v>19</c:v>
                </c:pt>
                <c:pt idx="2">
                  <c:v>27</c:v>
                </c:pt>
                <c:pt idx="3">
                  <c:v>16</c:v>
                </c:pt>
                <c:pt idx="4">
                  <c:v>26</c:v>
                </c:pt>
                <c:pt idx="5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Air-eligible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Nov</c:v>
                  </c:pt>
                  <c:pt idx="1">
                    <c:v>Dec</c:v>
                  </c:pt>
                  <c:pt idx="2">
                    <c:v>Jan</c:v>
                  </c:pt>
                  <c:pt idx="3">
                    <c:v>Feb</c:v>
                  </c:pt>
                  <c:pt idx="4">
                    <c:v>Mar</c:v>
                  </c:pt>
                  <c:pt idx="5">
                    <c:v>Apr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0</c:v>
                </c:pt>
                <c:pt idx="2">
                  <c:v>4</c:v>
                </c:pt>
                <c:pt idx="3">
                  <c:v>2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Angeles County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transport summary  ·  Nov 2025 – Apr 2026 (6 months)  ·  Scene (pickup) county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Ground transport volume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81912"/>
          <a:ext cx="51206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143000"/>
                <a:gridCol w="11430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Long-ground transports (all)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Air-eligible (meets filters)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3591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travel time (eligible): </a:t>
            </a:r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min</a:t>
            </a:r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median 68 min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2743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Distribution by condition</a:t>
            </a:r>
            <a:endParaRPr lang="en-US" sz="13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44952"/>
          <a:ext cx="51206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143000"/>
                <a:gridCol w="11430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Trauma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Pediatrics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Distribution by criticality</a:t>
            </a:r>
            <a:endParaRPr lang="en-US" sz="1300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828032"/>
          <a:ext cx="51206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143000"/>
                <a:gridCol w="11430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(Red)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Emergent (Yellow)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(Green)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Recorded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59436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Air-eligible trips by month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943600" y="1645920"/>
          <a:ext cx="576072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7"/>
          <p:cNvSpPr/>
          <p:nvPr/>
        </p:nvSpPr>
        <p:spPr>
          <a:xfrm>
            <a:off x="594360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Interpretation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6035040" y="4690872"/>
            <a:ext cx="5669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air-eligible long-ground transports over the period (~22/month) after the 60–200 min travel-time gate; average travel time 76 min (median 68).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Trauma-led (99%); 100% high-acuity (Red/Yellow). 491 trips under 60 min were excluded as too short to favor air over ground.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Air-eligible = long ground transport + Lights &amp; Sirens + target clinical segment (Trauma/Stroke/OB/Peds &lt;5) + travel time 60–200 min (Elapsed Call Time). Directional; pending Ops/SME calibration.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Diego County (Oceanside)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transport summary  ·  Nov 2025 – Apr 2026 (6 months)  ·  Scene (pickup) county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Ground transport volume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81912"/>
          <a:ext cx="51206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143000"/>
                <a:gridCol w="11430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Long-ground transports (all)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Air-eligible (meets filters)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3591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travel time (eligible): </a:t>
            </a:r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min</a:t>
            </a:r>
            <a:pPr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median 79 min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2743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Distribution by condition</a:t>
            </a:r>
            <a:endParaRPr lang="en-US" sz="13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44952"/>
          <a:ext cx="51206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143000"/>
                <a:gridCol w="11430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Trauma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Pediatrics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Distribution by criticality</a:t>
            </a:r>
            <a:endParaRPr lang="en-US" sz="130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828032"/>
          <a:ext cx="51206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143000"/>
                <a:gridCol w="114300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(Red)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Emergent (Yellow)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(Green)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Recorded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59436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Air-eligible trips by month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943600" y="1645920"/>
          <a:ext cx="576072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7"/>
          <p:cNvSpPr/>
          <p:nvPr/>
        </p:nvSpPr>
        <p:spPr>
          <a:xfrm>
            <a:off x="594360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Interpretation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6035040" y="4690872"/>
            <a:ext cx="5669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10 air-eligible long-ground transports over the period (~2/month) after the travel-time gate; average travel time 84 min (median 79).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thin convertible volume; predominantly trauma (90%) with one stroke; 40% Critical (Red).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Air-eligible = long ground transport + Lights &amp; Sirens + target clinical segment (Trauma/Stroke/OB/Peds &lt;5) + travel time 60–200 min (Elapsed Call Time). Directional; pending Ops/SME calibration.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Ground-to-Air — LA &amp; San Diego</dc:title>
  <dc:subject>PptxGenJS Presentation</dc:subject>
  <dc:creator>PptxGenJS</dc:creator>
  <cp:lastModifiedBy>PptxGenJS</cp:lastModifiedBy>
  <cp:revision>1</cp:revision>
  <dcterms:created xsi:type="dcterms:W3CDTF">2026-06-30T21:46:45Z</dcterms:created>
  <dcterms:modified xsi:type="dcterms:W3CDTF">2026-06-30T21:46:45Z</dcterms:modified>
</cp:coreProperties>
</file>