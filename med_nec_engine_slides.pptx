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as a documentation question, not a clinical one. We are not asking whether the transport was appropriate - we are asking whether what was written down will hold up if a payer looks at it.
The 45-day lag is why this matters operationally. By the time the denial arrives, the trip is run, the cost is sunk, and nobody remembers the patient.
The pass/fail examples are the fastest way to make the standard land with a non-clinical audience. 'Diabetic' is verifiable but does not stop someone riding in a car - that is the whole test in one line.
Caveats if asked: source is a read-only snapshot of the trip request and trip leg tables; the calendar-year 2025 period is still being confirmed; customers are Texas Health Resources (74,378 legs) and MUSC (30,256).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question: how did you come up with the concepts? Answer: top-down from CMS, then validated bottom-up against our own text. We did not invent clinical categories - we took the tests CMS actually applies and asked which of them our orders speak to.
Second expected question: what is 'unrecognized'? It means text present, zero term matches. Say plainly that it is a limitation of keyword matching, not a finding about the order. That is the honest answer and it is also the strongest argument for a language model reading the text.
Five inferred concepts (oxygen, isolation, wound_ostomy, bariatric, behavioral) are our interpretation of the general test rather than a named CMS rule. They are marked as such on the next slide.
If pressed on precision: we have not yet validated against denial outcomes. That is the next step and it is the only way to know whether Group A actually predicts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answer to 'how did you come up with the concepts'. Every row traces to a citation. Nothing here is a clinical opinion we invented.
Two patterns worth pointing out: the top three concepts are all the bed-confined test, which is the standard payers actually apply. And the Group B terms - weakness, fall risk, physician order - are common enough (13,347 tags) that they are clearly habitual language, not occasional sloppiness.
Percentages sum past 100 because an order can carry several concepts.
If someone challenges an inferred concept, that is a good outcome - the labels exist so that conversation can happen against a specific row rather than against the whole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only - no interpretation on the slide. The three headline numbers: 16,911 at risk (18.7%), 22,030 unknown (24.4%), 51,487 supported (56.9%).
The split that will draw questions is MUSC Ground at 52.9% against Texas Health at 2.8% on the same platform. Same forms, very different behaviour - a workflow difference, not a clinical one.
BLS and ALS together account for 13,948 of the 16,911 at-risk orders, so any fix aimed at those two levels of service reaches most of the exposure.
Be first to raise the 0% and 99.9% rows. If someone else spots them, the whole table looks unreliable; if we flag them, it reads as knowing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45720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Medical necessity documentation - what we looked at and why</a:t>
            </a:r>
            <a:endParaRPr lang="en-US" sz="3000" dirty="0"/>
          </a:p>
        </p:txBody>
      </p:sp>
      <p:sp>
        <p:nvSpPr>
          <p:cNvPr id="3" name="Text 1"/>
          <p:cNvSpPr/>
          <p:nvPr/>
        </p:nvSpPr>
        <p:spPr>
          <a:xfrm>
            <a:off x="640080" y="960120"/>
            <a:ext cx="10972800" cy="320040"/>
          </a:xfrm>
          <a:prstGeom prst="rect">
            <a:avLst/>
          </a:prstGeom>
          <a:noFill/>
          <a:ln/>
        </p:spPr>
        <p:txBody>
          <a:bodyPr wrap="square" lIns="0" tIns="0" rIns="0" bIns="0" rtlCol="0" anchor="ctr"/>
          <a:lstStyle/>
          <a:p>
            <a:pPr indent="0" marL="0">
              <a:buNone/>
            </a:pPr>
            <a:r>
              <a:rPr lang="en-US" sz="1600" dirty="0">
                <a:solidFill>
                  <a:srgbClr val="595959"/>
                </a:solidFill>
                <a:latin typeface="Calibri" pitchFamily="34" charset="0"/>
                <a:ea typeface="Calibri" pitchFamily="34" charset="-122"/>
                <a:cs typeface="Calibri" pitchFamily="34" charset="-120"/>
              </a:rPr>
              <a:t>A review of how well our transport orders support the claims we send</a:t>
            </a:r>
            <a:endParaRPr lang="en-US" sz="1600" dirty="0"/>
          </a:p>
        </p:txBody>
      </p:sp>
      <p:sp>
        <p:nvSpPr>
          <p:cNvPr id="4" name="Text 2"/>
          <p:cNvSpPr/>
          <p:nvPr/>
        </p:nvSpPr>
        <p:spPr>
          <a:xfrm>
            <a:off x="640080" y="1600200"/>
            <a:ext cx="10972800" cy="274320"/>
          </a:xfrm>
          <a:prstGeom prst="rect">
            <a:avLst/>
          </a:prstGeom>
          <a:noFill/>
          <a:ln/>
        </p:spPr>
        <p:txBody>
          <a:bodyPr wrap="square" lIns="0" tIns="0" rIns="0" bIns="0" rtlCol="0" anchor="ctr"/>
          <a:lstStyle/>
          <a:p>
            <a:pPr indent="0" marL="0">
              <a:buNone/>
            </a:pPr>
            <a:r>
              <a:rPr lang="en-US" sz="1800" b="1" dirty="0">
                <a:solidFill>
                  <a:srgbClr val="000000"/>
                </a:solidFill>
                <a:latin typeface="Calibri" pitchFamily="34" charset="0"/>
                <a:ea typeface="Calibri" pitchFamily="34" charset="-122"/>
                <a:cs typeface="Calibri" pitchFamily="34" charset="-120"/>
              </a:rPr>
              <a:t>Why it matters</a:t>
            </a:r>
            <a:endParaRPr lang="en-US" sz="1800" dirty="0"/>
          </a:p>
        </p:txBody>
      </p:sp>
      <p:sp>
        <p:nvSpPr>
          <p:cNvPr id="5" name="Text 3"/>
          <p:cNvSpPr/>
          <p:nvPr/>
        </p:nvSpPr>
        <p:spPr>
          <a:xfrm>
            <a:off x="640080" y="1920240"/>
            <a:ext cx="10972800" cy="640080"/>
          </a:xfrm>
          <a:prstGeom prst="rect">
            <a:avLst/>
          </a:prstGeom>
          <a:noFill/>
          <a:ln/>
        </p:spPr>
        <p:txBody>
          <a:bodyPr wrap="square" lIns="0" tIns="0" rIns="0" bIns="0" rtlCol="0" anchor="ctr"/>
          <a:lstStyle/>
          <a:p>
            <a:pPr indent="0" marL="0">
              <a:buNone/>
            </a:pPr>
            <a:r>
              <a:rPr lang="en-US" sz="1500" dirty="0">
                <a:solidFill>
                  <a:srgbClr val="000000"/>
                </a:solidFill>
                <a:latin typeface="Calibri" pitchFamily="34" charset="0"/>
                <a:ea typeface="Calibri" pitchFamily="34" charset="-122"/>
                <a:cs typeface="Calibri" pitchFamily="34" charset="-120"/>
              </a:rPr>
              <a:t>Medicare pays for a non-emergency ambulance only when the patient's condition makes any other form of transport unsafe. That reason has to be written down at the time of order. If it is missing or vague, the claim is denied roughly 45 days later - long after the trip is run and the cost is sunk.</a:t>
            </a:r>
            <a:endParaRPr lang="en-US" sz="1500" dirty="0"/>
          </a:p>
        </p:txBody>
      </p:sp>
      <p:sp>
        <p:nvSpPr>
          <p:cNvPr id="6" name="Text 4"/>
          <p:cNvSpPr/>
          <p:nvPr/>
        </p:nvSpPr>
        <p:spPr>
          <a:xfrm>
            <a:off x="640080" y="2697480"/>
            <a:ext cx="10972800" cy="274320"/>
          </a:xfrm>
          <a:prstGeom prst="rect">
            <a:avLst/>
          </a:prstGeom>
          <a:noFill/>
          <a:ln/>
        </p:spPr>
        <p:txBody>
          <a:bodyPr wrap="square" lIns="0" tIns="0" rIns="0" bIns="0" rtlCol="0" anchor="ctr"/>
          <a:lstStyle/>
          <a:p>
            <a:pPr indent="0" marL="0">
              <a:buNone/>
            </a:pPr>
            <a:r>
              <a:rPr lang="en-US" sz="1800" b="1" dirty="0">
                <a:solidFill>
                  <a:srgbClr val="000000"/>
                </a:solidFill>
                <a:latin typeface="Calibri" pitchFamily="34" charset="0"/>
                <a:ea typeface="Calibri" pitchFamily="34" charset="-122"/>
                <a:cs typeface="Calibri" pitchFamily="34" charset="-120"/>
              </a:rPr>
              <a:t>What we did</a:t>
            </a:r>
            <a:endParaRPr lang="en-US" sz="1800" dirty="0"/>
          </a:p>
        </p:txBody>
      </p:sp>
      <p:sp>
        <p:nvSpPr>
          <p:cNvPr id="7" name="Text 5"/>
          <p:cNvSpPr/>
          <p:nvPr/>
        </p:nvSpPr>
        <p:spPr>
          <a:xfrm>
            <a:off x="640080" y="3017520"/>
            <a:ext cx="10972800" cy="118872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Read the free-text reason a nurse enters when ordering a transport, on every order.</a:t>
            </a:r>
            <a:endParaRPr lang="en-US" sz="1500" dirty="0"/>
          </a:p>
          <a:p>
            <a:pPr marL="342900" indent="-3429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Sorted each order into one of five documentation buckets based on what was actually written.</a:t>
            </a:r>
            <a:endParaRPr lang="en-US" sz="1500" dirty="0"/>
          </a:p>
          <a:p>
            <a:pPr marL="342900" indent="-3429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Counted a reason as valid only if it is verifiable in the medical record and explains why a cheaper option - a wheelchair van or a car - will not work.</a:t>
            </a:r>
            <a:endParaRPr lang="en-US" sz="1500" dirty="0"/>
          </a:p>
        </p:txBody>
      </p:sp>
      <p:sp>
        <p:nvSpPr>
          <p:cNvPr id="8" name="Text 6"/>
          <p:cNvSpPr/>
          <p:nvPr/>
        </p:nvSpPr>
        <p:spPr>
          <a:xfrm>
            <a:off x="640080" y="4206240"/>
            <a:ext cx="10972800" cy="274320"/>
          </a:xfrm>
          <a:prstGeom prst="rect">
            <a:avLst/>
          </a:prstGeom>
          <a:noFill/>
          <a:ln/>
        </p:spPr>
        <p:txBody>
          <a:bodyPr wrap="square" lIns="0" tIns="0" rIns="0" bIns="0" rtlCol="0" anchor="ctr"/>
          <a:lstStyle/>
          <a:p>
            <a:pPr indent="0" marL="0">
              <a:buNone/>
            </a:pPr>
            <a:r>
              <a:rPr lang="en-US" sz="1800" b="1" dirty="0">
                <a:solidFill>
                  <a:srgbClr val="000000"/>
                </a:solidFill>
                <a:latin typeface="Calibri" pitchFamily="34" charset="0"/>
                <a:ea typeface="Calibri" pitchFamily="34" charset="-122"/>
                <a:cs typeface="Calibri" pitchFamily="34" charset="-120"/>
              </a:rPr>
              <a:t>What counts, and what does not</a:t>
            </a:r>
            <a:endParaRPr lang="en-US" sz="1800" dirty="0"/>
          </a:p>
        </p:txBody>
      </p:sp>
      <p:sp>
        <p:nvSpPr>
          <p:cNvPr id="9" name="Text 7"/>
          <p:cNvSpPr/>
          <p:nvPr/>
        </p:nvSpPr>
        <p:spPr>
          <a:xfrm>
            <a:off x="640080" y="4526280"/>
            <a:ext cx="10972800" cy="274320"/>
          </a:xfrm>
          <a:prstGeom prst="rect">
            <a:avLst/>
          </a:prstGeom>
          <a:noFill/>
          <a:ln/>
        </p:spPr>
        <p:txBody>
          <a:bodyPr wrap="square" lIns="0" tIns="0" rIns="0" bIns="0" rtlCol="0" anchor="ctr"/>
          <a:lstStyle/>
          <a:p>
            <a:pPr indent="0" marL="0">
              <a:buNone/>
            </a:pPr>
            <a:r>
              <a:rPr lang="en-US" sz="1500" b="1" dirty="0">
                <a:solidFill>
                  <a:srgbClr val="000000"/>
                </a:solidFill>
                <a:latin typeface="Calibri" pitchFamily="34" charset="0"/>
                <a:ea typeface="Calibri" pitchFamily="34" charset="-122"/>
                <a:cs typeface="Calibri" pitchFamily="34" charset="-120"/>
              </a:rPr>
              <a:t>Passes:  </a:t>
            </a:r>
            <a:pPr indent="0" marL="0">
              <a:buNone/>
            </a:pPr>
            <a:r>
              <a:rPr lang="en-US" sz="1500" dirty="0">
                <a:solidFill>
                  <a:srgbClr val="000000"/>
                </a:solidFill>
                <a:latin typeface="Calibri" pitchFamily="34" charset="0"/>
                <a:ea typeface="Calibri" pitchFamily="34" charset="-122"/>
                <a:cs typeface="Calibri" pitchFamily="34" charset="-120"/>
              </a:rPr>
              <a:t>post-CVA hemiparesis, unable to bear weight, requires supine transport, on 3L oxygen</a:t>
            </a:r>
            <a:endParaRPr lang="en-US" sz="1500" dirty="0"/>
          </a:p>
        </p:txBody>
      </p:sp>
      <p:sp>
        <p:nvSpPr>
          <p:cNvPr id="10" name="Text 8"/>
          <p:cNvSpPr/>
          <p:nvPr/>
        </p:nvSpPr>
        <p:spPr>
          <a:xfrm>
            <a:off x="640080" y="4828032"/>
            <a:ext cx="10972800" cy="274320"/>
          </a:xfrm>
          <a:prstGeom prst="rect">
            <a:avLst/>
          </a:prstGeom>
          <a:noFill/>
          <a:ln/>
        </p:spPr>
        <p:txBody>
          <a:bodyPr wrap="square" lIns="0" tIns="0" rIns="0" bIns="0" rtlCol="0" anchor="ctr"/>
          <a:lstStyle/>
          <a:p>
            <a:pPr indent="0" marL="0">
              <a:buNone/>
            </a:pPr>
            <a:r>
              <a:rPr lang="en-US" sz="1500" b="1" dirty="0">
                <a:solidFill>
                  <a:srgbClr val="000000"/>
                </a:solidFill>
                <a:latin typeface="Calibri" pitchFamily="34" charset="0"/>
                <a:ea typeface="Calibri" pitchFamily="34" charset="-122"/>
                <a:cs typeface="Calibri" pitchFamily="34" charset="-120"/>
              </a:rPr>
              <a:t>Fails:  </a:t>
            </a:r>
            <a:pPr indent="0" marL="0">
              <a:buNone/>
            </a:pPr>
            <a:r>
              <a:rPr lang="en-US" sz="1500" dirty="0">
                <a:solidFill>
                  <a:srgbClr val="000000"/>
                </a:solidFill>
                <a:latin typeface="Calibri" pitchFamily="34" charset="0"/>
                <a:ea typeface="Calibri" pitchFamily="34" charset="-122"/>
                <a:cs typeface="Calibri" pitchFamily="34" charset="-120"/>
              </a:rPr>
              <a:t>elderly, diabetic, going to rehab, doctor ordered ambulance - true, but none of it rules out a car</a:t>
            </a:r>
            <a:endParaRPr lang="en-US" sz="1500" dirty="0"/>
          </a:p>
        </p:txBody>
      </p:sp>
      <p:sp>
        <p:nvSpPr>
          <p:cNvPr id="11" name="Text 9"/>
          <p:cNvSpPr/>
          <p:nvPr/>
        </p:nvSpPr>
        <p:spPr>
          <a:xfrm>
            <a:off x="640080" y="5349240"/>
            <a:ext cx="10972800" cy="274320"/>
          </a:xfrm>
          <a:prstGeom prst="rect">
            <a:avLst/>
          </a:prstGeom>
          <a:noFill/>
          <a:ln/>
        </p:spPr>
        <p:txBody>
          <a:bodyPr wrap="square" lIns="0" tIns="0" rIns="0" bIns="0" rtlCol="0" anchor="ctr"/>
          <a:lstStyle/>
          <a:p>
            <a:pPr indent="0" marL="0">
              <a:buNone/>
            </a:pPr>
            <a:r>
              <a:rPr lang="en-US" sz="1800" b="1" dirty="0">
                <a:solidFill>
                  <a:srgbClr val="000000"/>
                </a:solidFill>
                <a:latin typeface="Calibri" pitchFamily="34" charset="0"/>
                <a:ea typeface="Calibri" pitchFamily="34" charset="-122"/>
                <a:cs typeface="Calibri" pitchFamily="34" charset="-120"/>
              </a:rPr>
              <a:t>Scope</a:t>
            </a:r>
            <a:endParaRPr lang="en-US" sz="1800" dirty="0"/>
          </a:p>
        </p:txBody>
      </p:sp>
      <p:sp>
        <p:nvSpPr>
          <p:cNvPr id="12" name="Text 10"/>
          <p:cNvSpPr/>
          <p:nvPr/>
        </p:nvSpPr>
        <p:spPr>
          <a:xfrm>
            <a:off x="640080" y="5669280"/>
            <a:ext cx="10972800" cy="548640"/>
          </a:xfrm>
          <a:prstGeom prst="rect">
            <a:avLst/>
          </a:prstGeom>
          <a:noFill/>
          <a:ln/>
        </p:spPr>
        <p:txBody>
          <a:bodyPr wrap="square" lIns="0" tIns="0" rIns="0" bIns="0" rtlCol="0" anchor="ctr"/>
          <a:lstStyle/>
          <a:p>
            <a:pPr indent="0" marL="0">
              <a:buNone/>
            </a:pPr>
            <a:r>
              <a:rPr lang="en-US" sz="1500" dirty="0">
                <a:solidFill>
                  <a:srgbClr val="000000"/>
                </a:solidFill>
                <a:latin typeface="Calibri" pitchFamily="34" charset="0"/>
                <a:ea typeface="Calibri" pitchFamily="34" charset="-122"/>
                <a:cs typeface="Calibri" pitchFamily="34" charset="-120"/>
              </a:rPr>
              <a:t>Two health system customers, 52 facilities, one year of activity. 104,634 trip legs reviewed; 90,428 non-emergent ground orders in scope. Rideshare, air, and emergent trips are excluded - they do not carry this documentation requirement.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45720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How we classified each order</a:t>
            </a:r>
            <a:endParaRPr lang="en-US" sz="3000" dirty="0"/>
          </a:p>
        </p:txBody>
      </p:sp>
      <p:sp>
        <p:nvSpPr>
          <p:cNvPr id="3" name="Text 1"/>
          <p:cNvSpPr/>
          <p:nvPr/>
        </p:nvSpPr>
        <p:spPr>
          <a:xfrm>
            <a:off x="640080" y="960120"/>
            <a:ext cx="10972800" cy="320040"/>
          </a:xfrm>
          <a:prstGeom prst="rect">
            <a:avLst/>
          </a:prstGeom>
          <a:noFill/>
          <a:ln/>
        </p:spPr>
        <p:txBody>
          <a:bodyPr wrap="square" lIns="0" tIns="0" rIns="0" bIns="0" rtlCol="0" anchor="ctr"/>
          <a:lstStyle/>
          <a:p>
            <a:pPr indent="0" marL="0">
              <a:buNone/>
            </a:pPr>
            <a:r>
              <a:rPr lang="en-US" sz="1600" dirty="0">
                <a:solidFill>
                  <a:srgbClr val="595959"/>
                </a:solidFill>
                <a:latin typeface="Calibri" pitchFamily="34" charset="0"/>
                <a:ea typeface="Calibri" pitchFamily="34" charset="-122"/>
                <a:cs typeface="Calibri" pitchFamily="34" charset="-120"/>
              </a:rPr>
              <a:t>Term matching against the free-text field, with every term traced back to a CMS source</a:t>
            </a:r>
            <a:endParaRPr lang="en-US" sz="1600" dirty="0"/>
          </a:p>
        </p:txBody>
      </p:sp>
      <p:sp>
        <p:nvSpPr>
          <p:cNvPr id="4" name="Text 2"/>
          <p:cNvSpPr/>
          <p:nvPr/>
        </p:nvSpPr>
        <p:spPr>
          <a:xfrm>
            <a:off x="640080" y="1600200"/>
            <a:ext cx="5394960" cy="274320"/>
          </a:xfrm>
          <a:prstGeom prst="rect">
            <a:avLst/>
          </a:prstGeom>
          <a:noFill/>
          <a:ln/>
        </p:spPr>
        <p:txBody>
          <a:bodyPr wrap="square" lIns="0" tIns="0" rIns="0" bIns="0" rtlCol="0" anchor="ctr"/>
          <a:lstStyle/>
          <a:p>
            <a:pPr indent="0" marL="0">
              <a:buNone/>
            </a:pPr>
            <a:r>
              <a:rPr lang="en-US" sz="1800" b="1" dirty="0">
                <a:solidFill>
                  <a:srgbClr val="000000"/>
                </a:solidFill>
                <a:latin typeface="Calibri" pitchFamily="34" charset="0"/>
                <a:ea typeface="Calibri" pitchFamily="34" charset="-122"/>
                <a:cs typeface="Calibri" pitchFamily="34" charset="-120"/>
              </a:rPr>
              <a:t>Where the concepts came from</a:t>
            </a:r>
            <a:endParaRPr lang="en-US" sz="1800" dirty="0"/>
          </a:p>
        </p:txBody>
      </p:sp>
      <p:sp>
        <p:nvSpPr>
          <p:cNvPr id="5" name="Text 3"/>
          <p:cNvSpPr/>
          <p:nvPr/>
        </p:nvSpPr>
        <p:spPr>
          <a:xfrm>
            <a:off x="640080" y="1920240"/>
            <a:ext cx="5394960" cy="301752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We started from the rules that govern payment, not from the data: Benefit Policy Manual 10.2.1 (the general necessity test), 10.2.3 (the bed-confined three-prong test), 42 CFR 414.605 (level-of-service definitions), and MAC guidance on vague documentation.</a:t>
            </a:r>
            <a:endParaRPr lang="en-US" sz="1300" dirty="0"/>
          </a:p>
          <a:p>
            <a:pPr marL="342900" indent="-3429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Each rule was turned into one or more concepts. 12 are clinical reasons (Group A); 3 are vague filler (Group B).</a:t>
            </a:r>
            <a:endParaRPr lang="en-US" sz="1300" dirty="0"/>
          </a:p>
          <a:p>
            <a:pPr marL="342900" indent="-3429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Where CMS names no explicit concept, we inferred one from the general test and labelled it as inferred - so a reviewer can see which are firm and which are judgement.</a:t>
            </a:r>
            <a:endParaRPr lang="en-US" sz="1300" dirty="0"/>
          </a:p>
          <a:p>
            <a:pPr marL="342900" indent="-342900">
              <a:spcAft>
                <a:spcPts val="800"/>
              </a:spcAft>
              <a:buSzPct val="100000"/>
              <a:buChar char="•"/>
            </a:pPr>
            <a:r>
              <a:rPr lang="en-US" sz="1300" dirty="0">
                <a:solidFill>
                  <a:srgbClr val="000000"/>
                </a:solidFill>
                <a:latin typeface="Calibri" pitchFamily="34" charset="0"/>
                <a:ea typeface="Calibri" pitchFamily="34" charset="-122"/>
                <a:cs typeface="Calibri" pitchFamily="34" charset="-120"/>
              </a:rPr>
              <a:t>Each concept is a term list built from the language actually used in our own orders, not a generic medical vocabulary. Example - mobility_deficit matches hemiparesis, hemiplegia, non-ambulatory, unable to bear weight, fracture, amputation, contracture.</a:t>
            </a:r>
            <a:endParaRPr lang="en-US" sz="1300" dirty="0"/>
          </a:p>
        </p:txBody>
      </p:sp>
      <p:sp>
        <p:nvSpPr>
          <p:cNvPr id="6" name="Text 4"/>
          <p:cNvSpPr/>
          <p:nvPr/>
        </p:nvSpPr>
        <p:spPr>
          <a:xfrm>
            <a:off x="6400800" y="1600200"/>
            <a:ext cx="5120640" cy="274320"/>
          </a:xfrm>
          <a:prstGeom prst="rect">
            <a:avLst/>
          </a:prstGeom>
          <a:noFill/>
          <a:ln/>
        </p:spPr>
        <p:txBody>
          <a:bodyPr wrap="square" lIns="0" tIns="0" rIns="0" bIns="0" rtlCol="0" anchor="ctr"/>
          <a:lstStyle/>
          <a:p>
            <a:pPr indent="0" marL="0">
              <a:buNone/>
            </a:pPr>
            <a:r>
              <a:rPr lang="en-US" sz="1800" b="1" dirty="0">
                <a:solidFill>
                  <a:srgbClr val="000000"/>
                </a:solidFill>
                <a:latin typeface="Calibri" pitchFamily="34" charset="0"/>
                <a:ea typeface="Calibri" pitchFamily="34" charset="-122"/>
                <a:cs typeface="Calibri" pitchFamily="34" charset="-120"/>
              </a:rPr>
              <a:t>How an order lands in a bucket</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0" y="1920240"/>
          <a:ext cx="5120640" cy="914400"/>
        </p:xfrm>
        <a:graphic>
          <a:graphicData uri="http://schemas.openxmlformats.org/drawingml/2006/table">
            <a:tbl>
              <a:tblPr/>
              <a:tblGrid>
                <a:gridCol w="1371600"/>
                <a:gridCol w="1051560"/>
                <a:gridCol w="1051560"/>
                <a:gridCol w="1645920"/>
              </a:tblGrid>
              <a:tr h="301752">
                <a:tc>
                  <a:txBody>
                    <a:bodyPr/>
                    <a:lstStyle/>
                    <a:p>
                      <a:pPr algn="l" indent="0" marL="0">
                        <a:buNone/>
                      </a:pPr>
                      <a:r>
                        <a:rPr lang="en-US" sz="1200" b="1" dirty="0">
                          <a:solidFill>
                            <a:srgbClr val="000000"/>
                          </a:solidFill>
                          <a:latin typeface="Calibri" pitchFamily="34" charset="0"/>
                          <a:ea typeface="Calibri" pitchFamily="34" charset="-122"/>
                          <a:cs typeface="Calibri" pitchFamily="34" charset="-120"/>
                        </a:rPr>
                        <a:t>Free-text field</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Group A</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Group B</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en-US" sz="1200" b="1" dirty="0">
                          <a:solidFill>
                            <a:srgbClr val="000000"/>
                          </a:solidFill>
                          <a:latin typeface="Calibri" pitchFamily="34" charset="0"/>
                          <a:ea typeface="Calibri" pitchFamily="34" charset="-122"/>
                          <a:cs typeface="Calibri" pitchFamily="34" charset="-120"/>
                        </a:rPr>
                        <a:t>Bucket</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01752">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Empty</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no_documentation</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01752">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Has text</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 or more</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clear_reason</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01752">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Has text</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 or more</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 or more</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reason_plus_filler</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01752">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Has text</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1 or more</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filler_only</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01752">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Has text</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unrecognized</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8" name="Text 5"/>
          <p:cNvSpPr/>
          <p:nvPr/>
        </p:nvSpPr>
        <p:spPr>
          <a:xfrm>
            <a:off x="6400800" y="3977640"/>
            <a:ext cx="5120640" cy="274320"/>
          </a:xfrm>
          <a:prstGeom prst="rect">
            <a:avLst/>
          </a:prstGeom>
          <a:noFill/>
          <a:ln/>
        </p:spPr>
        <p:txBody>
          <a:bodyPr wrap="square" lIns="0" tIns="0" rIns="0" bIns="0" rtlCol="0" anchor="ctr"/>
          <a:lstStyle/>
          <a:p>
            <a:pPr indent="0" marL="0">
              <a:buNone/>
            </a:pPr>
            <a:r>
              <a:rPr lang="en-US" sz="1800" b="1" dirty="0">
                <a:solidFill>
                  <a:srgbClr val="000000"/>
                </a:solidFill>
                <a:latin typeface="Calibri" pitchFamily="34" charset="0"/>
                <a:ea typeface="Calibri" pitchFamily="34" charset="-122"/>
                <a:cs typeface="Calibri" pitchFamily="34" charset="-120"/>
              </a:rPr>
              <a:t>What "unrecognized" technically means</a:t>
            </a:r>
            <a:endParaRPr lang="en-US" sz="1800" dirty="0"/>
          </a:p>
        </p:txBody>
      </p:sp>
      <p:sp>
        <p:nvSpPr>
          <p:cNvPr id="9" name="Text 6"/>
          <p:cNvSpPr/>
          <p:nvPr/>
        </p:nvSpPr>
        <p:spPr>
          <a:xfrm>
            <a:off x="6400800" y="4297680"/>
            <a:ext cx="5120640" cy="1188720"/>
          </a:xfrm>
          <a:prstGeom prst="rect">
            <a:avLst/>
          </a:prstGeom>
          <a:noFill/>
          <a:ln/>
        </p:spPr>
        <p:txBody>
          <a:bodyPr wrap="square" lIns="0" tIns="0" rIns="0" bIns="0" rtlCol="0" anchor="ctr"/>
          <a:lstStyle/>
          <a:p>
            <a:pPr indent="0" marL="0">
              <a:buNone/>
            </a:pPr>
            <a:r>
              <a:rPr lang="en-US" sz="1300" dirty="0">
                <a:solidFill>
                  <a:srgbClr val="000000"/>
                </a:solidFill>
                <a:latin typeface="Calibri" pitchFamily="34" charset="0"/>
                <a:ea typeface="Calibri" pitchFamily="34" charset="-122"/>
                <a:cs typeface="Calibri" pitchFamily="34" charset="-120"/>
              </a:rPr>
              <a:t>The field was not blank - the nurse typed something. No Group A or Group B term matched it. It is a gap in our term list, not proof that the order is undocumented. Common causes are abbreviations, misspellings, local shorthand, and phrasing outside the dictionary. These orders may be fine, or may be at risk; today we cannot tell.</a:t>
            </a:r>
            <a:endParaRPr lang="en-US" sz="1300" dirty="0"/>
          </a:p>
        </p:txBody>
      </p:sp>
      <p:sp>
        <p:nvSpPr>
          <p:cNvPr id="10" name="Text 7"/>
          <p:cNvSpPr/>
          <p:nvPr/>
        </p:nvSpPr>
        <p:spPr>
          <a:xfrm>
            <a:off x="640080" y="5623560"/>
            <a:ext cx="10881360" cy="640080"/>
          </a:xfrm>
          <a:prstGeom prst="rect">
            <a:avLst/>
          </a:prstGeom>
          <a:noFill/>
          <a:ln/>
        </p:spPr>
        <p:txBody>
          <a:bodyPr wrap="square" lIns="0" tIns="0" rIns="0" bIns="0" rtlCol="0" anchor="ctr"/>
          <a:lstStyle/>
          <a:p>
            <a:pPr indent="0" marL="0">
              <a:buNone/>
            </a:pPr>
            <a:r>
              <a:rPr lang="en-US" sz="1300" dirty="0">
                <a:solidFill>
                  <a:srgbClr val="595959"/>
                </a:solidFill>
                <a:latin typeface="Calibri" pitchFamily="34" charset="0"/>
                <a:ea typeface="Calibri" pitchFamily="34" charset="-122"/>
                <a:cs typeface="Calibri" pitchFamily="34" charset="-120"/>
              </a:rPr>
              <a:t>Two limits to state up front: matching is lexical, not semantic - it tests whether qualifying language is present, not whether the clinical claim is true, which would require the medical record. And an order can carry more than one concept, so concept counts (116,918 tags) exceed order counts (90,428).</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457200"/>
          </a:xfrm>
          <a:prstGeom prst="rect">
            <a:avLst/>
          </a:prstGeom>
          <a:noFill/>
          <a:ln/>
        </p:spPr>
        <p:txBody>
          <a:bodyPr wrap="square" lIns="0" tIns="0" rIns="0" bIns="0" rtlCol="0" anchor="ctr"/>
          <a:lstStyle/>
          <a:p>
            <a:pPr indent="0" marL="0">
              <a:buNone/>
            </a:pPr>
            <a:r>
              <a:rPr lang="en-US" sz="3000" b="1" dirty="0">
                <a:solidFill>
                  <a:srgbClr val="000000"/>
                </a:solidFill>
                <a:latin typeface="Calibri" pitchFamily="34" charset="0"/>
                <a:ea typeface="Calibri" pitchFamily="34" charset="-122"/>
                <a:cs typeface="Calibri" pitchFamily="34" charset="-120"/>
              </a:rPr>
              <a:t>The concept dictionary and its CMS basis</a:t>
            </a:r>
            <a:endParaRPr lang="en-US" sz="3000" dirty="0"/>
          </a:p>
        </p:txBody>
      </p:sp>
      <p:sp>
        <p:nvSpPr>
          <p:cNvPr id="3" name="Text 1"/>
          <p:cNvSpPr/>
          <p:nvPr/>
        </p:nvSpPr>
        <p:spPr>
          <a:xfrm>
            <a:off x="640080" y="914400"/>
            <a:ext cx="10972800" cy="320040"/>
          </a:xfrm>
          <a:prstGeom prst="rect">
            <a:avLst/>
          </a:prstGeom>
          <a:noFill/>
          <a:ln/>
        </p:spPr>
        <p:txBody>
          <a:bodyPr wrap="square" lIns="0" tIns="0" rIns="0" bIns="0" rtlCol="0" anchor="ctr"/>
          <a:lstStyle/>
          <a:p>
            <a:pPr indent="0" marL="0">
              <a:buNone/>
            </a:pPr>
            <a:r>
              <a:rPr lang="en-US" sz="1500" dirty="0">
                <a:solidFill>
                  <a:srgbClr val="595959"/>
                </a:solidFill>
                <a:latin typeface="Calibri" pitchFamily="34" charset="0"/>
                <a:ea typeface="Calibri" pitchFamily="34" charset="-122"/>
                <a:cs typeface="Calibri" pitchFamily="34" charset="-120"/>
              </a:rPr>
              <a:t>15 concepts. Group A is a clinical reason; Group B is vague filler. Percentages are of the 90,428 orders in scope.</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881360" cy="914400"/>
        </p:xfrm>
        <a:graphic>
          <a:graphicData uri="http://schemas.openxmlformats.org/drawingml/2006/table">
            <a:tbl>
              <a:tblPr/>
              <a:tblGrid>
                <a:gridCol w="1920240"/>
                <a:gridCol w="1143000"/>
                <a:gridCol w="5349240"/>
                <a:gridCol w="1234440"/>
                <a:gridCol w="1234440"/>
              </a:tblGrid>
              <a:tr h="265176">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Concept</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Group</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CMS basis</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b="1" dirty="0">
                          <a:solidFill>
                            <a:srgbClr val="000000"/>
                          </a:solidFill>
                          <a:latin typeface="Calibri" pitchFamily="34" charset="0"/>
                          <a:ea typeface="Calibri" pitchFamily="34" charset="-122"/>
                          <a:cs typeface="Calibri" pitchFamily="34" charset="-120"/>
                        </a:rPr>
                        <a:t>Orders</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b="1" dirty="0">
                          <a:solidFill>
                            <a:srgbClr val="000000"/>
                          </a:solidFill>
                          <a:latin typeface="Calibri" pitchFamily="34" charset="0"/>
                          <a:ea typeface="Calibri" pitchFamily="34" charset="-122"/>
                          <a:cs typeface="Calibri" pitchFamily="34" charset="-120"/>
                        </a:rPr>
                        <a:t>Pct</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mobility_deficit</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Manual 10.2.3, prongs 1-2 (cannot get up or ambulate)</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22,307</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24.7</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cannot_sit</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Manual 10.2.3, prong 3 (cannot sit in a chair)</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18,927</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bed_confined</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Manual 10.2.3 (all three prongs required)</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16,227</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17.9</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oxygen</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 - inferred</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Manual 10.2.1 general test; chronic O2 alone does not qualify</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15,578</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17.2</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cardiac</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42 CFR 414.605 (ALS assessment / ALS2 procedures)</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10,668</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11.8</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weakness_only</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MAC guidance - vague and general information is of little value</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8,565</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9.5</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behavioral</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 - inferred</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Manual 10.2.1; weakest - CMS wants a physical limitation</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8,505</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9.4</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isolation</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 - inferred</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Manual 10.2.1; infection control, not a patient contraindication</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6,456</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fall_risk_only</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MAC guidance - a risk is not a contraindication</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4,747</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wound_ostomy</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 - inferred</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Manual 10.2.1; works via positioning, not on its own</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1,931</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ventilator</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42 CFR 414.605 (ALS2 airway; SCT respiratory care)</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1,267</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suctioning</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42 CFR 414.605 (SCT - beyond EMT-Paramedic scope)</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iv_medication</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42 CFR 414.605 (ALS2 - 3+ IV meds; central line)</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641</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0.7</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bariatric</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A - inferred</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Manual 10.2.1; handling requirement, not a contraindication</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351</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0.4</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nonclinical</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000000"/>
                          </a:solidFill>
                          <a:latin typeface="Calibri" pitchFamily="34" charset="0"/>
                          <a:ea typeface="Calibri" pitchFamily="34" charset="-122"/>
                          <a:cs typeface="Calibri" pitchFamily="34" charset="-120"/>
                        </a:rPr>
                        <a:t>Manual 10.2.1 - a physician order alone does not prove necessity</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35</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100" dirty="0">
                          <a:solidFill>
                            <a:srgbClr val="000000"/>
                          </a:solidFill>
                          <a:latin typeface="Calibri" pitchFamily="34" charset="0"/>
                          <a:ea typeface="Calibri" pitchFamily="34" charset="-122"/>
                          <a:cs typeface="Calibri" pitchFamily="34" charset="-120"/>
                        </a:rPr>
                        <a:t>0.0</a:t>
                      </a:r>
                      <a:endParaRPr lang="en-US" sz="11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640080" y="5943600"/>
            <a:ext cx="10881360" cy="457200"/>
          </a:xfrm>
          <a:prstGeom prst="rect">
            <a:avLst/>
          </a:prstGeom>
          <a:noFill/>
          <a:ln/>
        </p:spPr>
        <p:txBody>
          <a:bodyPr wrap="square" lIns="0" tIns="0" rIns="0" bIns="0" rtlCol="0" anchor="ctr"/>
          <a:lstStyle/>
          <a:p>
            <a:pPr indent="0" marL="0">
              <a:buNone/>
            </a:pPr>
            <a:r>
              <a:rPr lang="en-US" sz="1200" dirty="0">
                <a:solidFill>
                  <a:srgbClr val="595959"/>
                </a:solidFill>
                <a:latin typeface="Calibri" pitchFamily="34" charset="0"/>
                <a:ea typeface="Calibri" pitchFamily="34" charset="-122"/>
                <a:cs typeface="Calibri" pitchFamily="34" charset="-120"/>
              </a:rPr>
              <a:t>Five concepts are marked inferred - they are our reading of the general necessity test rather than a named CMS rule, and are the first candidates for challenge. Behavioral is the weakest of these and may belong in Group B.</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457200"/>
          </a:xfrm>
          <a:prstGeom prst="rect">
            <a:avLst/>
          </a:prstGeom>
          <a:noFill/>
          <a:ln/>
        </p:spPr>
        <p:txBody>
          <a:bodyPr wrap="square" lIns="0" tIns="0" rIns="0" bIns="0" rtlCol="0" anchor="ctr"/>
          <a:lstStyle/>
          <a:p>
            <a:pPr indent="0" marL="0">
              <a:buNone/>
            </a:pPr>
            <a:r>
              <a:rPr lang="en-US" sz="3200" b="1" dirty="0">
                <a:solidFill>
                  <a:srgbClr val="000000"/>
                </a:solidFill>
                <a:latin typeface="Calibri" pitchFamily="34" charset="0"/>
                <a:ea typeface="Calibri" pitchFamily="34" charset="-122"/>
                <a:cs typeface="Calibri" pitchFamily="34" charset="-120"/>
              </a:rPr>
              <a:t>Results</a:t>
            </a:r>
            <a:endParaRPr lang="en-US" sz="3200" dirty="0"/>
          </a:p>
        </p:txBody>
      </p:sp>
      <p:sp>
        <p:nvSpPr>
          <p:cNvPr id="3" name="Text 1"/>
          <p:cNvSpPr/>
          <p:nvPr/>
        </p:nvSpPr>
        <p:spPr>
          <a:xfrm>
            <a:off x="640080" y="960120"/>
            <a:ext cx="10972800" cy="320040"/>
          </a:xfrm>
          <a:prstGeom prst="rect">
            <a:avLst/>
          </a:prstGeom>
          <a:noFill/>
          <a:ln/>
        </p:spPr>
        <p:txBody>
          <a:bodyPr wrap="square" lIns="0" tIns="0" rIns="0" bIns="0" rtlCol="0" anchor="ctr"/>
          <a:lstStyle/>
          <a:p>
            <a:pPr indent="0" marL="0">
              <a:buNone/>
            </a:pPr>
            <a:r>
              <a:rPr lang="en-US" sz="1600" dirty="0">
                <a:solidFill>
                  <a:srgbClr val="595959"/>
                </a:solidFill>
                <a:latin typeface="Calibri" pitchFamily="34" charset="0"/>
                <a:ea typeface="Calibri" pitchFamily="34" charset="-122"/>
                <a:cs typeface="Calibri" pitchFamily="34" charset="-120"/>
              </a:rPr>
              <a:t>90,428 non-emergent ground orders in scope, of 104,634 trip legs reviewed</a:t>
            </a:r>
            <a:endParaRPr lang="en-US" sz="1600" dirty="0"/>
          </a:p>
        </p:txBody>
      </p:sp>
      <p:sp>
        <p:nvSpPr>
          <p:cNvPr id="4" name="Text 2"/>
          <p:cNvSpPr/>
          <p:nvPr/>
        </p:nvSpPr>
        <p:spPr>
          <a:xfrm>
            <a:off x="640080" y="1554480"/>
            <a:ext cx="5303520" cy="274320"/>
          </a:xfrm>
          <a:prstGeom prst="rect">
            <a:avLst/>
          </a:prstGeom>
          <a:noFill/>
          <a:ln/>
        </p:spPr>
        <p:txBody>
          <a:bodyPr wrap="square" lIns="0" tIns="0" rIns="0" bIns="0" rtlCol="0" anchor="ctr"/>
          <a:lstStyle/>
          <a:p>
            <a:pPr indent="0" marL="0">
              <a:buNone/>
            </a:pPr>
            <a:r>
              <a:rPr lang="en-US" sz="1600" b="1" dirty="0">
                <a:solidFill>
                  <a:srgbClr val="000000"/>
                </a:solidFill>
                <a:latin typeface="Calibri" pitchFamily="34" charset="0"/>
                <a:ea typeface="Calibri" pitchFamily="34" charset="-122"/>
                <a:cs typeface="Calibri" pitchFamily="34" charset="-120"/>
              </a:rPr>
              <a:t>Documentation buckets</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5303520" cy="914400"/>
        </p:xfrm>
        <a:graphic>
          <a:graphicData uri="http://schemas.openxmlformats.org/drawingml/2006/table">
            <a:tbl>
              <a:tblPr/>
              <a:tblGrid>
                <a:gridCol w="1874520"/>
                <a:gridCol w="1325880"/>
                <a:gridCol w="1051560"/>
                <a:gridCol w="1051560"/>
              </a:tblGrid>
              <a:tr h="265176">
                <a:tc>
                  <a:txBody>
                    <a:bodyPr/>
                    <a:lstStyle/>
                    <a:p>
                      <a:pPr algn="l" indent="0" marL="0">
                        <a:buNone/>
                      </a:pPr>
                      <a:r>
                        <a:rPr lang="en-US" sz="1200" b="1" dirty="0">
                          <a:solidFill>
                            <a:srgbClr val="000000"/>
                          </a:solidFill>
                          <a:latin typeface="Calibri" pitchFamily="34" charset="0"/>
                          <a:ea typeface="Calibri" pitchFamily="34" charset="-122"/>
                          <a:cs typeface="Calibri" pitchFamily="34" charset="-120"/>
                        </a:rPr>
                        <a:t>Bucket</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en-US" sz="1200" b="1" dirty="0">
                          <a:solidFill>
                            <a:srgbClr val="000000"/>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b="1" dirty="0">
                          <a:solidFill>
                            <a:srgbClr val="000000"/>
                          </a:solidFill>
                          <a:latin typeface="Calibri" pitchFamily="34" charset="0"/>
                          <a:ea typeface="Calibri" pitchFamily="34" charset="-122"/>
                          <a:cs typeface="Calibri" pitchFamily="34" charset="-120"/>
                        </a:rPr>
                        <a:t>Orders</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b="1" dirty="0">
                          <a:solidFill>
                            <a:srgbClr val="000000"/>
                          </a:solidFill>
                          <a:latin typeface="Calibri" pitchFamily="34" charset="0"/>
                          <a:ea typeface="Calibri" pitchFamily="34" charset="-122"/>
                          <a:cs typeface="Calibri" pitchFamily="34" charset="-120"/>
                        </a:rPr>
                        <a:t>Pct</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clear_reason</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Supported</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dirty="0">
                          <a:solidFill>
                            <a:srgbClr val="000000"/>
                          </a:solidFill>
                          <a:latin typeface="Calibri" pitchFamily="34" charset="0"/>
                          <a:ea typeface="Calibri" pitchFamily="34" charset="-122"/>
                          <a:cs typeface="Calibri" pitchFamily="34" charset="-120"/>
                        </a:rPr>
                        <a:t>42,770</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dirty="0">
                          <a:solidFill>
                            <a:srgbClr val="000000"/>
                          </a:solidFill>
                          <a:latin typeface="Calibri" pitchFamily="34" charset="0"/>
                          <a:ea typeface="Calibri" pitchFamily="34" charset="-122"/>
                          <a:cs typeface="Calibri" pitchFamily="34" charset="-120"/>
                        </a:rPr>
                        <a:t>47.3</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unrecognized</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dirty="0">
                          <a:solidFill>
                            <a:srgbClr val="000000"/>
                          </a:solidFill>
                          <a:latin typeface="Calibri" pitchFamily="34" charset="0"/>
                          <a:ea typeface="Calibri" pitchFamily="34" charset="-122"/>
                          <a:cs typeface="Calibri" pitchFamily="34" charset="-120"/>
                        </a:rPr>
                        <a:t>22,030</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dirty="0">
                          <a:solidFill>
                            <a:srgbClr val="000000"/>
                          </a:solidFill>
                          <a:latin typeface="Calibri" pitchFamily="34" charset="0"/>
                          <a:ea typeface="Calibri" pitchFamily="34" charset="-122"/>
                          <a:cs typeface="Calibri" pitchFamily="34" charset="-120"/>
                        </a:rPr>
                        <a:t>24.4</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no_documentation</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At risk</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dirty="0">
                          <a:solidFill>
                            <a:srgbClr val="000000"/>
                          </a:solidFill>
                          <a:latin typeface="Calibri" pitchFamily="34" charset="0"/>
                          <a:ea typeface="Calibri" pitchFamily="34" charset="-122"/>
                          <a:cs typeface="Calibri" pitchFamily="34" charset="-120"/>
                        </a:rPr>
                        <a:t>13,513</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dirty="0">
                          <a:solidFill>
                            <a:srgbClr val="000000"/>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reason_plus_filler</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Supported</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dirty="0">
                          <a:solidFill>
                            <a:srgbClr val="000000"/>
                          </a:solidFill>
                          <a:latin typeface="Calibri" pitchFamily="34" charset="0"/>
                          <a:ea typeface="Calibri" pitchFamily="34" charset="-122"/>
                          <a:cs typeface="Calibri" pitchFamily="34" charset="-120"/>
                        </a:rPr>
                        <a:t>8,717</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dirty="0">
                          <a:solidFill>
                            <a:srgbClr val="000000"/>
                          </a:solidFill>
                          <a:latin typeface="Calibri" pitchFamily="34" charset="0"/>
                          <a:ea typeface="Calibri" pitchFamily="34" charset="-122"/>
                          <a:cs typeface="Calibri" pitchFamily="34" charset="-120"/>
                        </a:rPr>
                        <a:t>9.6</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filler_only</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000000"/>
                          </a:solidFill>
                          <a:latin typeface="Calibri" pitchFamily="34" charset="0"/>
                          <a:ea typeface="Calibri" pitchFamily="34" charset="-122"/>
                          <a:cs typeface="Calibri" pitchFamily="34" charset="-120"/>
                        </a:rPr>
                        <a:t>At risk</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dirty="0">
                          <a:solidFill>
                            <a:srgbClr val="000000"/>
                          </a:solidFill>
                          <a:latin typeface="Calibri" pitchFamily="34" charset="0"/>
                          <a:ea typeface="Calibri" pitchFamily="34" charset="-122"/>
                          <a:cs typeface="Calibri" pitchFamily="34" charset="-120"/>
                        </a:rPr>
                        <a:t>3,398</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dirty="0">
                          <a:solidFill>
                            <a:srgbClr val="000000"/>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65176">
                <a:tc>
                  <a:txBody>
                    <a:bodyPr/>
                    <a:lstStyle/>
                    <a:p>
                      <a:pPr indent="0" marL="0">
                        <a:buNone/>
                      </a:pPr>
                      <a:r>
                        <a:rPr lang="en-US" sz="1200" b="1" dirty="0">
                          <a:solidFill>
                            <a:srgbClr val="000000"/>
                          </a:solidFill>
                          <a:latin typeface="Calibri" pitchFamily="34" charset="0"/>
                          <a:ea typeface="Calibri" pitchFamily="34" charset="-122"/>
                          <a:cs typeface="Calibri" pitchFamily="34" charset="-120"/>
                        </a:rPr>
                        <a:t>At risk total</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b="1" dirty="0">
                          <a:solidFill>
                            <a:srgbClr val="000000"/>
                          </a:solidFill>
                          <a:latin typeface="Calibri" pitchFamily="34" charset="0"/>
                          <a:ea typeface="Calibri" pitchFamily="34" charset="-122"/>
                          <a:cs typeface="Calibri" pitchFamily="34" charset="-120"/>
                        </a:rPr>
                        <a:t>16,911</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200" b="1" dirty="0">
                          <a:solidFill>
                            <a:srgbClr val="000000"/>
                          </a:solidFill>
                          <a:latin typeface="Calibri" pitchFamily="34" charset="0"/>
                          <a:ea typeface="Calibri" pitchFamily="34" charset="-122"/>
                          <a:cs typeface="Calibri" pitchFamily="34" charset="-120"/>
                        </a:rPr>
                        <a:t>18.7</a:t>
                      </a:r>
                      <a:endParaRPr lang="en-US" sz="120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6" name="Text 3"/>
          <p:cNvSpPr/>
          <p:nvPr/>
        </p:nvSpPr>
        <p:spPr>
          <a:xfrm>
            <a:off x="640080" y="3977640"/>
            <a:ext cx="5303520" cy="274320"/>
          </a:xfrm>
          <a:prstGeom prst="rect">
            <a:avLst/>
          </a:prstGeom>
          <a:noFill/>
          <a:ln/>
        </p:spPr>
        <p:txBody>
          <a:bodyPr wrap="square" lIns="0" tIns="0" rIns="0" bIns="0" rtlCol="0" anchor="ctr"/>
          <a:lstStyle/>
          <a:p>
            <a:pPr indent="0" marL="0">
              <a:buNone/>
            </a:pPr>
            <a:r>
              <a:rPr lang="en-US" sz="1600" b="1" dirty="0">
                <a:solidFill>
                  <a:srgbClr val="000000"/>
                </a:solidFill>
                <a:latin typeface="Calibri" pitchFamily="34" charset="0"/>
                <a:ea typeface="Calibri" pitchFamily="34" charset="-122"/>
                <a:cs typeface="Calibri" pitchFamily="34" charset="-120"/>
              </a:rPr>
              <a:t>Most frequent concepts</a:t>
            </a:r>
            <a:endParaRPr lang="en-US" sz="16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0080" y="4279392"/>
          <a:ext cx="5303520" cy="914400"/>
        </p:xfrm>
        <a:graphic>
          <a:graphicData uri="http://schemas.openxmlformats.org/drawingml/2006/table">
            <a:tbl>
              <a:tblPr/>
              <a:tblGrid>
                <a:gridCol w="1874520"/>
                <a:gridCol w="1325880"/>
                <a:gridCol w="1051560"/>
                <a:gridCol w="1051560"/>
              </a:tblGrid>
              <a:tr h="219456">
                <a:tc>
                  <a:txBody>
                    <a:bodyPr/>
                    <a:lstStyle/>
                    <a:p>
                      <a:pPr algn="l" indent="0" marL="0">
                        <a:buNone/>
                      </a:pPr>
                      <a:r>
                        <a:rPr lang="en-US" sz="1050" b="1" dirty="0">
                          <a:solidFill>
                            <a:srgbClr val="000000"/>
                          </a:solidFill>
                          <a:latin typeface="Calibri" pitchFamily="34" charset="0"/>
                          <a:ea typeface="Calibri" pitchFamily="34" charset="-122"/>
                          <a:cs typeface="Calibri" pitchFamily="34" charset="-120"/>
                        </a:rPr>
                        <a:t>Concept</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Calibri" pitchFamily="34" charset="0"/>
                          <a:ea typeface="Calibri" pitchFamily="34" charset="-122"/>
                          <a:cs typeface="Calibri" pitchFamily="34" charset="-120"/>
                        </a:rPr>
                        <a:t>Group</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b="1" dirty="0">
                          <a:solidFill>
                            <a:srgbClr val="000000"/>
                          </a:solidFill>
                          <a:latin typeface="Calibri" pitchFamily="34" charset="0"/>
                          <a:ea typeface="Calibri" pitchFamily="34" charset="-122"/>
                          <a:cs typeface="Calibri" pitchFamily="34" charset="-120"/>
                        </a:rPr>
                        <a:t>Tags</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b="1" dirty="0">
                          <a:solidFill>
                            <a:srgbClr val="000000"/>
                          </a:solidFill>
                          <a:latin typeface="Calibri" pitchFamily="34" charset="0"/>
                          <a:ea typeface="Calibri" pitchFamily="34" charset="-122"/>
                          <a:cs typeface="Calibri" pitchFamily="34" charset="-120"/>
                        </a:rPr>
                        <a:t>Pct</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1945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mobility_deficit</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22,307</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1945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cannot_sit</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18,927</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20.9</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1945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bed_confined</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16,227</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17.9</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1945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oxygen</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15,578</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17.2</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19456">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cardiac</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10,668</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11.8</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8" name="Text 4"/>
          <p:cNvSpPr/>
          <p:nvPr/>
        </p:nvSpPr>
        <p:spPr>
          <a:xfrm>
            <a:off x="6400800" y="1554480"/>
            <a:ext cx="5120640" cy="274320"/>
          </a:xfrm>
          <a:prstGeom prst="rect">
            <a:avLst/>
          </a:prstGeom>
          <a:noFill/>
          <a:ln/>
        </p:spPr>
        <p:txBody>
          <a:bodyPr wrap="square" lIns="0" tIns="0" rIns="0" bIns="0" rtlCol="0" anchor="ctr"/>
          <a:lstStyle/>
          <a:p>
            <a:pPr indent="0" marL="0">
              <a:buNone/>
            </a:pPr>
            <a:r>
              <a:rPr lang="en-US" sz="1600" b="1" dirty="0">
                <a:solidFill>
                  <a:srgbClr val="000000"/>
                </a:solidFill>
                <a:latin typeface="Calibri" pitchFamily="34" charset="0"/>
                <a:ea typeface="Calibri" pitchFamily="34" charset="-122"/>
                <a:cs typeface="Calibri" pitchFamily="34" charset="-120"/>
              </a:rPr>
              <a:t>At-risk orders by customer and level of service</a:t>
            </a:r>
            <a:endParaRPr lang="en-US" sz="1600" dirty="0"/>
          </a:p>
        </p:txBody>
      </p:sp>
      <p:graphicFrame>
        <p:nvGraphicFramePr>
          <p:cNvPr id="13"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120640" cy="914400"/>
        </p:xfrm>
        <a:graphic>
          <a:graphicData uri="http://schemas.openxmlformats.org/drawingml/2006/table">
            <a:tbl>
              <a:tblPr/>
              <a:tblGrid>
                <a:gridCol w="2240280"/>
                <a:gridCol w="960120"/>
                <a:gridCol w="960120"/>
                <a:gridCol w="960120"/>
              </a:tblGrid>
              <a:tr h="246888">
                <a:tc>
                  <a:txBody>
                    <a:bodyPr/>
                    <a:lstStyle/>
                    <a:p>
                      <a:pPr algn="l" indent="0" marL="0">
                        <a:buNone/>
                      </a:pPr>
                      <a:r>
                        <a:rPr lang="en-US" sz="1050" b="1" dirty="0">
                          <a:solidFill>
                            <a:srgbClr val="000000"/>
                          </a:solidFill>
                          <a:latin typeface="Calibri" pitchFamily="34" charset="0"/>
                          <a:ea typeface="Calibri" pitchFamily="34" charset="-122"/>
                          <a:cs typeface="Calibri" pitchFamily="34" charset="-120"/>
                        </a:rPr>
                        <a:t>Group</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b="1" dirty="0">
                          <a:solidFill>
                            <a:srgbClr val="000000"/>
                          </a:solidFill>
                          <a:latin typeface="Calibri" pitchFamily="34" charset="0"/>
                          <a:ea typeface="Calibri" pitchFamily="34" charset="-122"/>
                          <a:cs typeface="Calibri" pitchFamily="34" charset="-120"/>
                        </a:rPr>
                        <a:t>Orders</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b="1" dirty="0">
                          <a:solidFill>
                            <a:srgbClr val="000000"/>
                          </a:solidFill>
                          <a:latin typeface="Calibri" pitchFamily="34" charset="0"/>
                          <a:ea typeface="Calibri" pitchFamily="34" charset="-122"/>
                          <a:cs typeface="Calibri" pitchFamily="34" charset="-120"/>
                        </a:rPr>
                        <a:t>At risk</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b="1" dirty="0">
                          <a:solidFill>
                            <a:srgbClr val="000000"/>
                          </a:solidFill>
                          <a:latin typeface="Calibri" pitchFamily="34" charset="0"/>
                          <a:ea typeface="Calibri" pitchFamily="34" charset="-122"/>
                          <a:cs typeface="Calibri" pitchFamily="34" charset="-120"/>
                        </a:rPr>
                        <a:t>Pct</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b="1" dirty="0">
                          <a:solidFill>
                            <a:srgbClr val="000000"/>
                          </a:solidFill>
                          <a:latin typeface="Calibri" pitchFamily="34" charset="0"/>
                          <a:ea typeface="Calibri" pitchFamily="34" charset="-122"/>
                          <a:cs typeface="Calibri" pitchFamily="34" charset="-120"/>
                        </a:rPr>
                        <a:t>By customer</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MUSC Ground</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28,648</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15,166</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52.9</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Texas Health Resources</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61,659</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1,726</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2.8</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MUSC</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121</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19</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15.7</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b="1" dirty="0">
                          <a:solidFill>
                            <a:srgbClr val="000000"/>
                          </a:solidFill>
                          <a:latin typeface="Calibri" pitchFamily="34" charset="0"/>
                          <a:ea typeface="Calibri" pitchFamily="34" charset="-122"/>
                          <a:cs typeface="Calibri" pitchFamily="34" charset="-120"/>
                        </a:rPr>
                        <a:t>By level of service</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Basic life support</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40,276</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9,592</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23.8</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Advanced life support</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16,200</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4,356</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26.9</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Reclining transport chair</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15,260</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Wheelchair</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9,231</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Behavioral health transport</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3,795</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Basic life support - concierge</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1,866</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337</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18.1</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Critical care transport</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1,541</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306</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19.9</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Team</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1,431</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1,429</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99.9</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Not labelled</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771</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753</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97.7</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246888">
                <a:tc>
                  <a:txBody>
                    <a:bodyPr/>
                    <a:lstStyle/>
                    <a:p>
                      <a:pPr indent="0" marL="0">
                        <a:buNone/>
                      </a:pPr>
                      <a:r>
                        <a:rPr lang="en-US" sz="1050" dirty="0">
                          <a:solidFill>
                            <a:srgbClr val="000000"/>
                          </a:solidFill>
                          <a:latin typeface="Calibri" pitchFamily="34" charset="0"/>
                          <a:ea typeface="Calibri" pitchFamily="34" charset="-122"/>
                          <a:cs typeface="Calibri" pitchFamily="34" charset="-120"/>
                        </a:rPr>
                        <a:t>Ambulatory</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17</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r" indent="0" marL="0">
                        <a:buNone/>
                      </a:pPr>
                      <a:r>
                        <a:rPr lang="en-US" sz="1050" dirty="0">
                          <a:solidFill>
                            <a:srgbClr val="000000"/>
                          </a:solidFill>
                          <a:latin typeface="Calibri" pitchFamily="34" charset="0"/>
                          <a:ea typeface="Calibri" pitchFamily="34" charset="-122"/>
                          <a:cs typeface="Calibri" pitchFamily="34" charset="-120"/>
                        </a:rPr>
                        <a:t>30.4</a:t>
                      </a:r>
                      <a:endParaRPr lang="en-US" sz="1050" dirty="0">
                        <a:latin typeface="Calibri" charset="0"/>
                        <a:ea typeface="Calibri" charset="0"/>
                        <a:cs typeface="Calibri" charset="0"/>
                      </a:endParaRPr>
                    </a:p>
                  </a:txBody>
                  <a:tcPr marL="91440" marR="91440" marT="45720" marB="4572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0" name="Text 5"/>
          <p:cNvSpPr/>
          <p:nvPr/>
        </p:nvSpPr>
        <p:spPr>
          <a:xfrm>
            <a:off x="640080" y="5989320"/>
            <a:ext cx="10881360" cy="457200"/>
          </a:xfrm>
          <a:prstGeom prst="rect">
            <a:avLst/>
          </a:prstGeom>
          <a:noFill/>
          <a:ln/>
        </p:spPr>
        <p:txBody>
          <a:bodyPr wrap="square" lIns="0" tIns="0" rIns="0" bIns="0" rtlCol="0" anchor="ctr"/>
          <a:lstStyle/>
          <a:p>
            <a:pPr indent="0" marL="0">
              <a:buNone/>
            </a:pPr>
            <a:r>
              <a:rPr lang="en-US" sz="1200" dirty="0">
                <a:solidFill>
                  <a:srgbClr val="595959"/>
                </a:solidFill>
                <a:latin typeface="Calibri" pitchFamily="34" charset="0"/>
                <a:ea typeface="Calibri" pitchFamily="34" charset="-122"/>
                <a:cs typeface="Calibri" pitchFamily="34" charset="-120"/>
              </a:rPr>
              <a:t>Team and Not labelled sit near 100% at risk, and Reclining transport chair and Behavioral health transport at 0%. Both patterns look like intake-path differences rather than documentation behaviour, and are being verified.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Medical Necessity EDA</dc:title>
  <dc:subject>PptxGenJS Presentation</dc:subject>
  <dc:creator>PptxGenJS</dc:creator>
  <cp:lastModifiedBy>PptxGenJS</cp:lastModifiedBy>
  <cp:revision>1</cp:revision>
  <dcterms:created xsi:type="dcterms:W3CDTF">2026-07-23T19:21:12Z</dcterms:created>
  <dcterms:modified xsi:type="dcterms:W3CDTF">2026-07-23T19:21:12Z</dcterms:modified>
</cp:coreProperties>
</file>