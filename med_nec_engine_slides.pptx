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to land:
1) 16,911 orders (18.7%) go out today with nothing typed or vague filler only. Those are the ones that lose a payer review.
2) Another 22,030 (24.4%) have text we cannot read with keyword rules. That gap is the main argument for a language model over a rules-only approach.
3) Exposure is not evenly spread. MUSC Ground is at 52.9%, Texas Health at 2.8%, on the same platform. That is a form and workflow difference, not a clinical one - which means it is fixable.
If asked: Behavioral Health Transport and Reclining Transport Chair show 0% at risk because they come through a different intake path that pre-populates the reason field. Data question, not a clean bill of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One-liner: we are moving the medical necessity check from after the claim to before the submit.
Step 2 is the part worth pausing on - retrieval means the engine pulls the CMS rule that governs this market before it decides, which is why Texas and Tennessee can get different answers on the same procedure without maintaining two models.
Step 3 is deliberately soft in v1: a nudge and a flag, not a hard block. Block-submit can be enabled per customer once the false-positive rate is trusted.
Step 4 is what makes this defensible to revenue cycle - the loop closes against actual denials.
Say the framing line out loud. It is the guardrail that keeps this out of clinical decision support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457200"/>
          </a:xfrm>
          <a:prstGeom prst="rect">
            <a:avLst/>
          </a:prstGeom>
          <a:noFill/>
          <a:ln/>
        </p:spPr>
        <p:txBody>
          <a:bodyPr wrap="square" lIns="0" tIns="0" rIns="0" bIns="0" rtlCol="0" anchor="ctr"/>
          <a:lstStyle/>
          <a:p>
            <a:pPr indent="0" marL="0">
              <a:buNone/>
            </a:pPr>
            <a:r>
              <a:rPr lang="en-US" sz="3200" b="1" dirty="0">
                <a:solidFill>
                  <a:srgbClr val="000000"/>
                </a:solidFill>
                <a:latin typeface="Calibri" pitchFamily="34" charset="0"/>
                <a:ea typeface="Calibri" pitchFamily="34" charset="-122"/>
                <a:cs typeface="Calibri" pitchFamily="34" charset="-120"/>
              </a:rPr>
              <a:t>Medical necessity documentation - current state</a:t>
            </a:r>
            <a:endParaRPr lang="en-US" sz="3200" dirty="0"/>
          </a:p>
        </p:txBody>
      </p:sp>
      <p:sp>
        <p:nvSpPr>
          <p:cNvPr id="3" name="Text 1"/>
          <p:cNvSpPr/>
          <p:nvPr/>
        </p:nvSpPr>
        <p:spPr>
          <a:xfrm>
            <a:off x="640080" y="960120"/>
            <a:ext cx="10972800" cy="320040"/>
          </a:xfrm>
          <a:prstGeom prst="rect">
            <a:avLst/>
          </a:prstGeom>
          <a:noFill/>
          <a:ln/>
        </p:spPr>
        <p:txBody>
          <a:bodyPr wrap="square" lIns="0" tIns="0" rIns="0" bIns="0" rtlCol="0" anchor="ctr"/>
          <a:lstStyle/>
          <a:p>
            <a:pPr indent="0" marL="0">
              <a:buNone/>
            </a:pPr>
            <a:r>
              <a:rPr lang="en-US" sz="1600" dirty="0">
                <a:solidFill>
                  <a:srgbClr val="595959"/>
                </a:solidFill>
                <a:latin typeface="Calibri" pitchFamily="34" charset="0"/>
                <a:ea typeface="Calibri" pitchFamily="34" charset="-122"/>
                <a:cs typeface="Calibri" pitchFamily="34" charset="-120"/>
              </a:rPr>
              <a:t>Non-emergent ground orders: 90,428 of 104,634 in scope</a:t>
            </a:r>
            <a:endParaRPr lang="en-US" sz="1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972800" cy="914400"/>
        </p:xfrm>
        <a:graphic>
          <a:graphicData uri="http://schemas.openxmlformats.org/drawingml/2006/table">
            <a:tbl>
              <a:tblPr/>
              <a:tblGrid>
                <a:gridCol w="2011680"/>
                <a:gridCol w="3657600"/>
                <a:gridCol w="1645920"/>
                <a:gridCol w="1828800"/>
                <a:gridCol w="1828800"/>
              </a:tblGrid>
              <a:tr h="384048">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Bucket</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400" b="1" dirty="0">
                          <a:solidFill>
                            <a:srgbClr val="000000"/>
                          </a:solidFill>
                          <a:latin typeface="Calibri" pitchFamily="34" charset="0"/>
                          <a:ea typeface="Calibri" pitchFamily="34" charset="-122"/>
                          <a:cs typeface="Calibri" pitchFamily="34" charset="-120"/>
                        </a:rPr>
                        <a:t>Orders</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400" b="1" dirty="0">
                          <a:solidFill>
                            <a:srgbClr val="000000"/>
                          </a:solidFill>
                          <a:latin typeface="Calibri" pitchFamily="34" charset="0"/>
                          <a:ea typeface="Calibri" pitchFamily="34" charset="-122"/>
                          <a:cs typeface="Calibri" pitchFamily="34" charset="-120"/>
                        </a:rPr>
                        <a:t>Pct</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84048">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clear_reason</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Clear clinical reason</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400" dirty="0">
                          <a:solidFill>
                            <a:srgbClr val="000000"/>
                          </a:solidFill>
                          <a:latin typeface="Calibri" pitchFamily="34" charset="0"/>
                          <a:ea typeface="Calibri" pitchFamily="34" charset="-122"/>
                          <a:cs typeface="Calibri" pitchFamily="34" charset="-120"/>
                        </a:rPr>
                        <a:t>42,770</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400" dirty="0">
                          <a:solidFill>
                            <a:srgbClr val="000000"/>
                          </a:solidFill>
                          <a:latin typeface="Calibri" pitchFamily="34" charset="0"/>
                          <a:ea typeface="Calibri" pitchFamily="34" charset="-122"/>
                          <a:cs typeface="Calibri" pitchFamily="34" charset="-120"/>
                        </a:rPr>
                        <a:t>47.3</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84048">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unrecognized</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Text present, nothing recognized</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Unknown</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400" dirty="0">
                          <a:solidFill>
                            <a:srgbClr val="000000"/>
                          </a:solidFill>
                          <a:latin typeface="Calibri" pitchFamily="34" charset="0"/>
                          <a:ea typeface="Calibri" pitchFamily="34" charset="-122"/>
                          <a:cs typeface="Calibri" pitchFamily="34" charset="-120"/>
                        </a:rPr>
                        <a:t>22,030</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400" dirty="0">
                          <a:solidFill>
                            <a:srgbClr val="000000"/>
                          </a:solidFill>
                          <a:latin typeface="Calibri" pitchFamily="34" charset="0"/>
                          <a:ea typeface="Calibri" pitchFamily="34" charset="-122"/>
                          <a:cs typeface="Calibri" pitchFamily="34" charset="-120"/>
                        </a:rPr>
                        <a:t>24.4</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84048">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no_documentation</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Nothing typed</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At risk</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400" dirty="0">
                          <a:solidFill>
                            <a:srgbClr val="000000"/>
                          </a:solidFill>
                          <a:latin typeface="Calibri" pitchFamily="34" charset="0"/>
                          <a:ea typeface="Calibri" pitchFamily="34" charset="-122"/>
                          <a:cs typeface="Calibri" pitchFamily="34" charset="-120"/>
                        </a:rPr>
                        <a:t>13,513</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400" dirty="0">
                          <a:solidFill>
                            <a:srgbClr val="000000"/>
                          </a:solidFill>
                          <a:latin typeface="Calibri" pitchFamily="34" charset="0"/>
                          <a:ea typeface="Calibri" pitchFamily="34" charset="-122"/>
                          <a:cs typeface="Calibri" pitchFamily="34" charset="-120"/>
                        </a:rPr>
                        <a:t>14.9</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84048">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reason_plus_filler</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Clinical reason plus filler</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400" dirty="0">
                          <a:solidFill>
                            <a:srgbClr val="000000"/>
                          </a:solidFill>
                          <a:latin typeface="Calibri" pitchFamily="34" charset="0"/>
                          <a:ea typeface="Calibri" pitchFamily="34" charset="-122"/>
                          <a:cs typeface="Calibri" pitchFamily="34" charset="-120"/>
                        </a:rPr>
                        <a:t>8,717</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400" dirty="0">
                          <a:solidFill>
                            <a:srgbClr val="000000"/>
                          </a:solidFill>
                          <a:latin typeface="Calibri" pitchFamily="34" charset="0"/>
                          <a:ea typeface="Calibri" pitchFamily="34" charset="-122"/>
                          <a:cs typeface="Calibri" pitchFamily="34" charset="-120"/>
                        </a:rPr>
                        <a:t>9.6</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84048">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filler_only</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Vague filler only</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At risk</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400" dirty="0">
                          <a:solidFill>
                            <a:srgbClr val="000000"/>
                          </a:solidFill>
                          <a:latin typeface="Calibri" pitchFamily="34" charset="0"/>
                          <a:ea typeface="Calibri" pitchFamily="34" charset="-122"/>
                          <a:cs typeface="Calibri" pitchFamily="34" charset="-120"/>
                        </a:rPr>
                        <a:t>3,398</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r" indent="0" marL="0">
                        <a:buNone/>
                      </a:pPr>
                      <a:r>
                        <a:rPr lang="en-US" sz="1400" dirty="0">
                          <a:solidFill>
                            <a:srgbClr val="000000"/>
                          </a:solidFill>
                          <a:latin typeface="Calibri" pitchFamily="34" charset="0"/>
                          <a:ea typeface="Calibri" pitchFamily="34" charset="-122"/>
                          <a:cs typeface="Calibri" pitchFamily="34" charset="-120"/>
                        </a:rPr>
                        <a:t>3.8</a:t>
                      </a:r>
                      <a:endParaRPr lang="en-US" sz="1400" dirty="0">
                        <a:latin typeface="Calibri" charset="0"/>
                        <a:ea typeface="Calibri" charset="0"/>
                        <a:cs typeface="Calibri" charset="0"/>
                      </a:endParaRPr>
                    </a:p>
                  </a:txBody>
                  <a:tcPr marL="91440" marR="91440" marT="45720" marB="4572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5" name="Text 2"/>
          <p:cNvSpPr/>
          <p:nvPr/>
        </p:nvSpPr>
        <p:spPr>
          <a:xfrm>
            <a:off x="640080" y="4206240"/>
            <a:ext cx="10972800" cy="164592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16,911 orders (18.7%) are at risk today - nothing typed, or vague filler only.</a:t>
            </a:r>
            <a:endParaRPr lang="en-US" sz="1500" dirty="0"/>
          </a:p>
          <a:p>
            <a:pPr marL="342900" indent="-3429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A further 22,030 (24.4%) contain text that keyword rules cannot classify.</a:t>
            </a:r>
            <a:endParaRPr lang="en-US" sz="1500" dirty="0"/>
          </a:p>
          <a:p>
            <a:pPr marL="342900" indent="-3429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Exposure is concentrated: MUSC Ground 52.9% at risk vs. Texas Health Resources 2.8%.</a:t>
            </a:r>
            <a:endParaRPr lang="en-US" sz="1500" dirty="0"/>
          </a:p>
          <a:p>
            <a:pPr marL="342900" indent="-3429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By level of service, BLS (9,592) and ALS (4,356) carry 82% of at-risk volume.</a:t>
            </a:r>
            <a:endParaRPr lang="en-US" sz="1500" dirty="0"/>
          </a:p>
        </p:txBody>
      </p:sp>
      <p:sp>
        <p:nvSpPr>
          <p:cNvPr id="6" name="Text 3"/>
          <p:cNvSpPr/>
          <p:nvPr/>
        </p:nvSpPr>
        <p:spPr>
          <a:xfrm>
            <a:off x="640080" y="6126480"/>
            <a:ext cx="10972800" cy="274320"/>
          </a:xfrm>
          <a:prstGeom prst="rect">
            <a:avLst/>
          </a:prstGeom>
          <a:noFill/>
          <a:ln/>
        </p:spPr>
        <p:txBody>
          <a:bodyPr wrap="square" lIns="0" tIns="0" rIns="0" bIns="0" rtlCol="0" anchor="ctr"/>
          <a:lstStyle/>
          <a:p>
            <a:pPr indent="0" marL="0">
              <a:buNone/>
            </a:pPr>
            <a:r>
              <a:rPr lang="en-US" sz="1100" dirty="0">
                <a:solidFill>
                  <a:srgbClr val="595959"/>
                </a:solidFill>
                <a:latin typeface="Calibri" pitchFamily="34" charset="0"/>
                <a:ea typeface="Calibri" pitchFamily="34" charset="-122"/>
                <a:cs typeface="Calibri" pitchFamily="34" charset="-120"/>
              </a:rPr>
              <a:t>Source: med_nec_buckets analysis. Bucket logic aligned to CMS Manual 10.2.1-10.2.3 and 42 CFR 414.605.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457200"/>
          </a:xfrm>
          <a:prstGeom prst="rect">
            <a:avLst/>
          </a:prstGeom>
          <a:noFill/>
          <a:ln/>
        </p:spPr>
        <p:txBody>
          <a:bodyPr wrap="square" lIns="0" tIns="0" rIns="0" bIns="0" rtlCol="0" anchor="ctr"/>
          <a:lstStyle/>
          <a:p>
            <a:pPr indent="0" marL="0">
              <a:buNone/>
            </a:pPr>
            <a:r>
              <a:rPr lang="en-US" sz="3200" b="1" dirty="0">
                <a:solidFill>
                  <a:srgbClr val="000000"/>
                </a:solidFill>
                <a:latin typeface="Calibri" pitchFamily="34" charset="0"/>
                <a:ea typeface="Calibri" pitchFamily="34" charset="-122"/>
                <a:cs typeface="Calibri" pitchFamily="34" charset="-120"/>
              </a:rPr>
              <a:t>Proposed medical necessity engine - workflow</a:t>
            </a:r>
            <a:endParaRPr lang="en-US" sz="3200" dirty="0"/>
          </a:p>
        </p:txBody>
      </p:sp>
      <p:sp>
        <p:nvSpPr>
          <p:cNvPr id="3" name="Text 1"/>
          <p:cNvSpPr/>
          <p:nvPr/>
        </p:nvSpPr>
        <p:spPr>
          <a:xfrm>
            <a:off x="640080" y="960120"/>
            <a:ext cx="10972800" cy="320040"/>
          </a:xfrm>
          <a:prstGeom prst="rect">
            <a:avLst/>
          </a:prstGeom>
          <a:noFill/>
          <a:ln/>
        </p:spPr>
        <p:txBody>
          <a:bodyPr wrap="square" lIns="0" tIns="0" rIns="0" bIns="0" rtlCol="0" anchor="ctr"/>
          <a:lstStyle/>
          <a:p>
            <a:pPr indent="0" marL="0">
              <a:buNone/>
            </a:pPr>
            <a:r>
              <a:rPr lang="en-US" sz="1600" dirty="0">
                <a:solidFill>
                  <a:srgbClr val="595959"/>
                </a:solidFill>
                <a:latin typeface="Calibri" pitchFamily="34" charset="0"/>
                <a:ea typeface="Calibri" pitchFamily="34" charset="-122"/>
                <a:cs typeface="Calibri" pitchFamily="34" charset="-120"/>
              </a:rPr>
              <a:t>Runs inside the existing Transport.net order form. No new screens for the nurse.</a:t>
            </a:r>
            <a:endParaRPr lang="en-US" sz="1600" dirty="0"/>
          </a:p>
        </p:txBody>
      </p:sp>
      <p:sp>
        <p:nvSpPr>
          <p:cNvPr id="4" name="Shape 2"/>
          <p:cNvSpPr/>
          <p:nvPr/>
        </p:nvSpPr>
        <p:spPr>
          <a:xfrm>
            <a:off x="640080" y="1600200"/>
            <a:ext cx="3291840" cy="2651760"/>
          </a:xfrm>
          <a:prstGeom prst="rect">
            <a:avLst/>
          </a:prstGeom>
          <a:solidFill>
            <a:srgbClr val="FFFFFF"/>
          </a:solidFill>
          <a:ln w="12700">
            <a:solidFill>
              <a:srgbClr val="808080"/>
            </a:solidFill>
            <a:prstDash val="solid"/>
          </a:ln>
        </p:spPr>
      </p:sp>
      <p:sp>
        <p:nvSpPr>
          <p:cNvPr id="5" name="Text 3"/>
          <p:cNvSpPr/>
          <p:nvPr/>
        </p:nvSpPr>
        <p:spPr>
          <a:xfrm>
            <a:off x="822960" y="1783080"/>
            <a:ext cx="2926080" cy="320040"/>
          </a:xfrm>
          <a:prstGeom prst="rect">
            <a:avLst/>
          </a:prstGeom>
          <a:noFill/>
          <a:ln/>
        </p:spPr>
        <p:txBody>
          <a:bodyPr wrap="square" lIns="0" tIns="0" rIns="0" bIns="0" rtlCol="0" anchor="ctr"/>
          <a:lstStyle/>
          <a:p>
            <a:pPr indent="0" marL="0">
              <a:buNone/>
            </a:pPr>
            <a:r>
              <a:rPr lang="en-US" sz="1800" b="1" dirty="0">
                <a:solidFill>
                  <a:srgbClr val="000000"/>
                </a:solidFill>
                <a:latin typeface="Calibri" pitchFamily="34" charset="0"/>
                <a:ea typeface="Calibri" pitchFamily="34" charset="-122"/>
                <a:cs typeface="Calibri" pitchFamily="34" charset="-120"/>
              </a:rPr>
              <a:t>1. Input</a:t>
            </a:r>
            <a:endParaRPr lang="en-US" sz="1800" dirty="0"/>
          </a:p>
        </p:txBody>
      </p:sp>
      <p:sp>
        <p:nvSpPr>
          <p:cNvPr id="6" name="Text 4"/>
          <p:cNvSpPr/>
          <p:nvPr/>
        </p:nvSpPr>
        <p:spPr>
          <a:xfrm>
            <a:off x="822960" y="2194560"/>
            <a:ext cx="2926080" cy="19202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Reason for transport (free text)</a:t>
            </a:r>
            <a:endParaRPr lang="en-US" sz="1300" dirty="0"/>
          </a:p>
          <a:p>
            <a:pPr marL="342900" indent="-342900">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Requested level of service</a:t>
            </a:r>
            <a:endParaRPr lang="en-US" sz="1300" dirty="0"/>
          </a:p>
          <a:p>
            <a:pPr marL="342900" indent="-342900">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Patient condition and mobility</a:t>
            </a:r>
            <a:endParaRPr lang="en-US" sz="1300" dirty="0"/>
          </a:p>
          <a:p>
            <a:pPr marL="342900" indent="-342900">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Origin and destination facility</a:t>
            </a:r>
            <a:endParaRPr lang="en-US" sz="1300" dirty="0"/>
          </a:p>
        </p:txBody>
      </p:sp>
      <p:sp>
        <p:nvSpPr>
          <p:cNvPr id="7" name="Text 5"/>
          <p:cNvSpPr/>
          <p:nvPr/>
        </p:nvSpPr>
        <p:spPr>
          <a:xfrm>
            <a:off x="3950208" y="2743200"/>
            <a:ext cx="329184" cy="36576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-&gt;</a:t>
            </a:r>
            <a:endParaRPr lang="en-US" sz="2000" dirty="0"/>
          </a:p>
        </p:txBody>
      </p:sp>
      <p:sp>
        <p:nvSpPr>
          <p:cNvPr id="8" name="Shape 6"/>
          <p:cNvSpPr/>
          <p:nvPr/>
        </p:nvSpPr>
        <p:spPr>
          <a:xfrm>
            <a:off x="4297680" y="1600200"/>
            <a:ext cx="3291840" cy="2651760"/>
          </a:xfrm>
          <a:prstGeom prst="rect">
            <a:avLst/>
          </a:prstGeom>
          <a:solidFill>
            <a:srgbClr val="FFFFFF"/>
          </a:solidFill>
          <a:ln w="12700">
            <a:solidFill>
              <a:srgbClr val="808080"/>
            </a:solidFill>
            <a:prstDash val="solid"/>
          </a:ln>
        </p:spPr>
      </p:sp>
      <p:sp>
        <p:nvSpPr>
          <p:cNvPr id="9" name="Text 7"/>
          <p:cNvSpPr/>
          <p:nvPr/>
        </p:nvSpPr>
        <p:spPr>
          <a:xfrm>
            <a:off x="4480560" y="1783080"/>
            <a:ext cx="2926080" cy="320040"/>
          </a:xfrm>
          <a:prstGeom prst="rect">
            <a:avLst/>
          </a:prstGeom>
          <a:noFill/>
          <a:ln/>
        </p:spPr>
        <p:txBody>
          <a:bodyPr wrap="square" lIns="0" tIns="0" rIns="0" bIns="0" rtlCol="0" anchor="ctr"/>
          <a:lstStyle/>
          <a:p>
            <a:pPr indent="0" marL="0">
              <a:buNone/>
            </a:pPr>
            <a:r>
              <a:rPr lang="en-US" sz="1800" b="1" dirty="0">
                <a:solidFill>
                  <a:srgbClr val="000000"/>
                </a:solidFill>
                <a:latin typeface="Calibri" pitchFamily="34" charset="0"/>
                <a:ea typeface="Calibri" pitchFamily="34" charset="-122"/>
                <a:cs typeface="Calibri" pitchFamily="34" charset="-120"/>
              </a:rPr>
              <a:t>2. Engine</a:t>
            </a:r>
            <a:endParaRPr lang="en-US" sz="1800" dirty="0"/>
          </a:p>
        </p:txBody>
      </p:sp>
      <p:sp>
        <p:nvSpPr>
          <p:cNvPr id="10" name="Text 8"/>
          <p:cNvSpPr/>
          <p:nvPr/>
        </p:nvSpPr>
        <p:spPr>
          <a:xfrm>
            <a:off x="4480560" y="2194560"/>
            <a:ext cx="2926080" cy="19202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Retrieves the governing CMS rule for the market</a:t>
            </a:r>
            <a:endParaRPr lang="en-US" sz="1300" dirty="0"/>
          </a:p>
          <a:p>
            <a:pPr marL="342900" indent="-342900">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Reads free text, not just keywords</a:t>
            </a:r>
            <a:endParaRPr lang="en-US" sz="1300" dirty="0"/>
          </a:p>
          <a:p>
            <a:pPr marL="342900" indent="-342900">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Maps to clinical concepts and filler terms</a:t>
            </a:r>
            <a:endParaRPr lang="en-US" sz="1300" dirty="0"/>
          </a:p>
          <a:p>
            <a:pPr marL="342900" indent="-342900">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Applies state scope of practice (ALS vs. CCT)</a:t>
            </a:r>
            <a:endParaRPr lang="en-US" sz="1300" dirty="0"/>
          </a:p>
        </p:txBody>
      </p:sp>
      <p:sp>
        <p:nvSpPr>
          <p:cNvPr id="11" name="Text 9"/>
          <p:cNvSpPr/>
          <p:nvPr/>
        </p:nvSpPr>
        <p:spPr>
          <a:xfrm>
            <a:off x="7607808" y="2743200"/>
            <a:ext cx="329184" cy="36576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-&gt;</a:t>
            </a:r>
            <a:endParaRPr lang="en-US" sz="2000" dirty="0"/>
          </a:p>
        </p:txBody>
      </p:sp>
      <p:sp>
        <p:nvSpPr>
          <p:cNvPr id="12" name="Shape 10"/>
          <p:cNvSpPr/>
          <p:nvPr/>
        </p:nvSpPr>
        <p:spPr>
          <a:xfrm>
            <a:off x="7955280" y="1600200"/>
            <a:ext cx="3291840" cy="2651760"/>
          </a:xfrm>
          <a:prstGeom prst="rect">
            <a:avLst/>
          </a:prstGeom>
          <a:solidFill>
            <a:srgbClr val="FFFFFF"/>
          </a:solidFill>
          <a:ln w="12700">
            <a:solidFill>
              <a:srgbClr val="808080"/>
            </a:solidFill>
            <a:prstDash val="solid"/>
          </a:ln>
        </p:spPr>
      </p:sp>
      <p:sp>
        <p:nvSpPr>
          <p:cNvPr id="13" name="Text 11"/>
          <p:cNvSpPr/>
          <p:nvPr/>
        </p:nvSpPr>
        <p:spPr>
          <a:xfrm>
            <a:off x="8138160" y="1783080"/>
            <a:ext cx="2926080" cy="320040"/>
          </a:xfrm>
          <a:prstGeom prst="rect">
            <a:avLst/>
          </a:prstGeom>
          <a:noFill/>
          <a:ln/>
        </p:spPr>
        <p:txBody>
          <a:bodyPr wrap="square" lIns="0" tIns="0" rIns="0" bIns="0" rtlCol="0" anchor="ctr"/>
          <a:lstStyle/>
          <a:p>
            <a:pPr indent="0" marL="0">
              <a:buNone/>
            </a:pPr>
            <a:r>
              <a:rPr lang="en-US" sz="1800" b="1" dirty="0">
                <a:solidFill>
                  <a:srgbClr val="000000"/>
                </a:solidFill>
                <a:latin typeface="Calibri" pitchFamily="34" charset="0"/>
                <a:ea typeface="Calibri" pitchFamily="34" charset="-122"/>
                <a:cs typeface="Calibri" pitchFamily="34" charset="-120"/>
              </a:rPr>
              <a:t>3. Output</a:t>
            </a:r>
            <a:endParaRPr lang="en-US" sz="1800" dirty="0"/>
          </a:p>
        </p:txBody>
      </p:sp>
      <p:sp>
        <p:nvSpPr>
          <p:cNvPr id="14" name="Text 12"/>
          <p:cNvSpPr/>
          <p:nvPr/>
        </p:nvSpPr>
        <p:spPr>
          <a:xfrm>
            <a:off x="8138160" y="2194560"/>
            <a:ext cx="2926080" cy="19202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Supported / at-risk flag before submit</a:t>
            </a:r>
            <a:endParaRPr lang="en-US" sz="1300" dirty="0"/>
          </a:p>
          <a:p>
            <a:pPr marL="342900" indent="-342900">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In-line clarifying prompt to the nurse</a:t>
            </a:r>
            <a:endParaRPr lang="en-US" sz="1300" dirty="0"/>
          </a:p>
          <a:p>
            <a:pPr marL="342900" indent="-342900">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Cited CMS rule on every determination</a:t>
            </a:r>
            <a:endParaRPr lang="en-US" sz="1300" dirty="0"/>
          </a:p>
          <a:p>
            <a:pPr marL="342900" indent="-342900">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Concept tags handed to revenue cycle</a:t>
            </a:r>
            <a:endParaRPr lang="en-US" sz="1300" dirty="0"/>
          </a:p>
        </p:txBody>
      </p:sp>
      <p:sp>
        <p:nvSpPr>
          <p:cNvPr id="15" name="Shape 13"/>
          <p:cNvSpPr/>
          <p:nvPr/>
        </p:nvSpPr>
        <p:spPr>
          <a:xfrm>
            <a:off x="640080" y="4480560"/>
            <a:ext cx="10881360" cy="777240"/>
          </a:xfrm>
          <a:prstGeom prst="rect">
            <a:avLst/>
          </a:prstGeom>
          <a:solidFill>
            <a:srgbClr val="FFFFFF"/>
          </a:solidFill>
          <a:ln w="12700">
            <a:solidFill>
              <a:srgbClr val="808080"/>
            </a:solidFill>
            <a:prstDash val="solid"/>
          </a:ln>
        </p:spPr>
      </p:sp>
      <p:sp>
        <p:nvSpPr>
          <p:cNvPr id="16" name="Text 14"/>
          <p:cNvSpPr/>
          <p:nvPr/>
        </p:nvSpPr>
        <p:spPr>
          <a:xfrm>
            <a:off x="822960" y="4572000"/>
            <a:ext cx="10515600" cy="59436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4. Feedback loop: </a:t>
            </a:r>
            <a:pPr indent="0" marL="0">
              <a:buNone/>
            </a:pPr>
            <a:r>
              <a:rPr lang="en-US" sz="1400" dirty="0">
                <a:solidFill>
                  <a:srgbClr val="000000"/>
                </a:solidFill>
                <a:latin typeface="Calibri" pitchFamily="34" charset="0"/>
                <a:ea typeface="Calibri" pitchFamily="34" charset="-122"/>
                <a:cs typeface="Calibri" pitchFamily="34" charset="-120"/>
              </a:rPr>
              <a:t>denials, GY modifier trends, and payer outcomes route back to retune the rule library, search terms, and examples.</a:t>
            </a:r>
            <a:endParaRPr lang="en-US" sz="1400" dirty="0"/>
          </a:p>
        </p:txBody>
      </p:sp>
      <p:sp>
        <p:nvSpPr>
          <p:cNvPr id="17" name="Text 15"/>
          <p:cNvSpPr/>
          <p:nvPr/>
        </p:nvSpPr>
        <p:spPr>
          <a:xfrm>
            <a:off x="640080" y="5486400"/>
            <a:ext cx="10881360" cy="54864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Framing: </a:t>
            </a:r>
            <a:pPr indent="0" marL="0">
              <a:buNone/>
            </a:pPr>
            <a:r>
              <a:rPr lang="en-US" sz="1400" dirty="0">
                <a:solidFill>
                  <a:srgbClr val="000000"/>
                </a:solidFill>
                <a:latin typeface="Calibri" pitchFamily="34" charset="0"/>
                <a:ea typeface="Calibri" pitchFamily="34" charset="-122"/>
                <a:cs typeface="Calibri" pitchFamily="34" charset="-120"/>
              </a:rPr>
              <a:t>all outputs are billing and reimbursement guidance, not clinical guidance. The engine does not tell a nurse what care to give - it indicates whether the order as written will survive a payer review.</a:t>
            </a:r>
            <a:endParaRPr lang="en-US" sz="1400" dirty="0"/>
          </a:p>
        </p:txBody>
      </p:sp>
      <p:sp>
        <p:nvSpPr>
          <p:cNvPr id="18" name="Text 16"/>
          <p:cNvSpPr/>
          <p:nvPr/>
        </p:nvSpPr>
        <p:spPr>
          <a:xfrm>
            <a:off x="640080" y="6126480"/>
            <a:ext cx="10972800" cy="274320"/>
          </a:xfrm>
          <a:prstGeom prst="rect">
            <a:avLst/>
          </a:prstGeom>
          <a:noFill/>
          <a:ln/>
        </p:spPr>
        <p:txBody>
          <a:bodyPr wrap="square" lIns="0" tIns="0" rIns="0" bIns="0" rtlCol="0" anchor="ctr"/>
          <a:lstStyle/>
          <a:p>
            <a:pPr indent="0" marL="0">
              <a:buNone/>
            </a:pPr>
            <a:r>
              <a:rPr lang="en-US" sz="1100" dirty="0">
                <a:solidFill>
                  <a:srgbClr val="595959"/>
                </a:solidFill>
                <a:latin typeface="Calibri" pitchFamily="34" charset="0"/>
                <a:ea typeface="Calibri" pitchFamily="34" charset="-122"/>
                <a:cs typeface="Calibri" pitchFamily="34" charset="-120"/>
              </a:rPr>
              <a:t>Target: convert the 16,911 at-risk and 22,030 unreadable orders into documented, defensible claims before submit.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Necessity Engine</dc:title>
  <dc:subject>PptxGenJS Presentation</dc:subject>
  <dc:creator>PptxGenJS</dc:creator>
  <cp:lastModifiedBy>PptxGenJS</cp:lastModifiedBy>
  <cp:revision>1</cp:revision>
  <dcterms:created xsi:type="dcterms:W3CDTF">2026-07-23T18:42:42Z</dcterms:created>
  <dcterms:modified xsi:type="dcterms:W3CDTF">2026-07-23T18:42:42Z</dcterms:modified>
</cp:coreProperties>
</file>