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so nobody has to guess at the method while looking at the numbers. Walk the five steps in order; it takes ninety seconds.
Step 1 is the point to emphasise. Nothing here was invented and nothing started from what the data happened to contain - it started from the rules a payer applies, and worked back to the text.
Step 3 is the part people find surprising: the search terms come from the orders themselves, so this reflects how nurses actually write, not a textbook vocabulary.
Scope if asked: Texas Health Resources and MUSC, 52 facilities, 104,634 trip legs reviewed, 90,428 non-emergent ground orders in scope. Rideshare, air, and emergent trips are excluded - they do not carry this documentation requirement.
Terminology per 23 July review: CMS aligned, not supported; denial risk, not at risk.
Open item: the workbook Definitions tab records the period as CY2025 pending confirmation, while the review set it at 2024 to present. Reconcile before this goes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three recurring questions.
What is the bed-confined test and what does it have to do with ambulance necessity? It is CMS's structured definition of a patient who cannot use a wheelchair van. All three prongs must be met. It matters because it is the only place CMS gives an objective, checkable standard - which is why the top three concepts in the dictionary all map to it. Note the caveat: CMS is explicit that bed confinement by itself is neither sufficient nor necessary, so it is a strong indicator rather than a pass.
What is a MAC? Medicare Administrative Contractor - the regional company that actually adjudicates and denies the claim. They matter because they are the audience for the documentation, and their guidance on vague wording is the basis for Group B.
Why 12? Because that is how many distinct qualifying conditions the criteria describe that also show up in the order text. Concepts were not chosen for coverage or balance.
Supporting figure if needed: CMS reports insufficient documentation accounted for 63.5% of improper payments for ambulance services in the 2024 reporting period, with medical necessity a further 27.5%. That is external confirmation that documentation, not clinical appropriateness, is the dominant failure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example term list is the fastest way to make the method concrete. The terms are drawn from the orders themselves, not from a medical vocabulary, which is why they include partial stems.
Per 23 July: weakness_only is Group B and never confers alignment on its own. Where weakness appears alongside a physical limitation, the limitation carries the order.
The denial history is the one data source not yet joined. Until it is, nothing here predicts payment.
Open item from 23 July: confirm whether CMS defines distinct BLS vs ALS eligibility criteria, and fold that into the level-of-service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how the concepts were derived. Every row traces to a citation.
Two patterns worth pointing out: the top three concepts are all the bed-confined test, which is the standard payers actually apply. And the Group B terms - weakness, fall risk, physician order - carry 13,347 tags, so this is habitual language rather than occasional sloppiness.
Percentages sum past 100 because an order can carry several concepts.
A challenge to an inferred concept is a good outcome - the labels exist so the conversation happens against a specific row rather than the whole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only - no interpretation on the slide. Three headline numbers: 16,911 denial risk (18.7%), 22,030 unclassified (24.4%), 51,487 CMS aligned (56.9%).
The split that will draw questions is MUSC Ground at 52.9% against Texas Health at 2.8% on the same platform. Same forms, very different behaviour - a workflow difference, not a clinical one.
BLS and ALS together account for 13,948 of the 16,911 denial-risk orders, so a fix aimed at those two levels of service reaches most of the exposure.
Raise the 0% and 99.9% rows first. If someone else spots them the table looks unreliable.
Open item: whether CMS defines distinct BLS vs ALS eligibility criteria is still to be confirmed, so the level-of-service view is descriptive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URLs:
Benefit Policy Manual Ch 10: https://www.cms.gov/Regulations-and-Guidance/Guidance/Manuals/Downloads/bp102c10.pdf
42 CFR 410.40: https://www.ecfr.gov/current/title-42/chapter-IV/subchapter-B/part-410/subpart-B/section-410.40
42 CFR 414.605: https://www.ecfr.gov/current/title-42/chapter-IV/subchapter-B/part-414/subpart-H/section-414.605
Claims Processing Manual Ch 15: https://www.cms.gov/Regulations-and-Guidance/Guidance/Manuals/Downloads/clm104c15ambulance.pdf
Medical Conditions List: https://www.cms.gov/Medicare/Medicare-Fee-for-Service-Payment/AmbulanceFeeSchedule/Downloads/2015-AFS-Medical-Conditions-Indicators.pdf
Medicare Coverage Database: https://www.cms.gov/medicare-coverage-database
Ambulance Services Information Center: https://www.cms.gov/medicare/coverage/ambulances-services-center
Note on the Medical Conditions List: it is the 2015 edition, built on ICD-9-CM before the ICD-10 transition, and it is a condition-coding aid rather than a documentation standard. A benchmark, not an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BLS/ALS answer is the one to get right, because it reframes the analysis. CMS does publish usable level-of-service standards - but they describe what the crew does and what the patient's condition requires en route, not why an ambulance was needed instead of a car. The concept work sits on the transport-necessity test. The level-of-service standards are a separate body of criteria to build against next, and they speak to a different denial type: level downgrades rather than outright denials.
The state-and-local-law point inside the ALS intervention definition is worth saying out loud - it is the regulatory basis for market-aware rules, not a design preference.
On payer mix: if a dollar figure is requested and Medicare has not been split from commercial, say so rather than extrapolating. CMS criteria are the strictest standard, so applying them everywhere is conservative, but it is not a denial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production shape of what the prototype already does. The prototype runs four Python scripts with a local vector store and a hard-coded key; this moves the same pipeline into a service IT can run.
Two substitutions worth calling out: Azure AI Search replaces the local vector store, and Key Vault with managed identity replaces the hard-coded key. Neither changes the logic.
This also sidesteps the deployment problem raised on 22 July: Databricks is not supported for production deployment, so the serving path is App Service and Databricks stays in analysis and reporting.
Performance detail is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only one point lands, make it the first: most orders can be answered by term matching alone, in milliseconds, with no model call. The model is there for the roughly quarter of orders that term matching cannot read. Designing for that split is what makes real-time realistic.
The fallback matters as much as the speed. A timeout that degrades to the deterministic answer means a slow or unavailable model never blocks an order from being submitted - which is what makes this safe to turn on.
Provisioned throughput is a cost commitment, not just a performance choice. Worth pricing against expected volume before committing.
The two-second target is a design goal, not a measured result. Nothing has been load tested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cms.gov/Regulations-and-Guidance/Guidance/Manuals/Downloads/bp102c10.pdf" TargetMode="External"/><Relationship Id="rId2" Type="http://schemas.openxmlformats.org/officeDocument/2006/relationships/hyperlink" Target="https://www.ecfr.gov/current/title-42/chapter-IV/subchapter-B/part-410/subpart-B/section-410.40" TargetMode="External"/><Relationship Id="rId3" Type="http://schemas.openxmlformats.org/officeDocument/2006/relationships/hyperlink" Target="https://www.ecfr.gov/current/title-42/chapter-IV/subchapter-B/part-414/subpart-H/section-414.605" TargetMode="External"/><Relationship Id="rId4" Type="http://schemas.openxmlformats.org/officeDocument/2006/relationships/hyperlink" Target="https://www.cms.gov/Regulations-and-Guidance/Guidance/Manuals/Downloads/clm104c15ambulance.pdf" TargetMode="External"/><Relationship Id="rId5" Type="http://schemas.openxmlformats.org/officeDocument/2006/relationships/hyperlink" Target="https://www.cms.gov/Medicare/Medicare-Fee-for-Service-Payment/AmbulanceFeeSchedule/Downloads/2015-AFS-Medical-Conditions-Indicators.pdf" TargetMode="External"/><Relationship Id="rId6" Type="http://schemas.openxmlformats.org/officeDocument/2006/relationships/hyperlink" Target="https://www.cms.gov/medicare-coverage-database" TargetMode="External"/><Relationship Id="rId7" Type="http://schemas.openxmlformats.org/officeDocument/2006/relationships/hyperlink" Target="https://www.cms.gov/files/document/ambulance-transport-reason-codes-statements.pdf" TargetMode="External"/><Relationship Id="rId8" Type="http://schemas.openxmlformats.org/officeDocument/2006/relationships/hyperlink" Target="https://www.cms.gov/medicare/coverage/ambulances-services-center" TargetMode="External"/><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457200"/>
          </a:xfrm>
          <a:prstGeom prst="rect">
            <a:avLst/>
          </a:prstGeom>
          <a:noFill/>
          <a:ln/>
        </p:spPr>
        <p:txBody>
          <a:bodyPr wrap="square" lIns="0" tIns="0" rIns="0" bIns="0" rtlCol="0" anchor="ctr"/>
          <a:lstStyle/>
          <a:p>
            <a:pPr indent="0" marL="0">
              <a:buNone/>
            </a:pPr>
            <a:r>
              <a:rPr lang="en-US" sz="3200" b="1" dirty="0">
                <a:solidFill>
                  <a:srgbClr val="000000"/>
                </a:solidFill>
                <a:latin typeface="Calibri" pitchFamily="34" charset="0"/>
                <a:ea typeface="Calibri" pitchFamily="34" charset="-122"/>
                <a:cs typeface="Calibri" pitchFamily="34" charset="-120"/>
              </a:rPr>
              <a:t>Analysis approach and methodology</a:t>
            </a:r>
            <a:endParaRPr lang="en-US" sz="3200" dirty="0"/>
          </a:p>
        </p:txBody>
      </p:sp>
      <p:sp>
        <p:nvSpPr>
          <p:cNvPr id="3" name="Text 1"/>
          <p:cNvSpPr/>
          <p:nvPr/>
        </p:nvSpPr>
        <p:spPr>
          <a:xfrm>
            <a:off x="640080" y="914400"/>
            <a:ext cx="10972800" cy="320040"/>
          </a:xfrm>
          <a:prstGeom prst="rect">
            <a:avLst/>
          </a:prstGeom>
          <a:noFill/>
          <a:ln/>
        </p:spPr>
        <p:txBody>
          <a:bodyPr wrap="square" lIns="0" tIns="0" rIns="0" bIns="0" rtlCol="0" anchor="ctr"/>
          <a:lstStyle/>
          <a:p>
            <a:pPr indent="0" marL="0">
              <a:buNone/>
            </a:pPr>
            <a:r>
              <a:rPr lang="en-US" sz="1500" dirty="0">
                <a:solidFill>
                  <a:srgbClr val="595959"/>
                </a:solidFill>
                <a:latin typeface="Calibri" pitchFamily="34" charset="0"/>
                <a:ea typeface="Calibri" pitchFamily="34" charset="-122"/>
                <a:cs typeface="Calibri" pitchFamily="34" charset="-120"/>
              </a:rPr>
              <a:t>How transport orders were tested against the criteria that decide whether a claim is paid  |  Data: 2024 to present (July 2026)</a:t>
            </a:r>
            <a:endParaRPr lang="en-US" sz="1500" dirty="0"/>
          </a:p>
        </p:txBody>
      </p:sp>
      <p:sp>
        <p:nvSpPr>
          <p:cNvPr id="4" name="Text 2"/>
          <p:cNvSpPr/>
          <p:nvPr/>
        </p:nvSpPr>
        <p:spPr>
          <a:xfrm>
            <a:off x="640080" y="1463040"/>
            <a:ext cx="10972800" cy="256032"/>
          </a:xfrm>
          <a:prstGeom prst="rect">
            <a:avLst/>
          </a:prstGeom>
          <a:noFill/>
          <a:ln/>
        </p:spPr>
        <p:txBody>
          <a:bodyPr wrap="square" lIns="0" tIns="0" rIns="0" bIns="0" rtlCol="0" anchor="ctr"/>
          <a:lstStyle/>
          <a:p>
            <a:pPr indent="0" marL="0">
              <a:buNone/>
            </a:pPr>
            <a:r>
              <a:rPr lang="en-US" sz="1700" b="1" dirty="0">
                <a:solidFill>
                  <a:srgbClr val="000000"/>
                </a:solidFill>
                <a:latin typeface="Calibri" pitchFamily="34" charset="0"/>
                <a:ea typeface="Calibri" pitchFamily="34" charset="-122"/>
                <a:cs typeface="Calibri" pitchFamily="34" charset="-120"/>
              </a:rPr>
              <a:t>Regulatory basis</a:t>
            </a:r>
            <a:endParaRPr lang="en-US" sz="1700" dirty="0"/>
          </a:p>
        </p:txBody>
      </p:sp>
      <p:sp>
        <p:nvSpPr>
          <p:cNvPr id="5" name="Text 3"/>
          <p:cNvSpPr/>
          <p:nvPr/>
        </p:nvSpPr>
        <p:spPr>
          <a:xfrm>
            <a:off x="640080" y="1755648"/>
            <a:ext cx="10972800" cy="502920"/>
          </a:xfrm>
          <a:prstGeom prst="rect">
            <a:avLst/>
          </a:prstGeom>
          <a:noFill/>
          <a:ln/>
        </p:spPr>
        <p:txBody>
          <a:bodyPr wrap="square" lIns="0" tIns="0" rIns="0" bIns="0" rtlCol="0" anchor="ctr"/>
          <a:lstStyle/>
          <a:p>
            <a:pPr indent="0" marL="0">
              <a:buNone/>
            </a:pPr>
            <a:r>
              <a:rPr lang="en-US" sz="1400" dirty="0">
                <a:solidFill>
                  <a:srgbClr val="000000"/>
                </a:solidFill>
                <a:latin typeface="Calibri" pitchFamily="34" charset="0"/>
                <a:ea typeface="Calibri" pitchFamily="34" charset="-122"/>
                <a:cs typeface="Calibri" pitchFamily="34" charset="-120"/>
              </a:rPr>
              <a:t>Medicare pays for a non-emergency ambulance only when the patient's condition makes any other form of transport unsafe, and that reason has to be written down when the order is placed. This analysis measures the frequency with which that documentation is present, and the claims exposure where it is not.</a:t>
            </a:r>
            <a:endParaRPr lang="en-US" sz="1400" dirty="0"/>
          </a:p>
        </p:txBody>
      </p:sp>
      <p:sp>
        <p:nvSpPr>
          <p:cNvPr id="6" name="Text 4"/>
          <p:cNvSpPr/>
          <p:nvPr/>
        </p:nvSpPr>
        <p:spPr>
          <a:xfrm>
            <a:off x="640080" y="2377440"/>
            <a:ext cx="10972800" cy="256032"/>
          </a:xfrm>
          <a:prstGeom prst="rect">
            <a:avLst/>
          </a:prstGeom>
          <a:noFill/>
          <a:ln/>
        </p:spPr>
        <p:txBody>
          <a:bodyPr wrap="square" lIns="0" tIns="0" rIns="0" bIns="0" rtlCol="0" anchor="ctr"/>
          <a:lstStyle/>
          <a:p>
            <a:pPr indent="0" marL="0">
              <a:buNone/>
            </a:pPr>
            <a:r>
              <a:rPr lang="en-US" sz="1700" b="1" dirty="0">
                <a:solidFill>
                  <a:srgbClr val="000000"/>
                </a:solidFill>
                <a:latin typeface="Calibri" pitchFamily="34" charset="0"/>
                <a:ea typeface="Calibri" pitchFamily="34" charset="-122"/>
                <a:cs typeface="Calibri" pitchFamily="34" charset="-120"/>
              </a:rPr>
              <a:t>Methodology</a:t>
            </a:r>
            <a:endParaRPr lang="en-US" sz="1700" dirty="0"/>
          </a:p>
        </p:txBody>
      </p:sp>
      <p:sp>
        <p:nvSpPr>
          <p:cNvPr id="7" name="Text 5"/>
          <p:cNvSpPr/>
          <p:nvPr/>
        </p:nvSpPr>
        <p:spPr>
          <a:xfrm>
            <a:off x="640080" y="2670048"/>
            <a:ext cx="10972800" cy="2377440"/>
          </a:xfrm>
          <a:prstGeom prst="rect">
            <a:avLst/>
          </a:prstGeom>
          <a:noFill/>
          <a:ln/>
        </p:spPr>
        <p:txBody>
          <a:bodyPr wrap="square" lIns="0" tIns="0" rIns="0" bIns="0" rtlCol="0" anchor="t"/>
          <a:lstStyle/>
          <a:p>
            <a:pPr indent="0" marL="0">
              <a:spcAft>
                <a:spcPts val="700"/>
              </a:spcAft>
              <a:buNone/>
            </a:pPr>
            <a:r>
              <a:rPr lang="en-US" sz="1400" b="1" dirty="0">
                <a:solidFill>
                  <a:srgbClr val="000000"/>
                </a:solidFill>
                <a:latin typeface="Calibri" pitchFamily="34" charset="0"/>
                <a:ea typeface="Calibri" pitchFamily="34" charset="-122"/>
                <a:cs typeface="Calibri" pitchFamily="34" charset="-120"/>
              </a:rPr>
              <a:t>1.  Source the governing criteria.  </a:t>
            </a:r>
            <a:pPr indent="0" marL="0">
              <a:spcAft>
                <a:spcPts val="700"/>
              </a:spcAft>
              <a:buNone/>
            </a:pPr>
            <a:r>
              <a:rPr lang="en-US" sz="1400" dirty="0">
                <a:solidFill>
                  <a:srgbClr val="000000"/>
                </a:solidFill>
                <a:latin typeface="Calibri" pitchFamily="34" charset="0"/>
                <a:ea typeface="Calibri" pitchFamily="34" charset="-122"/>
                <a:cs typeface="Calibri" pitchFamily="34" charset="-120"/>
              </a:rPr>
              <a:t>The criteria are drawn from the CMS documents that determine whether an ambulance claim is payable: Benefit Policy Manual 10.2.1 and 10.2.3, 42 CFR 414.605, and MAC guidance on insufficient documentation.</a:t>
            </a:r>
            <a:endParaRPr lang="en-US" sz="1400" dirty="0"/>
          </a:p>
          <a:p>
            <a:pPr indent="0" marL="0">
              <a:spcAft>
                <a:spcPts val="700"/>
              </a:spcAft>
              <a:buNone/>
            </a:pPr>
            <a:r>
              <a:rPr lang="en-US" sz="1400" b="1" dirty="0">
                <a:solidFill>
                  <a:srgbClr val="000000"/>
                </a:solidFill>
                <a:latin typeface="Calibri" pitchFamily="34" charset="0"/>
                <a:ea typeface="Calibri" pitchFamily="34" charset="-122"/>
                <a:cs typeface="Calibri" pitchFamily="34" charset="-120"/>
              </a:rPr>
              <a:t>2.  Translate the criteria into concepts.  </a:t>
            </a:r>
            <a:pPr indent="0" marL="0">
              <a:spcAft>
                <a:spcPts val="700"/>
              </a:spcAft>
              <a:buNone/>
            </a:pPr>
            <a:r>
              <a:rPr lang="en-US" sz="1400" dirty="0">
                <a:solidFill>
                  <a:srgbClr val="000000"/>
                </a:solidFill>
                <a:latin typeface="Calibri" pitchFamily="34" charset="0"/>
                <a:ea typeface="Calibri" pitchFamily="34" charset="-122"/>
                <a:cs typeface="Calibri" pitchFamily="34" charset="-120"/>
              </a:rPr>
              <a:t>Each criterion maps to a concept. Twelve constitute a clinical reason; three are vague filler that carries no evidentiary weight with a payer.</a:t>
            </a:r>
            <a:endParaRPr lang="en-US" sz="1400" dirty="0"/>
          </a:p>
          <a:p>
            <a:pPr indent="0" marL="0">
              <a:spcAft>
                <a:spcPts val="700"/>
              </a:spcAft>
              <a:buNone/>
            </a:pPr>
            <a:r>
              <a:rPr lang="en-US" sz="1400" b="1" dirty="0">
                <a:solidFill>
                  <a:srgbClr val="000000"/>
                </a:solidFill>
                <a:latin typeface="Calibri" pitchFamily="34" charset="0"/>
                <a:ea typeface="Calibri" pitchFamily="34" charset="-122"/>
                <a:cs typeface="Calibri" pitchFamily="34" charset="-120"/>
              </a:rPr>
              <a:t>3.  Derive term lists from order text.  </a:t>
            </a:r>
            <a:pPr indent="0" marL="0">
              <a:spcAft>
                <a:spcPts val="700"/>
              </a:spcAft>
              <a:buNone/>
            </a:pPr>
            <a:r>
              <a:rPr lang="en-US" sz="1400" dirty="0">
                <a:solidFill>
                  <a:srgbClr val="000000"/>
                </a:solidFill>
                <a:latin typeface="Calibri" pitchFamily="34" charset="0"/>
                <a:ea typeface="Calibri" pitchFamily="34" charset="-122"/>
                <a:cs typeface="Calibri" pitchFamily="34" charset="-120"/>
              </a:rPr>
              <a:t>Each concept carries a search-term list derived from terminology present in the orders themselves - hemiparesis, unable to bear weight, non-ambulatory - with the frequency of each term measured.</a:t>
            </a:r>
            <a:endParaRPr lang="en-US" sz="1400" dirty="0"/>
          </a:p>
          <a:p>
            <a:pPr indent="0" marL="0">
              <a:spcAft>
                <a:spcPts val="700"/>
              </a:spcAft>
              <a:buNone/>
            </a:pPr>
            <a:r>
              <a:rPr lang="en-US" sz="1400" b="1" dirty="0">
                <a:solidFill>
                  <a:srgbClr val="000000"/>
                </a:solidFill>
                <a:latin typeface="Calibri" pitchFamily="34" charset="0"/>
                <a:ea typeface="Calibri" pitchFamily="34" charset="-122"/>
                <a:cs typeface="Calibri" pitchFamily="34" charset="-120"/>
              </a:rPr>
              <a:t>4.  Classify all orders.  </a:t>
            </a:r>
            <a:pPr indent="0" marL="0">
              <a:spcAft>
                <a:spcPts val="700"/>
              </a:spcAft>
              <a:buNone/>
            </a:pPr>
            <a:r>
              <a:rPr lang="en-US" sz="1400" dirty="0">
                <a:solidFill>
                  <a:srgbClr val="000000"/>
                </a:solidFill>
                <a:latin typeface="Calibri" pitchFamily="34" charset="0"/>
                <a:ea typeface="Calibri" pitchFamily="34" charset="-122"/>
                <a:cs typeface="Calibri" pitchFamily="34" charset="-120"/>
              </a:rPr>
              <a:t>The term lists are applied across all 90,428 non-emergent ground orders. Each order is assigned to a single classification: CMS aligned, denial risk, or unclassified.</a:t>
            </a:r>
            <a:endParaRPr lang="en-US" sz="1400" dirty="0"/>
          </a:p>
          <a:p>
            <a:pPr indent="0" marL="0">
              <a:spcAft>
                <a:spcPts val="700"/>
              </a:spcAft>
              <a:buNone/>
            </a:pPr>
            <a:r>
              <a:rPr lang="en-US" sz="1400" b="1" dirty="0">
                <a:solidFill>
                  <a:srgbClr val="000000"/>
                </a:solidFill>
                <a:latin typeface="Calibri" pitchFamily="34" charset="0"/>
                <a:ea typeface="Calibri" pitchFamily="34" charset="-122"/>
                <a:cs typeface="Calibri" pitchFamily="34" charset="-120"/>
              </a:rPr>
              <a:t>5.  Quantify the exposure.  </a:t>
            </a:r>
            <a:pPr indent="0" marL="0">
              <a:spcAft>
                <a:spcPts val="700"/>
              </a:spcAft>
              <a:buNone/>
            </a:pPr>
            <a:r>
              <a:rPr lang="en-US" sz="1400" dirty="0">
                <a:solidFill>
                  <a:srgbClr val="000000"/>
                </a:solidFill>
                <a:latin typeface="Calibri" pitchFamily="34" charset="0"/>
                <a:ea typeface="Calibri" pitchFamily="34" charset="-122"/>
                <a:cs typeface="Calibri" pitchFamily="34" charset="-120"/>
              </a:rPr>
              <a:t>Classifications are then aggregated by customer and by level of service.</a:t>
            </a:r>
            <a:endParaRPr lang="en-US" sz="1400" dirty="0"/>
          </a:p>
        </p:txBody>
      </p:sp>
      <p:sp>
        <p:nvSpPr>
          <p:cNvPr id="8" name="Text 6"/>
          <p:cNvSpPr/>
          <p:nvPr/>
        </p:nvSpPr>
        <p:spPr>
          <a:xfrm>
            <a:off x="640080" y="5074920"/>
            <a:ext cx="5349240" cy="256032"/>
          </a:xfrm>
          <a:prstGeom prst="rect">
            <a:avLst/>
          </a:prstGeom>
          <a:noFill/>
          <a:ln/>
        </p:spPr>
        <p:txBody>
          <a:bodyPr wrap="square" lIns="0" tIns="0" rIns="0" bIns="0" rtlCol="0" anchor="ctr"/>
          <a:lstStyle/>
          <a:p>
            <a:pPr indent="0" marL="0">
              <a:buNone/>
            </a:pPr>
            <a:r>
              <a:rPr lang="en-US" sz="1700" b="1" dirty="0">
                <a:solidFill>
                  <a:srgbClr val="000000"/>
                </a:solidFill>
                <a:latin typeface="Calibri" pitchFamily="34" charset="0"/>
                <a:ea typeface="Calibri" pitchFamily="34" charset="-122"/>
                <a:cs typeface="Calibri" pitchFamily="34" charset="-120"/>
              </a:rPr>
              <a:t>Contents</a:t>
            </a:r>
            <a:endParaRPr lang="en-US" sz="1700" dirty="0"/>
          </a:p>
        </p:txBody>
      </p:sp>
      <p:sp>
        <p:nvSpPr>
          <p:cNvPr id="9" name="Text 7"/>
          <p:cNvSpPr/>
          <p:nvPr/>
        </p:nvSpPr>
        <p:spPr>
          <a:xfrm>
            <a:off x="640080" y="5367528"/>
            <a:ext cx="5349240" cy="10058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000000"/>
                </a:solidFill>
                <a:latin typeface="Calibri" pitchFamily="34" charset="0"/>
                <a:ea typeface="Calibri" pitchFamily="34" charset="-122"/>
                <a:cs typeface="Calibri" pitchFamily="34" charset="-120"/>
              </a:rPr>
              <a:t>The concept dictionary, with the CMS source supporting each entry</a:t>
            </a:r>
            <a:endParaRPr lang="en-US" sz="1300" dirty="0"/>
          </a:p>
          <a:p>
            <a:pPr marL="342900" indent="-342900">
              <a:spcAft>
                <a:spcPts val="400"/>
              </a:spcAft>
              <a:buSzPct val="100000"/>
              <a:buChar char="•"/>
            </a:pPr>
            <a:r>
              <a:rPr lang="en-US" sz="1300" dirty="0">
                <a:solidFill>
                  <a:srgbClr val="000000"/>
                </a:solidFill>
                <a:latin typeface="Calibri" pitchFamily="34" charset="0"/>
                <a:ea typeface="Calibri" pitchFamily="34" charset="-122"/>
                <a:cs typeface="Calibri" pitchFamily="34" charset="-120"/>
              </a:rPr>
              <a:t>Classification results and the distribution of denial risk</a:t>
            </a:r>
            <a:endParaRPr lang="en-US" sz="1300" dirty="0"/>
          </a:p>
          <a:p>
            <a:pPr marL="342900" indent="-342900">
              <a:spcAft>
                <a:spcPts val="400"/>
              </a:spcAft>
              <a:buSzPct val="100000"/>
              <a:buChar char="•"/>
            </a:pPr>
            <a:r>
              <a:rPr lang="en-US" sz="1300" dirty="0">
                <a:solidFill>
                  <a:srgbClr val="000000"/>
                </a:solidFill>
                <a:latin typeface="Calibri" pitchFamily="34" charset="0"/>
                <a:ea typeface="Calibri" pitchFamily="34" charset="-122"/>
                <a:cs typeface="Calibri" pitchFamily="34" charset="-120"/>
              </a:rPr>
              <a:t>CMS references, anticipated review questions, and a proposed API design</a:t>
            </a:r>
            <a:endParaRPr lang="en-US" sz="1300" dirty="0"/>
          </a:p>
        </p:txBody>
      </p:sp>
      <p:sp>
        <p:nvSpPr>
          <p:cNvPr id="10" name="Text 8"/>
          <p:cNvSpPr/>
          <p:nvPr/>
        </p:nvSpPr>
        <p:spPr>
          <a:xfrm>
            <a:off x="6355080" y="5074920"/>
            <a:ext cx="5166360" cy="256032"/>
          </a:xfrm>
          <a:prstGeom prst="rect">
            <a:avLst/>
          </a:prstGeom>
          <a:noFill/>
          <a:ln/>
        </p:spPr>
        <p:txBody>
          <a:bodyPr wrap="square" lIns="0" tIns="0" rIns="0" bIns="0" rtlCol="0" anchor="ctr"/>
          <a:lstStyle/>
          <a:p>
            <a:pPr indent="0" marL="0">
              <a:buNone/>
            </a:pPr>
            <a:r>
              <a:rPr lang="en-US" sz="1700" b="1" dirty="0">
                <a:solidFill>
                  <a:srgbClr val="000000"/>
                </a:solidFill>
                <a:latin typeface="Calibri" pitchFamily="34" charset="0"/>
                <a:ea typeface="Calibri" pitchFamily="34" charset="-122"/>
                <a:cs typeface="Calibri" pitchFamily="34" charset="-120"/>
              </a:rPr>
              <a:t>Scope limitations</a:t>
            </a:r>
            <a:endParaRPr lang="en-US" sz="1700" dirty="0"/>
          </a:p>
        </p:txBody>
      </p:sp>
      <p:sp>
        <p:nvSpPr>
          <p:cNvPr id="11" name="Text 9"/>
          <p:cNvSpPr/>
          <p:nvPr/>
        </p:nvSpPr>
        <p:spPr>
          <a:xfrm>
            <a:off x="6355080" y="5367528"/>
            <a:ext cx="5166360" cy="1005840"/>
          </a:xfrm>
          <a:prstGeom prst="rect">
            <a:avLst/>
          </a:prstGeom>
          <a:noFill/>
          <a:ln/>
        </p:spPr>
        <p:txBody>
          <a:bodyPr wrap="square" lIns="0" tIns="0" rIns="0" bIns="0" rtlCol="0" anchor="t"/>
          <a:lstStyle/>
          <a:p>
            <a:pPr indent="0" marL="0">
              <a:buNone/>
            </a:pPr>
            <a:r>
              <a:rPr lang="en-US" sz="1300" dirty="0">
                <a:solidFill>
                  <a:srgbClr val="000000"/>
                </a:solidFill>
                <a:latin typeface="Calibri" pitchFamily="34" charset="0"/>
                <a:ea typeface="Calibri" pitchFamily="34" charset="-122"/>
                <a:cs typeface="Calibri" pitchFamily="34" charset="-120"/>
              </a:rPr>
              <a:t>This is not a clinical review and not a prediction of payment. It assesses only the documentation recorded on the order at the time of placement. Verification of the underlying clinical claim would require the medical record.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457200"/>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How the concept groups were built</a:t>
            </a:r>
            <a:endParaRPr lang="en-US" sz="3000" dirty="0"/>
          </a:p>
        </p:txBody>
      </p:sp>
      <p:sp>
        <p:nvSpPr>
          <p:cNvPr id="3" name="Text 1"/>
          <p:cNvSpPr/>
          <p:nvPr/>
        </p:nvSpPr>
        <p:spPr>
          <a:xfrm>
            <a:off x="640080" y="914400"/>
            <a:ext cx="10972800" cy="320040"/>
          </a:xfrm>
          <a:prstGeom prst="rect">
            <a:avLst/>
          </a:prstGeom>
          <a:noFill/>
          <a:ln/>
        </p:spPr>
        <p:txBody>
          <a:bodyPr wrap="square" lIns="0" tIns="0" rIns="0" bIns="0" rtlCol="0" anchor="ctr"/>
          <a:lstStyle/>
          <a:p>
            <a:pPr indent="0" marL="0">
              <a:buNone/>
            </a:pPr>
            <a:r>
              <a:rPr lang="en-US" sz="1400" dirty="0">
                <a:solidFill>
                  <a:srgbClr val="595959"/>
                </a:solidFill>
                <a:latin typeface="Calibri" pitchFamily="34" charset="0"/>
                <a:ea typeface="Calibri" pitchFamily="34" charset="-122"/>
                <a:cs typeface="Calibri" pitchFamily="34" charset="-120"/>
              </a:rPr>
              <a:t>Two groups, derived from CMS criteria rather than from the data. There is no third group - unclassified is a residual, not a category.</a:t>
            </a:r>
            <a:endParaRPr lang="en-US" sz="1400" dirty="0"/>
          </a:p>
        </p:txBody>
      </p:sp>
      <p:sp>
        <p:nvSpPr>
          <p:cNvPr id="4" name="Text 2"/>
          <p:cNvSpPr/>
          <p:nvPr/>
        </p:nvSpPr>
        <p:spPr>
          <a:xfrm>
            <a:off x="640080" y="1444752"/>
            <a:ext cx="5486400" cy="256032"/>
          </a:xfrm>
          <a:prstGeom prst="rect">
            <a:avLst/>
          </a:prstGeom>
          <a:noFill/>
          <a:ln/>
        </p:spPr>
        <p:txBody>
          <a:bodyPr wrap="square" lIns="0" tIns="0" rIns="0" bIns="0" rtlCol="0" anchor="ctr"/>
          <a:lstStyle/>
          <a:p>
            <a:pPr indent="0" marL="0">
              <a:buNone/>
            </a:pPr>
            <a:r>
              <a:rPr lang="en-US" sz="1600" b="1" dirty="0">
                <a:solidFill>
                  <a:srgbClr val="000000"/>
                </a:solidFill>
                <a:latin typeface="Calibri" pitchFamily="34" charset="0"/>
                <a:ea typeface="Calibri" pitchFamily="34" charset="-122"/>
                <a:cs typeface="Calibri" pitchFamily="34" charset="-120"/>
              </a:rPr>
              <a:t>Step 1 - Start from the criteria CMS applies</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1755648"/>
          <a:ext cx="5486400" cy="914400"/>
        </p:xfrm>
        <a:graphic>
          <a:graphicData uri="http://schemas.openxmlformats.org/drawingml/2006/table">
            <a:tbl>
              <a:tblPr/>
              <a:tblGrid>
                <a:gridCol w="1417320"/>
                <a:gridCol w="4069080"/>
              </a:tblGrid>
              <a:tr h="256032">
                <a:tc>
                  <a:txBody>
                    <a:bodyPr/>
                    <a:lstStyle/>
                    <a:p>
                      <a:pPr algn="l" indent="0" marL="0">
                        <a:buNone/>
                      </a:pPr>
                      <a:r>
                        <a:rPr lang="en-US" sz="1050" b="1" dirty="0">
                          <a:solidFill>
                            <a:srgbClr val="000000"/>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en-US" sz="1050" b="1" dirty="0">
                          <a:solidFill>
                            <a:srgbClr val="000000"/>
                          </a:solidFill>
                          <a:latin typeface="Calibri" pitchFamily="34" charset="0"/>
                          <a:ea typeface="Calibri" pitchFamily="34" charset="-122"/>
                          <a:cs typeface="Calibri" pitchFamily="34" charset="-120"/>
                        </a:rPr>
                        <a:t>What it requires, in practice</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56032">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Manual 10.2.1</a:t>
                      </a:r>
                      <a:endParaRPr lang="en-US" sz="1050" dirty="0">
                        <a:latin typeface="Calibri" charset="0"/>
                        <a:ea typeface="Calibri" charset="0"/>
                        <a:cs typeface="Calibri" charset="0"/>
                      </a:endParaRPr>
                    </a:p>
                    <a:p>
                      <a:pPr indent="0" marL="0">
                        <a:buNone/>
                      </a:pPr>
                      <a:r>
                        <a:rPr lang="en-US" sz="1050" dirty="0">
                          <a:solidFill>
                            <a:srgbClr val="000000"/>
                          </a:solidFill>
                          <a:latin typeface="Calibri" pitchFamily="34" charset="0"/>
                          <a:ea typeface="Calibri" pitchFamily="34" charset="-122"/>
                          <a:cs typeface="Calibri" pitchFamily="34" charset="-120"/>
                        </a:rPr>
                        <a:t>General test</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An ambulance is covered only when the patient's condition contraindicates every other form of transport - car, taxi, wheelchair van.</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56032">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Manual 10.2.3</a:t>
                      </a:r>
                      <a:endParaRPr lang="en-US" sz="1050" dirty="0">
                        <a:latin typeface="Calibri" charset="0"/>
                        <a:ea typeface="Calibri" charset="0"/>
                        <a:cs typeface="Calibri" charset="0"/>
                      </a:endParaRPr>
                    </a:p>
                    <a:p>
                      <a:pPr indent="0" marL="0">
                        <a:buNone/>
                      </a:pPr>
                      <a:r>
                        <a:rPr lang="en-US" sz="1050" dirty="0">
                          <a:solidFill>
                            <a:srgbClr val="000000"/>
                          </a:solidFill>
                          <a:latin typeface="Calibri" pitchFamily="34" charset="0"/>
                          <a:ea typeface="Calibri" pitchFamily="34" charset="-122"/>
                          <a:cs typeface="Calibri" pitchFamily="34" charset="-120"/>
                        </a:rPr>
                        <a:t>Bed-confined test</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Three conditions, all required: unable to get up from bed unassisted, unable to ambulate, and unable to sit in a chair or wheelchair. CMS states bed confinement alone is neither sufficient nor necessary - it is one factor in the determination.</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56032">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42 CFR 414.605</a:t>
                      </a:r>
                      <a:endParaRPr lang="en-US" sz="1050" dirty="0">
                        <a:latin typeface="Calibri" charset="0"/>
                        <a:ea typeface="Calibri" charset="0"/>
                        <a:cs typeface="Calibri" charset="0"/>
                      </a:endParaRPr>
                    </a:p>
                    <a:p>
                      <a:pPr indent="0" marL="0">
                        <a:buNone/>
                      </a:pPr>
                      <a:r>
                        <a:rPr lang="en-US" sz="1050" dirty="0">
                          <a:solidFill>
                            <a:srgbClr val="000000"/>
                          </a:solidFill>
                          <a:latin typeface="Calibri" pitchFamily="34" charset="0"/>
                          <a:ea typeface="Calibri" pitchFamily="34" charset="-122"/>
                          <a:cs typeface="Calibri" pitchFamily="34" charset="-120"/>
                        </a:rPr>
                        <a:t>Level of service</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Defines what BLS, ALS1, ALS2 and SCT cover - which level is payable once transport itself qualifies.</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56032">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MAC guidance</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Medicare Administrative Contractors are the regional companies that process, review and deny Medicare claims. Their published guidance holds that vague, general documentation carries little value on review.</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6" name="Text 3"/>
          <p:cNvSpPr/>
          <p:nvPr/>
        </p:nvSpPr>
        <p:spPr>
          <a:xfrm>
            <a:off x="6492240" y="1444752"/>
            <a:ext cx="5029200" cy="256032"/>
          </a:xfrm>
          <a:prstGeom prst="rect">
            <a:avLst/>
          </a:prstGeom>
          <a:noFill/>
          <a:ln/>
        </p:spPr>
        <p:txBody>
          <a:bodyPr wrap="square" lIns="0" tIns="0" rIns="0" bIns="0" rtlCol="0" anchor="ctr"/>
          <a:lstStyle/>
          <a:p>
            <a:pPr indent="0" marL="0">
              <a:buNone/>
            </a:pPr>
            <a:r>
              <a:rPr lang="en-US" sz="1600" b="1" dirty="0">
                <a:solidFill>
                  <a:srgbClr val="000000"/>
                </a:solidFill>
                <a:latin typeface="Calibri" pitchFamily="34" charset="0"/>
                <a:ea typeface="Calibri" pitchFamily="34" charset="-122"/>
                <a:cs typeface="Calibri" pitchFamily="34" charset="-120"/>
              </a:rPr>
              <a:t>Step 2 - Convert the criteria into countable concepts</a:t>
            </a:r>
            <a:endParaRPr lang="en-US" sz="1600" dirty="0"/>
          </a:p>
        </p:txBody>
      </p:sp>
      <p:sp>
        <p:nvSpPr>
          <p:cNvPr id="7" name="Text 4"/>
          <p:cNvSpPr/>
          <p:nvPr/>
        </p:nvSpPr>
        <p:spPr>
          <a:xfrm>
            <a:off x="6492240" y="1755648"/>
            <a:ext cx="5029200" cy="2926080"/>
          </a:xfrm>
          <a:prstGeom prst="rect">
            <a:avLst/>
          </a:prstGeom>
          <a:noFill/>
          <a:ln/>
        </p:spPr>
        <p:txBody>
          <a:bodyPr wrap="square" lIns="0" tIns="0" rIns="0" bIns="0" rtlCol="0" anchor="t"/>
          <a:lstStyle/>
          <a:p>
            <a:pPr indent="0" marL="0">
              <a:spcAft>
                <a:spcPts val="800"/>
              </a:spcAft>
              <a:buNone/>
            </a:pPr>
            <a:r>
              <a:rPr lang="en-US" sz="1200" b="1" dirty="0">
                <a:solidFill>
                  <a:srgbClr val="000000"/>
                </a:solidFill>
                <a:latin typeface="Calibri" pitchFamily="34" charset="0"/>
                <a:ea typeface="Calibri" pitchFamily="34" charset="-122"/>
                <a:cs typeface="Calibri" pitchFamily="34" charset="-120"/>
              </a:rPr>
              <a:t>Group A - 12 concepts. </a:t>
            </a:r>
            <a:endParaRPr lang="en-US" sz="1200" dirty="0"/>
          </a:p>
          <a:p>
            <a:pPr marL="342900" indent="-342900">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A specific, verifiable condition that explains why a wheelchair van or car will not work. Twelve is not a target: it is the number of distinct qualifying conditions the criteria above describe that also appear in the order text.</a:t>
            </a:r>
            <a:pPr indent="0" marL="0">
              <a:spcAft>
                <a:spcPts val="800"/>
              </a:spcAft>
              <a:buNone/>
            </a:pPr>
            <a:r>
              <a:rPr lang="en-US" sz="1200" b="1" dirty="0">
                <a:solidFill>
                  <a:srgbClr val="000000"/>
                </a:solidFill>
                <a:latin typeface="Calibri" pitchFamily="34" charset="0"/>
                <a:ea typeface="Calibri" pitchFamily="34" charset="-122"/>
                <a:cs typeface="Calibri" pitchFamily="34" charset="-120"/>
              </a:rPr>
              <a:t>Group B - 3 concepts. </a:t>
            </a:r>
            <a:endParaRPr lang="en-US" sz="1200" dirty="0"/>
          </a:p>
          <a:p>
            <a:pPr marL="342900" indent="-342900">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Terms that appear often but satisfy no criterion on their own - weakness_only, fall_risk_only, nonclinical.</a:t>
            </a:r>
            <a:pPr indent="0" marL="0">
              <a:spcAft>
                <a:spcPts val="800"/>
              </a:spcAft>
              <a:buNone/>
            </a:pPr>
            <a:r>
              <a:rPr lang="en-US" sz="1200" b="1" dirty="0">
                <a:solidFill>
                  <a:srgbClr val="000000"/>
                </a:solidFill>
                <a:latin typeface="Calibri" pitchFamily="34" charset="0"/>
                <a:ea typeface="Calibri" pitchFamily="34" charset="-122"/>
                <a:cs typeface="Calibri" pitchFamily="34" charset="-120"/>
              </a:rPr>
              <a:t>Inferred - 5 of the 12. </a:t>
            </a:r>
            <a:endParaRPr lang="en-US" sz="1200" dirty="0"/>
          </a:p>
          <a:p>
            <a:pPr marL="342900" indent="-342900">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Where CMS names no explicit condition, one is derived from the 10.2.1 general test and labelled inferred, separating established criteria from interpretation.</a:t>
            </a:r>
            <a:pPr indent="0" marL="0">
              <a:spcAft>
                <a:spcPts val="800"/>
              </a:spcAft>
              <a:buNone/>
            </a:pPr>
            <a:r>
              <a:rPr lang="en-US" sz="1200" b="1" dirty="0">
                <a:solidFill>
                  <a:srgbClr val="000000"/>
                </a:solidFill>
                <a:latin typeface="Calibri" pitchFamily="34" charset="0"/>
                <a:ea typeface="Calibri" pitchFamily="34" charset="-122"/>
                <a:cs typeface="Calibri" pitchFamily="34" charset="-120"/>
              </a:rPr>
              <a:t>Unclassified - not a group. </a:t>
            </a:r>
            <a:endParaRPr lang="en-US" sz="1200" dirty="0"/>
          </a:p>
          <a:p>
            <a:pPr marL="342900" indent="-342900">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Orders whose text matched no term in either group. A gap in the term list, not a finding about the order.</a:t>
            </a:r>
            <a:endParaRPr lang="en-US" sz="1200" dirty="0"/>
          </a:p>
        </p:txBody>
      </p:sp>
      <p:sp>
        <p:nvSpPr>
          <p:cNvPr id="8" name="Text 5"/>
          <p:cNvSpPr/>
          <p:nvPr/>
        </p:nvSpPr>
        <p:spPr>
          <a:xfrm>
            <a:off x="640080" y="4892040"/>
            <a:ext cx="10881360" cy="256032"/>
          </a:xfrm>
          <a:prstGeom prst="rect">
            <a:avLst/>
          </a:prstGeom>
          <a:noFill/>
          <a:ln/>
        </p:spPr>
        <p:txBody>
          <a:bodyPr wrap="square" lIns="0" tIns="0" rIns="0" bIns="0" rtlCol="0" anchor="ctr"/>
          <a:lstStyle/>
          <a:p>
            <a:pPr indent="0" marL="0">
              <a:buNone/>
            </a:pPr>
            <a:r>
              <a:rPr lang="en-US" sz="1600" b="1" dirty="0">
                <a:solidFill>
                  <a:srgbClr val="000000"/>
                </a:solidFill>
                <a:latin typeface="Calibri" pitchFamily="34" charset="0"/>
                <a:ea typeface="Calibri" pitchFamily="34" charset="-122"/>
                <a:cs typeface="Calibri" pitchFamily="34" charset="-120"/>
              </a:rPr>
              <a:t>On "general weakness" - does CMS define it?</a:t>
            </a:r>
            <a:endParaRPr lang="en-US" sz="1600" dirty="0"/>
          </a:p>
        </p:txBody>
      </p:sp>
      <p:sp>
        <p:nvSpPr>
          <p:cNvPr id="9" name="Text 6"/>
          <p:cNvSpPr/>
          <p:nvPr/>
        </p:nvSpPr>
        <p:spPr>
          <a:xfrm>
            <a:off x="640080" y="5193792"/>
            <a:ext cx="10881360" cy="868680"/>
          </a:xfrm>
          <a:prstGeom prst="rect">
            <a:avLst/>
          </a:prstGeom>
          <a:noFill/>
          <a:ln/>
        </p:spPr>
        <p:txBody>
          <a:bodyPr wrap="square" lIns="0" tIns="0" rIns="0" bIns="0" rtlCol="0" anchor="t"/>
          <a:lstStyle/>
          <a:p>
            <a:pPr indent="0" marL="0">
              <a:buNone/>
            </a:pPr>
            <a:r>
              <a:rPr lang="en-US" sz="1250" dirty="0">
                <a:solidFill>
                  <a:srgbClr val="000000"/>
                </a:solidFill>
                <a:latin typeface="Calibri" pitchFamily="34" charset="0"/>
                <a:ea typeface="Calibri" pitchFamily="34" charset="-122"/>
                <a:cs typeface="Calibri" pitchFamily="34" charset="-120"/>
              </a:rPr>
              <a:t>CMS publishes no standalone definition of weakness. MAC guidance cites severe generalized weakness as an example of a beneficiary who is bed-confined and must be moved by stretcher rather than wheelchair. The qualifier and the functional consequence carry the claim, not the word itself. "General weakness" as written in 8,565 orders does not meet that bar; "severe generalized weakness, unable to sit unsupported" would. This is a documentation fix, not a coverage problem.</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457200"/>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Classification logic and definitions</a:t>
            </a:r>
            <a:endParaRPr lang="en-US" sz="3000" dirty="0"/>
          </a:p>
        </p:txBody>
      </p:sp>
      <p:sp>
        <p:nvSpPr>
          <p:cNvPr id="3" name="Text 1"/>
          <p:cNvSpPr/>
          <p:nvPr/>
        </p:nvSpPr>
        <p:spPr>
          <a:xfrm>
            <a:off x="640080" y="914400"/>
            <a:ext cx="10972800" cy="320040"/>
          </a:xfrm>
          <a:prstGeom prst="rect">
            <a:avLst/>
          </a:prstGeom>
          <a:noFill/>
          <a:ln/>
        </p:spPr>
        <p:txBody>
          <a:bodyPr wrap="square" lIns="0" tIns="0" rIns="0" bIns="0" rtlCol="0" anchor="ctr"/>
          <a:lstStyle/>
          <a:p>
            <a:pPr indent="0" marL="0">
              <a:buNone/>
            </a:pPr>
            <a:r>
              <a:rPr lang="en-US" sz="1400" dirty="0">
                <a:solidFill>
                  <a:srgbClr val="595959"/>
                </a:solidFill>
                <a:latin typeface="Calibri" pitchFamily="34" charset="0"/>
                <a:ea typeface="Calibri" pitchFamily="34" charset="-122"/>
                <a:cs typeface="Calibri" pitchFamily="34" charset="-120"/>
              </a:rPr>
              <a:t>Fuzzy term matching against the free-text field. Each concept carries a term list derived from terminology present in the orders themselves.</a:t>
            </a:r>
            <a:endParaRPr lang="en-US" sz="1400" dirty="0"/>
          </a:p>
        </p:txBody>
      </p:sp>
      <p:sp>
        <p:nvSpPr>
          <p:cNvPr id="4" name="Text 2"/>
          <p:cNvSpPr/>
          <p:nvPr/>
        </p:nvSpPr>
        <p:spPr>
          <a:xfrm>
            <a:off x="640080" y="1463040"/>
            <a:ext cx="5394960" cy="256032"/>
          </a:xfrm>
          <a:prstGeom prst="rect">
            <a:avLst/>
          </a:prstGeom>
          <a:noFill/>
          <a:ln/>
        </p:spPr>
        <p:txBody>
          <a:bodyPr wrap="square" lIns="0" tIns="0" rIns="0" bIns="0" rtlCol="0" anchor="ctr"/>
          <a:lstStyle/>
          <a:p>
            <a:pPr indent="0" marL="0">
              <a:buNone/>
            </a:pPr>
            <a:r>
              <a:rPr lang="en-US" sz="1600" b="1" dirty="0">
                <a:solidFill>
                  <a:srgbClr val="000000"/>
                </a:solidFill>
                <a:latin typeface="Calibri" pitchFamily="34" charset="0"/>
                <a:ea typeface="Calibri" pitchFamily="34" charset="-122"/>
                <a:cs typeface="Calibri" pitchFamily="34" charset="-120"/>
              </a:rPr>
              <a:t>How an order is classified</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764792"/>
          <a:ext cx="5394960" cy="914400"/>
        </p:xfrm>
        <a:graphic>
          <a:graphicData uri="http://schemas.openxmlformats.org/drawingml/2006/table">
            <a:tbl>
              <a:tblPr/>
              <a:tblGrid>
                <a:gridCol w="1188720"/>
                <a:gridCol w="777240"/>
                <a:gridCol w="777240"/>
                <a:gridCol w="1508760"/>
                <a:gridCol w="1143000"/>
              </a:tblGrid>
              <a:tr h="274320">
                <a:tc>
                  <a:txBody>
                    <a:bodyPr/>
                    <a:lstStyle/>
                    <a:p>
                      <a:pPr algn="l" indent="0" marL="0">
                        <a:buNone/>
                      </a:pPr>
                      <a:r>
                        <a:rPr lang="en-US" sz="1050" b="1" dirty="0">
                          <a:solidFill>
                            <a:srgbClr val="000000"/>
                          </a:solidFill>
                          <a:latin typeface="Calibri" pitchFamily="34" charset="0"/>
                          <a:ea typeface="Calibri" pitchFamily="34" charset="-122"/>
                          <a:cs typeface="Calibri" pitchFamily="34" charset="-120"/>
                        </a:rPr>
                        <a:t>Free-text field</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en-US" sz="1050" b="1" dirty="0">
                          <a:solidFill>
                            <a:srgbClr val="000000"/>
                          </a:solidFill>
                          <a:latin typeface="Calibri" pitchFamily="34" charset="0"/>
                          <a:ea typeface="Calibri" pitchFamily="34" charset="-122"/>
                          <a:cs typeface="Calibri" pitchFamily="34" charset="-120"/>
                        </a:rPr>
                        <a:t>Group A</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en-US" sz="1050" b="1" dirty="0">
                          <a:solidFill>
                            <a:srgbClr val="000000"/>
                          </a:solidFill>
                          <a:latin typeface="Calibri" pitchFamily="34" charset="0"/>
                          <a:ea typeface="Calibri" pitchFamily="34" charset="-122"/>
                          <a:cs typeface="Calibri" pitchFamily="34" charset="-120"/>
                        </a:rPr>
                        <a:t>Group B</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en-US" sz="1050" b="1" dirty="0">
                          <a:solidFill>
                            <a:srgbClr val="000000"/>
                          </a:solidFill>
                          <a:latin typeface="Calibri" pitchFamily="34" charset="0"/>
                          <a:ea typeface="Calibri" pitchFamily="34" charset="-122"/>
                          <a:cs typeface="Calibri" pitchFamily="34" charset="-120"/>
                        </a:rPr>
                        <a:t>Classification</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en-US" sz="1050" b="1" dirty="0">
                          <a:solidFill>
                            <a:srgbClr val="000000"/>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7432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Empty</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no_documentation</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Denial risk</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7432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Has text</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clear_reason</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CMS aligned</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7432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Has text</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reason_plus_filler</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CMS aligned</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7432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Has text</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filler_only</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Denial risk</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7432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Has text</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unrecognized</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Unclassified</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6" name="Text 3"/>
          <p:cNvSpPr/>
          <p:nvPr/>
        </p:nvSpPr>
        <p:spPr>
          <a:xfrm>
            <a:off x="640080" y="3657600"/>
            <a:ext cx="5394960" cy="256032"/>
          </a:xfrm>
          <a:prstGeom prst="rect">
            <a:avLst/>
          </a:prstGeom>
          <a:noFill/>
          <a:ln/>
        </p:spPr>
        <p:txBody>
          <a:bodyPr wrap="square" lIns="0" tIns="0" rIns="0" bIns="0" rtlCol="0" anchor="ctr"/>
          <a:lstStyle/>
          <a:p>
            <a:pPr indent="0" marL="0">
              <a:buNone/>
            </a:pPr>
            <a:r>
              <a:rPr lang="en-US" sz="1600" b="1" dirty="0">
                <a:solidFill>
                  <a:srgbClr val="000000"/>
                </a:solidFill>
                <a:latin typeface="Calibri" pitchFamily="34" charset="0"/>
                <a:ea typeface="Calibri" pitchFamily="34" charset="-122"/>
                <a:cs typeface="Calibri" pitchFamily="34" charset="-120"/>
              </a:rPr>
              <a:t>Example term list - mobility_deficit</a:t>
            </a:r>
            <a:endParaRPr lang="en-US" sz="1600" dirty="0"/>
          </a:p>
        </p:txBody>
      </p:sp>
      <p:sp>
        <p:nvSpPr>
          <p:cNvPr id="7" name="Text 4"/>
          <p:cNvSpPr/>
          <p:nvPr/>
        </p:nvSpPr>
        <p:spPr>
          <a:xfrm>
            <a:off x="640080" y="3959352"/>
            <a:ext cx="5394960" cy="640080"/>
          </a:xfrm>
          <a:prstGeom prst="rect">
            <a:avLst/>
          </a:prstGeom>
          <a:noFill/>
          <a:ln/>
        </p:spPr>
        <p:txBody>
          <a:bodyPr wrap="square" lIns="0" tIns="0" rIns="0" bIns="0" rtlCol="0" anchor="t"/>
          <a:lstStyle/>
          <a:p>
            <a:pPr indent="0" marL="0">
              <a:buNone/>
            </a:pPr>
            <a:r>
              <a:rPr lang="en-US" sz="1100" dirty="0">
                <a:solidFill>
                  <a:srgbClr val="000000"/>
                </a:solidFill>
                <a:latin typeface="Calibri" pitchFamily="34" charset="0"/>
                <a:ea typeface="Calibri" pitchFamily="34" charset="-122"/>
                <a:cs typeface="Calibri" pitchFamily="34" charset="-120"/>
              </a:rPr>
              <a:t>hemipar | hemipleg | paraly | non ambulat | unable to bear weight | unable to ambulate | unable to walk | unable to stand | fracture | amputat | contracture</a:t>
            </a:r>
            <a:endParaRPr lang="en-US" sz="1100" dirty="0"/>
          </a:p>
        </p:txBody>
      </p:sp>
      <p:sp>
        <p:nvSpPr>
          <p:cNvPr id="8" name="Text 5"/>
          <p:cNvSpPr/>
          <p:nvPr/>
        </p:nvSpPr>
        <p:spPr>
          <a:xfrm>
            <a:off x="640080" y="4663440"/>
            <a:ext cx="5394960" cy="256032"/>
          </a:xfrm>
          <a:prstGeom prst="rect">
            <a:avLst/>
          </a:prstGeom>
          <a:noFill/>
          <a:ln/>
        </p:spPr>
        <p:txBody>
          <a:bodyPr wrap="square" lIns="0" tIns="0" rIns="0" bIns="0" rtlCol="0" anchor="ctr"/>
          <a:lstStyle/>
          <a:p>
            <a:pPr indent="0" marL="0">
              <a:buNone/>
            </a:pPr>
            <a:r>
              <a:rPr lang="en-US" sz="1600" b="1" dirty="0">
                <a:solidFill>
                  <a:srgbClr val="000000"/>
                </a:solidFill>
                <a:latin typeface="Calibri" pitchFamily="34" charset="0"/>
                <a:ea typeface="Calibri" pitchFamily="34" charset="-122"/>
                <a:cs typeface="Calibri" pitchFamily="34" charset="-120"/>
              </a:rPr>
              <a:t>Data sources</a:t>
            </a:r>
            <a:endParaRPr lang="en-US" sz="1600" dirty="0"/>
          </a:p>
        </p:txBody>
      </p:sp>
      <p:sp>
        <p:nvSpPr>
          <p:cNvPr id="9" name="Text 6"/>
          <p:cNvSpPr/>
          <p:nvPr/>
        </p:nvSpPr>
        <p:spPr>
          <a:xfrm>
            <a:off x="640080" y="4965192"/>
            <a:ext cx="5394960" cy="11887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000000"/>
                </a:solidFill>
                <a:latin typeface="Calibri" pitchFamily="34" charset="0"/>
                <a:ea typeface="Calibri" pitchFamily="34" charset="-122"/>
                <a:cs typeface="Calibri" pitchFamily="34" charset="-120"/>
              </a:rPr>
              <a:t>Clinical notes - the free-text reason recorded on the order</a:t>
            </a:r>
            <a:endParaRPr lang="en-US" sz="1150" dirty="0"/>
          </a:p>
          <a:p>
            <a:pPr marL="342900" indent="-342900">
              <a:spcAft>
                <a:spcPts val="400"/>
              </a:spcAft>
              <a:buSzPct val="100000"/>
              <a:buChar char="•"/>
            </a:pPr>
            <a:r>
              <a:rPr lang="en-US" sz="1150" dirty="0">
                <a:solidFill>
                  <a:srgbClr val="000000"/>
                </a:solidFill>
                <a:latin typeface="Calibri" pitchFamily="34" charset="0"/>
                <a:ea typeface="Calibri" pitchFamily="34" charset="-122"/>
                <a:cs typeface="Calibri" pitchFamily="34" charset="-120"/>
              </a:rPr>
              <a:t>Operational data - level of service, facility, customer, market</a:t>
            </a:r>
            <a:endParaRPr lang="en-US" sz="1150" dirty="0"/>
          </a:p>
          <a:p>
            <a:pPr marL="342900" indent="-342900">
              <a:spcAft>
                <a:spcPts val="400"/>
              </a:spcAft>
              <a:buSzPct val="100000"/>
              <a:buChar char="•"/>
            </a:pPr>
            <a:r>
              <a:rPr lang="en-US" sz="1150" dirty="0">
                <a:solidFill>
                  <a:srgbClr val="000000"/>
                </a:solidFill>
                <a:latin typeface="Calibri" pitchFamily="34" charset="0"/>
                <a:ea typeface="Calibri" pitchFamily="34" charset="-122"/>
                <a:cs typeface="Calibri" pitchFamily="34" charset="-120"/>
              </a:rPr>
              <a:t>CMS rule library - Manual 10.2.1 and 10.2.3, 42 CFR 414.605, MAC guidance</a:t>
            </a:r>
            <a:endParaRPr lang="en-US" sz="1150" dirty="0"/>
          </a:p>
          <a:p>
            <a:pPr marL="342900" indent="-342900">
              <a:spcAft>
                <a:spcPts val="400"/>
              </a:spcAft>
              <a:buSzPct val="100000"/>
              <a:buChar char="•"/>
            </a:pPr>
            <a:r>
              <a:rPr lang="en-US" sz="1150" dirty="0">
                <a:solidFill>
                  <a:srgbClr val="000000"/>
                </a:solidFill>
                <a:latin typeface="Calibri" pitchFamily="34" charset="0"/>
                <a:ea typeface="Calibri" pitchFamily="34" charset="-122"/>
                <a:cs typeface="Calibri" pitchFamily="34" charset="-120"/>
              </a:rPr>
              <a:t>Denial history and GY modifier trends - available from revenue cycle, not yet integrated</a:t>
            </a:r>
            <a:endParaRPr lang="en-US" sz="1150" dirty="0"/>
          </a:p>
        </p:txBody>
      </p:sp>
      <p:sp>
        <p:nvSpPr>
          <p:cNvPr id="10" name="Text 7"/>
          <p:cNvSpPr/>
          <p:nvPr/>
        </p:nvSpPr>
        <p:spPr>
          <a:xfrm>
            <a:off x="6492240" y="1463040"/>
            <a:ext cx="5029200" cy="256032"/>
          </a:xfrm>
          <a:prstGeom prst="rect">
            <a:avLst/>
          </a:prstGeom>
          <a:noFill/>
          <a:ln/>
        </p:spPr>
        <p:txBody>
          <a:bodyPr wrap="square" lIns="0" tIns="0" rIns="0" bIns="0" rtlCol="0" anchor="ctr"/>
          <a:lstStyle/>
          <a:p>
            <a:pPr indent="0" marL="0">
              <a:buNone/>
            </a:pPr>
            <a:r>
              <a:rPr lang="en-US" sz="1600" b="1" dirty="0">
                <a:solidFill>
                  <a:srgbClr val="000000"/>
                </a:solidFill>
                <a:latin typeface="Calibri" pitchFamily="34" charset="0"/>
                <a:ea typeface="Calibri" pitchFamily="34" charset="-122"/>
                <a:cs typeface="Calibri" pitchFamily="34" charset="-120"/>
              </a:rPr>
              <a:t>Definition: CMS aligned</a:t>
            </a:r>
            <a:endParaRPr lang="en-US" sz="1600" dirty="0"/>
          </a:p>
        </p:txBody>
      </p:sp>
      <p:sp>
        <p:nvSpPr>
          <p:cNvPr id="11" name="Text 8"/>
          <p:cNvSpPr/>
          <p:nvPr/>
        </p:nvSpPr>
        <p:spPr>
          <a:xfrm>
            <a:off x="6492240" y="1764792"/>
            <a:ext cx="5029200" cy="1005840"/>
          </a:xfrm>
          <a:prstGeom prst="rect">
            <a:avLst/>
          </a:prstGeom>
          <a:noFill/>
          <a:ln/>
        </p:spPr>
        <p:txBody>
          <a:bodyPr wrap="square" lIns="0" tIns="0" rIns="0" bIns="0" rtlCol="0" anchor="t"/>
          <a:lstStyle/>
          <a:p>
            <a:pPr indent="0" marL="0">
              <a:buNone/>
            </a:pPr>
            <a:r>
              <a:rPr lang="en-US" sz="1200" dirty="0">
                <a:solidFill>
                  <a:srgbClr val="000000"/>
                </a:solidFill>
                <a:latin typeface="Calibri" pitchFamily="34" charset="0"/>
                <a:ea typeface="Calibri" pitchFamily="34" charset="-122"/>
                <a:cs typeface="Calibri" pitchFamily="34" charset="-120"/>
              </a:rPr>
              <a:t>The order contains language mapping to a CMS medical necessity concept. It does not indicate that every criterion is satisfied - the bed-confined test requires all three prongs, and this test checks only that qualifying language is present. It is neither an internal standard nor a prediction of payment.</a:t>
            </a:r>
            <a:endParaRPr lang="en-US" sz="1200" dirty="0"/>
          </a:p>
        </p:txBody>
      </p:sp>
      <p:sp>
        <p:nvSpPr>
          <p:cNvPr id="12" name="Text 9"/>
          <p:cNvSpPr/>
          <p:nvPr/>
        </p:nvSpPr>
        <p:spPr>
          <a:xfrm>
            <a:off x="6492240" y="2834640"/>
            <a:ext cx="5029200" cy="256032"/>
          </a:xfrm>
          <a:prstGeom prst="rect">
            <a:avLst/>
          </a:prstGeom>
          <a:noFill/>
          <a:ln/>
        </p:spPr>
        <p:txBody>
          <a:bodyPr wrap="square" lIns="0" tIns="0" rIns="0" bIns="0" rtlCol="0" anchor="ctr"/>
          <a:lstStyle/>
          <a:p>
            <a:pPr indent="0" marL="0">
              <a:buNone/>
            </a:pPr>
            <a:r>
              <a:rPr lang="en-US" sz="1600" b="1" dirty="0">
                <a:solidFill>
                  <a:srgbClr val="000000"/>
                </a:solidFill>
                <a:latin typeface="Calibri" pitchFamily="34" charset="0"/>
                <a:ea typeface="Calibri" pitchFamily="34" charset="-122"/>
                <a:cs typeface="Calibri" pitchFamily="34" charset="-120"/>
              </a:rPr>
              <a:t>Definition: denial risk</a:t>
            </a:r>
            <a:endParaRPr lang="en-US" sz="1600" dirty="0"/>
          </a:p>
        </p:txBody>
      </p:sp>
      <p:sp>
        <p:nvSpPr>
          <p:cNvPr id="13" name="Text 10"/>
          <p:cNvSpPr/>
          <p:nvPr/>
        </p:nvSpPr>
        <p:spPr>
          <a:xfrm>
            <a:off x="6492240" y="3136392"/>
            <a:ext cx="5029200" cy="777240"/>
          </a:xfrm>
          <a:prstGeom prst="rect">
            <a:avLst/>
          </a:prstGeom>
          <a:noFill/>
          <a:ln/>
        </p:spPr>
        <p:txBody>
          <a:bodyPr wrap="square" lIns="0" tIns="0" rIns="0" bIns="0" rtlCol="0" anchor="t"/>
          <a:lstStyle/>
          <a:p>
            <a:pPr indent="0" marL="0">
              <a:buNone/>
            </a:pPr>
            <a:r>
              <a:rPr lang="en-US" sz="1200" dirty="0">
                <a:solidFill>
                  <a:srgbClr val="000000"/>
                </a:solidFill>
                <a:latin typeface="Calibri" pitchFamily="34" charset="0"/>
                <a:ea typeface="Calibri" pitchFamily="34" charset="-122"/>
                <a:cs typeface="Calibri" pitchFamily="34" charset="-120"/>
              </a:rPr>
              <a:t>The order carries no Group A concept - either nothing was entered, or only vague filler was. On review, documentation of this kind does not establish that other transport was contraindicated.</a:t>
            </a:r>
            <a:endParaRPr lang="en-US" sz="1200" dirty="0"/>
          </a:p>
        </p:txBody>
      </p:sp>
      <p:sp>
        <p:nvSpPr>
          <p:cNvPr id="14" name="Text 11"/>
          <p:cNvSpPr/>
          <p:nvPr/>
        </p:nvSpPr>
        <p:spPr>
          <a:xfrm>
            <a:off x="6492240" y="3977640"/>
            <a:ext cx="5029200" cy="256032"/>
          </a:xfrm>
          <a:prstGeom prst="rect">
            <a:avLst/>
          </a:prstGeom>
          <a:noFill/>
          <a:ln/>
        </p:spPr>
        <p:txBody>
          <a:bodyPr wrap="square" lIns="0" tIns="0" rIns="0" bIns="0" rtlCol="0" anchor="ctr"/>
          <a:lstStyle/>
          <a:p>
            <a:pPr indent="0" marL="0">
              <a:buNone/>
            </a:pPr>
            <a:r>
              <a:rPr lang="en-US" sz="1600" b="1" dirty="0">
                <a:solidFill>
                  <a:srgbClr val="000000"/>
                </a:solidFill>
                <a:latin typeface="Calibri" pitchFamily="34" charset="0"/>
                <a:ea typeface="Calibri" pitchFamily="34" charset="-122"/>
                <a:cs typeface="Calibri" pitchFamily="34" charset="-120"/>
              </a:rPr>
              <a:t>Definition: unclassified</a:t>
            </a:r>
            <a:endParaRPr lang="en-US" sz="1600" dirty="0"/>
          </a:p>
        </p:txBody>
      </p:sp>
      <p:sp>
        <p:nvSpPr>
          <p:cNvPr id="15" name="Text 12"/>
          <p:cNvSpPr/>
          <p:nvPr/>
        </p:nvSpPr>
        <p:spPr>
          <a:xfrm>
            <a:off x="6492240" y="4279392"/>
            <a:ext cx="5029200" cy="1188720"/>
          </a:xfrm>
          <a:prstGeom prst="rect">
            <a:avLst/>
          </a:prstGeom>
          <a:noFill/>
          <a:ln/>
        </p:spPr>
        <p:txBody>
          <a:bodyPr wrap="square" lIns="0" tIns="0" rIns="0" bIns="0" rtlCol="0" anchor="t"/>
          <a:lstStyle/>
          <a:p>
            <a:pPr indent="0" marL="0">
              <a:buNone/>
            </a:pPr>
            <a:r>
              <a:rPr lang="en-US" sz="1200" dirty="0">
                <a:solidFill>
                  <a:srgbClr val="000000"/>
                </a:solidFill>
                <a:latin typeface="Calibri" pitchFamily="34" charset="0"/>
                <a:ea typeface="Calibri" pitchFamily="34" charset="-122"/>
                <a:cs typeface="Calibri" pitchFamily="34" charset="-120"/>
              </a:rPr>
              <a:t>Text was entered but matched no Group A or Group B term. This indicates a gap in the term list rather than an undocumented order. Contributing causes include abbreviations, misspellings, and local shorthand. These 22,030 orders cannot currently be resolved, and represent the clearest case for natural language processing.</a:t>
            </a:r>
            <a:endParaRPr lang="en-US" sz="1200" dirty="0"/>
          </a:p>
        </p:txBody>
      </p:sp>
      <p:sp>
        <p:nvSpPr>
          <p:cNvPr id="16" name="Text 13"/>
          <p:cNvSpPr/>
          <p:nvPr/>
        </p:nvSpPr>
        <p:spPr>
          <a:xfrm>
            <a:off x="6492240" y="5532120"/>
            <a:ext cx="5029200" cy="640080"/>
          </a:xfrm>
          <a:prstGeom prst="rect">
            <a:avLst/>
          </a:prstGeom>
          <a:noFill/>
          <a:ln/>
        </p:spPr>
        <p:txBody>
          <a:bodyPr wrap="square" lIns="0" tIns="0" rIns="0" bIns="0" rtlCol="0" anchor="t"/>
          <a:lstStyle/>
          <a:p>
            <a:pPr indent="0" marL="0">
              <a:buNone/>
            </a:pPr>
            <a:r>
              <a:rPr lang="en-US" sz="1100" dirty="0">
                <a:solidFill>
                  <a:srgbClr val="595959"/>
                </a:solidFill>
                <a:latin typeface="Calibri" pitchFamily="34" charset="0"/>
                <a:ea typeface="Calibri" pitchFamily="34" charset="-122"/>
                <a:cs typeface="Calibri" pitchFamily="34" charset="-120"/>
              </a:rPr>
              <a:t>Limitations: matching is lexical rather than semantic, testing for the presence of qualifying language rather than the validity of the clinical claim. An order may carry multiple concepts, so concept tags (116,918) exceed order counts (90,428).</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457200"/>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Concept dictionary and CMS basis</a:t>
            </a:r>
            <a:endParaRPr lang="en-US" sz="3000" dirty="0"/>
          </a:p>
        </p:txBody>
      </p:sp>
      <p:sp>
        <p:nvSpPr>
          <p:cNvPr id="3" name="Text 1"/>
          <p:cNvSpPr/>
          <p:nvPr/>
        </p:nvSpPr>
        <p:spPr>
          <a:xfrm>
            <a:off x="640080" y="914400"/>
            <a:ext cx="10972800" cy="320040"/>
          </a:xfrm>
          <a:prstGeom prst="rect">
            <a:avLst/>
          </a:prstGeom>
          <a:noFill/>
          <a:ln/>
        </p:spPr>
        <p:txBody>
          <a:bodyPr wrap="square" lIns="0" tIns="0" rIns="0" bIns="0" rtlCol="0" anchor="ctr"/>
          <a:lstStyle/>
          <a:p>
            <a:pPr indent="0" marL="0">
              <a:buNone/>
            </a:pPr>
            <a:r>
              <a:rPr lang="en-US" sz="1400" dirty="0">
                <a:solidFill>
                  <a:srgbClr val="595959"/>
                </a:solidFill>
                <a:latin typeface="Calibri" pitchFamily="34" charset="0"/>
                <a:ea typeface="Calibri" pitchFamily="34" charset="-122"/>
                <a:cs typeface="Calibri" pitchFamily="34" charset="-120"/>
              </a:rPr>
              <a:t>15 concepts. Group A is a clinical reason; Group B is vague filler and never confers alignment. Percentages are of the 90,428 orders in scope, 2024 to present (July 2026).</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0881360" cy="914400"/>
        </p:xfrm>
        <a:graphic>
          <a:graphicData uri="http://schemas.openxmlformats.org/drawingml/2006/table">
            <a:tbl>
              <a:tblPr/>
              <a:tblGrid>
                <a:gridCol w="1828800"/>
                <a:gridCol w="1554480"/>
                <a:gridCol w="5029200"/>
                <a:gridCol w="1234440"/>
                <a:gridCol w="1234440"/>
              </a:tblGrid>
              <a:tr h="265176">
                <a:tc>
                  <a:txBody>
                    <a:bodyPr/>
                    <a:lstStyle/>
                    <a:p>
                      <a:pPr algn="l" indent="0" marL="0">
                        <a:buNone/>
                      </a:pPr>
                      <a:r>
                        <a:rPr lang="en-US" sz="1100" b="1" dirty="0">
                          <a:solidFill>
                            <a:srgbClr val="000000"/>
                          </a:solidFill>
                          <a:latin typeface="Calibri" pitchFamily="34" charset="0"/>
                          <a:ea typeface="Calibri" pitchFamily="34" charset="-122"/>
                          <a:cs typeface="Calibri" pitchFamily="34" charset="-120"/>
                        </a:rPr>
                        <a:t>Concept</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en-US" sz="1100" b="1" dirty="0">
                          <a:solidFill>
                            <a:srgbClr val="000000"/>
                          </a:solidFill>
                          <a:latin typeface="Calibri" pitchFamily="34" charset="0"/>
                          <a:ea typeface="Calibri" pitchFamily="34" charset="-122"/>
                          <a:cs typeface="Calibri" pitchFamily="34" charset="-120"/>
                        </a:rPr>
                        <a:t>Group</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en-US" sz="1100" b="1" dirty="0">
                          <a:solidFill>
                            <a:srgbClr val="000000"/>
                          </a:solidFill>
                          <a:latin typeface="Calibri" pitchFamily="34" charset="0"/>
                          <a:ea typeface="Calibri" pitchFamily="34" charset="-122"/>
                          <a:cs typeface="Calibri" pitchFamily="34" charset="-120"/>
                        </a:rPr>
                        <a:t>CMS basis</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b="1" dirty="0">
                          <a:solidFill>
                            <a:srgbClr val="000000"/>
                          </a:solidFill>
                          <a:latin typeface="Calibri" pitchFamily="34" charset="0"/>
                          <a:ea typeface="Calibri" pitchFamily="34" charset="-122"/>
                          <a:cs typeface="Calibri" pitchFamily="34" charset="-120"/>
                        </a:rPr>
                        <a:t>Tags</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b="1" dirty="0">
                          <a:solidFill>
                            <a:srgbClr val="000000"/>
                          </a:solidFill>
                          <a:latin typeface="Calibri" pitchFamily="34" charset="0"/>
                          <a:ea typeface="Calibri" pitchFamily="34" charset="-122"/>
                          <a:cs typeface="Calibri" pitchFamily="34" charset="-120"/>
                        </a:rPr>
                        <a:t>Pct</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6517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mobility_deficit</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 - aligned</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Manual 10.2.3, prongs 1-2 (cannot get up or ambulate)</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22,307</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24.7</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6517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cannot_sit</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 - aligned</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Manual 10.2.3, prong 3 (cannot sit in a chair)</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18,927</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20.9</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6517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bed_confined</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 - aligned</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Manual 10.2.3 (all three prongs required)</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16,227</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17.9</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6517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oxygen</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 - inferred</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Manual 10.2.1; chronic O2 alone does not qualify</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15,578</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17.2</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6517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cardiac</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 - aligned</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42 CFR 414.605 (ALS assessment / ALS2 procedures)</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10,668</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11.8</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6517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weakness_only</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B - no support</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MAC guidance - vague and general information is of little value</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8,565</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9.5</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6517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behavioral</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 - inferred</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Manual 10.2.1; weakest - CMS wants a physical limitation</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8,505</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9.4</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6517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isolation</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 - inferred</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Manual 10.2.1; infection control, not a patient contraindication</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6,456</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7.1</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6517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fall_risk_only</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B - no support</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MAC guidance - a risk is not a contraindication</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4,747</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5.3</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6517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wound_ostomy</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 - inferred</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Manual 10.2.1; works via positioning, not on its own</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1,931</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2.1</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6517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ventilator</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 - aligned</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42 CFR 414.605 (ALS2 airway; SCT respiratory care)</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1,267</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6517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suctioning</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 - aligned</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42 CFR 414.605 (SCT - beyond EMT-Paramedic scope)</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713</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0.8</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6517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iv_medication</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 - aligned</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42 CFR 414.605 (ALS2 - 3+ IV meds; central line)</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641</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0.7</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6517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bariatric</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 - inferred</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Manual 10.2.1; handling requirement, not a contraindication</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351</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0.4</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6517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nonclinical</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B - no support</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Manual 10.2.1 - a physician order alone does not prove necessity</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0.0</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5" name="Text 2"/>
          <p:cNvSpPr/>
          <p:nvPr/>
        </p:nvSpPr>
        <p:spPr>
          <a:xfrm>
            <a:off x="640080" y="5943600"/>
            <a:ext cx="10881360" cy="457200"/>
          </a:xfrm>
          <a:prstGeom prst="rect">
            <a:avLst/>
          </a:prstGeom>
          <a:noFill/>
          <a:ln/>
        </p:spPr>
        <p:txBody>
          <a:bodyPr wrap="square" lIns="0" tIns="0" rIns="0" bIns="0" rtlCol="0" anchor="ctr"/>
          <a:lstStyle/>
          <a:p>
            <a:pPr indent="0" marL="0">
              <a:buNone/>
            </a:pPr>
            <a:r>
              <a:rPr lang="en-US" sz="1200" dirty="0">
                <a:solidFill>
                  <a:srgbClr val="595959"/>
                </a:solidFill>
                <a:latin typeface="Calibri" pitchFamily="34" charset="0"/>
                <a:ea typeface="Calibri" pitchFamily="34" charset="-122"/>
                <a:cs typeface="Calibri" pitchFamily="34" charset="-120"/>
              </a:rPr>
              <a:t>Five concepts are marked inferred - an interpretation of the general necessity test rather than a named CMS rule, and the first candidates for challenge. Behavioral is the weakest and may belong in Group B. Group B tags total 13,347. Tags exceed orders because an order can carry several concepts.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457200"/>
          </a:xfrm>
          <a:prstGeom prst="rect">
            <a:avLst/>
          </a:prstGeom>
          <a:noFill/>
          <a:ln/>
        </p:spPr>
        <p:txBody>
          <a:bodyPr wrap="square" lIns="0" tIns="0" rIns="0" bIns="0" rtlCol="0" anchor="ctr"/>
          <a:lstStyle/>
          <a:p>
            <a:pPr indent="0" marL="0">
              <a:buNone/>
            </a:pPr>
            <a:r>
              <a:rPr lang="en-US" sz="3200" b="1" dirty="0">
                <a:solidFill>
                  <a:srgbClr val="000000"/>
                </a:solidFill>
                <a:latin typeface="Calibri" pitchFamily="34" charset="0"/>
                <a:ea typeface="Calibri" pitchFamily="34" charset="-122"/>
                <a:cs typeface="Calibri" pitchFamily="34" charset="-120"/>
              </a:rPr>
              <a:t>Results</a:t>
            </a:r>
            <a:endParaRPr lang="en-US" sz="3200" dirty="0"/>
          </a:p>
        </p:txBody>
      </p:sp>
      <p:sp>
        <p:nvSpPr>
          <p:cNvPr id="3" name="Text 1"/>
          <p:cNvSpPr/>
          <p:nvPr/>
        </p:nvSpPr>
        <p:spPr>
          <a:xfrm>
            <a:off x="640080" y="960120"/>
            <a:ext cx="10972800" cy="320040"/>
          </a:xfrm>
          <a:prstGeom prst="rect">
            <a:avLst/>
          </a:prstGeom>
          <a:noFill/>
          <a:ln/>
        </p:spPr>
        <p:txBody>
          <a:bodyPr wrap="square" lIns="0" tIns="0" rIns="0" bIns="0" rtlCol="0" anchor="ctr"/>
          <a:lstStyle/>
          <a:p>
            <a:pPr indent="0" marL="0">
              <a:buNone/>
            </a:pPr>
            <a:r>
              <a:rPr lang="en-US" sz="1400" dirty="0">
                <a:solidFill>
                  <a:srgbClr val="595959"/>
                </a:solidFill>
                <a:latin typeface="Calibri" pitchFamily="34" charset="0"/>
                <a:ea typeface="Calibri" pitchFamily="34" charset="-122"/>
                <a:cs typeface="Calibri" pitchFamily="34" charset="-120"/>
              </a:rPr>
              <a:t>90,428 non-emergent ground orders in scope, of 104,634 trip legs reviewed  |  Texas Health Resources and MUSC  |  2024 to present (July 2026)</a:t>
            </a:r>
            <a:endParaRPr lang="en-US" sz="1400" dirty="0"/>
          </a:p>
        </p:txBody>
      </p:sp>
      <p:sp>
        <p:nvSpPr>
          <p:cNvPr id="4" name="Text 2"/>
          <p:cNvSpPr/>
          <p:nvPr/>
        </p:nvSpPr>
        <p:spPr>
          <a:xfrm>
            <a:off x="640080" y="1554480"/>
            <a:ext cx="5303520" cy="274320"/>
          </a:xfrm>
          <a:prstGeom prst="rect">
            <a:avLst/>
          </a:prstGeom>
          <a:noFill/>
          <a:ln/>
        </p:spPr>
        <p:txBody>
          <a:bodyPr wrap="square" lIns="0" tIns="0" rIns="0" bIns="0" rtlCol="0" anchor="ctr"/>
          <a:lstStyle/>
          <a:p>
            <a:pPr indent="0" marL="0">
              <a:buNone/>
            </a:pPr>
            <a:r>
              <a:rPr lang="en-US" sz="1600" b="1" dirty="0">
                <a:solidFill>
                  <a:srgbClr val="000000"/>
                </a:solidFill>
                <a:latin typeface="Calibri" pitchFamily="34" charset="0"/>
                <a:ea typeface="Calibri" pitchFamily="34" charset="-122"/>
                <a:cs typeface="Calibri" pitchFamily="34" charset="-120"/>
              </a:rPr>
              <a:t>Classification results</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5303520" cy="914400"/>
        </p:xfrm>
        <a:graphic>
          <a:graphicData uri="http://schemas.openxmlformats.org/drawingml/2006/table">
            <a:tbl>
              <a:tblPr/>
              <a:tblGrid>
                <a:gridCol w="1874520"/>
                <a:gridCol w="1325880"/>
                <a:gridCol w="1051560"/>
                <a:gridCol w="1051560"/>
              </a:tblGrid>
              <a:tr h="265176">
                <a:tc>
                  <a:txBody>
                    <a:bodyPr/>
                    <a:lstStyle/>
                    <a:p>
                      <a:pPr algn="l" indent="0" marL="0">
                        <a:buNone/>
                      </a:pPr>
                      <a:r>
                        <a:rPr lang="en-US" sz="1200" b="1" dirty="0">
                          <a:solidFill>
                            <a:srgbClr val="000000"/>
                          </a:solidFill>
                          <a:latin typeface="Calibri" pitchFamily="34" charset="0"/>
                          <a:ea typeface="Calibri" pitchFamily="34" charset="-122"/>
                          <a:cs typeface="Calibri" pitchFamily="34" charset="-120"/>
                        </a:rPr>
                        <a:t>Classification</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en-US" sz="1200" b="1" dirty="0">
                          <a:solidFill>
                            <a:srgbClr val="000000"/>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200" b="1" dirty="0">
                          <a:solidFill>
                            <a:srgbClr val="000000"/>
                          </a:solidFill>
                          <a:latin typeface="Calibri" pitchFamily="34" charset="0"/>
                          <a:ea typeface="Calibri" pitchFamily="34" charset="-122"/>
                          <a:cs typeface="Calibri" pitchFamily="34" charset="-120"/>
                        </a:rPr>
                        <a:t>Orders</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200" b="1" dirty="0">
                          <a:solidFill>
                            <a:srgbClr val="000000"/>
                          </a:solidFill>
                          <a:latin typeface="Calibri" pitchFamily="34" charset="0"/>
                          <a:ea typeface="Calibri" pitchFamily="34" charset="-122"/>
                          <a:cs typeface="Calibri" pitchFamily="34" charset="-120"/>
                        </a:rPr>
                        <a:t>Pct</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65176">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clear_reason</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CMS aligned</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42,770</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47.3</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65176">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unrecognized</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Unclassified</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22,030</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24.4</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65176">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no_documentation</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Denial risk</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13,513</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14.9</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65176">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reason_plus_filler</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CMS aligned</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8,717</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9.6</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65176">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filler_only</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Denial risk</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3,398</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3.8</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65176">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Denial risk total</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200" b="1" dirty="0">
                          <a:solidFill>
                            <a:srgbClr val="000000"/>
                          </a:solidFill>
                          <a:latin typeface="Calibri" pitchFamily="34" charset="0"/>
                          <a:ea typeface="Calibri" pitchFamily="34" charset="-122"/>
                          <a:cs typeface="Calibri" pitchFamily="34" charset="-120"/>
                        </a:rPr>
                        <a:t>16,911</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200" b="1" dirty="0">
                          <a:solidFill>
                            <a:srgbClr val="000000"/>
                          </a:solidFill>
                          <a:latin typeface="Calibri" pitchFamily="34" charset="0"/>
                          <a:ea typeface="Calibri" pitchFamily="34" charset="-122"/>
                          <a:cs typeface="Calibri" pitchFamily="34" charset="-120"/>
                        </a:rPr>
                        <a:t>18.7</a:t>
                      </a:r>
                      <a:endParaRPr lang="en-US" sz="12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6" name="Text 3"/>
          <p:cNvSpPr/>
          <p:nvPr/>
        </p:nvSpPr>
        <p:spPr>
          <a:xfrm>
            <a:off x="640080" y="3977640"/>
            <a:ext cx="5303520" cy="274320"/>
          </a:xfrm>
          <a:prstGeom prst="rect">
            <a:avLst/>
          </a:prstGeom>
          <a:noFill/>
          <a:ln/>
        </p:spPr>
        <p:txBody>
          <a:bodyPr wrap="square" lIns="0" tIns="0" rIns="0" bIns="0" rtlCol="0" anchor="ctr"/>
          <a:lstStyle/>
          <a:p>
            <a:pPr indent="0" marL="0">
              <a:buNone/>
            </a:pPr>
            <a:r>
              <a:rPr lang="en-US" sz="1600" b="1" dirty="0">
                <a:solidFill>
                  <a:srgbClr val="000000"/>
                </a:solidFill>
                <a:latin typeface="Calibri" pitchFamily="34" charset="0"/>
                <a:ea typeface="Calibri" pitchFamily="34" charset="-122"/>
                <a:cs typeface="Calibri" pitchFamily="34" charset="-120"/>
              </a:rPr>
              <a:t>Most frequent concepts</a:t>
            </a:r>
            <a:endParaRPr lang="en-US" sz="16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40080" y="4279392"/>
          <a:ext cx="5303520" cy="914400"/>
        </p:xfrm>
        <a:graphic>
          <a:graphicData uri="http://schemas.openxmlformats.org/drawingml/2006/table">
            <a:tbl>
              <a:tblPr/>
              <a:tblGrid>
                <a:gridCol w="1874520"/>
                <a:gridCol w="1325880"/>
                <a:gridCol w="1051560"/>
                <a:gridCol w="1051560"/>
              </a:tblGrid>
              <a:tr h="219456">
                <a:tc>
                  <a:txBody>
                    <a:bodyPr/>
                    <a:lstStyle/>
                    <a:p>
                      <a:pPr algn="l" indent="0" marL="0">
                        <a:buNone/>
                      </a:pPr>
                      <a:r>
                        <a:rPr lang="en-US" sz="1050" b="1" dirty="0">
                          <a:solidFill>
                            <a:srgbClr val="000000"/>
                          </a:solidFill>
                          <a:latin typeface="Calibri" pitchFamily="34" charset="0"/>
                          <a:ea typeface="Calibri" pitchFamily="34" charset="-122"/>
                          <a:cs typeface="Calibri" pitchFamily="34" charset="-120"/>
                        </a:rPr>
                        <a:t>Concept</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en-US" sz="1050" b="1" dirty="0">
                          <a:solidFill>
                            <a:srgbClr val="000000"/>
                          </a:solidFill>
                          <a:latin typeface="Calibri" pitchFamily="34" charset="0"/>
                          <a:ea typeface="Calibri" pitchFamily="34" charset="-122"/>
                          <a:cs typeface="Calibri" pitchFamily="34" charset="-120"/>
                        </a:rPr>
                        <a:t>Group</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b="1" dirty="0">
                          <a:solidFill>
                            <a:srgbClr val="000000"/>
                          </a:solidFill>
                          <a:latin typeface="Calibri" pitchFamily="34" charset="0"/>
                          <a:ea typeface="Calibri" pitchFamily="34" charset="-122"/>
                          <a:cs typeface="Calibri" pitchFamily="34" charset="-120"/>
                        </a:rPr>
                        <a:t>Tags</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b="1" dirty="0">
                          <a:solidFill>
                            <a:srgbClr val="000000"/>
                          </a:solidFill>
                          <a:latin typeface="Calibri" pitchFamily="34" charset="0"/>
                          <a:ea typeface="Calibri" pitchFamily="34" charset="-122"/>
                          <a:cs typeface="Calibri" pitchFamily="34" charset="-120"/>
                        </a:rPr>
                        <a:t>Pct</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19456">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mobility_deficit</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22,307</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24.7</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19456">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cannot_sit</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18,927</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20.9</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19456">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bed_confined</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16,227</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17.9</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19456">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oxygen</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15,578</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17.2</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19456">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cardiac</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10,668</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11.8</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8" name="Text 4"/>
          <p:cNvSpPr/>
          <p:nvPr/>
        </p:nvSpPr>
        <p:spPr>
          <a:xfrm>
            <a:off x="6400800" y="1554480"/>
            <a:ext cx="5120640" cy="274320"/>
          </a:xfrm>
          <a:prstGeom prst="rect">
            <a:avLst/>
          </a:prstGeom>
          <a:noFill/>
          <a:ln/>
        </p:spPr>
        <p:txBody>
          <a:bodyPr wrap="square" lIns="0" tIns="0" rIns="0" bIns="0" rtlCol="0" anchor="ctr"/>
          <a:lstStyle/>
          <a:p>
            <a:pPr indent="0" marL="0">
              <a:buNone/>
            </a:pPr>
            <a:r>
              <a:rPr lang="en-US" sz="1600" b="1" dirty="0">
                <a:solidFill>
                  <a:srgbClr val="000000"/>
                </a:solidFill>
                <a:latin typeface="Calibri" pitchFamily="34" charset="0"/>
                <a:ea typeface="Calibri" pitchFamily="34" charset="-122"/>
                <a:cs typeface="Calibri" pitchFamily="34" charset="-120"/>
              </a:rPr>
              <a:t>Denial risk by customer and level of service</a:t>
            </a:r>
            <a:endParaRPr lang="en-US" sz="1600" dirty="0"/>
          </a:p>
        </p:txBody>
      </p:sp>
      <p:graphicFrame>
        <p:nvGraphicFramePr>
          <p:cNvPr id="16" name="Table 2"/>
          <p:cNvGraphicFramePr>
            <a:graphicFrameLocks noGrp="1"/>
          </p:cNvGraphicFramePr>
          <p:nvPr>
            <p:extLst>
              <p:ext uri="{D42A27DB-BD31-4B8C-83A1-F6EECF244321}">
                <p14:modId xmlns:p14="http://schemas.microsoft.com/office/powerpoint/2010/main" val="1579011935"/>
              </p:ext>
            </p:extLst>
          </p:nvPr>
        </p:nvGraphicFramePr>
        <p:xfrm>
          <a:off x="6400800" y="1874520"/>
          <a:ext cx="5120640" cy="914400"/>
        </p:xfrm>
        <a:graphic>
          <a:graphicData uri="http://schemas.openxmlformats.org/drawingml/2006/table">
            <a:tbl>
              <a:tblPr/>
              <a:tblGrid>
                <a:gridCol w="2240280"/>
                <a:gridCol w="960120"/>
                <a:gridCol w="960120"/>
                <a:gridCol w="960120"/>
              </a:tblGrid>
              <a:tr h="246888">
                <a:tc>
                  <a:txBody>
                    <a:bodyPr/>
                    <a:lstStyle/>
                    <a:p>
                      <a:pPr algn="l" indent="0" marL="0">
                        <a:buNone/>
                      </a:pPr>
                      <a:r>
                        <a:rPr lang="en-US" sz="1050" b="1" dirty="0">
                          <a:solidFill>
                            <a:srgbClr val="000000"/>
                          </a:solidFill>
                          <a:latin typeface="Calibri" pitchFamily="34" charset="0"/>
                          <a:ea typeface="Calibri" pitchFamily="34" charset="-122"/>
                          <a:cs typeface="Calibri" pitchFamily="34" charset="-120"/>
                        </a:rPr>
                        <a:t>Group</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b="1" dirty="0">
                          <a:solidFill>
                            <a:srgbClr val="000000"/>
                          </a:solidFill>
                          <a:latin typeface="Calibri" pitchFamily="34" charset="0"/>
                          <a:ea typeface="Calibri" pitchFamily="34" charset="-122"/>
                          <a:cs typeface="Calibri" pitchFamily="34" charset="-120"/>
                        </a:rPr>
                        <a:t>Orders</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b="1" dirty="0">
                          <a:solidFill>
                            <a:srgbClr val="000000"/>
                          </a:solidFill>
                          <a:latin typeface="Calibri" pitchFamily="34" charset="0"/>
                          <a:ea typeface="Calibri" pitchFamily="34" charset="-122"/>
                          <a:cs typeface="Calibri" pitchFamily="34" charset="-120"/>
                        </a:rPr>
                        <a:t>Denial risk</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b="1" dirty="0">
                          <a:solidFill>
                            <a:srgbClr val="000000"/>
                          </a:solidFill>
                          <a:latin typeface="Calibri" pitchFamily="34" charset="0"/>
                          <a:ea typeface="Calibri" pitchFamily="34" charset="-122"/>
                          <a:cs typeface="Calibri" pitchFamily="34" charset="-120"/>
                        </a:rPr>
                        <a:t>Pct</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46888">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By customer</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46888">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MUSC Ground</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28,648</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15,166</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52.9</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46888">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Texas Health Resources</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61,659</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1,726</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2.8</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46888">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MUSC</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121</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19</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15.7</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46888">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By level of service</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46888">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Basic life support</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40,276</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9,592</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23.8</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46888">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Advanced life support</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16,200</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4,356</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26.9</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46888">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Reclining transport chair</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15,260</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0.0</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46888">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Wheelchair</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9,231</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120</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1.3</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46888">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Behavioral health transport</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3,795</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0.0</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46888">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Basic life support - concierge</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1,866</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337</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18.1</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46888">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Critical care transport</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1,541</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306</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19.9</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46888">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Team</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1,431</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1,429</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99.9</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46888">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Not labelled</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771</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753</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97.7</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46888">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Ambulatory</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56</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17</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30.4</a:t>
                      </a:r>
                      <a:endParaRPr lang="en-US" sz="105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10" name="Text 5"/>
          <p:cNvSpPr/>
          <p:nvPr/>
        </p:nvSpPr>
        <p:spPr>
          <a:xfrm>
            <a:off x="640080" y="5971032"/>
            <a:ext cx="10881360" cy="457200"/>
          </a:xfrm>
          <a:prstGeom prst="rect">
            <a:avLst/>
          </a:prstGeom>
          <a:noFill/>
          <a:ln/>
        </p:spPr>
        <p:txBody>
          <a:bodyPr wrap="square" lIns="0" tIns="0" rIns="0" bIns="0" rtlCol="0" anchor="ctr"/>
          <a:lstStyle/>
          <a:p>
            <a:pPr indent="0" marL="0">
              <a:buNone/>
            </a:pPr>
            <a:r>
              <a:rPr lang="en-US" sz="1150" dirty="0">
                <a:solidFill>
                  <a:srgbClr val="595959"/>
                </a:solidFill>
                <a:latin typeface="Calibri" pitchFamily="34" charset="0"/>
                <a:ea typeface="Calibri" pitchFamily="34" charset="-122"/>
                <a:cs typeface="Calibri" pitchFamily="34" charset="-120"/>
              </a:rPr>
              <a:t>Team and Not labelled sit near 100% denial risk, and Reclining transport chair and Behavioral health transport at 0%. Both patterns look like intake-path differences rather than documentation behaviour, and are being verified.</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457200"/>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CMS regulatory sources</a:t>
            </a:r>
            <a:endParaRPr lang="en-US" sz="3000" dirty="0"/>
          </a:p>
        </p:txBody>
      </p:sp>
      <p:sp>
        <p:nvSpPr>
          <p:cNvPr id="3" name="Text 1"/>
          <p:cNvSpPr/>
          <p:nvPr/>
        </p:nvSpPr>
        <p:spPr>
          <a:xfrm>
            <a:off x="640080" y="914400"/>
            <a:ext cx="10972800" cy="320040"/>
          </a:xfrm>
          <a:prstGeom prst="rect">
            <a:avLst/>
          </a:prstGeom>
          <a:noFill/>
          <a:ln/>
        </p:spPr>
        <p:txBody>
          <a:bodyPr wrap="square" lIns="0" tIns="0" rIns="0" bIns="0" rtlCol="0" anchor="ctr"/>
          <a:lstStyle/>
          <a:p>
            <a:pPr indent="0" marL="0">
              <a:buNone/>
            </a:pPr>
            <a:r>
              <a:rPr lang="en-US" sz="1400" dirty="0">
                <a:solidFill>
                  <a:srgbClr val="595959"/>
                </a:solidFill>
                <a:latin typeface="Calibri" pitchFamily="34" charset="0"/>
                <a:ea typeface="Calibri" pitchFamily="34" charset="-122"/>
                <a:cs typeface="Calibri" pitchFamily="34" charset="-120"/>
              </a:rPr>
              <a:t>Every concept in the dictionary traces to one of these. Source names are hyperlinked; full URLs are in the notes.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0881360" cy="914400"/>
        </p:xfrm>
        <a:graphic>
          <a:graphicData uri="http://schemas.openxmlformats.org/drawingml/2006/table">
            <a:tbl>
              <a:tblPr/>
              <a:tblGrid>
                <a:gridCol w="3108960"/>
                <a:gridCol w="3749040"/>
                <a:gridCol w="4023360"/>
              </a:tblGrid>
              <a:tr h="402336">
                <a:tc>
                  <a:txBody>
                    <a:bodyPr/>
                    <a:lstStyle/>
                    <a:p>
                      <a:pPr algn="l" indent="0" marL="0">
                        <a:buNone/>
                      </a:pPr>
                      <a:r>
                        <a:rPr lang="en-US" sz="1000" b="1" dirty="0">
                          <a:solidFill>
                            <a:srgbClr val="000000"/>
                          </a:solidFill>
                          <a:latin typeface="Calibri" pitchFamily="34" charset="0"/>
                          <a:ea typeface="Calibri" pitchFamily="34" charset="-122"/>
                          <a:cs typeface="Calibri" pitchFamily="34" charset="-120"/>
                        </a:rPr>
                        <a:t>Source</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en-US" sz="1000" b="1" dirty="0">
                          <a:solidFill>
                            <a:srgbClr val="000000"/>
                          </a:solidFill>
                          <a:latin typeface="Calibri" pitchFamily="34" charset="0"/>
                          <a:ea typeface="Calibri" pitchFamily="34" charset="-122"/>
                          <a:cs typeface="Calibri" pitchFamily="34" charset="-120"/>
                        </a:rPr>
                        <a:t>What it is</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en-US" sz="1000" b="1" dirty="0">
                          <a:solidFill>
                            <a:srgbClr val="000000"/>
                          </a:solidFill>
                          <a:latin typeface="Calibri" pitchFamily="34" charset="0"/>
                          <a:ea typeface="Calibri" pitchFamily="34" charset="-122"/>
                          <a:cs typeface="Calibri" pitchFamily="34" charset="-120"/>
                        </a:rPr>
                        <a:t>Application in this analysis</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02336">
                <a:tc>
                  <a:txBody>
                    <a:bodyPr/>
                    <a:lstStyle/>
                    <a:p>
                      <a:pPr indent="0" marL="0">
                        <a:buNone/>
                      </a:pPr>
                      <a:r>
                        <a:rPr lang="en-US" sz="1000" u="sng" dirty="0">
                          <a:solidFill>
                            <a:srgbClr val="00000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Benefit Policy Manual, Pub. 100-02, Ch. 10 - Ambulance Services</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CMS's explanation of the ambulance benefit: when transport is medically necessary, the bed-confined test, and the level-of-service definitions.</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Primary source for the Group A concepts and the three-prong bed-confined test (10.2.1, 10.2.3).</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02336">
                <a:tc>
                  <a:txBody>
                    <a:bodyPr/>
                    <a:lstStyle/>
                    <a:p>
                      <a:pPr indent="0" marL="0">
                        <a:buNone/>
                      </a:pPr>
                      <a:r>
                        <a:rPr lang="en-US" sz="1000" u="sng" dirty="0">
                          <a:solidFill>
                            <a:srgbClr val="00000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42 CFR 410.40 - Coverage of ambulance services (eCFR)</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The regulation: coverage conditions, the covered levels of service, and the physician certification requirement for non-emergency transports.</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Establishes that transport necessity and level of service are two separate tests. Basis for treating a physician order alone as insufficient.</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02336">
                <a:tc>
                  <a:txBody>
                    <a:bodyPr/>
                    <a:lstStyle/>
                    <a:p>
                      <a:pPr indent="0" marL="0">
                        <a:buNone/>
                      </a:pPr>
                      <a:r>
                        <a:rPr lang="en-US" sz="1000" u="sng" dirty="0">
                          <a:solidFill>
                            <a:srgbClr val="000000"/>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42 CFR 414.605 - Definitions (eCFR)</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Defines BLS, ALS1, ALS2, SCT, ALS assessment and ALS intervention for payment purposes.</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Source for the cardiac, ventilator, suctioning and IV medication concepts - and the direct answer to the BLS vs ALS question.</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02336">
                <a:tc>
                  <a:txBody>
                    <a:bodyPr/>
                    <a:lstStyle/>
                    <a:p>
                      <a:pPr indent="0" marL="0">
                        <a:buNone/>
                      </a:pPr>
                      <a:r>
                        <a:rPr lang="en-US" sz="1000" u="sng" dirty="0">
                          <a:solidFill>
                            <a:srgbClr val="000000"/>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Claims Processing Manual, Pub. 100-04, Ch. 15 - Ambulance</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How ambulance claims are adjudicated and paid, including modifiers and level-of-service payment rules.</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Connects what is written on the order to what happens to the claim - including GY modifier context.</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02336">
                <a:tc>
                  <a:txBody>
                    <a:bodyPr/>
                    <a:lstStyle/>
                    <a:p>
                      <a:pPr indent="0" marL="0">
                        <a:buNone/>
                      </a:pPr>
                      <a:r>
                        <a:rPr lang="en-US" sz="1000" u="sng" dirty="0">
                          <a:solidFill>
                            <a:srgbClr val="000000"/>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Ambulance Fee Schedule - Medical Conditions List and Transportation Indicators</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CMS's published list of patient conditions mapped to service levels, plus transportation indicators.</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The closest thing CMS has published to the concept dictionary built here - useful as an external benchmark.</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02336">
                <a:tc>
                  <a:txBody>
                    <a:bodyPr/>
                    <a:lstStyle/>
                    <a:p>
                      <a:pPr indent="0" marL="0">
                        <a:buNone/>
                      </a:pPr>
                      <a:r>
                        <a:rPr lang="en-US" sz="1000" u="sng" dirty="0">
                          <a:solidFill>
                            <a:srgbClr val="000000"/>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Medicare Coverage Database - LCDs and billing/coding articles</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Where MAC-level policy and billing guidance live, by jurisdiction.</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Source of the vague-documentation guidance behind Group B. See the caveat below.</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02336">
                <a:tc>
                  <a:txBody>
                    <a:bodyPr/>
                    <a:lstStyle/>
                    <a:p>
                      <a:pPr indent="0" marL="0">
                        <a:buNone/>
                      </a:pPr>
                      <a:r>
                        <a:rPr lang="en-US" sz="1000" u="sng" dirty="0">
                          <a:solidFill>
                            <a:srgbClr val="000000"/>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Ambulance Transport Reason Codes and Statements</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CMS's list of the denial reason codes used on ambulance claims, each with the regulation or manual section behind it.</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Maps the classification directly to the denial codes it is intended to prevent - notably AM600, documentation does not indicate other transport was contraindicated.</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02336">
                <a:tc>
                  <a:txBody>
                    <a:bodyPr/>
                    <a:lstStyle/>
                    <a:p>
                      <a:pPr indent="0" marL="0">
                        <a:buNone/>
                      </a:pPr>
                      <a:r>
                        <a:rPr lang="en-US" sz="1000" u="sng" dirty="0">
                          <a:solidFill>
                            <a:srgbClr val="000000"/>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CMS Ambulance Services Information Center</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CMS's hub page for the ambulance benefit - manuals, fee schedule, compliance tips.</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Reference point for independent verification of the analysis.</a:t>
                      </a:r>
                      <a:endParaRPr lang="en-US" sz="10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5" name="Text 2"/>
          <p:cNvSpPr/>
          <p:nvPr/>
        </p:nvSpPr>
        <p:spPr>
          <a:xfrm>
            <a:off x="640080" y="5669280"/>
            <a:ext cx="10881360" cy="685800"/>
          </a:xfrm>
          <a:prstGeom prst="rect">
            <a:avLst/>
          </a:prstGeom>
          <a:noFill/>
          <a:ln/>
        </p:spPr>
        <p:txBody>
          <a:bodyPr wrap="square" lIns="0" tIns="0" rIns="0" bIns="0" rtlCol="0" anchor="ctr"/>
          <a:lstStyle/>
          <a:p>
            <a:pPr indent="0" marL="0">
              <a:buNone/>
            </a:pPr>
            <a:r>
              <a:rPr lang="en-US" sz="1050" dirty="0">
                <a:solidFill>
                  <a:srgbClr val="595959"/>
                </a:solidFill>
                <a:latin typeface="Calibri" pitchFamily="34" charset="0"/>
                <a:ea typeface="Calibri" pitchFamily="34" charset="-122"/>
                <a:cs typeface="Calibri" pitchFamily="34" charset="-120"/>
              </a:rPr>
              <a:t>Note on currency of MAC guidance: a number of ambulance LCDs have been retired - L34549 in August 2024, Novitas L35162 for Jurisdiction L in February 2023, and L37697 now sits in the MCD archive. The absence of an LCD does not mean non-coverage; it means the MAC saw no need for local policy. The Group B citations should be re-verified against currently active billing and coding articles. The regulation and the manual are the durable authority.</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457200"/>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Anticipated review questions</a:t>
            </a:r>
            <a:endParaRPr lang="en-US" sz="3000" dirty="0"/>
          </a:p>
        </p:txBody>
      </p:sp>
      <p:sp>
        <p:nvSpPr>
          <p:cNvPr id="3" name="Text 1"/>
          <p:cNvSpPr/>
          <p:nvPr/>
        </p:nvSpPr>
        <p:spPr>
          <a:xfrm>
            <a:off x="640080" y="914400"/>
            <a:ext cx="10972800" cy="320040"/>
          </a:xfrm>
          <a:prstGeom prst="rect">
            <a:avLst/>
          </a:prstGeom>
          <a:noFill/>
          <a:ln/>
        </p:spPr>
        <p:txBody>
          <a:bodyPr wrap="square" lIns="0" tIns="0" rIns="0" bIns="0" rtlCol="0" anchor="ctr"/>
          <a:lstStyle/>
          <a:p>
            <a:pPr indent="0" marL="0">
              <a:buNone/>
            </a:pPr>
            <a:r>
              <a:rPr lang="en-US" sz="1400" dirty="0">
                <a:solidFill>
                  <a:srgbClr val="595959"/>
                </a:solidFill>
                <a:latin typeface="Calibri" pitchFamily="34" charset="0"/>
                <a:ea typeface="Calibri" pitchFamily="34" charset="-122"/>
                <a:cs typeface="Calibri" pitchFamily="34" charset="-120"/>
              </a:rPr>
              <a:t>Including the two raised on 23 July</a:t>
            </a:r>
            <a:endParaRPr lang="en-US" sz="1400" dirty="0"/>
          </a:p>
        </p:txBody>
      </p:sp>
      <p:sp>
        <p:nvSpPr>
          <p:cNvPr id="4" name="Text 2"/>
          <p:cNvSpPr/>
          <p:nvPr/>
        </p:nvSpPr>
        <p:spPr>
          <a:xfrm>
            <a:off x="640080" y="1417320"/>
            <a:ext cx="5394960" cy="256032"/>
          </a:xfrm>
          <a:prstGeom prst="rect">
            <a:avLst/>
          </a:prstGeom>
          <a:noFill/>
          <a:ln/>
        </p:spPr>
        <p:txBody>
          <a:bodyPr wrap="square" lIns="0" tIns="0" rIns="0" bIns="0" rtlCol="0" anchor="ctr"/>
          <a:lstStyle/>
          <a:p>
            <a:pPr indent="0" marL="0">
              <a:buNone/>
            </a:pPr>
            <a:r>
              <a:rPr lang="en-US" sz="1600" b="1" dirty="0">
                <a:solidFill>
                  <a:srgbClr val="000000"/>
                </a:solidFill>
                <a:latin typeface="Calibri" pitchFamily="34" charset="0"/>
                <a:ea typeface="Calibri" pitchFamily="34" charset="-122"/>
                <a:cs typeface="Calibri" pitchFamily="34" charset="-120"/>
              </a:rPr>
              <a:t>Regulatory basis</a:t>
            </a:r>
            <a:endParaRPr lang="en-US" sz="1600" dirty="0"/>
          </a:p>
        </p:txBody>
      </p:sp>
      <p:sp>
        <p:nvSpPr>
          <p:cNvPr id="5" name="Text 3"/>
          <p:cNvSpPr/>
          <p:nvPr/>
        </p:nvSpPr>
        <p:spPr>
          <a:xfrm>
            <a:off x="640080" y="1709928"/>
            <a:ext cx="5394960" cy="4206240"/>
          </a:xfrm>
          <a:prstGeom prst="rect">
            <a:avLst/>
          </a:prstGeom>
          <a:noFill/>
          <a:ln/>
        </p:spPr>
        <p:txBody>
          <a:bodyPr wrap="square" lIns="0" tIns="0" rIns="0" bIns="0" rtlCol="0" anchor="t"/>
          <a:lstStyle/>
          <a:p>
            <a:pPr indent="0" marL="0">
              <a:spcAft>
                <a:spcPts val="700"/>
              </a:spcAft>
              <a:buNone/>
            </a:pPr>
            <a:r>
              <a:rPr lang="en-US" sz="1150" b="1" dirty="0">
                <a:solidFill>
                  <a:srgbClr val="000000"/>
                </a:solidFill>
                <a:latin typeface="Calibri" pitchFamily="34" charset="0"/>
                <a:ea typeface="Calibri" pitchFamily="34" charset="-122"/>
                <a:cs typeface="Calibri" pitchFamily="34" charset="-120"/>
              </a:rPr>
              <a:t>Is this medical necessity for the transport, or for the level of life support?</a:t>
            </a:r>
            <a:endParaRPr lang="en-US" sz="1150" dirty="0"/>
          </a:p>
          <a:p>
            <a:pPr indent="0" marL="0">
              <a:spcAft>
                <a:spcPts val="700"/>
              </a:spcAft>
              <a:buNone/>
            </a:pPr>
            <a:r>
              <a:rPr lang="en-US" sz="1150" dirty="0">
                <a:solidFill>
                  <a:srgbClr val="000000"/>
                </a:solidFill>
                <a:latin typeface="Calibri" pitchFamily="34" charset="0"/>
                <a:ea typeface="Calibri" pitchFamily="34" charset="-122"/>
                <a:cs typeface="Calibri" pitchFamily="34" charset="-120"/>
              </a:rPr>
              <a:t>Two separate tests. 42 CFR 410.40 and Manual 10.2.1 decide whether an ambulance is covered at all; 42 CFR 414.605 decides which level is payable. This analysis answers the first. The level-of-service breakdown is descriptive only.</a:t>
            </a:r>
            <a:endParaRPr lang="en-US" sz="1150" dirty="0"/>
          </a:p>
          <a:p>
            <a:pPr indent="0" marL="0">
              <a:spcAft>
                <a:spcPts val="700"/>
              </a:spcAft>
              <a:buNone/>
            </a:pPr>
            <a:r>
              <a:rPr lang="en-US" sz="1150" b="1" dirty="0">
                <a:solidFill>
                  <a:srgbClr val="000000"/>
                </a:solidFill>
                <a:latin typeface="Calibri" pitchFamily="34" charset="0"/>
                <a:ea typeface="Calibri" pitchFamily="34" charset="-122"/>
                <a:cs typeface="Calibri" pitchFamily="34" charset="-120"/>
              </a:rPr>
              <a:t>Does CMS have standards for BLS and ALS that could be used?</a:t>
            </a:r>
            <a:endParaRPr lang="en-US" sz="1150" dirty="0"/>
          </a:p>
          <a:p>
            <a:pPr indent="0" marL="0">
              <a:spcAft>
                <a:spcPts val="700"/>
              </a:spcAft>
              <a:buNone/>
            </a:pPr>
            <a:r>
              <a:rPr lang="en-US" sz="1150" dirty="0">
                <a:solidFill>
                  <a:srgbClr val="000000"/>
                </a:solidFill>
                <a:latin typeface="Calibri" pitchFamily="34" charset="0"/>
                <a:ea typeface="Calibri" pitchFamily="34" charset="-122"/>
                <a:cs typeface="Calibri" pitchFamily="34" charset="-120"/>
              </a:rPr>
              <a:t>Yes. 414.605 defines BLS, ALS1, ALS2 and SCT, and 410.40(c) lists the covered levels. Two considerations: ALS1 may be satisfied by an ALS assessment alone, without intervention; and an ALS intervention is defined by reference to state and local law, which accounts for variation in scope of practice by market.</a:t>
            </a:r>
            <a:endParaRPr lang="en-US" sz="1150" dirty="0"/>
          </a:p>
          <a:p>
            <a:pPr indent="0" marL="0">
              <a:spcAft>
                <a:spcPts val="700"/>
              </a:spcAft>
              <a:buNone/>
            </a:pPr>
            <a:r>
              <a:rPr lang="en-US" sz="1150" b="1" dirty="0">
                <a:solidFill>
                  <a:srgbClr val="000000"/>
                </a:solidFill>
                <a:latin typeface="Calibri" pitchFamily="34" charset="0"/>
                <a:ea typeface="Calibri" pitchFamily="34" charset="-122"/>
                <a:cs typeface="Calibri" pitchFamily="34" charset="-120"/>
              </a:rPr>
              <a:t>Do the inferred concepts hold up?</a:t>
            </a:r>
            <a:endParaRPr lang="en-US" sz="1150" dirty="0"/>
          </a:p>
          <a:p>
            <a:pPr indent="0" marL="0">
              <a:spcAft>
                <a:spcPts val="700"/>
              </a:spcAft>
              <a:buNone/>
            </a:pPr>
            <a:r>
              <a:rPr lang="en-US" sz="1150" dirty="0">
                <a:solidFill>
                  <a:srgbClr val="000000"/>
                </a:solidFill>
                <a:latin typeface="Calibri" pitchFamily="34" charset="0"/>
                <a:ea typeface="Calibri" pitchFamily="34" charset="-122"/>
                <a:cs typeface="Calibri" pitchFamily="34" charset="-120"/>
              </a:rPr>
              <a:t>Five interpret the general test rather than a named rule. Behavioral is the weakest and may belong in Group B.</a:t>
            </a:r>
            <a:endParaRPr lang="en-US" sz="1150" dirty="0"/>
          </a:p>
          <a:p>
            <a:pPr indent="0" marL="0">
              <a:spcAft>
                <a:spcPts val="700"/>
              </a:spcAft>
              <a:buNone/>
            </a:pPr>
            <a:r>
              <a:rPr lang="en-US" sz="1150" b="1" dirty="0">
                <a:solidFill>
                  <a:srgbClr val="000000"/>
                </a:solidFill>
                <a:latin typeface="Calibri" pitchFamily="34" charset="0"/>
                <a:ea typeface="Calibri" pitchFamily="34" charset="-122"/>
                <a:cs typeface="Calibri" pitchFamily="34" charset="-120"/>
              </a:rPr>
              <a:t>Is the MAC guidance cited still active?</a:t>
            </a:r>
            <a:endParaRPr lang="en-US" sz="1150" dirty="0"/>
          </a:p>
          <a:p>
            <a:pPr indent="0" marL="0">
              <a:spcAft>
                <a:spcPts val="700"/>
              </a:spcAft>
              <a:buNone/>
            </a:pPr>
            <a:r>
              <a:rPr lang="en-US" sz="1150" dirty="0">
                <a:solidFill>
                  <a:srgbClr val="000000"/>
                </a:solidFill>
                <a:latin typeface="Calibri" pitchFamily="34" charset="0"/>
                <a:ea typeface="Calibri" pitchFamily="34" charset="-122"/>
                <a:cs typeface="Calibri" pitchFamily="34" charset="-120"/>
              </a:rPr>
              <a:t>Partly. Several ambulance LCDs have been retired. The regulation and the manual are unaffected; the Group B citations need re-verification.</a:t>
            </a:r>
            <a:endParaRPr lang="en-US" sz="1150" dirty="0"/>
          </a:p>
        </p:txBody>
      </p:sp>
      <p:sp>
        <p:nvSpPr>
          <p:cNvPr id="6" name="Text 4"/>
          <p:cNvSpPr/>
          <p:nvPr/>
        </p:nvSpPr>
        <p:spPr>
          <a:xfrm>
            <a:off x="6355080" y="1417320"/>
            <a:ext cx="5166360" cy="256032"/>
          </a:xfrm>
          <a:prstGeom prst="rect">
            <a:avLst/>
          </a:prstGeom>
          <a:noFill/>
          <a:ln/>
        </p:spPr>
        <p:txBody>
          <a:bodyPr wrap="square" lIns="0" tIns="0" rIns="0" bIns="0" rtlCol="0" anchor="ctr"/>
          <a:lstStyle/>
          <a:p>
            <a:pPr indent="0" marL="0">
              <a:buNone/>
            </a:pPr>
            <a:r>
              <a:rPr lang="en-US" sz="1600" b="1" dirty="0">
                <a:solidFill>
                  <a:srgbClr val="000000"/>
                </a:solidFill>
                <a:latin typeface="Calibri" pitchFamily="34" charset="0"/>
                <a:ea typeface="Calibri" pitchFamily="34" charset="-122"/>
                <a:cs typeface="Calibri" pitchFamily="34" charset="-120"/>
              </a:rPr>
              <a:t>Data and claims impact</a:t>
            </a:r>
            <a:endParaRPr lang="en-US" sz="1600" dirty="0"/>
          </a:p>
        </p:txBody>
      </p:sp>
      <p:sp>
        <p:nvSpPr>
          <p:cNvPr id="7" name="Text 5"/>
          <p:cNvSpPr/>
          <p:nvPr/>
        </p:nvSpPr>
        <p:spPr>
          <a:xfrm>
            <a:off x="6355080" y="1709928"/>
            <a:ext cx="5166360" cy="4206240"/>
          </a:xfrm>
          <a:prstGeom prst="rect">
            <a:avLst/>
          </a:prstGeom>
          <a:noFill/>
          <a:ln/>
        </p:spPr>
        <p:txBody>
          <a:bodyPr wrap="square" lIns="0" tIns="0" rIns="0" bIns="0" rtlCol="0" anchor="t"/>
          <a:lstStyle/>
          <a:p>
            <a:pPr indent="0" marL="0">
              <a:spcAft>
                <a:spcPts val="700"/>
              </a:spcAft>
              <a:buNone/>
            </a:pPr>
            <a:r>
              <a:rPr lang="en-US" sz="1150" b="1" dirty="0">
                <a:solidFill>
                  <a:srgbClr val="000000"/>
                </a:solidFill>
                <a:latin typeface="Calibri" pitchFamily="34" charset="0"/>
                <a:ea typeface="Calibri" pitchFamily="34" charset="-122"/>
                <a:cs typeface="Calibri" pitchFamily="34" charset="-120"/>
              </a:rPr>
              <a:t>Does CMS aligned mean the claim gets paid?</a:t>
            </a:r>
            <a:endParaRPr lang="en-US" sz="1150" dirty="0"/>
          </a:p>
          <a:p>
            <a:pPr indent="0" marL="0">
              <a:spcAft>
                <a:spcPts val="700"/>
              </a:spcAft>
              <a:buNone/>
            </a:pPr>
            <a:r>
              <a:rPr lang="en-US" sz="1150" dirty="0">
                <a:solidFill>
                  <a:srgbClr val="000000"/>
                </a:solidFill>
                <a:latin typeface="Calibri" pitchFamily="34" charset="0"/>
                <a:ea typeface="Calibri" pitchFamily="34" charset="-122"/>
                <a:cs typeface="Calibri" pitchFamily="34" charset="-120"/>
              </a:rPr>
              <a:t>No. It means the order uses qualifying language. It has not been tested against actual denial outcomes - that is the next analysis.</a:t>
            </a:r>
            <a:endParaRPr lang="en-US" sz="1150" dirty="0"/>
          </a:p>
          <a:p>
            <a:pPr indent="0" marL="0">
              <a:spcAft>
                <a:spcPts val="700"/>
              </a:spcAft>
              <a:buNone/>
            </a:pPr>
            <a:r>
              <a:rPr lang="en-US" sz="1150" b="1" dirty="0">
                <a:solidFill>
                  <a:srgbClr val="000000"/>
                </a:solidFill>
                <a:latin typeface="Calibri" pitchFamily="34" charset="0"/>
                <a:ea typeface="Calibri" pitchFamily="34" charset="-122"/>
                <a:cs typeface="Calibri" pitchFamily="34" charset="-120"/>
              </a:rPr>
              <a:t>How much of this volume is Medicare?</a:t>
            </a:r>
            <a:endParaRPr lang="en-US" sz="1150" dirty="0"/>
          </a:p>
          <a:p>
            <a:pPr indent="0" marL="0">
              <a:spcAft>
                <a:spcPts val="700"/>
              </a:spcAft>
              <a:buNone/>
            </a:pPr>
            <a:r>
              <a:rPr lang="en-US" sz="1150" dirty="0">
                <a:solidFill>
                  <a:srgbClr val="000000"/>
                </a:solidFill>
                <a:latin typeface="Calibri" pitchFamily="34" charset="0"/>
                <a:ea typeface="Calibri" pitchFamily="34" charset="-122"/>
                <a:cs typeface="Calibri" pitchFamily="34" charset="-120"/>
              </a:rPr>
              <a:t>CMS criteria were applied across all orders. Commercial and Medicaid payers set their own rules, so payer mix needs breaking out before the percentages are read as a dollar exposure.</a:t>
            </a:r>
            <a:endParaRPr lang="en-US" sz="1150" dirty="0"/>
          </a:p>
          <a:p>
            <a:pPr indent="0" marL="0">
              <a:spcAft>
                <a:spcPts val="700"/>
              </a:spcAft>
              <a:buNone/>
            </a:pPr>
            <a:r>
              <a:rPr lang="en-US" sz="1150" b="1" dirty="0">
                <a:solidFill>
                  <a:srgbClr val="000000"/>
                </a:solidFill>
                <a:latin typeface="Calibri" pitchFamily="34" charset="0"/>
                <a:ea typeface="Calibri" pitchFamily="34" charset="-122"/>
                <a:cs typeface="Calibri" pitchFamily="34" charset="-120"/>
              </a:rPr>
              <a:t>Why is MUSC Ground at 52.9% and Texas Health at 2.8%?</a:t>
            </a:r>
            <a:endParaRPr lang="en-US" sz="1150" dirty="0"/>
          </a:p>
          <a:p>
            <a:pPr indent="0" marL="0">
              <a:spcAft>
                <a:spcPts val="700"/>
              </a:spcAft>
              <a:buNone/>
            </a:pPr>
            <a:r>
              <a:rPr lang="en-US" sz="1150" dirty="0">
                <a:solidFill>
                  <a:srgbClr val="000000"/>
                </a:solidFill>
                <a:latin typeface="Calibri" pitchFamily="34" charset="0"/>
                <a:ea typeface="Calibri" pitchFamily="34" charset="-122"/>
                <a:cs typeface="Calibri" pitchFamily="34" charset="-120"/>
              </a:rPr>
              <a:t>The same platform produces materially different results. The pattern indicates an intake and form-workflow difference rather than a clinical one, and is under verification.</a:t>
            </a:r>
            <a:endParaRPr lang="en-US" sz="1150" dirty="0"/>
          </a:p>
          <a:p>
            <a:pPr indent="0" marL="0">
              <a:spcAft>
                <a:spcPts val="700"/>
              </a:spcAft>
              <a:buNone/>
            </a:pPr>
            <a:r>
              <a:rPr lang="en-US" sz="1150" b="1" dirty="0">
                <a:solidFill>
                  <a:srgbClr val="000000"/>
                </a:solidFill>
                <a:latin typeface="Calibri" pitchFamily="34" charset="0"/>
                <a:ea typeface="Calibri" pitchFamily="34" charset="-122"/>
                <a:cs typeface="Calibri" pitchFamily="34" charset="-120"/>
              </a:rPr>
              <a:t>Does a physician order satisfy medical necessity?</a:t>
            </a:r>
            <a:endParaRPr lang="en-US" sz="1150" dirty="0"/>
          </a:p>
          <a:p>
            <a:pPr indent="0" marL="0">
              <a:spcAft>
                <a:spcPts val="700"/>
              </a:spcAft>
              <a:buNone/>
            </a:pPr>
            <a:r>
              <a:rPr lang="en-US" sz="1150" dirty="0">
                <a:solidFill>
                  <a:srgbClr val="000000"/>
                </a:solidFill>
                <a:latin typeface="Calibri" pitchFamily="34" charset="0"/>
                <a:ea typeface="Calibri" pitchFamily="34" charset="-122"/>
                <a:cs typeface="Calibri" pitchFamily="34" charset="-120"/>
              </a:rPr>
              <a:t>No. A certification statement is required for some non-emergency transports, but on its own it does not establish that other transport was contraindicated.</a:t>
            </a:r>
            <a:endParaRPr lang="en-US" sz="1150" dirty="0"/>
          </a:p>
        </p:txBody>
      </p:sp>
      <p:sp>
        <p:nvSpPr>
          <p:cNvPr id="8" name="Text 6"/>
          <p:cNvSpPr/>
          <p:nvPr/>
        </p:nvSpPr>
        <p:spPr>
          <a:xfrm>
            <a:off x="640080" y="5943600"/>
            <a:ext cx="10881360" cy="457200"/>
          </a:xfrm>
          <a:prstGeom prst="rect">
            <a:avLst/>
          </a:prstGeom>
          <a:noFill/>
          <a:ln/>
        </p:spPr>
        <p:txBody>
          <a:bodyPr wrap="square" lIns="0" tIns="0" rIns="0" bIns="0" rtlCol="0" anchor="ctr"/>
          <a:lstStyle/>
          <a:p>
            <a:pPr indent="0" marL="0">
              <a:buNone/>
            </a:pPr>
            <a:r>
              <a:rPr lang="en-US" sz="1100" dirty="0">
                <a:solidFill>
                  <a:srgbClr val="595959"/>
                </a:solidFill>
                <a:latin typeface="Calibri" pitchFamily="34" charset="0"/>
                <a:ea typeface="Calibri" pitchFamily="34" charset="-122"/>
                <a:cs typeface="Calibri" pitchFamily="34" charset="-120"/>
              </a:rPr>
              <a:t>Items to disclose proactively: the period covered by this analysis (2024 to present) does not match the CY2025 note in the workbook and needs reconciling; and the 0% and 99.9% denial-risk rows are almost certainly intake-path artifacts rather than real documentation behaviour.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457200"/>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Medical necessity API - proposed Azure architecture</a:t>
            </a:r>
            <a:endParaRPr lang="en-US" sz="3000" dirty="0"/>
          </a:p>
        </p:txBody>
      </p:sp>
      <p:sp>
        <p:nvSpPr>
          <p:cNvPr id="3" name="Text 1"/>
          <p:cNvSpPr/>
          <p:nvPr/>
        </p:nvSpPr>
        <p:spPr>
          <a:xfrm>
            <a:off x="640080" y="914400"/>
            <a:ext cx="10972800" cy="320040"/>
          </a:xfrm>
          <a:prstGeom prst="rect">
            <a:avLst/>
          </a:prstGeom>
          <a:noFill/>
          <a:ln/>
        </p:spPr>
        <p:txBody>
          <a:bodyPr wrap="square" lIns="0" tIns="0" rIns="0" bIns="0" rtlCol="0" anchor="ctr"/>
          <a:lstStyle/>
          <a:p>
            <a:pPr indent="0" marL="0">
              <a:buNone/>
            </a:pPr>
            <a:r>
              <a:rPr lang="en-US" sz="1400" dirty="0">
                <a:solidFill>
                  <a:srgbClr val="595959"/>
                </a:solidFill>
                <a:latin typeface="Calibri" pitchFamily="34" charset="0"/>
                <a:ea typeface="Calibri" pitchFamily="34" charset="-122"/>
                <a:cs typeface="Calibri" pitchFamily="34" charset="-120"/>
              </a:rPr>
              <a:t>A Python service that takes a question-and-answer payload from the order form and returns a determination in real time</a:t>
            </a:r>
            <a:endParaRPr lang="en-US" sz="1400" dirty="0"/>
          </a:p>
        </p:txBody>
      </p:sp>
      <p:sp>
        <p:nvSpPr>
          <p:cNvPr id="4" name="Shape 2"/>
          <p:cNvSpPr/>
          <p:nvPr/>
        </p:nvSpPr>
        <p:spPr>
          <a:xfrm>
            <a:off x="640080" y="1371600"/>
            <a:ext cx="1920240" cy="1143000"/>
          </a:xfrm>
          <a:prstGeom prst="rect">
            <a:avLst/>
          </a:prstGeom>
          <a:solidFill>
            <a:srgbClr val="FFFFFF"/>
          </a:solidFill>
          <a:ln w="12700">
            <a:solidFill>
              <a:srgbClr val="808080"/>
            </a:solidFill>
            <a:prstDash val="solid"/>
          </a:ln>
        </p:spPr>
      </p:sp>
      <p:sp>
        <p:nvSpPr>
          <p:cNvPr id="5" name="Text 3"/>
          <p:cNvSpPr/>
          <p:nvPr/>
        </p:nvSpPr>
        <p:spPr>
          <a:xfrm>
            <a:off x="749808" y="1463040"/>
            <a:ext cx="1700784" cy="219456"/>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1. Order form</a:t>
            </a:r>
            <a:endParaRPr lang="en-US" sz="1200" dirty="0"/>
          </a:p>
        </p:txBody>
      </p:sp>
      <p:sp>
        <p:nvSpPr>
          <p:cNvPr id="6" name="Text 4"/>
          <p:cNvSpPr/>
          <p:nvPr/>
        </p:nvSpPr>
        <p:spPr>
          <a:xfrm>
            <a:off x="749808" y="1700784"/>
            <a:ext cx="1700784" cy="749808"/>
          </a:xfrm>
          <a:prstGeom prst="rect">
            <a:avLst/>
          </a:prstGeom>
          <a:noFill/>
          <a:ln/>
        </p:spPr>
        <p:txBody>
          <a:bodyPr wrap="square" lIns="0" tIns="0" rIns="0" bIns="0" rtlCol="0" anchor="t"/>
          <a:lstStyle/>
          <a:p>
            <a:pPr indent="0" marL="0">
              <a:buNone/>
            </a:pPr>
            <a:r>
              <a:rPr lang="en-US" sz="950" dirty="0">
                <a:solidFill>
                  <a:srgbClr val="000000"/>
                </a:solidFill>
                <a:latin typeface="Calibri" pitchFamily="34" charset="0"/>
                <a:ea typeface="Calibri" pitchFamily="34" charset="-122"/>
                <a:cs typeface="Calibri" pitchFamily="34" charset="-120"/>
              </a:rPr>
              <a:t>Reason for transport, market, and requested level of service submitted as a JSON payload</a:t>
            </a:r>
            <a:endParaRPr lang="en-US" sz="950" dirty="0"/>
          </a:p>
        </p:txBody>
      </p:sp>
      <p:sp>
        <p:nvSpPr>
          <p:cNvPr id="7" name="Text 5"/>
          <p:cNvSpPr/>
          <p:nvPr/>
        </p:nvSpPr>
        <p:spPr>
          <a:xfrm>
            <a:off x="2578608" y="1828800"/>
            <a:ext cx="283464" cy="274320"/>
          </a:xfrm>
          <a:prstGeom prst="rect">
            <a:avLst/>
          </a:prstGeom>
          <a:noFill/>
          <a:ln/>
        </p:spPr>
        <p:txBody>
          <a:bodyPr wrap="square" lIns="0" tIns="0" rIns="0" bIns="0" rtlCol="0" anchor="ctr"/>
          <a:lstStyle/>
          <a:p>
            <a:pPr algn="ctr" indent="0" marL="0">
              <a:buNone/>
            </a:pPr>
            <a:r>
              <a:rPr lang="en-US" sz="1500" dirty="0">
                <a:solidFill>
                  <a:srgbClr val="000000"/>
                </a:solidFill>
                <a:latin typeface="Calibri" pitchFamily="34" charset="0"/>
                <a:ea typeface="Calibri" pitchFamily="34" charset="-122"/>
                <a:cs typeface="Calibri" pitchFamily="34" charset="-120"/>
              </a:rPr>
              <a:t>-&gt;</a:t>
            </a:r>
            <a:endParaRPr lang="en-US" sz="1500" dirty="0"/>
          </a:p>
        </p:txBody>
      </p:sp>
      <p:sp>
        <p:nvSpPr>
          <p:cNvPr id="8" name="Shape 6"/>
          <p:cNvSpPr/>
          <p:nvPr/>
        </p:nvSpPr>
        <p:spPr>
          <a:xfrm>
            <a:off x="2880360" y="1371600"/>
            <a:ext cx="1920240" cy="1143000"/>
          </a:xfrm>
          <a:prstGeom prst="rect">
            <a:avLst/>
          </a:prstGeom>
          <a:solidFill>
            <a:srgbClr val="FFFFFF"/>
          </a:solidFill>
          <a:ln w="12700">
            <a:solidFill>
              <a:srgbClr val="808080"/>
            </a:solidFill>
            <a:prstDash val="solid"/>
          </a:ln>
        </p:spPr>
      </p:sp>
      <p:sp>
        <p:nvSpPr>
          <p:cNvPr id="9" name="Text 7"/>
          <p:cNvSpPr/>
          <p:nvPr/>
        </p:nvSpPr>
        <p:spPr>
          <a:xfrm>
            <a:off x="2990088" y="1463040"/>
            <a:ext cx="1700784" cy="219456"/>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2. API endpoint</a:t>
            </a:r>
            <a:endParaRPr lang="en-US" sz="1200" dirty="0"/>
          </a:p>
        </p:txBody>
      </p:sp>
      <p:sp>
        <p:nvSpPr>
          <p:cNvPr id="10" name="Text 8"/>
          <p:cNvSpPr/>
          <p:nvPr/>
        </p:nvSpPr>
        <p:spPr>
          <a:xfrm>
            <a:off x="2990088" y="1700784"/>
            <a:ext cx="1700784" cy="749808"/>
          </a:xfrm>
          <a:prstGeom prst="rect">
            <a:avLst/>
          </a:prstGeom>
          <a:noFill/>
          <a:ln/>
        </p:spPr>
        <p:txBody>
          <a:bodyPr wrap="square" lIns="0" tIns="0" rIns="0" bIns="0" rtlCol="0" anchor="t"/>
          <a:lstStyle/>
          <a:p>
            <a:pPr indent="0" marL="0">
              <a:buNone/>
            </a:pPr>
            <a:r>
              <a:rPr lang="en-US" sz="950" dirty="0">
                <a:solidFill>
                  <a:srgbClr val="000000"/>
                </a:solidFill>
                <a:latin typeface="Calibri" pitchFamily="34" charset="0"/>
                <a:ea typeface="Calibri" pitchFamily="34" charset="-122"/>
                <a:cs typeface="Calibri" pitchFamily="34" charset="-120"/>
              </a:rPr>
              <a:t>Python (FastAPI) on Azure App Service validates the payload and orchestrates the call</a:t>
            </a:r>
            <a:endParaRPr lang="en-US" sz="950" dirty="0"/>
          </a:p>
        </p:txBody>
      </p:sp>
      <p:sp>
        <p:nvSpPr>
          <p:cNvPr id="11" name="Text 9"/>
          <p:cNvSpPr/>
          <p:nvPr/>
        </p:nvSpPr>
        <p:spPr>
          <a:xfrm>
            <a:off x="4818888" y="1828800"/>
            <a:ext cx="283464" cy="274320"/>
          </a:xfrm>
          <a:prstGeom prst="rect">
            <a:avLst/>
          </a:prstGeom>
          <a:noFill/>
          <a:ln/>
        </p:spPr>
        <p:txBody>
          <a:bodyPr wrap="square" lIns="0" tIns="0" rIns="0" bIns="0" rtlCol="0" anchor="ctr"/>
          <a:lstStyle/>
          <a:p>
            <a:pPr algn="ctr" indent="0" marL="0">
              <a:buNone/>
            </a:pPr>
            <a:r>
              <a:rPr lang="en-US" sz="1500" dirty="0">
                <a:solidFill>
                  <a:srgbClr val="000000"/>
                </a:solidFill>
                <a:latin typeface="Calibri" pitchFamily="34" charset="0"/>
                <a:ea typeface="Calibri" pitchFamily="34" charset="-122"/>
                <a:cs typeface="Calibri" pitchFamily="34" charset="-120"/>
              </a:rPr>
              <a:t>-&gt;</a:t>
            </a:r>
            <a:endParaRPr lang="en-US" sz="1500" dirty="0"/>
          </a:p>
        </p:txBody>
      </p:sp>
      <p:sp>
        <p:nvSpPr>
          <p:cNvPr id="12" name="Shape 10"/>
          <p:cNvSpPr/>
          <p:nvPr/>
        </p:nvSpPr>
        <p:spPr>
          <a:xfrm>
            <a:off x="5120640" y="1371600"/>
            <a:ext cx="1920240" cy="1143000"/>
          </a:xfrm>
          <a:prstGeom prst="rect">
            <a:avLst/>
          </a:prstGeom>
          <a:solidFill>
            <a:srgbClr val="FFFFFF"/>
          </a:solidFill>
          <a:ln w="12700">
            <a:solidFill>
              <a:srgbClr val="808080"/>
            </a:solidFill>
            <a:prstDash val="solid"/>
          </a:ln>
        </p:spPr>
      </p:sp>
      <p:sp>
        <p:nvSpPr>
          <p:cNvPr id="13" name="Text 11"/>
          <p:cNvSpPr/>
          <p:nvPr/>
        </p:nvSpPr>
        <p:spPr>
          <a:xfrm>
            <a:off x="5230368" y="1463040"/>
            <a:ext cx="1700784" cy="219456"/>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3. Rule retrieval</a:t>
            </a:r>
            <a:endParaRPr lang="en-US" sz="1200" dirty="0"/>
          </a:p>
        </p:txBody>
      </p:sp>
      <p:sp>
        <p:nvSpPr>
          <p:cNvPr id="14" name="Text 12"/>
          <p:cNvSpPr/>
          <p:nvPr/>
        </p:nvSpPr>
        <p:spPr>
          <a:xfrm>
            <a:off x="5230368" y="1700784"/>
            <a:ext cx="1700784" cy="749808"/>
          </a:xfrm>
          <a:prstGeom prst="rect">
            <a:avLst/>
          </a:prstGeom>
          <a:noFill/>
          <a:ln/>
        </p:spPr>
        <p:txBody>
          <a:bodyPr wrap="square" lIns="0" tIns="0" rIns="0" bIns="0" rtlCol="0" anchor="t"/>
          <a:lstStyle/>
          <a:p>
            <a:pPr indent="0" marL="0">
              <a:buNone/>
            </a:pPr>
            <a:r>
              <a:rPr lang="en-US" sz="950" dirty="0">
                <a:solidFill>
                  <a:srgbClr val="000000"/>
                </a:solidFill>
                <a:latin typeface="Calibri" pitchFamily="34" charset="0"/>
                <a:ea typeface="Calibri" pitchFamily="34" charset="-122"/>
                <a:cs typeface="Calibri" pitchFamily="34" charset="-120"/>
              </a:rPr>
              <a:t>Azure AI Search returns the CMS rules and few-shot examples for that market</a:t>
            </a:r>
            <a:endParaRPr lang="en-US" sz="950" dirty="0"/>
          </a:p>
        </p:txBody>
      </p:sp>
      <p:sp>
        <p:nvSpPr>
          <p:cNvPr id="15" name="Text 13"/>
          <p:cNvSpPr/>
          <p:nvPr/>
        </p:nvSpPr>
        <p:spPr>
          <a:xfrm>
            <a:off x="7059168" y="1828800"/>
            <a:ext cx="283464" cy="274320"/>
          </a:xfrm>
          <a:prstGeom prst="rect">
            <a:avLst/>
          </a:prstGeom>
          <a:noFill/>
          <a:ln/>
        </p:spPr>
        <p:txBody>
          <a:bodyPr wrap="square" lIns="0" tIns="0" rIns="0" bIns="0" rtlCol="0" anchor="ctr"/>
          <a:lstStyle/>
          <a:p>
            <a:pPr algn="ctr" indent="0" marL="0">
              <a:buNone/>
            </a:pPr>
            <a:r>
              <a:rPr lang="en-US" sz="1500" dirty="0">
                <a:solidFill>
                  <a:srgbClr val="000000"/>
                </a:solidFill>
                <a:latin typeface="Calibri" pitchFamily="34" charset="0"/>
                <a:ea typeface="Calibri" pitchFamily="34" charset="-122"/>
                <a:cs typeface="Calibri" pitchFamily="34" charset="-120"/>
              </a:rPr>
              <a:t>-&gt;</a:t>
            </a:r>
            <a:endParaRPr lang="en-US" sz="1500" dirty="0"/>
          </a:p>
        </p:txBody>
      </p:sp>
      <p:sp>
        <p:nvSpPr>
          <p:cNvPr id="16" name="Shape 14"/>
          <p:cNvSpPr/>
          <p:nvPr/>
        </p:nvSpPr>
        <p:spPr>
          <a:xfrm>
            <a:off x="7360920" y="1371600"/>
            <a:ext cx="1920240" cy="1143000"/>
          </a:xfrm>
          <a:prstGeom prst="rect">
            <a:avLst/>
          </a:prstGeom>
          <a:solidFill>
            <a:srgbClr val="FFFFFF"/>
          </a:solidFill>
          <a:ln w="12700">
            <a:solidFill>
              <a:srgbClr val="808080"/>
            </a:solidFill>
            <a:prstDash val="solid"/>
          </a:ln>
        </p:spPr>
      </p:sp>
      <p:sp>
        <p:nvSpPr>
          <p:cNvPr id="17" name="Text 15"/>
          <p:cNvSpPr/>
          <p:nvPr/>
        </p:nvSpPr>
        <p:spPr>
          <a:xfrm>
            <a:off x="7470648" y="1463040"/>
            <a:ext cx="1700784" cy="219456"/>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4. Model call</a:t>
            </a:r>
            <a:endParaRPr lang="en-US" sz="1200" dirty="0"/>
          </a:p>
        </p:txBody>
      </p:sp>
      <p:sp>
        <p:nvSpPr>
          <p:cNvPr id="18" name="Text 16"/>
          <p:cNvSpPr/>
          <p:nvPr/>
        </p:nvSpPr>
        <p:spPr>
          <a:xfrm>
            <a:off x="7470648" y="1700784"/>
            <a:ext cx="1700784" cy="749808"/>
          </a:xfrm>
          <a:prstGeom prst="rect">
            <a:avLst/>
          </a:prstGeom>
          <a:noFill/>
          <a:ln/>
        </p:spPr>
        <p:txBody>
          <a:bodyPr wrap="square" lIns="0" tIns="0" rIns="0" bIns="0" rtlCol="0" anchor="t"/>
          <a:lstStyle/>
          <a:p>
            <a:pPr indent="0" marL="0">
              <a:buNone/>
            </a:pPr>
            <a:r>
              <a:rPr lang="en-US" sz="950" dirty="0">
                <a:solidFill>
                  <a:srgbClr val="000000"/>
                </a:solidFill>
                <a:latin typeface="Calibri" pitchFamily="34" charset="0"/>
                <a:ea typeface="Calibri" pitchFamily="34" charset="-122"/>
                <a:cs typeface="Calibri" pitchFamily="34" charset="-120"/>
              </a:rPr>
              <a:t>Azure OpenAI classifies the text against the retrieved rules, structured JSON out</a:t>
            </a:r>
            <a:endParaRPr lang="en-US" sz="950" dirty="0"/>
          </a:p>
        </p:txBody>
      </p:sp>
      <p:sp>
        <p:nvSpPr>
          <p:cNvPr id="19" name="Text 17"/>
          <p:cNvSpPr/>
          <p:nvPr/>
        </p:nvSpPr>
        <p:spPr>
          <a:xfrm>
            <a:off x="9299448" y="1828800"/>
            <a:ext cx="283464" cy="274320"/>
          </a:xfrm>
          <a:prstGeom prst="rect">
            <a:avLst/>
          </a:prstGeom>
          <a:noFill/>
          <a:ln/>
        </p:spPr>
        <p:txBody>
          <a:bodyPr wrap="square" lIns="0" tIns="0" rIns="0" bIns="0" rtlCol="0" anchor="ctr"/>
          <a:lstStyle/>
          <a:p>
            <a:pPr algn="ctr" indent="0" marL="0">
              <a:buNone/>
            </a:pPr>
            <a:r>
              <a:rPr lang="en-US" sz="1500" dirty="0">
                <a:solidFill>
                  <a:srgbClr val="000000"/>
                </a:solidFill>
                <a:latin typeface="Calibri" pitchFamily="34" charset="0"/>
                <a:ea typeface="Calibri" pitchFamily="34" charset="-122"/>
                <a:cs typeface="Calibri" pitchFamily="34" charset="-120"/>
              </a:rPr>
              <a:t>-&gt;</a:t>
            </a:r>
            <a:endParaRPr lang="en-US" sz="1500" dirty="0"/>
          </a:p>
        </p:txBody>
      </p:sp>
      <p:sp>
        <p:nvSpPr>
          <p:cNvPr id="20" name="Shape 18"/>
          <p:cNvSpPr/>
          <p:nvPr/>
        </p:nvSpPr>
        <p:spPr>
          <a:xfrm>
            <a:off x="9601200" y="1371600"/>
            <a:ext cx="1920240" cy="1143000"/>
          </a:xfrm>
          <a:prstGeom prst="rect">
            <a:avLst/>
          </a:prstGeom>
          <a:solidFill>
            <a:srgbClr val="FFFFFF"/>
          </a:solidFill>
          <a:ln w="12700">
            <a:solidFill>
              <a:srgbClr val="808080"/>
            </a:solidFill>
            <a:prstDash val="solid"/>
          </a:ln>
        </p:spPr>
      </p:sp>
      <p:sp>
        <p:nvSpPr>
          <p:cNvPr id="21" name="Text 19"/>
          <p:cNvSpPr/>
          <p:nvPr/>
        </p:nvSpPr>
        <p:spPr>
          <a:xfrm>
            <a:off x="9710928" y="1463040"/>
            <a:ext cx="1700784" cy="219456"/>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5. Response</a:t>
            </a:r>
            <a:endParaRPr lang="en-US" sz="1200" dirty="0"/>
          </a:p>
        </p:txBody>
      </p:sp>
      <p:sp>
        <p:nvSpPr>
          <p:cNvPr id="22" name="Text 20"/>
          <p:cNvSpPr/>
          <p:nvPr/>
        </p:nvSpPr>
        <p:spPr>
          <a:xfrm>
            <a:off x="9710928" y="1700784"/>
            <a:ext cx="1700784" cy="749808"/>
          </a:xfrm>
          <a:prstGeom prst="rect">
            <a:avLst/>
          </a:prstGeom>
          <a:noFill/>
          <a:ln/>
        </p:spPr>
        <p:txBody>
          <a:bodyPr wrap="square" lIns="0" tIns="0" rIns="0" bIns="0" rtlCol="0" anchor="t"/>
          <a:lstStyle/>
          <a:p>
            <a:pPr indent="0" marL="0">
              <a:buNone/>
            </a:pPr>
            <a:r>
              <a:rPr lang="en-US" sz="950" dirty="0">
                <a:solidFill>
                  <a:srgbClr val="000000"/>
                </a:solidFill>
                <a:latin typeface="Calibri" pitchFamily="34" charset="0"/>
                <a:ea typeface="Calibri" pitchFamily="34" charset="-122"/>
                <a:cs typeface="Calibri" pitchFamily="34" charset="-120"/>
              </a:rPr>
              <a:t>Denial risk flag, clarifying prompt, cited CMS rule, and concept tags - returned in-line</a:t>
            </a:r>
            <a:endParaRPr lang="en-US" sz="950" dirty="0"/>
          </a:p>
        </p:txBody>
      </p:sp>
      <p:sp>
        <p:nvSpPr>
          <p:cNvPr id="23" name="Text 21"/>
          <p:cNvSpPr/>
          <p:nvPr/>
        </p:nvSpPr>
        <p:spPr>
          <a:xfrm>
            <a:off x="640080" y="2697480"/>
            <a:ext cx="10881360" cy="256032"/>
          </a:xfrm>
          <a:prstGeom prst="rect">
            <a:avLst/>
          </a:prstGeom>
          <a:noFill/>
          <a:ln/>
        </p:spPr>
        <p:txBody>
          <a:bodyPr wrap="square" lIns="0" tIns="0" rIns="0" bIns="0" rtlCol="0" anchor="ctr"/>
          <a:lstStyle/>
          <a:p>
            <a:pPr indent="0" marL="0">
              <a:buNone/>
            </a:pPr>
            <a:r>
              <a:rPr lang="en-US" sz="1600" b="1" dirty="0">
                <a:solidFill>
                  <a:srgbClr val="000000"/>
                </a:solidFill>
                <a:latin typeface="Calibri" pitchFamily="34" charset="0"/>
                <a:ea typeface="Calibri" pitchFamily="34" charset="-122"/>
                <a:cs typeface="Calibri" pitchFamily="34" charset="-120"/>
              </a:rPr>
              <a:t>Resource group components</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3017520"/>
          <a:ext cx="10881360" cy="914400"/>
        </p:xfrm>
        <a:graphic>
          <a:graphicData uri="http://schemas.openxmlformats.org/drawingml/2006/table">
            <a:tbl>
              <a:tblPr/>
              <a:tblGrid>
                <a:gridCol w="2926080"/>
                <a:gridCol w="7955280"/>
              </a:tblGrid>
              <a:tr h="274320">
                <a:tc>
                  <a:txBody>
                    <a:bodyPr/>
                    <a:lstStyle/>
                    <a:p>
                      <a:pPr algn="l" indent="0" marL="0">
                        <a:buNone/>
                      </a:pPr>
                      <a:r>
                        <a:rPr lang="en-US" sz="1100" b="1" dirty="0">
                          <a:solidFill>
                            <a:srgbClr val="000000"/>
                          </a:solidFill>
                          <a:latin typeface="Calibri" pitchFamily="34" charset="0"/>
                          <a:ea typeface="Calibri" pitchFamily="34" charset="-122"/>
                          <a:cs typeface="Calibri" pitchFamily="34" charset="-120"/>
                        </a:rPr>
                        <a:t>Azure resource</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en-US" sz="1100" b="1" dirty="0">
                          <a:solidFill>
                            <a:srgbClr val="000000"/>
                          </a:solidFill>
                          <a:latin typeface="Calibri" pitchFamily="34" charset="0"/>
                          <a:ea typeface="Calibri" pitchFamily="34" charset="-122"/>
                          <a:cs typeface="Calibri" pitchFamily="34" charset="-120"/>
                        </a:rPr>
                        <a:t>Role in this design</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7432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App Service (Linux, Python)</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Hosts the API. Payload validation, prompt assembly, response shaping. Scales out for concurrent order entry.</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7432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Azure OpenAI Service</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The model call, on a pinned deployment so behaviour does not shift underneath the service. Data stays in the tenant.</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7432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Azure AI Search</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Vector index over the CMS rule library - the market-aware retrieval step. Replaces the local vector store in the prototype.</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7432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Blob Storage</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Source CMS documents, the concept dictionary, few-shot example sets, prompt versions, and the request/response audit trail.</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7432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Key Vault + managed identity</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Secrets and model keys. Removes the hard-coded key from the prototype code.</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7432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Azure Cache for Redis</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Holds retrieved rule sets and recent determinations so repeat lookups never touch search or the model.</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7432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Application Insights</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Latency, error rate, and token spend per request, tracked per stage.</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7432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Delta table or Azure SQL</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Stores every determination so it can later be joined to denial outcomes.</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25" name="Text 22"/>
          <p:cNvSpPr/>
          <p:nvPr/>
        </p:nvSpPr>
        <p:spPr>
          <a:xfrm>
            <a:off x="640080" y="5806440"/>
            <a:ext cx="10881360" cy="457200"/>
          </a:xfrm>
          <a:prstGeom prst="rect">
            <a:avLst/>
          </a:prstGeom>
          <a:noFill/>
          <a:ln/>
        </p:spPr>
        <p:txBody>
          <a:bodyPr wrap="square" lIns="0" tIns="0" rIns="0" bIns="0" rtlCol="0" anchor="ctr"/>
          <a:lstStyle/>
          <a:p>
            <a:pPr indent="0" marL="0">
              <a:buNone/>
            </a:pPr>
            <a:r>
              <a:rPr lang="en-US" sz="1100" dirty="0">
                <a:solidFill>
                  <a:srgbClr val="595959"/>
                </a:solidFill>
                <a:latin typeface="Calibri" pitchFamily="34" charset="0"/>
                <a:ea typeface="Calibri" pitchFamily="34" charset="-122"/>
                <a:cs typeface="Calibri" pitchFamily="34" charset="-120"/>
              </a:rPr>
              <a:t>Open decisions: whether request payloads are retained, which is a PHI question for legal and IT; private endpoints and VNet integration; and whether the determination store lands in Azure or in Databricks.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457200"/>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API performance design</a:t>
            </a:r>
            <a:endParaRPr lang="en-US" sz="3000" dirty="0"/>
          </a:p>
        </p:txBody>
      </p:sp>
      <p:sp>
        <p:nvSpPr>
          <p:cNvPr id="3" name="Text 1"/>
          <p:cNvSpPr/>
          <p:nvPr/>
        </p:nvSpPr>
        <p:spPr>
          <a:xfrm>
            <a:off x="640080" y="914400"/>
            <a:ext cx="10972800" cy="320040"/>
          </a:xfrm>
          <a:prstGeom prst="rect">
            <a:avLst/>
          </a:prstGeom>
          <a:noFill/>
          <a:ln/>
        </p:spPr>
        <p:txBody>
          <a:bodyPr wrap="square" lIns="0" tIns="0" rIns="0" bIns="0" rtlCol="0" anchor="ctr"/>
          <a:lstStyle/>
          <a:p>
            <a:pPr indent="0" marL="0">
              <a:buNone/>
            </a:pPr>
            <a:r>
              <a:rPr lang="en-US" sz="1400" dirty="0">
                <a:solidFill>
                  <a:srgbClr val="595959"/>
                </a:solidFill>
                <a:latin typeface="Calibri" pitchFamily="34" charset="0"/>
                <a:ea typeface="Calibri" pitchFamily="34" charset="-122"/>
                <a:cs typeface="Calibri" pitchFamily="34" charset="-120"/>
              </a:rPr>
              <a:t>Design target: sub-two-second response at the 95th percentile, supporting in-line validation at order entry</a:t>
            </a:r>
            <a:endParaRPr lang="en-US" sz="1400" dirty="0"/>
          </a:p>
        </p:txBody>
      </p:sp>
      <p:sp>
        <p:nvSpPr>
          <p:cNvPr id="4" name="Text 2"/>
          <p:cNvSpPr/>
          <p:nvPr/>
        </p:nvSpPr>
        <p:spPr>
          <a:xfrm>
            <a:off x="640080" y="1463040"/>
            <a:ext cx="5394960" cy="256032"/>
          </a:xfrm>
          <a:prstGeom prst="rect">
            <a:avLst/>
          </a:prstGeom>
          <a:noFill/>
          <a:ln/>
        </p:spPr>
        <p:txBody>
          <a:bodyPr wrap="square" lIns="0" tIns="0" rIns="0" bIns="0" rtlCol="0" anchor="ctr"/>
          <a:lstStyle/>
          <a:p>
            <a:pPr indent="0" marL="0">
              <a:buNone/>
            </a:pPr>
            <a:r>
              <a:rPr lang="en-US" sz="1600" b="1" dirty="0">
                <a:solidFill>
                  <a:srgbClr val="000000"/>
                </a:solidFill>
                <a:latin typeface="Calibri" pitchFamily="34" charset="0"/>
                <a:ea typeface="Calibri" pitchFamily="34" charset="-122"/>
                <a:cs typeface="Calibri" pitchFamily="34" charset="-120"/>
              </a:rPr>
              <a:t>Reduce work per request</a:t>
            </a:r>
            <a:endParaRPr lang="en-US" sz="1600" dirty="0"/>
          </a:p>
        </p:txBody>
      </p:sp>
      <p:sp>
        <p:nvSpPr>
          <p:cNvPr id="5" name="Text 3"/>
          <p:cNvSpPr/>
          <p:nvPr/>
        </p:nvSpPr>
        <p:spPr>
          <a:xfrm>
            <a:off x="640080" y="1755648"/>
            <a:ext cx="5394960" cy="228600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000000"/>
                </a:solidFill>
                <a:latin typeface="Calibri" pitchFamily="34" charset="0"/>
                <a:ea typeface="Calibri" pitchFamily="34" charset="-122"/>
                <a:cs typeface="Calibri" pitchFamily="34" charset="-120"/>
              </a:rPr>
              <a:t>Term matching executes first. Only unmatched text is routed to the model; at current volumes approximately three quarters of orders require no model call.</a:t>
            </a:r>
            <a:endParaRPr lang="en-US" sz="1200" dirty="0"/>
          </a:p>
          <a:p>
            <a:pPr marL="342900" indent="-342900">
              <a:spcAft>
                <a:spcPts val="700"/>
              </a:spcAft>
              <a:buSzPct val="100000"/>
              <a:buChar char="•"/>
            </a:pPr>
            <a:r>
              <a:rPr lang="en-US" sz="1200" dirty="0">
                <a:solidFill>
                  <a:srgbClr val="000000"/>
                </a:solidFill>
                <a:latin typeface="Calibri" pitchFamily="34" charset="0"/>
                <a:ea typeface="Calibri" pitchFamily="34" charset="-122"/>
                <a:cs typeface="Calibri" pitchFamily="34" charset="-120"/>
              </a:rPr>
              <a:t>Cache rule sets and few-shot examples per market in Redis. The rule library changes infrequently, reducing retrieval to a cache read.</a:t>
            </a:r>
            <a:endParaRPr lang="en-US" sz="1200" dirty="0"/>
          </a:p>
          <a:p>
            <a:pPr marL="342900" indent="-342900">
              <a:spcAft>
                <a:spcPts val="700"/>
              </a:spcAft>
              <a:buSzPct val="100000"/>
              <a:buChar char="•"/>
            </a:pPr>
            <a:r>
              <a:rPr lang="en-US" sz="1200" dirty="0">
                <a:solidFill>
                  <a:srgbClr val="000000"/>
                </a:solidFill>
                <a:latin typeface="Calibri" pitchFamily="34" charset="0"/>
                <a:ea typeface="Calibri" pitchFamily="34" charset="-122"/>
                <a:cs typeface="Calibri" pitchFamily="34" charset="-120"/>
              </a:rPr>
              <a:t>Retrieve three to five rule segments rather than the full library. Prompt size is the principal driver of both latency and cost.</a:t>
            </a:r>
            <a:endParaRPr lang="en-US" sz="1200" dirty="0"/>
          </a:p>
          <a:p>
            <a:pPr marL="342900" indent="-342900">
              <a:spcAft>
                <a:spcPts val="700"/>
              </a:spcAft>
              <a:buSzPct val="100000"/>
              <a:buChar char="•"/>
            </a:pPr>
            <a:r>
              <a:rPr lang="en-US" sz="1200" dirty="0">
                <a:solidFill>
                  <a:srgbClr val="000000"/>
                </a:solidFill>
                <a:latin typeface="Calibri" pitchFamily="34" charset="0"/>
                <a:ea typeface="Calibri" pitchFamily="34" charset="-122"/>
                <a:cs typeface="Calibri" pitchFamily="34" charset="-120"/>
              </a:rPr>
              <a:t>Cap output tokens and return structured JSON only, eliminating prose generation.</a:t>
            </a:r>
            <a:endParaRPr lang="en-US" sz="1200" dirty="0"/>
          </a:p>
        </p:txBody>
      </p:sp>
      <p:sp>
        <p:nvSpPr>
          <p:cNvPr id="6" name="Text 4"/>
          <p:cNvSpPr/>
          <p:nvPr/>
        </p:nvSpPr>
        <p:spPr>
          <a:xfrm>
            <a:off x="6400800" y="1463040"/>
            <a:ext cx="5120640" cy="256032"/>
          </a:xfrm>
          <a:prstGeom prst="rect">
            <a:avLst/>
          </a:prstGeom>
          <a:noFill/>
          <a:ln/>
        </p:spPr>
        <p:txBody>
          <a:bodyPr wrap="square" lIns="0" tIns="0" rIns="0" bIns="0" rtlCol="0" anchor="ctr"/>
          <a:lstStyle/>
          <a:p>
            <a:pPr indent="0" marL="0">
              <a:buNone/>
            </a:pPr>
            <a:r>
              <a:rPr lang="en-US" sz="1600" b="1" dirty="0">
                <a:solidFill>
                  <a:srgbClr val="000000"/>
                </a:solidFill>
                <a:latin typeface="Calibri" pitchFamily="34" charset="0"/>
                <a:ea typeface="Calibri" pitchFamily="34" charset="-122"/>
                <a:cs typeface="Calibri" pitchFamily="34" charset="-120"/>
              </a:rPr>
              <a:t>Optimize remaining calls</a:t>
            </a:r>
            <a:endParaRPr lang="en-US" sz="1600" dirty="0"/>
          </a:p>
        </p:txBody>
      </p:sp>
      <p:sp>
        <p:nvSpPr>
          <p:cNvPr id="7" name="Text 5"/>
          <p:cNvSpPr/>
          <p:nvPr/>
        </p:nvSpPr>
        <p:spPr>
          <a:xfrm>
            <a:off x="6400800" y="1755648"/>
            <a:ext cx="5120640" cy="228600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000000"/>
                </a:solidFill>
                <a:latin typeface="Calibri" pitchFamily="34" charset="0"/>
                <a:ea typeface="Calibri" pitchFamily="34" charset="-122"/>
                <a:cs typeface="Calibri" pitchFamily="34" charset="-120"/>
              </a:rPr>
              <a:t>Deploy the smallest model that satisfies evaluation criteria. This is the single largest latency factor.</a:t>
            </a:r>
            <a:endParaRPr lang="en-US" sz="1200" dirty="0"/>
          </a:p>
          <a:p>
            <a:pPr marL="342900" indent="-342900">
              <a:spcAft>
                <a:spcPts val="700"/>
              </a:spcAft>
              <a:buSzPct val="100000"/>
              <a:buChar char="•"/>
            </a:pPr>
            <a:r>
              <a:rPr lang="en-US" sz="1200" dirty="0">
                <a:solidFill>
                  <a:srgbClr val="000000"/>
                </a:solidFill>
                <a:latin typeface="Calibri" pitchFamily="34" charset="0"/>
                <a:ea typeface="Calibri" pitchFamily="34" charset="-122"/>
                <a:cs typeface="Calibri" pitchFamily="34" charset="-120"/>
              </a:rPr>
              <a:t>Provisioned throughput on Azure OpenAI rather than shared capacity, producing a predictable 95th percentile rather than a variable one.</a:t>
            </a:r>
            <a:endParaRPr lang="en-US" sz="1200" dirty="0"/>
          </a:p>
          <a:p>
            <a:pPr marL="342900" indent="-342900">
              <a:spcAft>
                <a:spcPts val="700"/>
              </a:spcAft>
              <a:buSzPct val="100000"/>
              <a:buChar char="•"/>
            </a:pPr>
            <a:r>
              <a:rPr lang="en-US" sz="1200" dirty="0">
                <a:solidFill>
                  <a:srgbClr val="000000"/>
                </a:solidFill>
                <a:latin typeface="Calibri" pitchFamily="34" charset="0"/>
                <a:ea typeface="Calibri" pitchFamily="34" charset="-122"/>
                <a:cs typeface="Calibri" pitchFamily="34" charset="-120"/>
              </a:rPr>
              <a:t>Position static rule text and examples at the start of the prompt so the cached prefix is reused across requests.</a:t>
            </a:r>
            <a:endParaRPr lang="en-US" sz="1200" dirty="0"/>
          </a:p>
          <a:p>
            <a:pPr marL="342900" indent="-342900">
              <a:spcAft>
                <a:spcPts val="700"/>
              </a:spcAft>
              <a:buSzPct val="100000"/>
              <a:buChar char="•"/>
            </a:pPr>
            <a:r>
              <a:rPr lang="en-US" sz="1200" dirty="0">
                <a:solidFill>
                  <a:srgbClr val="000000"/>
                </a:solidFill>
                <a:latin typeface="Calibri" pitchFamily="34" charset="0"/>
                <a:ea typeface="Calibri" pitchFamily="34" charset="-122"/>
                <a:cs typeface="Calibri" pitchFamily="34" charset="-120"/>
              </a:rPr>
              <a:t>Co-locate all resources in a single region, with connection pooling and keep-alive to the model endpoint.</a:t>
            </a:r>
            <a:endParaRPr lang="en-US" sz="1200" dirty="0"/>
          </a:p>
        </p:txBody>
      </p:sp>
      <p:sp>
        <p:nvSpPr>
          <p:cNvPr id="8" name="Text 6"/>
          <p:cNvSpPr/>
          <p:nvPr/>
        </p:nvSpPr>
        <p:spPr>
          <a:xfrm>
            <a:off x="640080" y="4114800"/>
            <a:ext cx="10881360" cy="256032"/>
          </a:xfrm>
          <a:prstGeom prst="rect">
            <a:avLst/>
          </a:prstGeom>
          <a:noFill/>
          <a:ln/>
        </p:spPr>
        <p:txBody>
          <a:bodyPr wrap="square" lIns="0" tIns="0" rIns="0" bIns="0" rtlCol="0" anchor="ctr"/>
          <a:lstStyle/>
          <a:p>
            <a:pPr indent="0" marL="0">
              <a:buNone/>
            </a:pPr>
            <a:r>
              <a:rPr lang="en-US" sz="1600" b="1" dirty="0">
                <a:solidFill>
                  <a:srgbClr val="000000"/>
                </a:solidFill>
                <a:latin typeface="Calibri" pitchFamily="34" charset="0"/>
                <a:ea typeface="Calibri" pitchFamily="34" charset="-122"/>
                <a:cs typeface="Calibri" pitchFamily="34" charset="-120"/>
              </a:rPr>
              <a:t>Request path optimization</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4434840"/>
          <a:ext cx="10881360" cy="914400"/>
        </p:xfrm>
        <a:graphic>
          <a:graphicData uri="http://schemas.openxmlformats.org/drawingml/2006/table">
            <a:tbl>
              <a:tblPr/>
              <a:tblGrid>
                <a:gridCol w="4206240"/>
                <a:gridCol w="6675120"/>
              </a:tblGrid>
              <a:tr h="274320">
                <a:tc>
                  <a:txBody>
                    <a:bodyPr/>
                    <a:lstStyle/>
                    <a:p>
                      <a:pPr algn="l" indent="0" marL="0">
                        <a:buNone/>
                      </a:pPr>
                      <a:r>
                        <a:rPr lang="en-US" sz="1100" b="1" dirty="0">
                          <a:solidFill>
                            <a:srgbClr val="000000"/>
                          </a:solidFill>
                          <a:latin typeface="Calibri" pitchFamily="34" charset="0"/>
                          <a:ea typeface="Calibri" pitchFamily="34" charset="-122"/>
                          <a:cs typeface="Calibri" pitchFamily="34" charset="-120"/>
                        </a:rPr>
                        <a:t>Measure</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en-US" sz="1100" b="1" dirty="0">
                          <a:solidFill>
                            <a:srgbClr val="000000"/>
                          </a:solidFill>
                          <a:latin typeface="Calibri" pitchFamily="34" charset="0"/>
                          <a:ea typeface="Calibri" pitchFamily="34" charset="-122"/>
                          <a:cs typeface="Calibri" pitchFamily="34" charset="-120"/>
                        </a:rPr>
                        <a:t>Effect</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7432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Async Python throughout (FastAPI, async HTTP client)</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No blocking call occupies the event loop while awaiting search or model responses.</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7432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Premium tier App Service, always-on, pre-warmed instances</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Eliminates cold starts. Autoscale on concurrent requests rather than CPU.</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7432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Audit and determination writes queued, not inline</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Logging and persistence are removed from the critical path.</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7432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Hard timeout with fallback to the term-match result</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Prevents the order form from blocking. A delayed model call degrades to the deterministic result.</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7432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p50, p95 and p99 tracked per stage in Application Insights</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Isolates latency to retrieval, the model, or the application layer.</a:t>
                      </a:r>
                      <a:endParaRPr lang="en-US" sz="11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Necessity Analysis</dc:title>
  <dc:subject>PptxGenJS Presentation</dc:subject>
  <dc:creator>PptxGenJS</dc:creator>
  <cp:lastModifiedBy>PptxGenJS</cp:lastModifiedBy>
  <cp:revision>1</cp:revision>
  <dcterms:created xsi:type="dcterms:W3CDTF">2026-07-24T13:21:34Z</dcterms:created>
  <dcterms:modified xsi:type="dcterms:W3CDTF">2026-07-24T13:21:34Z</dcterms:modified>
</cp:coreProperties>
</file>