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8.xml" ContentType="application/vnd.openxmlformats-officedocument.drawingml.chart+xml"/>
  <Override PartName="/ppt/notesSlides/notesSlide11.xml" ContentType="application/vnd.openxmlformats-officedocument.presentationml.notesSlide+xml"/>
  <Override PartName="/ppt/charts/chart9.xml" ContentType="application/vnd.openxmlformats-officedocument.drawingml.chart+xml"/>
  <Override PartName="/ppt/notesSlides/notesSlide12.xml" ContentType="application/vnd.openxmlformats-officedocument.presentationml.notesSlide+xml"/>
  <Override PartName="/ppt/charts/chart10.xml" ContentType="application/vnd.openxmlformats-officedocument.drawingml.chart+xml"/>
  <Override PartName="/ppt/notesSlides/notesSlide13.xml" ContentType="application/vnd.openxmlformats-officedocument.presentationml.notesSlide+xml"/>
  <Override PartName="/ppt/charts/chart11.xml" ContentType="application/vnd.openxmlformats-officedocument.drawingml.chart+xml"/>
  <Override PartName="/ppt/notesSlides/notesSlide14.xml" ContentType="application/vnd.openxmlformats-officedocument.presentationml.notesSlide+xml"/>
  <Override PartName="/ppt/charts/chart12.xml" ContentType="application/vnd.openxmlformats-officedocument.drawingml.chart+xml"/>
  <Override PartName="/ppt/notesSlides/notesSlide15.xml" ContentType="application/vnd.openxmlformats-officedocument.presentationml.notesSlide+xml"/>
  <Override PartName="/ppt/charts/chart13.xml" ContentType="application/vnd.openxmlformats-officedocument.drawingml.chart+xml"/>
  <Override PartName="/ppt/notesSlides/notesSlide16.xml" ContentType="application/vnd.openxmlformats-officedocument.presentationml.notesSlide+xml"/>
  <Override PartName="/ppt/charts/chart14.xml" ContentType="application/vnd.openxmlformats-officedocument.drawingml.chart+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61" r:id="rId5"/>
    <p:sldId id="262" r:id="rId6"/>
    <p:sldId id="263" r:id="rId7"/>
    <p:sldId id="264" r:id="rId8"/>
    <p:sldId id="266" r:id="rId9"/>
    <p:sldId id="267" r:id="rId10"/>
    <p:sldId id="268" r:id="rId11"/>
    <p:sldId id="259" r:id="rId12"/>
    <p:sldId id="260" r:id="rId13"/>
    <p:sldId id="269" r:id="rId14"/>
    <p:sldId id="270" r:id="rId15"/>
    <p:sldId id="271" r:id="rId16"/>
    <p:sldId id="272" r:id="rId17"/>
    <p:sldId id="27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Percent</c:v>
                </c:pt>
              </c:strCache>
            </c:strRef>
          </c:tx>
          <c:spPr>
            <a:solidFill>
              <a:srgbClr val="D1495B"/>
            </a:solidFill>
            <a:effectLst/>
          </c:spPr>
          <c:invertIfNegative val="0"/>
          <c:dPt>
            <c:idx val="0"/>
            <c:invertIfNegative val="0"/>
            <c:bubble3D val="0"/>
            <c:extLst>
              <c:ext xmlns:c16="http://schemas.microsoft.com/office/drawing/2014/chart" uri="{C3380CC4-5D6E-409C-BE32-E72D297353CC}">
                <c16:uniqueId val="{00000001-A720-1744-8185-0A217D149004}"/>
              </c:ext>
            </c:extLst>
          </c:dPt>
          <c:dPt>
            <c:idx val="1"/>
            <c:invertIfNegative val="0"/>
            <c:bubble3D val="0"/>
            <c:spPr>
              <a:solidFill>
                <a:srgbClr val="028090"/>
              </a:solidFill>
              <a:effectLst/>
            </c:spPr>
            <c:extLst>
              <c:ext xmlns:c16="http://schemas.microsoft.com/office/drawing/2014/chart" uri="{C3380CC4-5D6E-409C-BE32-E72D297353CC}">
                <c16:uniqueId val="{00000003-A720-1744-8185-0A217D149004}"/>
              </c:ext>
            </c:extLst>
          </c:dPt>
          <c:dPt>
            <c:idx val="2"/>
            <c:invertIfNegative val="0"/>
            <c:bubble3D val="0"/>
            <c:spPr>
              <a:solidFill>
                <a:srgbClr val="8FA0A6"/>
              </a:solidFill>
              <a:effectLst/>
            </c:spPr>
            <c:extLst>
              <c:ext xmlns:c16="http://schemas.microsoft.com/office/drawing/2014/chart" uri="{C3380CC4-5D6E-409C-BE32-E72D297353CC}">
                <c16:uniqueId val="{00000005-A720-1744-8185-0A217D149004}"/>
              </c:ext>
            </c:extLst>
          </c:dPt>
          <c:dLbls>
            <c:numFmt formatCode="0.0&quot;%&quot;" sourceLinked="0"/>
            <c:spPr>
              <a:noFill/>
              <a:ln>
                <a:noFill/>
              </a:ln>
              <a:effectLst/>
            </c:spPr>
            <c:txPr>
              <a:bodyPr/>
              <a:lstStyle/>
              <a:p>
                <a:pPr>
                  <a:defRPr sz="10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Flagged calls that were
really behavioral health</c:v>
                </c:pt>
                <c:pt idx="1">
                  <c:v>Real cases the
screen caught</c:v>
                </c:pt>
                <c:pt idx="2">
                  <c:v>Cases where both
methods agreed</c:v>
                </c:pt>
              </c:strCache>
            </c:strRef>
          </c:cat>
          <c:val>
            <c:numRef>
              <c:f>Sheet1!$B$2:$B$4</c:f>
              <c:numCache>
                <c:formatCode>General</c:formatCode>
                <c:ptCount val="3"/>
                <c:pt idx="0">
                  <c:v>60.5</c:v>
                </c:pt>
                <c:pt idx="1">
                  <c:v>90</c:v>
                </c:pt>
                <c:pt idx="2">
                  <c:v>77</c:v>
                </c:pt>
              </c:numCache>
            </c:numRef>
          </c:val>
          <c:extLst>
            <c:ext xmlns:c16="http://schemas.microsoft.com/office/drawing/2014/chart" uri="{C3380CC4-5D6E-409C-BE32-E72D297353CC}">
              <c16:uniqueId val="{00000006-A720-1744-8185-0A217D14900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Notes</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F084-9B48-9927-5DCE33C1BF64}"/>
              </c:ext>
            </c:extLst>
          </c:dPt>
          <c:dPt>
            <c:idx val="1"/>
            <c:invertIfNegative val="0"/>
            <c:bubble3D val="0"/>
            <c:spPr>
              <a:solidFill>
                <a:srgbClr val="D1495B"/>
              </a:solidFill>
              <a:effectLst/>
            </c:spPr>
            <c:extLst>
              <c:ext xmlns:c16="http://schemas.microsoft.com/office/drawing/2014/chart" uri="{C3380CC4-5D6E-409C-BE32-E72D297353CC}">
                <c16:uniqueId val="{00000003-F084-9B48-9927-5DCE33C1BF64}"/>
              </c:ext>
            </c:extLst>
          </c:dPt>
          <c:dPt>
            <c:idx val="2"/>
            <c:invertIfNegative val="0"/>
            <c:bubble3D val="0"/>
            <c:spPr>
              <a:solidFill>
                <a:srgbClr val="E0A500"/>
              </a:solidFill>
              <a:effectLst/>
            </c:spPr>
            <c:extLst>
              <c:ext xmlns:c16="http://schemas.microsoft.com/office/drawing/2014/chart" uri="{C3380CC4-5D6E-409C-BE32-E72D297353CC}">
                <c16:uniqueId val="{00000005-F084-9B48-9927-5DCE33C1BF64}"/>
              </c:ext>
            </c:extLst>
          </c:dPt>
          <c:dPt>
            <c:idx val="3"/>
            <c:invertIfNegative val="0"/>
            <c:bubble3D val="0"/>
            <c:spPr>
              <a:solidFill>
                <a:srgbClr val="8FA0A6"/>
              </a:solidFill>
              <a:effectLst/>
            </c:spPr>
            <c:extLst>
              <c:ext xmlns:c16="http://schemas.microsoft.com/office/drawing/2014/chart" uri="{C3380CC4-5D6E-409C-BE32-E72D297353CC}">
                <c16:uniqueId val="{00000007-F084-9B48-9927-5DCE33C1BF64}"/>
              </c:ext>
            </c:extLst>
          </c:dPt>
          <c:dLbls>
            <c:numFmt formatCode="#,##0" sourceLinked="0"/>
            <c:spPr>
              <a:noFill/>
              <a:ln>
                <a:noFill/>
              </a:ln>
              <a:effectLst/>
            </c:spPr>
            <c:txPr>
              <a:bodyPr/>
              <a:lstStyle/>
              <a:p>
                <a:pPr>
                  <a:defRPr sz="10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Flagged,
confirmed</c:v>
                </c:pt>
                <c:pt idx="1">
                  <c:v>Flagged,
not confirmed</c:v>
                </c:pt>
                <c:pt idx="2">
                  <c:v>Not flagged,
but real</c:v>
                </c:pt>
                <c:pt idx="3">
                  <c:v>Not flagged,
agreed</c:v>
                </c:pt>
              </c:strCache>
            </c:strRef>
          </c:cat>
          <c:val>
            <c:numRef>
              <c:f>Sheet1!$B$2:$B$5</c:f>
              <c:numCache>
                <c:formatCode>General</c:formatCode>
                <c:ptCount val="4"/>
                <c:pt idx="0">
                  <c:v>181</c:v>
                </c:pt>
                <c:pt idx="1">
                  <c:v>118</c:v>
                </c:pt>
                <c:pt idx="2">
                  <c:v>20</c:v>
                </c:pt>
                <c:pt idx="3">
                  <c:v>280</c:v>
                </c:pt>
              </c:numCache>
            </c:numRef>
          </c:val>
          <c:extLst>
            <c:ext xmlns:c16="http://schemas.microsoft.com/office/drawing/2014/chart" uri="{C3380CC4-5D6E-409C-BE32-E72D297353CC}">
              <c16:uniqueId val="{00000008-F084-9B48-9927-5DCE33C1BF6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33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confirmed calls</c:v>
                </c:pt>
              </c:strCache>
            </c:strRef>
          </c:tx>
          <c:spPr>
            <a:solidFill>
              <a:srgbClr val="028090"/>
            </a:solidFill>
            <a:effectLst/>
          </c:spPr>
          <c:invertIfNegative val="0"/>
          <c:dPt>
            <c:idx val="0"/>
            <c:invertIfNegative val="0"/>
            <c:bubble3D val="0"/>
            <c:spPr>
              <a:solidFill>
                <a:srgbClr val="028090"/>
              </a:solidFill>
              <a:effectLst/>
            </c:spPr>
            <c:extLst>
              <c:ext xmlns:c16="http://schemas.microsoft.com/office/drawing/2014/chart" uri="{C3380CC4-5D6E-409C-BE32-E72D297353CC}">
                <c16:uniqueId val="{00000001-ED52-F342-9E80-9EE245AB38EE}"/>
              </c:ext>
            </c:extLst>
          </c:dPt>
          <c:dPt>
            <c:idx val="1"/>
            <c:invertIfNegative val="0"/>
            <c:bubble3D val="0"/>
            <c:spPr>
              <a:solidFill>
                <a:srgbClr val="0B2545"/>
              </a:solidFill>
              <a:effectLst/>
            </c:spPr>
            <c:extLst>
              <c:ext xmlns:c16="http://schemas.microsoft.com/office/drawing/2014/chart" uri="{C3380CC4-5D6E-409C-BE32-E72D297353CC}">
                <c16:uniqueId val="{00000003-ED52-F342-9E80-9EE245AB38EE}"/>
              </c:ext>
            </c:extLst>
          </c:dPt>
          <c:dLbls>
            <c:numFmt formatCode="0.0&quot;%&quot;" sourceLinked="0"/>
            <c:spPr>
              <a:noFill/>
              <a:ln>
                <a:noFill/>
              </a:ln>
              <a:effectLst/>
            </c:spPr>
            <c:txPr>
              <a:bodyPr/>
              <a:lstStyle/>
              <a:p>
                <a:pPr>
                  <a:defRPr sz="10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Primary reason for the call</c:v>
                </c:pt>
                <c:pt idx="1">
                  <c:v>Secondary factor on another call</c:v>
                </c:pt>
              </c:strCache>
            </c:strRef>
          </c:cat>
          <c:val>
            <c:numRef>
              <c:f>Sheet1!$B$2:$B$3</c:f>
              <c:numCache>
                <c:formatCode>General</c:formatCode>
                <c:ptCount val="2"/>
                <c:pt idx="0">
                  <c:v>51.2</c:v>
                </c:pt>
                <c:pt idx="1">
                  <c:v>48.8</c:v>
                </c:pt>
              </c:numCache>
            </c:numRef>
          </c:val>
          <c:extLst>
            <c:ext xmlns:c16="http://schemas.microsoft.com/office/drawing/2014/chart" uri="{C3380CC4-5D6E-409C-BE32-E72D297353CC}">
              <c16:uniqueId val="{00000004-ED52-F342-9E80-9EE245AB38E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65"/>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confirmed calls</c:v>
                </c:pt>
              </c:strCache>
            </c:strRef>
          </c:tx>
          <c:spPr>
            <a:solidFill>
              <a:srgbClr val="028090"/>
            </a:solidFill>
            <a:effectLst/>
          </c:spPr>
          <c:invertIfNegative val="0"/>
          <c:dLbls>
            <c:numFmt formatCode="0.0&quot;%&quot;" sourceLinked="0"/>
            <c:spPr>
              <a:noFill/>
              <a:ln>
                <a:noFill/>
              </a:ln>
              <a:effectLst/>
            </c:spPr>
            <c:txPr>
              <a:bodyPr/>
              <a:lstStyle/>
              <a:p>
                <a:pPr>
                  <a:defRPr sz="10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Welfare check</c:v>
                </c:pt>
                <c:pt idx="1">
                  <c:v>Intoxication</c:v>
                </c:pt>
                <c:pt idx="2">
                  <c:v>Depression</c:v>
                </c:pt>
                <c:pt idx="3">
                  <c:v>Psychosis or agitation</c:v>
                </c:pt>
                <c:pt idx="4">
                  <c:v>Suicidal or self harm</c:v>
                </c:pt>
                <c:pt idx="5">
                  <c:v>Psychiatric</c:v>
                </c:pt>
                <c:pt idx="6">
                  <c:v>Substance use or overdose</c:v>
                </c:pt>
                <c:pt idx="7">
                  <c:v>Anxiety or panic</c:v>
                </c:pt>
              </c:strCache>
            </c:strRef>
          </c:cat>
          <c:val>
            <c:numRef>
              <c:f>Sheet1!$B$2:$B$9</c:f>
              <c:numCache>
                <c:formatCode>General</c:formatCode>
                <c:ptCount val="8"/>
                <c:pt idx="0">
                  <c:v>1</c:v>
                </c:pt>
                <c:pt idx="1">
                  <c:v>3</c:v>
                </c:pt>
                <c:pt idx="2">
                  <c:v>7</c:v>
                </c:pt>
                <c:pt idx="3">
                  <c:v>9</c:v>
                </c:pt>
                <c:pt idx="4">
                  <c:v>10.4</c:v>
                </c:pt>
                <c:pt idx="5">
                  <c:v>17.899999999999999</c:v>
                </c:pt>
                <c:pt idx="6">
                  <c:v>21.9</c:v>
                </c:pt>
                <c:pt idx="7">
                  <c:v>29.9</c:v>
                </c:pt>
              </c:numCache>
            </c:numRef>
          </c:val>
          <c:extLst>
            <c:ext xmlns:c16="http://schemas.microsoft.com/office/drawing/2014/chart" uri="{C3380CC4-5D6E-409C-BE32-E72D297353CC}">
              <c16:uniqueId val="{00000000-E642-6E46-B1AA-74C4C7F976C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36"/>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calls</c:v>
                </c:pt>
              </c:strCache>
            </c:strRef>
          </c:tx>
          <c:spPr>
            <a:solidFill>
              <a:srgbClr val="028090"/>
            </a:solidFill>
            <a:effectLst/>
          </c:spPr>
          <c:invertIfNegative val="0"/>
          <c:dLbls>
            <c:numFmt formatCode="0.0&quot;%&quot;" sourceLinked="0"/>
            <c:spPr>
              <a:noFill/>
              <a:ln>
                <a:noFill/>
              </a:ln>
              <a:effectLst/>
            </c:spPr>
            <c:txPr>
              <a:bodyPr/>
              <a:lstStyle/>
              <a:p>
                <a:pPr>
                  <a:defRPr sz="10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Rochester NY</c:v>
                </c:pt>
                <c:pt idx="1">
                  <c:v>Baltimore MD</c:v>
                </c:pt>
                <c:pt idx="2">
                  <c:v>Dekalb County GA</c:v>
                </c:pt>
                <c:pt idx="3">
                  <c:v>Onondaga County NY</c:v>
                </c:pt>
                <c:pt idx="4">
                  <c:v>Wake County NC</c:v>
                </c:pt>
                <c:pt idx="5">
                  <c:v>DCFEMS</c:v>
                </c:pt>
                <c:pt idx="6">
                  <c:v>King County WA</c:v>
                </c:pt>
                <c:pt idx="7">
                  <c:v>Snohomish WA</c:v>
                </c:pt>
                <c:pt idx="8">
                  <c:v>Knox County TN</c:v>
                </c:pt>
                <c:pt idx="9">
                  <c:v>Seattle WA</c:v>
                </c:pt>
              </c:strCache>
            </c:strRef>
          </c:cat>
          <c:val>
            <c:numRef>
              <c:f>Sheet1!$B$2:$B$11</c:f>
              <c:numCache>
                <c:formatCode>General</c:formatCode>
                <c:ptCount val="10"/>
                <c:pt idx="0">
                  <c:v>12.5</c:v>
                </c:pt>
                <c:pt idx="1">
                  <c:v>13.8</c:v>
                </c:pt>
                <c:pt idx="2">
                  <c:v>14.5</c:v>
                </c:pt>
                <c:pt idx="3">
                  <c:v>14.9</c:v>
                </c:pt>
                <c:pt idx="4">
                  <c:v>15.7</c:v>
                </c:pt>
                <c:pt idx="5">
                  <c:v>16.100000000000001</c:v>
                </c:pt>
                <c:pt idx="6">
                  <c:v>18.399999999999999</c:v>
                </c:pt>
                <c:pt idx="7">
                  <c:v>19</c:v>
                </c:pt>
                <c:pt idx="8">
                  <c:v>22</c:v>
                </c:pt>
                <c:pt idx="9">
                  <c:v>30.2</c:v>
                </c:pt>
              </c:numCache>
            </c:numRef>
          </c:val>
          <c:extLst>
            <c:ext xmlns:c16="http://schemas.microsoft.com/office/drawing/2014/chart" uri="{C3380CC4-5D6E-409C-BE32-E72D297353CC}">
              <c16:uniqueId val="{00000000-3C87-A345-A4C0-F531383AAB1F}"/>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36"/>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calls</c:v>
                </c:pt>
              </c:strCache>
            </c:strRef>
          </c:tx>
          <c:spPr>
            <a:solidFill>
              <a:srgbClr val="0B2545"/>
            </a:solidFill>
            <a:effectLst/>
          </c:spPr>
          <c:invertIfNegative val="0"/>
          <c:cat>
            <c:strRef>
              <c:f>Sheet1!$A$2:$A$24</c:f>
              <c:strCache>
                <c:ptCount val="23"/>
                <c:pt idx="0">
                  <c:v>Oct 24</c:v>
                </c:pt>
                <c:pt idx="1">
                  <c:v>Nov</c:v>
                </c:pt>
                <c:pt idx="2">
                  <c:v>Dec</c:v>
                </c:pt>
                <c:pt idx="3">
                  <c:v>Jan 25</c:v>
                </c:pt>
                <c:pt idx="4">
                  <c:v>Feb</c:v>
                </c:pt>
                <c:pt idx="5">
                  <c:v>Mar</c:v>
                </c:pt>
                <c:pt idx="6">
                  <c:v>Apr</c:v>
                </c:pt>
                <c:pt idx="7">
                  <c:v>May</c:v>
                </c:pt>
                <c:pt idx="8">
                  <c:v>Jun</c:v>
                </c:pt>
                <c:pt idx="9">
                  <c:v>Jul</c:v>
                </c:pt>
                <c:pt idx="10">
                  <c:v>Aug</c:v>
                </c:pt>
                <c:pt idx="11">
                  <c:v>Sep</c:v>
                </c:pt>
                <c:pt idx="12">
                  <c:v>Oct</c:v>
                </c:pt>
                <c:pt idx="13">
                  <c:v>Nov</c:v>
                </c:pt>
                <c:pt idx="14">
                  <c:v>Dec</c:v>
                </c:pt>
                <c:pt idx="15">
                  <c:v>Jan 26</c:v>
                </c:pt>
                <c:pt idx="16">
                  <c:v>Feb</c:v>
                </c:pt>
                <c:pt idx="17">
                  <c:v>Mar</c:v>
                </c:pt>
                <c:pt idx="18">
                  <c:v>Apr</c:v>
                </c:pt>
                <c:pt idx="19">
                  <c:v>May</c:v>
                </c:pt>
                <c:pt idx="20">
                  <c:v>Jun</c:v>
                </c:pt>
                <c:pt idx="21">
                  <c:v>Jul</c:v>
                </c:pt>
                <c:pt idx="22">
                  <c:v>Aug 26</c:v>
                </c:pt>
              </c:strCache>
            </c:strRef>
          </c:cat>
          <c:val>
            <c:numRef>
              <c:f>Sheet1!$B$2:$B$24</c:f>
              <c:numCache>
                <c:formatCode>General</c:formatCode>
                <c:ptCount val="23"/>
                <c:pt idx="0">
                  <c:v>3821</c:v>
                </c:pt>
                <c:pt idx="1">
                  <c:v>4384</c:v>
                </c:pt>
                <c:pt idx="2">
                  <c:v>5157</c:v>
                </c:pt>
                <c:pt idx="3">
                  <c:v>5646</c:v>
                </c:pt>
                <c:pt idx="4">
                  <c:v>5053</c:v>
                </c:pt>
                <c:pt idx="5">
                  <c:v>5229</c:v>
                </c:pt>
                <c:pt idx="6">
                  <c:v>5128</c:v>
                </c:pt>
                <c:pt idx="7">
                  <c:v>5332</c:v>
                </c:pt>
                <c:pt idx="8">
                  <c:v>5508</c:v>
                </c:pt>
                <c:pt idx="9">
                  <c:v>6101</c:v>
                </c:pt>
                <c:pt idx="10">
                  <c:v>5753</c:v>
                </c:pt>
                <c:pt idx="11">
                  <c:v>6074</c:v>
                </c:pt>
                <c:pt idx="12">
                  <c:v>7072</c:v>
                </c:pt>
                <c:pt idx="13">
                  <c:v>7315</c:v>
                </c:pt>
                <c:pt idx="14">
                  <c:v>8885</c:v>
                </c:pt>
                <c:pt idx="15">
                  <c:v>8287</c:v>
                </c:pt>
                <c:pt idx="16">
                  <c:v>7277</c:v>
                </c:pt>
                <c:pt idx="17">
                  <c:v>8231</c:v>
                </c:pt>
                <c:pt idx="18">
                  <c:v>8069</c:v>
                </c:pt>
                <c:pt idx="19">
                  <c:v>8237</c:v>
                </c:pt>
                <c:pt idx="20">
                  <c:v>8816</c:v>
                </c:pt>
                <c:pt idx="21">
                  <c:v>9632</c:v>
                </c:pt>
                <c:pt idx="22">
                  <c:v>4993</c:v>
                </c:pt>
              </c:numCache>
            </c:numRef>
          </c:val>
          <c:extLst>
            <c:ext xmlns:c16="http://schemas.microsoft.com/office/drawing/2014/chart" uri="{C3380CC4-5D6E-409C-BE32-E72D297353CC}">
              <c16:uniqueId val="{00000000-6634-2D47-8DAA-258A794D4B99}"/>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Behavioral health share</c:v>
                </c:pt>
              </c:strCache>
            </c:strRef>
          </c:tx>
          <c:spPr>
            <a:ln w="38100" cap="flat">
              <a:solidFill>
                <a:srgbClr val="028090"/>
              </a:solidFill>
              <a:prstDash val="solid"/>
              <a:round/>
            </a:ln>
            <a:effectLst/>
          </c:spPr>
          <c:marker>
            <c:symbol val="circle"/>
            <c:size val="5"/>
            <c:spPr>
              <a:solidFill>
                <a:srgbClr val="028090"/>
              </a:solidFill>
              <a:ln w="9525" cap="flat">
                <a:solidFill>
                  <a:srgbClr val="028090"/>
                </a:solidFill>
                <a:prstDash val="solid"/>
                <a:round/>
              </a:ln>
              <a:effectLst/>
            </c:spPr>
          </c:marker>
          <c:cat>
            <c:strRef>
              <c:f>Sheet1!$A$2:$A$24</c:f>
              <c:strCache>
                <c:ptCount val="23"/>
                <c:pt idx="0">
                  <c:v>Oct 24</c:v>
                </c:pt>
                <c:pt idx="1">
                  <c:v>Nov</c:v>
                </c:pt>
                <c:pt idx="2">
                  <c:v>Dec</c:v>
                </c:pt>
                <c:pt idx="3">
                  <c:v>Jan 25</c:v>
                </c:pt>
                <c:pt idx="4">
                  <c:v>Feb</c:v>
                </c:pt>
                <c:pt idx="5">
                  <c:v>Mar</c:v>
                </c:pt>
                <c:pt idx="6">
                  <c:v>Apr</c:v>
                </c:pt>
                <c:pt idx="7">
                  <c:v>May</c:v>
                </c:pt>
                <c:pt idx="8">
                  <c:v>Jun</c:v>
                </c:pt>
                <c:pt idx="9">
                  <c:v>Jul</c:v>
                </c:pt>
                <c:pt idx="10">
                  <c:v>Aug</c:v>
                </c:pt>
                <c:pt idx="11">
                  <c:v>Sep</c:v>
                </c:pt>
                <c:pt idx="12">
                  <c:v>Oct</c:v>
                </c:pt>
                <c:pt idx="13">
                  <c:v>Nov</c:v>
                </c:pt>
                <c:pt idx="14">
                  <c:v>Dec</c:v>
                </c:pt>
                <c:pt idx="15">
                  <c:v>Jan 26</c:v>
                </c:pt>
                <c:pt idx="16">
                  <c:v>Feb</c:v>
                </c:pt>
                <c:pt idx="17">
                  <c:v>Mar</c:v>
                </c:pt>
                <c:pt idx="18">
                  <c:v>Apr</c:v>
                </c:pt>
                <c:pt idx="19">
                  <c:v>May</c:v>
                </c:pt>
                <c:pt idx="20">
                  <c:v>Jun</c:v>
                </c:pt>
                <c:pt idx="21">
                  <c:v>Jul</c:v>
                </c:pt>
                <c:pt idx="22">
                  <c:v>Aug 26</c:v>
                </c:pt>
              </c:strCache>
            </c:strRef>
          </c:cat>
          <c:val>
            <c:numRef>
              <c:f>Sheet1!$B$2:$B$24</c:f>
              <c:numCache>
                <c:formatCode>General</c:formatCode>
                <c:ptCount val="23"/>
                <c:pt idx="0">
                  <c:v>18.600000000000001</c:v>
                </c:pt>
                <c:pt idx="1">
                  <c:v>19.100000000000001</c:v>
                </c:pt>
                <c:pt idx="2">
                  <c:v>18</c:v>
                </c:pt>
                <c:pt idx="3">
                  <c:v>18</c:v>
                </c:pt>
                <c:pt idx="4">
                  <c:v>17.2</c:v>
                </c:pt>
                <c:pt idx="5">
                  <c:v>18.2</c:v>
                </c:pt>
                <c:pt idx="6">
                  <c:v>19.600000000000001</c:v>
                </c:pt>
                <c:pt idx="7">
                  <c:v>17.7</c:v>
                </c:pt>
                <c:pt idx="8">
                  <c:v>17.8</c:v>
                </c:pt>
                <c:pt idx="9">
                  <c:v>17.899999999999999</c:v>
                </c:pt>
                <c:pt idx="10">
                  <c:v>19.3</c:v>
                </c:pt>
                <c:pt idx="11">
                  <c:v>18.3</c:v>
                </c:pt>
                <c:pt idx="12">
                  <c:v>17.600000000000001</c:v>
                </c:pt>
                <c:pt idx="13">
                  <c:v>16.8</c:v>
                </c:pt>
                <c:pt idx="14">
                  <c:v>17.100000000000001</c:v>
                </c:pt>
                <c:pt idx="15">
                  <c:v>17.600000000000001</c:v>
                </c:pt>
                <c:pt idx="16">
                  <c:v>17.2</c:v>
                </c:pt>
                <c:pt idx="17">
                  <c:v>17.3</c:v>
                </c:pt>
                <c:pt idx="18">
                  <c:v>16.600000000000001</c:v>
                </c:pt>
                <c:pt idx="19">
                  <c:v>16.100000000000001</c:v>
                </c:pt>
                <c:pt idx="20">
                  <c:v>16.3</c:v>
                </c:pt>
                <c:pt idx="21">
                  <c:v>16.2</c:v>
                </c:pt>
                <c:pt idx="22">
                  <c:v>16.399999999999999</c:v>
                </c:pt>
              </c:numCache>
            </c:numRef>
          </c:val>
          <c:smooth val="0"/>
          <c:extLst>
            <c:ext xmlns:c16="http://schemas.microsoft.com/office/drawing/2014/chart" uri="{C3380CC4-5D6E-409C-BE32-E72D297353CC}">
              <c16:uniqueId val="{00000000-A970-5848-828A-20DC296895D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21"/>
          <c:min val="14"/>
        </c:scaling>
        <c:delete val="0"/>
        <c:axPos val="l"/>
        <c:majorGridlines>
          <c:spPr>
            <a:ln w="12700" cap="flat">
              <a:solidFill>
                <a:srgbClr val="E6E6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Calls linked</c:v>
                </c:pt>
              </c:strCache>
            </c:strRef>
          </c:tx>
          <c:spPr>
            <a:solidFill>
              <a:srgbClr val="028090"/>
            </a:solidFill>
            <a:effectLst/>
          </c:spPr>
          <c:invertIfNegative val="0"/>
          <c:dLbls>
            <c:numFmt formatCode="#,##0" sourceLinked="0"/>
            <c:spPr>
              <a:noFill/>
              <a:ln>
                <a:noFill/>
              </a:ln>
              <a:effectLst/>
            </c:spPr>
            <c:txPr>
              <a:bodyPr/>
              <a:lstStyle/>
              <a:p>
                <a:pPr>
                  <a:defRPr sz="9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Exact name and date of birth</c:v>
                </c:pt>
                <c:pt idx="1">
                  <c:v>Similar first name, same last name and date of birth</c:v>
                </c:pt>
                <c:pt idx="2">
                  <c:v>Similar last name, same first name and date of birth</c:v>
                </c:pt>
                <c:pt idx="3">
                  <c:v>Same first name, date of birth and phone</c:v>
                </c:pt>
                <c:pt idx="4">
                  <c:v>Same name and phone, one date of birth or none</c:v>
                </c:pt>
              </c:strCache>
            </c:strRef>
          </c:cat>
          <c:val>
            <c:numRef>
              <c:f>Sheet1!$B$2:$B$6</c:f>
              <c:numCache>
                <c:formatCode>General</c:formatCode>
                <c:ptCount val="5"/>
                <c:pt idx="0">
                  <c:v>23844</c:v>
                </c:pt>
                <c:pt idx="1">
                  <c:v>2830</c:v>
                </c:pt>
                <c:pt idx="2">
                  <c:v>3130</c:v>
                </c:pt>
                <c:pt idx="3">
                  <c:v>882</c:v>
                </c:pt>
                <c:pt idx="4">
                  <c:v>195</c:v>
                </c:pt>
              </c:numCache>
            </c:numRef>
          </c:val>
          <c:extLst>
            <c:ext xmlns:c16="http://schemas.microsoft.com/office/drawing/2014/chart" uri="{C3380CC4-5D6E-409C-BE32-E72D297353CC}">
              <c16:uniqueId val="{00000000-D4E8-834F-AD60-B235861131F9}"/>
            </c:ext>
          </c:extLst>
        </c:ser>
        <c:ser>
          <c:idx val="1"/>
          <c:order val="1"/>
          <c:tx>
            <c:strRef>
              <c:f>Sheet1!$C$1</c:f>
              <c:strCache>
                <c:ptCount val="1"/>
                <c:pt idx="0">
                  <c:v>Links rejected by the name-variant limit</c:v>
                </c:pt>
              </c:strCache>
            </c:strRef>
          </c:tx>
          <c:spPr>
            <a:solidFill>
              <a:srgbClr val="D1495B"/>
            </a:solidFill>
            <a:effectLst/>
          </c:spPr>
          <c:invertIfNegative val="0"/>
          <c:dLbls>
            <c:numFmt formatCode="#,##0" sourceLinked="0"/>
            <c:spPr>
              <a:noFill/>
              <a:ln>
                <a:noFill/>
              </a:ln>
              <a:effectLst/>
            </c:spPr>
            <c:txPr>
              <a:bodyPr/>
              <a:lstStyle/>
              <a:p>
                <a:pPr>
                  <a:defRPr sz="9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Exact name and date of birth</c:v>
                </c:pt>
                <c:pt idx="1">
                  <c:v>Similar first name, same last name and date of birth</c:v>
                </c:pt>
                <c:pt idx="2">
                  <c:v>Similar last name, same first name and date of birth</c:v>
                </c:pt>
                <c:pt idx="3">
                  <c:v>Same first name, date of birth and phone</c:v>
                </c:pt>
                <c:pt idx="4">
                  <c:v>Same name and phone, one date of birth or none</c:v>
                </c:pt>
              </c:strCache>
            </c:strRef>
          </c:cat>
          <c:val>
            <c:numRef>
              <c:f>Sheet1!$C$2:$C$6</c:f>
              <c:numCache>
                <c:formatCode>General</c:formatCode>
                <c:ptCount val="5"/>
                <c:pt idx="0">
                  <c:v>0</c:v>
                </c:pt>
                <c:pt idx="1">
                  <c:v>301</c:v>
                </c:pt>
                <c:pt idx="2">
                  <c:v>494</c:v>
                </c:pt>
                <c:pt idx="3">
                  <c:v>344</c:v>
                </c:pt>
                <c:pt idx="4">
                  <c:v>0</c:v>
                </c:pt>
              </c:numCache>
            </c:numRef>
          </c:val>
          <c:extLst>
            <c:ext xmlns:c16="http://schemas.microsoft.com/office/drawing/2014/chart" uri="{C3380CC4-5D6E-409C-BE32-E72D297353CC}">
              <c16:uniqueId val="{00000001-D4E8-834F-AD60-B235861131F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29000"/>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5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Repeat calls</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1EC0-EE45-A17C-93185D9FD059}"/>
              </c:ext>
            </c:extLst>
          </c:dPt>
          <c:dPt>
            <c:idx val="1"/>
            <c:invertIfNegative val="0"/>
            <c:bubble3D val="0"/>
            <c:extLst>
              <c:ext xmlns:c16="http://schemas.microsoft.com/office/drawing/2014/chart" uri="{C3380CC4-5D6E-409C-BE32-E72D297353CC}">
                <c16:uniqueId val="{00000003-1EC0-EE45-A17C-93185D9FD059}"/>
              </c:ext>
            </c:extLst>
          </c:dPt>
          <c:dPt>
            <c:idx val="2"/>
            <c:invertIfNegative val="0"/>
            <c:bubble3D val="0"/>
            <c:extLst>
              <c:ext xmlns:c16="http://schemas.microsoft.com/office/drawing/2014/chart" uri="{C3380CC4-5D6E-409C-BE32-E72D297353CC}">
                <c16:uniqueId val="{00000005-1EC0-EE45-A17C-93185D9FD059}"/>
              </c:ext>
            </c:extLst>
          </c:dPt>
          <c:dPt>
            <c:idx val="3"/>
            <c:invertIfNegative val="0"/>
            <c:bubble3D val="0"/>
            <c:spPr>
              <a:solidFill>
                <a:srgbClr val="0B2545"/>
              </a:solidFill>
              <a:effectLst/>
            </c:spPr>
            <c:extLst>
              <c:ext xmlns:c16="http://schemas.microsoft.com/office/drawing/2014/chart" uri="{C3380CC4-5D6E-409C-BE32-E72D297353CC}">
                <c16:uniqueId val="{00000007-1EC0-EE45-A17C-93185D9FD059}"/>
              </c:ext>
            </c:extLst>
          </c:dPt>
          <c:dLbls>
            <c:numFmt formatCode="#,##0" sourceLinked="0"/>
            <c:spPr>
              <a:noFill/>
              <a:ln>
                <a:noFill/>
              </a:ln>
              <a:effectLst/>
            </c:spPr>
            <c:txPr>
              <a:bodyPr/>
              <a:lstStyle/>
              <a:p>
                <a:pPr>
                  <a:defRPr sz="120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Within 30 days
51.7% of repeat calls</c:v>
                </c:pt>
                <c:pt idx="1">
                  <c:v>Within 60 days
64.4% of repeat calls</c:v>
                </c:pt>
                <c:pt idx="2">
                  <c:v>Within 90 days
72.4% of repeat calls</c:v>
                </c:pt>
                <c:pt idx="3">
                  <c:v>All repeat calls
100% of repeat calls</c:v>
                </c:pt>
              </c:strCache>
            </c:strRef>
          </c:cat>
          <c:val>
            <c:numRef>
              <c:f>Sheet1!$B$2:$B$5</c:f>
              <c:numCache>
                <c:formatCode>General</c:formatCode>
                <c:ptCount val="4"/>
                <c:pt idx="0">
                  <c:v>15970</c:v>
                </c:pt>
                <c:pt idx="1">
                  <c:v>19889</c:v>
                </c:pt>
                <c:pt idx="2">
                  <c:v>22348</c:v>
                </c:pt>
                <c:pt idx="3">
                  <c:v>30881</c:v>
                </c:pt>
              </c:numCache>
            </c:numRef>
          </c:val>
          <c:extLst>
            <c:ext xmlns:c16="http://schemas.microsoft.com/office/drawing/2014/chart" uri="{C3380CC4-5D6E-409C-BE32-E72D297353CC}">
              <c16:uniqueId val="{00000008-1EC0-EE45-A17C-93185D9FD059}"/>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360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people</c:v>
                </c:pt>
              </c:strCache>
            </c:strRef>
          </c:tx>
          <c:spPr>
            <a:solidFill>
              <a:srgbClr val="028090"/>
            </a:solidFill>
            <a:effectLst/>
          </c:spPr>
          <c:invertIfNegative val="0"/>
          <c:dLbls>
            <c:numFmt formatCode="0.0&quot;%&quot;" sourceLinked="0"/>
            <c:spPr>
              <a:noFill/>
              <a:ln>
                <a:noFill/>
              </a:ln>
              <a:effectLst/>
            </c:spPr>
            <c:txPr>
              <a:bodyPr/>
              <a:lstStyle/>
              <a:p>
                <a:pPr>
                  <a:defRPr sz="10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call</c:v>
                </c:pt>
                <c:pt idx="1">
                  <c:v>2 calls</c:v>
                </c:pt>
                <c:pt idx="2">
                  <c:v>3-4 calls</c:v>
                </c:pt>
                <c:pt idx="3">
                  <c:v>5-9 calls</c:v>
                </c:pt>
                <c:pt idx="4">
                  <c:v>10 or more calls</c:v>
                </c:pt>
              </c:strCache>
            </c:strRef>
          </c:cat>
          <c:val>
            <c:numRef>
              <c:f>Sheet1!$B$2:$B$6</c:f>
              <c:numCache>
                <c:formatCode>General</c:formatCode>
                <c:ptCount val="5"/>
                <c:pt idx="0">
                  <c:v>86.7</c:v>
                </c:pt>
                <c:pt idx="1">
                  <c:v>8.6</c:v>
                </c:pt>
                <c:pt idx="2">
                  <c:v>3.3</c:v>
                </c:pt>
                <c:pt idx="3">
                  <c:v>1.1000000000000001</c:v>
                </c:pt>
                <c:pt idx="4">
                  <c:v>0.3</c:v>
                </c:pt>
              </c:numCache>
            </c:numRef>
          </c:val>
          <c:extLst>
            <c:ext xmlns:c16="http://schemas.microsoft.com/office/drawing/2014/chart" uri="{C3380CC4-5D6E-409C-BE32-E72D297353CC}">
              <c16:uniqueId val="{00000000-ACFF-FA43-BCD9-48A4F9B16CFA}"/>
            </c:ext>
          </c:extLst>
        </c:ser>
        <c:ser>
          <c:idx val="1"/>
          <c:order val="1"/>
          <c:tx>
            <c:strRef>
              <c:f>Sheet1!$C$1</c:f>
              <c:strCache>
                <c:ptCount val="1"/>
                <c:pt idx="0">
                  <c:v>Share of calls</c:v>
                </c:pt>
              </c:strCache>
            </c:strRef>
          </c:tx>
          <c:spPr>
            <a:solidFill>
              <a:srgbClr val="0B2545"/>
            </a:solidFill>
            <a:effectLst/>
          </c:spPr>
          <c:invertIfNegative val="0"/>
          <c:dLbls>
            <c:numFmt formatCode="0.0&quot;%&quot;" sourceLinked="0"/>
            <c:spPr>
              <a:noFill/>
              <a:ln>
                <a:noFill/>
              </a:ln>
              <a:effectLst/>
            </c:spPr>
            <c:txPr>
              <a:bodyPr/>
              <a:lstStyle/>
              <a:p>
                <a:pPr>
                  <a:defRPr sz="10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call</c:v>
                </c:pt>
                <c:pt idx="1">
                  <c:v>2 calls</c:v>
                </c:pt>
                <c:pt idx="2">
                  <c:v>3-4 calls</c:v>
                </c:pt>
                <c:pt idx="3">
                  <c:v>5-9 calls</c:v>
                </c:pt>
                <c:pt idx="4">
                  <c:v>10 or more calls</c:v>
                </c:pt>
              </c:strCache>
            </c:strRef>
          </c:cat>
          <c:val>
            <c:numRef>
              <c:f>Sheet1!$C$2:$C$6</c:f>
              <c:numCache>
                <c:formatCode>General</c:formatCode>
                <c:ptCount val="5"/>
                <c:pt idx="0">
                  <c:v>68</c:v>
                </c:pt>
                <c:pt idx="1">
                  <c:v>13.4</c:v>
                </c:pt>
                <c:pt idx="2">
                  <c:v>8.4</c:v>
                </c:pt>
                <c:pt idx="3">
                  <c:v>5.3</c:v>
                </c:pt>
                <c:pt idx="4">
                  <c:v>4.9000000000000004</c:v>
                </c:pt>
              </c:numCache>
            </c:numRef>
          </c:val>
          <c:extLst>
            <c:ext xmlns:c16="http://schemas.microsoft.com/office/drawing/2014/chart" uri="{C3380CC4-5D6E-409C-BE32-E72D297353CC}">
              <c16:uniqueId val="{00000001-ACFF-FA43-BCD9-48A4F9B16CF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30 days</c:v>
                </c:pt>
              </c:strCache>
            </c:strRef>
          </c:tx>
          <c:spPr>
            <a:solidFill>
              <a:srgbClr val="028090"/>
            </a:solidFill>
            <a:effectLst/>
          </c:spPr>
          <c:invertIfNegative val="0"/>
          <c:dLbls>
            <c:numFmt formatCode="#,##0" sourceLinked="0"/>
            <c:spPr>
              <a:noFill/>
              <a:ln>
                <a:noFill/>
              </a:ln>
              <a:effectLst/>
            </c:spPr>
            <c:txPr>
              <a:bodyPr/>
              <a:lstStyle/>
              <a:p>
                <a:pPr>
                  <a:defRPr sz="9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 or more calls</c:v>
                </c:pt>
                <c:pt idx="1">
                  <c:v>3 or more calls</c:v>
                </c:pt>
                <c:pt idx="2">
                  <c:v>5 or more calls</c:v>
                </c:pt>
              </c:strCache>
            </c:strRef>
          </c:cat>
          <c:val>
            <c:numRef>
              <c:f>Sheet1!$B$2:$B$4</c:f>
              <c:numCache>
                <c:formatCode>General</c:formatCode>
                <c:ptCount val="3"/>
                <c:pt idx="0">
                  <c:v>8158</c:v>
                </c:pt>
                <c:pt idx="1">
                  <c:v>1737</c:v>
                </c:pt>
                <c:pt idx="2">
                  <c:v>334</c:v>
                </c:pt>
              </c:numCache>
            </c:numRef>
          </c:val>
          <c:extLst>
            <c:ext xmlns:c16="http://schemas.microsoft.com/office/drawing/2014/chart" uri="{C3380CC4-5D6E-409C-BE32-E72D297353CC}">
              <c16:uniqueId val="{00000000-D9F5-8749-A2AB-88DE17582293}"/>
            </c:ext>
          </c:extLst>
        </c:ser>
        <c:ser>
          <c:idx val="1"/>
          <c:order val="1"/>
          <c:tx>
            <c:strRef>
              <c:f>Sheet1!$C$1</c:f>
              <c:strCache>
                <c:ptCount val="1"/>
                <c:pt idx="0">
                  <c:v>60 days</c:v>
                </c:pt>
              </c:strCache>
            </c:strRef>
          </c:tx>
          <c:spPr>
            <a:solidFill>
              <a:srgbClr val="0B2545"/>
            </a:solidFill>
            <a:effectLst/>
          </c:spPr>
          <c:invertIfNegative val="0"/>
          <c:dLbls>
            <c:numFmt formatCode="#,##0" sourceLinked="0"/>
            <c:spPr>
              <a:noFill/>
              <a:ln>
                <a:noFill/>
              </a:ln>
              <a:effectLst/>
            </c:spPr>
            <c:txPr>
              <a:bodyPr/>
              <a:lstStyle/>
              <a:p>
                <a:pPr>
                  <a:defRPr sz="9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 or more calls</c:v>
                </c:pt>
                <c:pt idx="1">
                  <c:v>3 or more calls</c:v>
                </c:pt>
                <c:pt idx="2">
                  <c:v>5 or more calls</c:v>
                </c:pt>
              </c:strCache>
            </c:strRef>
          </c:cat>
          <c:val>
            <c:numRef>
              <c:f>Sheet1!$C$2:$C$4</c:f>
              <c:numCache>
                <c:formatCode>General</c:formatCode>
                <c:ptCount val="3"/>
                <c:pt idx="0">
                  <c:v>9658</c:v>
                </c:pt>
                <c:pt idx="1">
                  <c:v>2448</c:v>
                </c:pt>
                <c:pt idx="2">
                  <c:v>527</c:v>
                </c:pt>
              </c:numCache>
            </c:numRef>
          </c:val>
          <c:extLst>
            <c:ext xmlns:c16="http://schemas.microsoft.com/office/drawing/2014/chart" uri="{C3380CC4-5D6E-409C-BE32-E72D297353CC}">
              <c16:uniqueId val="{00000001-D9F5-8749-A2AB-88DE17582293}"/>
            </c:ext>
          </c:extLst>
        </c:ser>
        <c:ser>
          <c:idx val="2"/>
          <c:order val="2"/>
          <c:tx>
            <c:strRef>
              <c:f>Sheet1!$D$1</c:f>
              <c:strCache>
                <c:ptCount val="1"/>
                <c:pt idx="0">
                  <c:v>90 days</c:v>
                </c:pt>
              </c:strCache>
            </c:strRef>
          </c:tx>
          <c:spPr>
            <a:solidFill>
              <a:srgbClr val="8FA0A6"/>
            </a:solidFill>
            <a:effectLst/>
          </c:spPr>
          <c:invertIfNegative val="0"/>
          <c:dLbls>
            <c:numFmt formatCode="#,##0" sourceLinked="0"/>
            <c:spPr>
              <a:noFill/>
              <a:ln>
                <a:noFill/>
              </a:ln>
              <a:effectLst/>
            </c:spPr>
            <c:txPr>
              <a:bodyPr/>
              <a:lstStyle/>
              <a:p>
                <a:pPr>
                  <a:defRPr sz="9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 or more calls</c:v>
                </c:pt>
                <c:pt idx="1">
                  <c:v>3 or more calls</c:v>
                </c:pt>
                <c:pt idx="2">
                  <c:v>5 or more calls</c:v>
                </c:pt>
              </c:strCache>
            </c:strRef>
          </c:cat>
          <c:val>
            <c:numRef>
              <c:f>Sheet1!$D$2:$D$4</c:f>
              <c:numCache>
                <c:formatCode>General</c:formatCode>
                <c:ptCount val="3"/>
                <c:pt idx="0">
                  <c:v>10686</c:v>
                </c:pt>
                <c:pt idx="1">
                  <c:v>2899</c:v>
                </c:pt>
                <c:pt idx="2">
                  <c:v>678</c:v>
                </c:pt>
              </c:numCache>
            </c:numRef>
          </c:val>
          <c:extLst>
            <c:ext xmlns:c16="http://schemas.microsoft.com/office/drawing/2014/chart" uri="{C3380CC4-5D6E-409C-BE32-E72D297353CC}">
              <c16:uniqueId val="{00000002-D9F5-8749-A2AB-88DE1758229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125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Calls</c:v>
                </c:pt>
              </c:strCache>
            </c:strRef>
          </c:tx>
          <c:spPr>
            <a:solidFill>
              <a:srgbClr val="028090"/>
            </a:solidFill>
            <a:effectLst/>
          </c:spPr>
          <c:invertIfNegative val="0"/>
          <c:dLbls>
            <c:numFmt formatCode="#,##0" sourceLinked="0"/>
            <c:spPr>
              <a:noFill/>
              <a:ln>
                <a:noFill/>
              </a:ln>
              <a:effectLst/>
            </c:spPr>
            <c:txPr>
              <a:bodyPr/>
              <a:lstStyle/>
              <a:p>
                <a:pPr>
                  <a:defRPr sz="105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1 day or less</c:v>
                </c:pt>
                <c:pt idx="1">
                  <c:v>2-7 days</c:v>
                </c:pt>
                <c:pt idx="2">
                  <c:v>8-30 days</c:v>
                </c:pt>
                <c:pt idx="3">
                  <c:v>31-60 days</c:v>
                </c:pt>
                <c:pt idx="4">
                  <c:v>61-90 days</c:v>
                </c:pt>
                <c:pt idx="5">
                  <c:v>91-180 days</c:v>
                </c:pt>
                <c:pt idx="6">
                  <c:v>over 180 days</c:v>
                </c:pt>
              </c:strCache>
            </c:strRef>
          </c:cat>
          <c:val>
            <c:numRef>
              <c:f>Sheet1!$B$2:$B$8</c:f>
              <c:numCache>
                <c:formatCode>General</c:formatCode>
                <c:ptCount val="7"/>
                <c:pt idx="0">
                  <c:v>4723</c:v>
                </c:pt>
                <c:pt idx="1">
                  <c:v>4847</c:v>
                </c:pt>
                <c:pt idx="2">
                  <c:v>6400</c:v>
                </c:pt>
                <c:pt idx="3">
                  <c:v>3919</c:v>
                </c:pt>
                <c:pt idx="4">
                  <c:v>2459</c:v>
                </c:pt>
                <c:pt idx="5">
                  <c:v>4115</c:v>
                </c:pt>
                <c:pt idx="6">
                  <c:v>4418</c:v>
                </c:pt>
              </c:numCache>
            </c:numRef>
          </c:val>
          <c:extLst>
            <c:ext xmlns:c16="http://schemas.microsoft.com/office/drawing/2014/chart" uri="{C3380CC4-5D6E-409C-BE32-E72D297353CC}">
              <c16:uniqueId val="{00000000-AF9E-EE43-9A9D-AFB59C82DBB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76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30-day return rate</c:v>
                </c:pt>
              </c:strCache>
            </c:strRef>
          </c:tx>
          <c:spPr>
            <a:ln w="38100" cap="flat">
              <a:solidFill>
                <a:srgbClr val="028090"/>
              </a:solidFill>
              <a:prstDash val="solid"/>
              <a:round/>
            </a:ln>
            <a:effectLst/>
          </c:spPr>
          <c:marker>
            <c:symbol val="circle"/>
            <c:size val="6"/>
            <c:spPr>
              <a:solidFill>
                <a:srgbClr val="028090"/>
              </a:solidFill>
              <a:ln w="9525" cap="flat">
                <a:solidFill>
                  <a:srgbClr val="028090"/>
                </a:solidFill>
                <a:prstDash val="solid"/>
                <a:round/>
              </a:ln>
              <a:effectLst/>
            </c:spPr>
          </c:marker>
          <c:dLbls>
            <c:numFmt formatCode="0.0&quot;%&quot;" sourceLinked="0"/>
            <c:spPr>
              <a:noFill/>
              <a:ln>
                <a:noFill/>
              </a:ln>
              <a:effectLst/>
            </c:spPr>
            <c:txPr>
              <a:bodyPr/>
              <a:lstStyle/>
              <a:p>
                <a:pPr>
                  <a:defRPr sz="900" b="0" i="0" u="none" strike="noStrike">
                    <a:solidFill>
                      <a:srgbClr val="222222"/>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Oct 24</c:v>
                </c:pt>
                <c:pt idx="1">
                  <c:v>Nov</c:v>
                </c:pt>
                <c:pt idx="2">
                  <c:v>Dec</c:v>
                </c:pt>
                <c:pt idx="3">
                  <c:v>Jan 25</c:v>
                </c:pt>
                <c:pt idx="4">
                  <c:v>Feb</c:v>
                </c:pt>
                <c:pt idx="5">
                  <c:v>Mar</c:v>
                </c:pt>
                <c:pt idx="6">
                  <c:v>Apr</c:v>
                </c:pt>
                <c:pt idx="7">
                  <c:v>May</c:v>
                </c:pt>
                <c:pt idx="8">
                  <c:v>Jun</c:v>
                </c:pt>
                <c:pt idx="9">
                  <c:v>Jul</c:v>
                </c:pt>
                <c:pt idx="10">
                  <c:v>Aug</c:v>
                </c:pt>
                <c:pt idx="11">
                  <c:v>Sep</c:v>
                </c:pt>
                <c:pt idx="12">
                  <c:v>Oct</c:v>
                </c:pt>
                <c:pt idx="13">
                  <c:v>Nov</c:v>
                </c:pt>
                <c:pt idx="14">
                  <c:v>Dec</c:v>
                </c:pt>
                <c:pt idx="15">
                  <c:v>Jan 26</c:v>
                </c:pt>
                <c:pt idx="16">
                  <c:v>Feb</c:v>
                </c:pt>
                <c:pt idx="17">
                  <c:v>Mar</c:v>
                </c:pt>
                <c:pt idx="18">
                  <c:v>Apr</c:v>
                </c:pt>
                <c:pt idx="19">
                  <c:v>May</c:v>
                </c:pt>
                <c:pt idx="20">
                  <c:v>Jun 26</c:v>
                </c:pt>
              </c:strCache>
            </c:strRef>
          </c:cat>
          <c:val>
            <c:numRef>
              <c:f>Sheet1!$B$2:$B$22</c:f>
              <c:numCache>
                <c:formatCode>General</c:formatCode>
                <c:ptCount val="21"/>
                <c:pt idx="0">
                  <c:v>9.9</c:v>
                </c:pt>
                <c:pt idx="1">
                  <c:v>9.9</c:v>
                </c:pt>
                <c:pt idx="2">
                  <c:v>9.1999999999999993</c:v>
                </c:pt>
                <c:pt idx="3">
                  <c:v>9.4</c:v>
                </c:pt>
                <c:pt idx="4">
                  <c:v>10.5</c:v>
                </c:pt>
                <c:pt idx="5">
                  <c:v>11.1</c:v>
                </c:pt>
                <c:pt idx="6">
                  <c:v>12.4</c:v>
                </c:pt>
                <c:pt idx="7">
                  <c:v>11.8</c:v>
                </c:pt>
                <c:pt idx="8">
                  <c:v>10.5</c:v>
                </c:pt>
                <c:pt idx="9">
                  <c:v>12</c:v>
                </c:pt>
                <c:pt idx="10">
                  <c:v>12.8</c:v>
                </c:pt>
                <c:pt idx="11">
                  <c:v>12.9</c:v>
                </c:pt>
                <c:pt idx="12">
                  <c:v>11.9</c:v>
                </c:pt>
                <c:pt idx="13">
                  <c:v>11.2</c:v>
                </c:pt>
                <c:pt idx="14">
                  <c:v>11.5</c:v>
                </c:pt>
                <c:pt idx="15">
                  <c:v>11.3</c:v>
                </c:pt>
                <c:pt idx="16">
                  <c:v>10.7</c:v>
                </c:pt>
                <c:pt idx="17">
                  <c:v>11.7</c:v>
                </c:pt>
                <c:pt idx="18">
                  <c:v>12.1</c:v>
                </c:pt>
                <c:pt idx="19">
                  <c:v>11.3</c:v>
                </c:pt>
                <c:pt idx="20">
                  <c:v>11.9</c:v>
                </c:pt>
              </c:numCache>
            </c:numRef>
          </c:val>
          <c:smooth val="0"/>
          <c:extLst>
            <c:ext xmlns:c16="http://schemas.microsoft.com/office/drawing/2014/chart" uri="{C3380CC4-5D6E-409C-BE32-E72D297353CC}">
              <c16:uniqueId val="{00000000-9CDF-094A-85A8-D4F4AD7DD13E}"/>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14"/>
          <c:min val="8"/>
        </c:scaling>
        <c:delete val="0"/>
        <c:axPos val="l"/>
        <c:majorGridlines>
          <c:spPr>
            <a:ln w="12700" cap="flat">
              <a:solidFill>
                <a:srgbClr val="E6E6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30 days</c:v>
                </c:pt>
              </c:strCache>
            </c:strRef>
          </c:tx>
          <c:spPr>
            <a:solidFill>
              <a:srgbClr val="028090"/>
            </a:solidFill>
            <a:effectLst/>
          </c:spPr>
          <c:invertIfNegative val="0"/>
          <c:dLbls>
            <c:numFmt formatCode="0.0&quot;%&quot;" sourceLinked="0"/>
            <c:spPr>
              <a:noFill/>
              <a:ln>
                <a:noFill/>
              </a:ln>
              <a:effectLst/>
            </c:spPr>
            <c:txPr>
              <a:bodyPr/>
              <a:lstStyle/>
              <a:p>
                <a:pPr>
                  <a:defRPr sz="90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ALS</c:v>
                </c:pt>
                <c:pt idx="1">
                  <c:v>BLS</c:v>
                </c:pt>
                <c:pt idx="2">
                  <c:v>VC EMS</c:v>
                </c:pt>
                <c:pt idx="3">
                  <c:v>Self-care</c:v>
                </c:pt>
                <c:pt idx="4">
                  <c:v>Mobile urgent care</c:v>
                </c:pt>
                <c:pt idx="5">
                  <c:v>NN ER</c:v>
                </c:pt>
                <c:pt idx="6">
                  <c:v>Ref CCR</c:v>
                </c:pt>
                <c:pt idx="7">
                  <c:v>VC ER</c:v>
                </c:pt>
                <c:pt idx="8">
                  <c:v>Virtual care</c:v>
                </c:pt>
              </c:strCache>
            </c:strRef>
          </c:cat>
          <c:val>
            <c:numRef>
              <c:f>Sheet1!$B$2:$B$10</c:f>
              <c:numCache>
                <c:formatCode>General</c:formatCode>
                <c:ptCount val="9"/>
                <c:pt idx="0">
                  <c:v>5.9</c:v>
                </c:pt>
                <c:pt idx="1">
                  <c:v>8.6</c:v>
                </c:pt>
                <c:pt idx="2">
                  <c:v>9.8000000000000007</c:v>
                </c:pt>
                <c:pt idx="3">
                  <c:v>10.3</c:v>
                </c:pt>
                <c:pt idx="4">
                  <c:v>11.8</c:v>
                </c:pt>
                <c:pt idx="5">
                  <c:v>17.7</c:v>
                </c:pt>
                <c:pt idx="6">
                  <c:v>18.600000000000001</c:v>
                </c:pt>
                <c:pt idx="7">
                  <c:v>19.399999999999999</c:v>
                </c:pt>
                <c:pt idx="8">
                  <c:v>27.7</c:v>
                </c:pt>
              </c:numCache>
            </c:numRef>
          </c:val>
          <c:extLst>
            <c:ext xmlns:c16="http://schemas.microsoft.com/office/drawing/2014/chart" uri="{C3380CC4-5D6E-409C-BE32-E72D297353CC}">
              <c16:uniqueId val="{00000000-179B-D446-92CF-31FA3DA575D7}"/>
            </c:ext>
          </c:extLst>
        </c:ser>
        <c:ser>
          <c:idx val="1"/>
          <c:order val="1"/>
          <c:tx>
            <c:strRef>
              <c:f>Sheet1!$C$1</c:f>
              <c:strCache>
                <c:ptCount val="1"/>
                <c:pt idx="0">
                  <c:v>90 days</c:v>
                </c:pt>
              </c:strCache>
            </c:strRef>
          </c:tx>
          <c:spPr>
            <a:solidFill>
              <a:srgbClr val="0B2545"/>
            </a:solidFill>
            <a:effectLst/>
          </c:spPr>
          <c:invertIfNegative val="0"/>
          <c:dLbls>
            <c:numFmt formatCode="0.0&quot;%&quot;" sourceLinked="0"/>
            <c:spPr>
              <a:noFill/>
              <a:ln>
                <a:noFill/>
              </a:ln>
              <a:effectLst/>
            </c:spPr>
            <c:txPr>
              <a:bodyPr/>
              <a:lstStyle/>
              <a:p>
                <a:pPr>
                  <a:defRPr sz="900" b="0" i="0" u="none" strike="noStrike">
                    <a:solidFill>
                      <a:srgbClr val="22222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ALS</c:v>
                </c:pt>
                <c:pt idx="1">
                  <c:v>BLS</c:v>
                </c:pt>
                <c:pt idx="2">
                  <c:v>VC EMS</c:v>
                </c:pt>
                <c:pt idx="3">
                  <c:v>Self-care</c:v>
                </c:pt>
                <c:pt idx="4">
                  <c:v>Mobile urgent care</c:v>
                </c:pt>
                <c:pt idx="5">
                  <c:v>NN ER</c:v>
                </c:pt>
                <c:pt idx="6">
                  <c:v>Ref CCR</c:v>
                </c:pt>
                <c:pt idx="7">
                  <c:v>VC ER</c:v>
                </c:pt>
                <c:pt idx="8">
                  <c:v>Virtual care</c:v>
                </c:pt>
              </c:strCache>
            </c:strRef>
          </c:cat>
          <c:val>
            <c:numRef>
              <c:f>Sheet1!$C$2:$C$10</c:f>
              <c:numCache>
                <c:formatCode>General</c:formatCode>
                <c:ptCount val="9"/>
                <c:pt idx="0">
                  <c:v>9.8000000000000007</c:v>
                </c:pt>
                <c:pt idx="1">
                  <c:v>13.6</c:v>
                </c:pt>
                <c:pt idx="2">
                  <c:v>14.4</c:v>
                </c:pt>
                <c:pt idx="3">
                  <c:v>14.1</c:v>
                </c:pt>
                <c:pt idx="4">
                  <c:v>15.7</c:v>
                </c:pt>
                <c:pt idx="5">
                  <c:v>24.5</c:v>
                </c:pt>
                <c:pt idx="6">
                  <c:v>23.8</c:v>
                </c:pt>
                <c:pt idx="7">
                  <c:v>25.1</c:v>
                </c:pt>
                <c:pt idx="8">
                  <c:v>31.9</c:v>
                </c:pt>
              </c:numCache>
            </c:numRef>
          </c:val>
          <c:extLst>
            <c:ext xmlns:c16="http://schemas.microsoft.com/office/drawing/2014/chart" uri="{C3380CC4-5D6E-409C-BE32-E72D297353CC}">
              <c16:uniqueId val="{00000001-179B-D446-92CF-31FA3DA575D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95959"/>
                </a:solidFill>
                <a:latin typeface="Calibri"/>
              </a:defRPr>
            </a:pPr>
            <a:endParaRPr lang="en-US"/>
          </a:p>
        </c:txPr>
        <c:crossAx val="2094734552"/>
        <c:crosses val="autoZero"/>
        <c:auto val="1"/>
        <c:lblAlgn val="ctr"/>
        <c:lblOffset val="100"/>
        <c:noMultiLvlLbl val="1"/>
      </c:catAx>
      <c:valAx>
        <c:axId val="2094734552"/>
        <c:scaling>
          <c:orientation val="minMax"/>
          <c:max val="38"/>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87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covers the first question from the stakeholder email: behavioral-health related 911 calls transferred to nurse navigation. Repeat callers are a separate review. The data spans 23 months across all markets where nurse navigation operates.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 and the caveat in the same breath. The most common misread in the room is treating 26,000 as behavioral health dispatches. It is not. It is calls where behavioral health is part of the clinical picture, which is a broader and more useful definition for care planning, but a different one from what a dispatch report would show.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we did not just count a field: there is no field. If asked why only 600 notes: a detailed read is slow, and 600 is enough to put a tight range on a population of 150,000. The half-and-half design is the part worth defending; sampling only the flagged calls would have measured over-counting but told us nothing about what we missed.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answer the question no one always asks out loud: how do you know? The 4-in-10 false rate is the uncomfortable number, and it is better to present it than to have it discovered. The counterweight is the 90 percent catch rate. Together they mean the estimate is bounded on both sides rather than open-ended.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reframes the conversation. If half of behavioral health contact is arriving inside medical calls, then a behavioral health strategy built only around dispatch categories will miss half the volume. The anxiety-over-overdose finding also directly contradicts the earlier draft, so connect it back to the correction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ranking markets in front of an audience that manages them. The documentation-style explanation is genuinely plausible and has not been ruled out, so presenting this as performance would be premature. Frame it as where to look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last months are partial, which is why their bars are short. Do not read the two-point drift as a trend; it is within the normal month-to-month band. The useful message is the planning one: the ratio is stable enough to forecast against.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911 calls transferred to nurse navigation, October 2024 through August 2026, all markets. Behavioral health volume is reported separately.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142,738 calls tied to 111,857 people. The difference, 30,881, is the number of repeat calls. 21.6 percent of calls tied to a person, 20.6 percent of all 150,000 calls.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by rule: exact name and date of birth 23,844; similar first name 2,830; similar last name 3,130; same first name with date of birth and phone 882; same name and phone 195. Rejected by the variant limit: 301, 494, and 344 on rules two, three, and four.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call counts by gap: 1 day or less 4,723; 2-7 days 4,847; 8-30 days 6,400; 31-60 days 3,919; 61-90 days 2,459; 91-180 days 4,115; over 180 days 4,418. Total 30,881. Denominators: 30,881 repeat calls, 142,738 calls tied to a person, 150,000 calls.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Totals: 111,857 people, 142,738 calls. Concentration figures are cumulative shares of calls by people ranked from most to fewest calls.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60-day counts: 9,658 at 2 or more, 2,448 at 3 or more, 527 at 5 or more. Calls from these people: 30 days 30,665, 13,310, 5,534. 60 days 34,449, 16,628, 7,472. 90 days 36,942, 18,493, 8,725.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1 day or less 4,723; 2-7 days 4,847; 8-30 days 6,400; 31-60 days 3,919; 61-90 days 2,459; 91-180 days 4,115; over 180 days 4,418.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Calls measured and calls with a return by month, October 2024 through June 2026: 3,660/364; 4,172/412; 4,928/452; 5,392/507; 4,777/503; 4,988/555; 4,876/607; 5,096/602; 5,267/554; 5,810/698; 5,498/705; 5,848/752; 6,770/808; 7,017/784; 8,517/979; 7,923/898; 6,966/745; 7,901/927; 7,614/918; 7,784/883; 8,277/984.</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Calls measured at 30 days and rates at 30, 60, 90 days: BLS 75,759 at 8.6, 11.6, 13.6. Self-care 21,875 at 10.3, 12.5, 14.1. NN ER 17,162 at 17.7, 21.9, 24.5. Ref CCR 7,363 at 18.6, 21.9, 23.8. Virtual Care 5,429 at 27.7, 30.5, 31.9. ALS 4,875 at 5.9, 8.2, 9.8. VC EMS 732 at 9.8, 12.9, 14.4. Mobile Urgent Care 578 at 11.8, 13.8, 15.7. VC ER 475 at 19.4, 23.5, 25.1.</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on this slide are stated elsewhere in the deck with their supporting detail.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011680"/>
            <a:ext cx="10881360" cy="1097280"/>
          </a:xfrm>
          <a:prstGeom prst="rect">
            <a:avLst/>
          </a:prstGeom>
          <a:noFill/>
          <a:ln/>
        </p:spPr>
        <p:txBody>
          <a:bodyPr wrap="square" rtlCol="0" anchor="ctr"/>
          <a:lstStyle/>
          <a:p>
            <a:pPr marL="0" indent="0">
              <a:buNone/>
            </a:pPr>
            <a:r>
              <a:rPr lang="en-US" sz="3600" b="1" dirty="0">
                <a:solidFill>
                  <a:srgbClr val="222222"/>
                </a:solidFill>
                <a:latin typeface="Calibri" pitchFamily="34" charset="0"/>
                <a:ea typeface="Calibri" pitchFamily="34" charset="-122"/>
                <a:cs typeface="Calibri" pitchFamily="34" charset="-120"/>
              </a:rPr>
              <a:t>Behavioral Health in 911 Nurse Navigation Calls</a:t>
            </a:r>
            <a:endParaRPr lang="en-US" sz="3600" dirty="0"/>
          </a:p>
        </p:txBody>
      </p:sp>
      <p:sp>
        <p:nvSpPr>
          <p:cNvPr id="3" name="Text 1"/>
          <p:cNvSpPr txBox="1"/>
          <p:nvPr/>
        </p:nvSpPr>
        <p:spPr>
          <a:xfrm>
            <a:off x="640080" y="3291840"/>
            <a:ext cx="10881360" cy="914400"/>
          </a:xfrm>
          <a:prstGeom prst="rect">
            <a:avLst/>
          </a:prstGeom>
          <a:noFill/>
          <a:ln/>
        </p:spPr>
        <p:txBody>
          <a:bodyPr wrap="square" rtlCol="0" anchor="ctr"/>
          <a:lstStyle/>
          <a:p>
            <a:pPr marL="0" indent="0">
              <a:lnSpc>
                <a:spcPts val="2600"/>
              </a:lnSpc>
              <a:buNone/>
            </a:pPr>
            <a:r>
              <a:rPr lang="en-US" sz="1500" dirty="0">
                <a:solidFill>
                  <a:srgbClr val="595959"/>
                </a:solidFill>
                <a:latin typeface="Calibri" pitchFamily="34" charset="0"/>
                <a:ea typeface="Calibri" pitchFamily="34" charset="-122"/>
                <a:cs typeface="Calibri" pitchFamily="34" charset="-120"/>
              </a:rPr>
              <a:t>How many nurse navigation calls involve behavioral health, and how certain that number is</a:t>
            </a:r>
            <a:endParaRPr lang="en-US" sz="1500" dirty="0"/>
          </a:p>
          <a:p>
            <a:pPr marL="0" indent="0">
              <a:lnSpc>
                <a:spcPts val="2600"/>
              </a:lnSpc>
              <a:buNone/>
            </a:pPr>
            <a:r>
              <a:rPr lang="en-US" sz="1500" dirty="0">
                <a:solidFill>
                  <a:srgbClr val="595959"/>
                </a:solidFill>
                <a:latin typeface="Calibri" pitchFamily="34" charset="0"/>
                <a:ea typeface="Calibri" pitchFamily="34" charset="-122"/>
                <a:cs typeface="Calibri" pitchFamily="34" charset="-120"/>
              </a:rPr>
              <a:t>150,003 calls, October 2024 through August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The answer, up front</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One question, one number, and what it does and does not mean.</a:t>
            </a:r>
            <a:endParaRPr lang="en-US" sz="1350" dirty="0"/>
          </a:p>
        </p:txBody>
      </p:sp>
      <p:sp>
        <p:nvSpPr>
          <p:cNvPr id="4" name="Text 2"/>
          <p:cNvSpPr txBox="1"/>
          <p:nvPr/>
        </p:nvSpPr>
        <p:spPr>
          <a:xfrm>
            <a:off x="457200" y="1325880"/>
            <a:ext cx="54864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QUESTION</a:t>
            </a:r>
            <a:endParaRPr lang="en-US" sz="1250" dirty="0"/>
          </a:p>
        </p:txBody>
      </p:sp>
      <p:sp>
        <p:nvSpPr>
          <p:cNvPr id="5" name="Text 3"/>
          <p:cNvSpPr txBox="1"/>
          <p:nvPr/>
        </p:nvSpPr>
        <p:spPr>
          <a:xfrm>
            <a:off x="457200" y="1600200"/>
            <a:ext cx="11247120" cy="457200"/>
          </a:xfrm>
          <a:prstGeom prst="rect">
            <a:avLst/>
          </a:prstGeom>
          <a:noFill/>
          <a:ln/>
        </p:spPr>
        <p:txBody>
          <a:bodyPr wrap="square" rtlCol="0" anchor="ctr"/>
          <a:lstStyle/>
          <a:p>
            <a:pPr marL="0" indent="0">
              <a:lnSpc>
                <a:spcPts val="1900"/>
              </a:lnSpc>
              <a:buNone/>
            </a:pPr>
            <a:r>
              <a:rPr lang="en-US" sz="1350" dirty="0">
                <a:solidFill>
                  <a:srgbClr val="222222"/>
                </a:solidFill>
                <a:latin typeface="Calibri" pitchFamily="34" charset="0"/>
                <a:ea typeface="Calibri" pitchFamily="34" charset="-122"/>
                <a:cs typeface="Calibri" pitchFamily="34" charset="-120"/>
              </a:rPr>
              <a:t>Of the 911 calls transferred to nurse navigation, how many involve behavioral health, and how much confidence can we put on that number?</a:t>
            </a:r>
            <a:endParaRPr lang="en-US" sz="1350" dirty="0"/>
          </a:p>
        </p:txBody>
      </p:sp>
      <p:sp>
        <p:nvSpPr>
          <p:cNvPr id="6" name="Text 4"/>
          <p:cNvSpPr txBox="1"/>
          <p:nvPr/>
        </p:nvSpPr>
        <p:spPr>
          <a:xfrm>
            <a:off x="457200" y="2240280"/>
            <a:ext cx="54864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ANSWER</a:t>
            </a:r>
            <a:endParaRPr lang="en-US" sz="1250" dirty="0"/>
          </a:p>
        </p:txBody>
      </p:sp>
      <p:sp>
        <p:nvSpPr>
          <p:cNvPr id="7" name="Text 5"/>
          <p:cNvSpPr txBox="1"/>
          <p:nvPr/>
        </p:nvSpPr>
        <p:spPr>
          <a:xfrm>
            <a:off x="457200" y="2514600"/>
            <a:ext cx="11247120" cy="548640"/>
          </a:xfrm>
          <a:prstGeom prst="rect">
            <a:avLst/>
          </a:prstGeom>
          <a:noFill/>
          <a:ln/>
        </p:spPr>
        <p:txBody>
          <a:bodyPr wrap="square" rtlCol="0" anchor="ctr"/>
          <a:lstStyle/>
          <a:p>
            <a:pPr marL="0" indent="0">
              <a:lnSpc>
                <a:spcPts val="1900"/>
              </a:lnSpc>
              <a:buNone/>
            </a:pPr>
            <a:r>
              <a:rPr lang="en-US" sz="1350" dirty="0">
                <a:solidFill>
                  <a:srgbClr val="222222"/>
                </a:solidFill>
                <a:latin typeface="Calibri" pitchFamily="34" charset="0"/>
                <a:ea typeface="Calibri" pitchFamily="34" charset="-122"/>
                <a:cs typeface="Calibri" pitchFamily="34" charset="-120"/>
              </a:rPr>
              <a:t>About 1 in 6. Roughly 26,000 of 150,003 calls over 23 months, or 17.4 percent, with a plausible range of 22,000 to 30,000.</a:t>
            </a:r>
            <a:endParaRPr lang="en-US" sz="1350" dirty="0"/>
          </a:p>
        </p:txBody>
      </p:sp>
      <p:sp>
        <p:nvSpPr>
          <p:cNvPr id="8" name="Text 6"/>
          <p:cNvSpPr txBox="1"/>
          <p:nvPr/>
        </p:nvSpPr>
        <p:spPr>
          <a:xfrm>
            <a:off x="457200" y="3200400"/>
            <a:ext cx="54864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WHAT IT MEANS</a:t>
            </a:r>
            <a:endParaRPr lang="en-US" sz="1250" dirty="0"/>
          </a:p>
        </p:txBody>
      </p:sp>
      <p:sp>
        <p:nvSpPr>
          <p:cNvPr id="9" name="Text 7"/>
          <p:cNvSpPr txBox="1"/>
          <p:nvPr/>
        </p:nvSpPr>
        <p:spPr>
          <a:xfrm>
            <a:off x="457200" y="3474720"/>
            <a:ext cx="11247120" cy="256032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Behavioral health shows up in the nurse's note on about 26,000 calls. That is not the same as 26,000 calls dispatched as behavioral health</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Roughly half of those are behavioral health calls in the plain sense: the patient called because of anxiety, a substance problem, or a psychiatric crisis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The other half are chest pain, falls, and wound care where a behavioral health factor also appears. That is a care-planning signal, not a dispatch category</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Anxiety is the most common presentation, ahead of substance use. Overdose does not dominate</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The rate is stable over time and growing in step with call volume, not faster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How numbers were generated</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Three steps, because the answer is not a field we can count.</a:t>
            </a:r>
            <a:endParaRPr lang="en-US" sz="1350" dirty="0"/>
          </a:p>
        </p:txBody>
      </p:sp>
      <p:sp>
        <p:nvSpPr>
          <p:cNvPr id="4" name="Text 2"/>
          <p:cNvSpPr txBox="1"/>
          <p:nvPr/>
        </p:nvSpPr>
        <p:spPr>
          <a:xfrm>
            <a:off x="457200" y="1280160"/>
            <a:ext cx="11247120" cy="502920"/>
          </a:xfrm>
          <a:prstGeom prst="rect">
            <a:avLst/>
          </a:prstGeom>
          <a:noFill/>
          <a:ln/>
        </p:spPr>
        <p:txBody>
          <a:bodyPr wrap="square" rtlCol="0" anchor="ctr"/>
          <a:lstStyle/>
          <a:p>
            <a:pPr marL="0" indent="0">
              <a:lnSpc>
                <a:spcPts val="1900"/>
              </a:lnSpc>
              <a:buNone/>
            </a:pPr>
            <a:r>
              <a:rPr lang="en-US" sz="1350" dirty="0">
                <a:solidFill>
                  <a:srgbClr val="222222"/>
                </a:solidFill>
                <a:latin typeface="Calibri" pitchFamily="34" charset="0"/>
                <a:ea typeface="Calibri" pitchFamily="34" charset="-122"/>
                <a:cs typeface="Calibri" pitchFamily="34" charset="-120"/>
              </a:rPr>
              <a:t>Nurse navigation records have no behavioral health flag. The only place behavioral health appears is the nurse's written note, so the number has to be read out of free text. That is why it is an estimate with a range rather than an exact count.</a:t>
            </a:r>
            <a:endParaRPr lang="en-US" sz="1350" dirty="0"/>
          </a:p>
        </p:txBody>
      </p:sp>
      <p:sp>
        <p:nvSpPr>
          <p:cNvPr id="5" name="Text 3"/>
          <p:cNvSpPr txBox="1"/>
          <p:nvPr/>
        </p:nvSpPr>
        <p:spPr>
          <a:xfrm>
            <a:off x="457200" y="196596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STEP 1  —  SCREEN EVERY CALL</a:t>
            </a:r>
            <a:endParaRPr lang="en-US" sz="1250" dirty="0"/>
          </a:p>
        </p:txBody>
      </p:sp>
      <p:sp>
        <p:nvSpPr>
          <p:cNvPr id="6" name="Text 4"/>
          <p:cNvSpPr txBox="1"/>
          <p:nvPr/>
        </p:nvSpPr>
        <p:spPr>
          <a:xfrm>
            <a:off x="457200" y="2240280"/>
            <a:ext cx="11247120" cy="457200"/>
          </a:xfrm>
          <a:prstGeom prst="rect">
            <a:avLst/>
          </a:prstGeom>
          <a:noFill/>
          <a:ln/>
        </p:spPr>
        <p:txBody>
          <a:bodyPr wrap="square" rtlCol="0" anchor="ctr"/>
          <a:lstStyle/>
          <a:p>
            <a:pPr marL="0" indent="0">
              <a:lnSpc>
                <a:spcPts val="1900"/>
              </a:lnSpc>
              <a:buNone/>
            </a:pPr>
            <a:r>
              <a:rPr lang="en-US" sz="1350" dirty="0">
                <a:solidFill>
                  <a:srgbClr val="222222"/>
                </a:solidFill>
                <a:latin typeface="Calibri" pitchFamily="34" charset="0"/>
                <a:ea typeface="Calibri" pitchFamily="34" charset="-122"/>
                <a:cs typeface="Calibri" pitchFamily="34" charset="-120"/>
              </a:rPr>
              <a:t>All 150,003 notes were screened for behavioral health language. This is fast and covers everything, but it over-flags. A note saying the patient denies suicidal thoughts is not a behavioral health call.</a:t>
            </a:r>
            <a:endParaRPr lang="en-US" sz="1350" dirty="0"/>
          </a:p>
        </p:txBody>
      </p:sp>
      <p:sp>
        <p:nvSpPr>
          <p:cNvPr id="7" name="Text 5"/>
          <p:cNvSpPr txBox="1"/>
          <p:nvPr/>
        </p:nvSpPr>
        <p:spPr>
          <a:xfrm>
            <a:off x="457200" y="288036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STEP 2  —  HAVE A SAMPLE READ CLOSELY</a:t>
            </a:r>
            <a:endParaRPr lang="en-US" sz="1250" dirty="0"/>
          </a:p>
        </p:txBody>
      </p:sp>
      <p:sp>
        <p:nvSpPr>
          <p:cNvPr id="8" name="Text 6"/>
          <p:cNvSpPr txBox="1"/>
          <p:nvPr/>
        </p:nvSpPr>
        <p:spPr>
          <a:xfrm>
            <a:off x="457200" y="3154680"/>
            <a:ext cx="11247120" cy="457200"/>
          </a:xfrm>
          <a:prstGeom prst="rect">
            <a:avLst/>
          </a:prstGeom>
          <a:noFill/>
          <a:ln/>
        </p:spPr>
        <p:txBody>
          <a:bodyPr wrap="square" rtlCol="0" anchor="ctr"/>
          <a:lstStyle/>
          <a:p>
            <a:pPr marL="0" indent="0">
              <a:lnSpc>
                <a:spcPts val="1900"/>
              </a:lnSpc>
              <a:buNone/>
            </a:pPr>
            <a:r>
              <a:rPr lang="en-US" sz="1350" dirty="0">
                <a:solidFill>
                  <a:srgbClr val="222222"/>
                </a:solidFill>
                <a:latin typeface="Calibri" pitchFamily="34" charset="0"/>
                <a:ea typeface="Calibri" pitchFamily="34" charset="-122"/>
                <a:cs typeface="Calibri" pitchFamily="34" charset="-120"/>
              </a:rPr>
              <a:t>600 notes were read in detail and judged case by case, half of them flagged by the screen and half not. That mix is deliberate: it measures both the calls the screen wrongly flagged and the calls it missed.</a:t>
            </a:r>
            <a:endParaRPr lang="en-US" sz="1350" dirty="0"/>
          </a:p>
        </p:txBody>
      </p:sp>
      <p:sp>
        <p:nvSpPr>
          <p:cNvPr id="9" name="Text 7"/>
          <p:cNvSpPr txBox="1"/>
          <p:nvPr/>
        </p:nvSpPr>
        <p:spPr>
          <a:xfrm>
            <a:off x="457200" y="379476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STEP 3  —  CORRECT THE FULL POPULATION</a:t>
            </a:r>
            <a:endParaRPr lang="en-US" sz="1250" dirty="0"/>
          </a:p>
        </p:txBody>
      </p:sp>
      <p:sp>
        <p:nvSpPr>
          <p:cNvPr id="10" name="Text 8"/>
          <p:cNvSpPr txBox="1"/>
          <p:nvPr/>
        </p:nvSpPr>
        <p:spPr>
          <a:xfrm>
            <a:off x="457200" y="4069080"/>
            <a:ext cx="11247120" cy="457200"/>
          </a:xfrm>
          <a:prstGeom prst="rect">
            <a:avLst/>
          </a:prstGeom>
          <a:noFill/>
          <a:ln/>
        </p:spPr>
        <p:txBody>
          <a:bodyPr wrap="square" rtlCol="0" anchor="ctr"/>
          <a:lstStyle/>
          <a:p>
            <a:pPr marL="0" indent="0">
              <a:lnSpc>
                <a:spcPts val="1900"/>
              </a:lnSpc>
              <a:buNone/>
            </a:pPr>
            <a:r>
              <a:rPr lang="en-US" sz="1350" dirty="0">
                <a:solidFill>
                  <a:srgbClr val="222222"/>
                </a:solidFill>
                <a:latin typeface="Calibri" pitchFamily="34" charset="0"/>
                <a:ea typeface="Calibri" pitchFamily="34" charset="-122"/>
                <a:cs typeface="Calibri" pitchFamily="34" charset="-120"/>
              </a:rPr>
              <a:t>The error rates found in the sample were applied back to all 150,003 calls. That gives the corrected estimate and the range around it.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How much confidence to put on the number</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Measured by comparing the screen against a detailed read of 599 notes.</a:t>
            </a:r>
            <a:endParaRPr lang="en-US" sz="1350" dirty="0"/>
          </a:p>
        </p:txBody>
      </p:sp>
      <p:graphicFrame>
        <p:nvGraphicFramePr>
          <p:cNvPr id="4" name="Chart 0"/>
          <p:cNvGraphicFramePr/>
          <p:nvPr/>
        </p:nvGraphicFramePr>
        <p:xfrm>
          <a:off x="457200" y="1325880"/>
          <a:ext cx="5486400" cy="2651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17920" y="1325880"/>
          <a:ext cx="548640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txBox="1"/>
          <p:nvPr/>
        </p:nvSpPr>
        <p:spPr>
          <a:xfrm>
            <a:off x="457200" y="411480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HOW TO READ THIS</a:t>
            </a:r>
            <a:endParaRPr lang="en-US" sz="1250" dirty="0"/>
          </a:p>
        </p:txBody>
      </p:sp>
      <p:sp>
        <p:nvSpPr>
          <p:cNvPr id="7" name="Text 3"/>
          <p:cNvSpPr txBox="1"/>
          <p:nvPr/>
        </p:nvSpPr>
        <p:spPr>
          <a:xfrm>
            <a:off x="457200" y="4389120"/>
            <a:ext cx="11247120" cy="1920240"/>
          </a:xfrm>
          <a:prstGeom prst="rect">
            <a:avLst/>
          </a:prstGeom>
          <a:noFill/>
          <a:ln/>
        </p:spPr>
        <p:txBody>
          <a:bodyPr wrap="square" rtlCol="0" anchor="ctr"/>
          <a:lstStyle/>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 screen is good at not missing cases. It caught 90 percent of the calls a detailed read identified as behavioral health</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Only 181 of 299 flagged calls held up, so roughly 4 in 10 flags were false</a:t>
            </a:r>
            <a:endParaRPr lang="en-US" sz="1350" dirty="0"/>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High catch rate means the true figure is unlikely to be much higher than our estimate. </a:t>
            </a:r>
          </a:p>
          <a:p>
            <a:pPr marL="342900" indent="-342900">
              <a:lnSpc>
                <a:spcPts val="1900"/>
              </a:lnSpc>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20 calls were behavioral health with no recognizable language at all. That is small, but it is the reason our estimate is not simply the corrected flag count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What BH calls look like</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Based on the 201 calls confirmed as behavioral health in the detailed read.</a:t>
            </a:r>
            <a:endParaRPr lang="en-US" sz="1350" dirty="0"/>
          </a:p>
        </p:txBody>
      </p:sp>
      <p:graphicFrame>
        <p:nvGraphicFramePr>
          <p:cNvPr id="4" name="Chart 0"/>
          <p:cNvGraphicFramePr/>
          <p:nvPr/>
        </p:nvGraphicFramePr>
        <p:xfrm>
          <a:off x="457200" y="1280160"/>
          <a:ext cx="4023360" cy="2651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754880" y="1280160"/>
          <a:ext cx="694944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4343400"/>
            <a:ext cx="11247120" cy="20116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51.2 percent had behavioral health as the stated reason for the call. 48.8 percent had it recorded as a factor on a call made for another reason</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Anxiety or panic 29.9 percent, substance use or overdose 21.9 percent, psychiatric 17.9 percent, suicidal or self harm 10.4 percent, psychosis or agitation 9.0 percent, depression 7.0 percent, intoxication 3.0 percent, welfare check 1.0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Shares are of the 201 confirmed behavioral health calls, not of all calls. Categories with fewer than 10 calls are based on small counts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The rate varies more than two to one across markets</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Ten largest markets by call volume.</a:t>
            </a:r>
            <a:endParaRPr lang="en-US" sz="1350" dirty="0"/>
          </a:p>
        </p:txBody>
      </p:sp>
      <p:graphicFrame>
        <p:nvGraphicFramePr>
          <p:cNvPr id="4" name="Chart 0"/>
          <p:cNvGraphicFramePr/>
          <p:nvPr/>
        </p:nvGraphicFramePr>
        <p:xfrm>
          <a:off x="457200" y="1280160"/>
          <a:ext cx="112471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4892040"/>
            <a:ext cx="11247120" cy="1554480"/>
          </a:xfrm>
          <a:prstGeom prst="rect">
            <a:avLst/>
          </a:prstGeom>
          <a:noFill/>
          <a:ln/>
        </p:spPr>
        <p:txBody>
          <a:bodyPr wrap="square" rtlCol="0" anchor="ctr"/>
          <a:lstStyle/>
          <a:p>
            <a:pPr marL="342900" indent="-342900">
              <a:lnSpc>
                <a:spcPct val="1000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Seattle at 30.2 percent vs. 17.4% across all markets</a:t>
            </a:r>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range across these ten markets runs from 12.5 percent in Rochester NY to 30.2 percent in Seattle WA. The figure across all markets is 17.4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Dekalb County GA is the largest market at 27,331 calls and is at 14.5 percent. Seattle WA has 16,305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Each market is measured against its own call volume. The correction applied is the rate measured on the overall sample; it was not measured separately for each market</a:t>
            </a:r>
            <a:endParaRPr lang="en-US" sz="1300" dirty="0"/>
          </a:p>
          <a:p>
            <a:pPr marL="342900" indent="-342900">
              <a:lnSpc>
                <a:spcPct val="100000"/>
              </a:lnSpc>
              <a:spcAft>
                <a:spcPts val="700"/>
              </a:spcAft>
              <a:buSzPct val="100000"/>
              <a:buChar char="•"/>
            </a:pP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Behavioral health volume is growing with the program, not faster</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Monthly call volume and the behavioral health share of those calls.</a:t>
            </a:r>
            <a:endParaRPr lang="en-US" sz="1350" dirty="0"/>
          </a:p>
        </p:txBody>
      </p:sp>
      <p:graphicFrame>
        <p:nvGraphicFramePr>
          <p:cNvPr id="4" name="Chart 0"/>
          <p:cNvGraphicFramePr/>
          <p:nvPr/>
        </p:nvGraphicFramePr>
        <p:xfrm>
          <a:off x="457200" y="1371600"/>
          <a:ext cx="11247120" cy="1783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57200" y="3383280"/>
          <a:ext cx="1124712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txBox="1"/>
          <p:nvPr/>
        </p:nvSpPr>
        <p:spPr>
          <a:xfrm>
            <a:off x="457200" y="1170432"/>
            <a:ext cx="54864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MONTHLY CALL VOLUME</a:t>
            </a:r>
            <a:endParaRPr lang="en-US" sz="1250" dirty="0"/>
          </a:p>
        </p:txBody>
      </p:sp>
      <p:sp>
        <p:nvSpPr>
          <p:cNvPr id="7" name="Text 3"/>
          <p:cNvSpPr txBox="1"/>
          <p:nvPr/>
        </p:nvSpPr>
        <p:spPr>
          <a:xfrm>
            <a:off x="457200" y="3182112"/>
            <a:ext cx="54864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BEHAVIORAL HEALTH SHARE OF CALLS</a:t>
            </a:r>
            <a:endParaRPr lang="en-US" sz="1250" dirty="0"/>
          </a:p>
        </p:txBody>
      </p:sp>
      <p:sp>
        <p:nvSpPr>
          <p:cNvPr id="8" name="Text 4"/>
          <p:cNvSpPr txBox="1"/>
          <p:nvPr/>
        </p:nvSpPr>
        <p:spPr>
          <a:xfrm>
            <a:off x="457200" y="5074920"/>
            <a:ext cx="11247120" cy="1463040"/>
          </a:xfrm>
          <a:prstGeom prst="rect">
            <a:avLst/>
          </a:prstGeom>
          <a:noFill/>
          <a:ln/>
        </p:spPr>
        <p:txBody>
          <a:bodyPr wrap="square" rtlCol="0" anchor="ctr"/>
          <a:lstStyle/>
          <a:p>
            <a:pPr marL="342900" indent="-342900">
              <a:lnSpc>
                <a:spcPts val="1900"/>
              </a:lnSpc>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Monthly call volume ranged from 3,821 in October 2024 to 9,632 in July 2026. Estimated behavioral health calls ranged from 711 to 1,558 a month</a:t>
            </a:r>
          </a:p>
          <a:p>
            <a:pPr marL="342900" indent="-342900">
              <a:lnSpc>
                <a:spcPts val="1900"/>
              </a:lnSpc>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The monthly share ranged from 19.6 percent in April 2025 to 16.1 percent in May 2026. The highest and lowest months are 3.5 points apart</a:t>
            </a:r>
          </a:p>
          <a:p>
            <a:pPr marL="342900" indent="-342900">
              <a:lnSpc>
                <a:spcPts val="1900"/>
              </a:lnSpc>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October 2024 and August 2026 are partial months, so their volume is lower than a full month.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2011680"/>
            <a:ext cx="10881360" cy="1097280"/>
          </a:xfrm>
          <a:prstGeom prst="rect">
            <a:avLst/>
          </a:prstGeom>
          <a:noFill/>
          <a:ln/>
        </p:spPr>
        <p:txBody>
          <a:bodyPr wrap="square" rtlCol="0" anchor="ctr"/>
          <a:lstStyle/>
          <a:p>
            <a:pPr marL="0" indent="0">
              <a:buNone/>
            </a:pPr>
            <a:r>
              <a:rPr lang="en-US" sz="3600" b="1" dirty="0">
                <a:solidFill>
                  <a:srgbClr val="222222"/>
                </a:solidFill>
                <a:latin typeface="Calibri" pitchFamily="34" charset="0"/>
                <a:ea typeface="Calibri" pitchFamily="34" charset="-122"/>
                <a:cs typeface="Calibri" pitchFamily="34" charset="-120"/>
              </a:rPr>
              <a:t>Repeat Callers in 911 Nurse Navigation</a:t>
            </a:r>
            <a:endParaRPr lang="en-US" sz="3600" dirty="0"/>
          </a:p>
        </p:txBody>
      </p:sp>
      <p:sp>
        <p:nvSpPr>
          <p:cNvPr id="3" name="Text 1"/>
          <p:cNvSpPr txBox="1"/>
          <p:nvPr/>
        </p:nvSpPr>
        <p:spPr>
          <a:xfrm>
            <a:off x="640080" y="3291840"/>
            <a:ext cx="10881360" cy="914400"/>
          </a:xfrm>
          <a:prstGeom prst="rect">
            <a:avLst/>
          </a:prstGeom>
          <a:noFill/>
          <a:ln/>
        </p:spPr>
        <p:txBody>
          <a:bodyPr wrap="square" rtlCol="0" anchor="ctr"/>
          <a:lstStyle/>
          <a:p>
            <a:pPr marL="0" indent="0">
              <a:lnSpc>
                <a:spcPts val="2600"/>
              </a:lnSpc>
              <a:buNone/>
            </a:pPr>
            <a:r>
              <a:rPr lang="en-US" sz="1500" dirty="0">
                <a:solidFill>
                  <a:srgbClr val="595959"/>
                </a:solidFill>
                <a:latin typeface="Calibri" pitchFamily="34" charset="0"/>
                <a:ea typeface="Calibri" pitchFamily="34" charset="-122"/>
                <a:cs typeface="Calibri" pitchFamily="34" charset="-120"/>
              </a:rPr>
              <a:t>How often the same person calls again within 30, 60, and 90 days</a:t>
            </a:r>
            <a:endParaRPr lang="en-US" sz="1500" dirty="0"/>
          </a:p>
          <a:p>
            <a:pPr marL="0" indent="0">
              <a:lnSpc>
                <a:spcPts val="2600"/>
              </a:lnSpc>
              <a:buNone/>
            </a:pPr>
            <a:r>
              <a:rPr lang="en-US" sz="1500" dirty="0">
                <a:solidFill>
                  <a:srgbClr val="595959"/>
                </a:solidFill>
                <a:latin typeface="Calibri" pitchFamily="34" charset="0"/>
                <a:ea typeface="Calibri" pitchFamily="34" charset="-122"/>
                <a:cs typeface="Calibri" pitchFamily="34" charset="-120"/>
              </a:rPr>
              <a:t>150,000 calls, October 2024 through August 2026</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The answer, up front</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The question, the figures, and the definitions behind them.</a:t>
            </a:r>
            <a:endParaRPr lang="en-US" sz="1350" dirty="0"/>
          </a:p>
        </p:txBody>
      </p:sp>
      <p:sp>
        <p:nvSpPr>
          <p:cNvPr id="4" name="Text 2"/>
          <p:cNvSpPr txBox="1"/>
          <p:nvPr/>
        </p:nvSpPr>
        <p:spPr>
          <a:xfrm>
            <a:off x="457200" y="1325880"/>
            <a:ext cx="54864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QUESTION</a:t>
            </a:r>
            <a:endParaRPr lang="en-US" sz="1250" dirty="0"/>
          </a:p>
        </p:txBody>
      </p:sp>
      <p:sp>
        <p:nvSpPr>
          <p:cNvPr id="5" name="Text 3"/>
          <p:cNvSpPr txBox="1"/>
          <p:nvPr/>
        </p:nvSpPr>
        <p:spPr>
          <a:xfrm>
            <a:off x="457200" y="1600200"/>
            <a:ext cx="11247120" cy="457200"/>
          </a:xfrm>
          <a:prstGeom prst="rect">
            <a:avLst/>
          </a:prstGeom>
          <a:noFill/>
          <a:ln/>
        </p:spPr>
        <p:txBody>
          <a:bodyPr wrap="square" rtlCol="0" anchor="ctr"/>
          <a:lstStyle/>
          <a:p>
            <a:pPr marL="0" indent="0">
              <a:lnSpc>
                <a:spcPts val="1900"/>
              </a:lnSpc>
              <a:buNone/>
            </a:pPr>
            <a:r>
              <a:rPr lang="en-US" sz="1350" dirty="0">
                <a:solidFill>
                  <a:srgbClr val="222222"/>
                </a:solidFill>
                <a:latin typeface="Calibri" pitchFamily="34" charset="0"/>
                <a:ea typeface="Calibri" pitchFamily="34" charset="-122"/>
                <a:cs typeface="Calibri" pitchFamily="34" charset="-120"/>
              </a:rPr>
              <a:t>How many nurse navigation calls are repeat calls from a person who has already called, and how soon do they come back?</a:t>
            </a:r>
            <a:endParaRPr lang="en-US" sz="1350" dirty="0"/>
          </a:p>
        </p:txBody>
      </p:sp>
      <p:sp>
        <p:nvSpPr>
          <p:cNvPr id="6" name="Text 4"/>
          <p:cNvSpPr txBox="1"/>
          <p:nvPr/>
        </p:nvSpPr>
        <p:spPr>
          <a:xfrm>
            <a:off x="457200" y="2240280"/>
            <a:ext cx="54864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ANSWER</a:t>
            </a:r>
            <a:endParaRPr lang="en-US" sz="1250" dirty="0"/>
          </a:p>
        </p:txBody>
      </p:sp>
      <p:sp>
        <p:nvSpPr>
          <p:cNvPr id="7" name="Text 5"/>
          <p:cNvSpPr txBox="1"/>
          <p:nvPr/>
        </p:nvSpPr>
        <p:spPr>
          <a:xfrm>
            <a:off x="457200" y="2514600"/>
            <a:ext cx="11247120" cy="548640"/>
          </a:xfrm>
          <a:prstGeom prst="rect">
            <a:avLst/>
          </a:prstGeom>
          <a:noFill/>
          <a:ln/>
        </p:spPr>
        <p:txBody>
          <a:bodyPr wrap="square" rtlCol="0" anchor="ctr"/>
          <a:lstStyle/>
          <a:p>
            <a:pPr marL="0" indent="0">
              <a:lnSpc>
                <a:spcPts val="1900"/>
              </a:lnSpc>
              <a:buNone/>
            </a:pPr>
            <a:r>
              <a:rPr lang="en-US" sz="1350" dirty="0">
                <a:solidFill>
                  <a:srgbClr val="222222"/>
                </a:solidFill>
                <a:latin typeface="Calibri" pitchFamily="34" charset="0"/>
                <a:ea typeface="Calibri" pitchFamily="34" charset="-122"/>
                <a:cs typeface="Calibri" pitchFamily="34" charset="-120"/>
              </a:rPr>
              <a:t>30,881 calls are repeat calls, 21.6 percent of the calls that could be tied to a person. 15,970 of those came within 30 days of that person's previous call.</a:t>
            </a:r>
            <a:endParaRPr lang="en-US" sz="1350" dirty="0"/>
          </a:p>
        </p:txBody>
      </p:sp>
      <p:sp>
        <p:nvSpPr>
          <p:cNvPr id="8" name="Text 6"/>
          <p:cNvSpPr txBox="1"/>
          <p:nvPr/>
        </p:nvSpPr>
        <p:spPr>
          <a:xfrm>
            <a:off x="457200" y="3200400"/>
            <a:ext cx="54864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DEFINITIONS USED</a:t>
            </a:r>
            <a:endParaRPr lang="en-US" sz="1250" dirty="0"/>
          </a:p>
        </p:txBody>
      </p:sp>
      <p:sp>
        <p:nvSpPr>
          <p:cNvPr id="9" name="Text 7"/>
          <p:cNvSpPr txBox="1"/>
          <p:nvPr/>
        </p:nvSpPr>
        <p:spPr>
          <a:xfrm>
            <a:off x="457200" y="3474720"/>
            <a:ext cx="11247120" cy="256032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A repeat call is any call that is a person's second or later call. 142,738 of 150,000 calls could be tied to a person, 95.2 percent, and those resolve to 111,857 people</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51.7 percent of repeat calls came within 30 days of that person's previous call, and 72.4 percent within 90 days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86.7 percent of people called once. The 13.3 percent who called more than once account for 32.0 percent of calls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Calls that could not be tied to a person are excluded from every figure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How a person was identified</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Records carry no patient identifier, so people were assembled from name, date of birth, and phone.</a:t>
            </a:r>
            <a:endParaRPr lang="en-US" sz="1350" dirty="0"/>
          </a:p>
        </p:txBody>
      </p:sp>
      <p:graphicFrame>
        <p:nvGraphicFramePr>
          <p:cNvPr id="4" name="Chart 0"/>
          <p:cNvGraphicFramePr/>
          <p:nvPr/>
        </p:nvGraphicFramePr>
        <p:xfrm>
          <a:off x="457200" y="1325880"/>
          <a:ext cx="1124712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434340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HOW THE RULES WERE APPLIED</a:t>
            </a:r>
            <a:endParaRPr lang="en-US" sz="1250" dirty="0"/>
          </a:p>
        </p:txBody>
      </p:sp>
      <p:sp>
        <p:nvSpPr>
          <p:cNvPr id="6" name="Text 3"/>
          <p:cNvSpPr txBox="1"/>
          <p:nvPr/>
        </p:nvSpPr>
        <p:spPr>
          <a:xfrm>
            <a:off x="457200" y="4617720"/>
            <a:ext cx="11247120" cy="173736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Five rules were applied in order. 30,881 calls were linked to an existing person. Calls were never grouped on name alone</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Placeholder names, implausible dates of birth, and phone numbers used by more than five different people were excluded from matching</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A person is limited to three first-name variants and three last-name variants. 1,139 proposed links exceeded that limit and were rejected</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Name fields are populated on 96.9 percent of calls for first name, 96.3 percent for last name, 94.4 percent for date of birth, and 86.6 percent for phone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Repeat calls by how soon the person called back</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All 30,881 repeat calls, grouped by the time since that person's previous call.</a:t>
            </a:r>
            <a:endParaRPr lang="en-US" sz="1350" dirty="0"/>
          </a:p>
        </p:txBody>
      </p:sp>
      <p:graphicFrame>
        <p:nvGraphicFramePr>
          <p:cNvPr id="4" name="Chart 0"/>
          <p:cNvGraphicFramePr/>
          <p:nvPr/>
        </p:nvGraphicFramePr>
        <p:xfrm>
          <a:off x="457200" y="1280160"/>
          <a:ext cx="1124712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0"/>
          <p:cNvGraphicFramePr>
            <a:graphicFrameLocks noGrp="1"/>
          </p:cNvGraphicFramePr>
          <p:nvPr/>
        </p:nvGraphicFramePr>
        <p:xfrm>
          <a:off x="457200" y="3977640"/>
          <a:ext cx="11247120" cy="1627632"/>
        </p:xfrm>
        <a:graphic>
          <a:graphicData uri="http://schemas.openxmlformats.org/drawingml/2006/table">
            <a:tbl>
              <a:tblPr/>
              <a:tblGrid>
                <a:gridCol w="35661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Time since previous call</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Repeat 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Share of all repeat 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Share of calls tied to a person</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Share of all 150,000 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2608">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Within 30 days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15,970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51.7%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Within 60 days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19,889</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64.4%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13.9%</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13.3%</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Within 90 days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22,348</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72.4%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15.7%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All repeat 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30,881</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21.6%</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20.6%</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457200" y="5806440"/>
            <a:ext cx="11247120" cy="82296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bands are cumulative. 8,533 repeat calls came more than 90 days after the previous call, including 4,418 more than 180 days later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Calls per person</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111,857 people account for the 142,738 calls that could be tied to a person.</a:t>
            </a:r>
            <a:endParaRPr lang="en-US" sz="1350" dirty="0"/>
          </a:p>
        </p:txBody>
      </p:sp>
      <p:graphicFrame>
        <p:nvGraphicFramePr>
          <p:cNvPr id="4" name="Chart 0"/>
          <p:cNvGraphicFramePr/>
          <p:nvPr/>
        </p:nvGraphicFramePr>
        <p:xfrm>
          <a:off x="457200" y="1280160"/>
          <a:ext cx="11247120"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0"/>
          <p:cNvGraphicFramePr>
            <a:graphicFrameLocks noGrp="1"/>
          </p:cNvGraphicFramePr>
          <p:nvPr/>
        </p:nvGraphicFramePr>
        <p:xfrm>
          <a:off x="457200" y="4114800"/>
          <a:ext cx="11704320" cy="1170432"/>
        </p:xfrm>
        <a:graphic>
          <a:graphicData uri="http://schemas.openxmlformats.org/drawingml/2006/table">
            <a:tbl>
              <a:tblPr/>
              <a:tblGrid>
                <a:gridCol w="21031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Calls per person</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1 call</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2 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3-4 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5-9 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10 or more</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2608">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People</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97,003</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9,594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3,662</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1,215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383</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111,857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97,003</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19,188</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12,036</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7,545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6,966</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142,738</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Repeat calls</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9,594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8,374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6,330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22222"/>
                          </a:solidFill>
                          <a:latin typeface="Calibri" pitchFamily="34" charset="0"/>
                          <a:ea typeface="Calibri" pitchFamily="34" charset="-122"/>
                          <a:cs typeface="Calibri" pitchFamily="34" charset="-120"/>
                        </a:rPr>
                        <a:t>6,583</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22222"/>
                          </a:solidFill>
                          <a:latin typeface="Calibri" pitchFamily="34" charset="0"/>
                          <a:ea typeface="Calibri" pitchFamily="34" charset="-122"/>
                          <a:cs typeface="Calibri" pitchFamily="34" charset="-120"/>
                        </a:rPr>
                        <a:t>30,881</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457200" y="544068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7" name="Text 3"/>
          <p:cNvSpPr txBox="1"/>
          <p:nvPr/>
        </p:nvSpPr>
        <p:spPr>
          <a:xfrm>
            <a:off x="457200" y="5715000"/>
            <a:ext cx="11247120" cy="100584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383 people with ten or more calls are 0.3 percent of people, 4.9 percent of calls, and 21.3 percent of all repeat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Ranked by call count, the top 1 percent of people account for 8 percent of calls, the top 10 percent for 27 percent, and the top 25 percent for 41 percent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Frequent callers by rolling window</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People whose calls fall inside a single rolling 30, 60, or 90 day period.</a:t>
            </a:r>
            <a:endParaRPr lang="en-US" sz="1350" dirty="0"/>
          </a:p>
        </p:txBody>
      </p:sp>
      <p:graphicFrame>
        <p:nvGraphicFramePr>
          <p:cNvPr id="4" name="Chart 0"/>
          <p:cNvGraphicFramePr/>
          <p:nvPr/>
        </p:nvGraphicFramePr>
        <p:xfrm>
          <a:off x="457200" y="1325880"/>
          <a:ext cx="112471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452628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0060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Within any 30-day period: 8,158 people made 2 or more calls, 1,737 made 3 or more, and 334 made 5 or more</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Within any 90-day period: 10,686 people made 2 or more calls, 2,899 made 3 or more, and 678 made 5 or more</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8,158 people with 2 or more calls in 30 days are 7.3 percent of people and account for 30,665 calls, 21.5 percent of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334 people with 5 or more calls in 30 days are 0.3 percent of people and account for 5,534 calls, 3.9 percent of calls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How soon repeat calls come back</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Days between a repeat call and that person's previous call. 30,881 repeat calls.</a:t>
            </a:r>
            <a:endParaRPr lang="en-US" sz="1350" dirty="0"/>
          </a:p>
        </p:txBody>
      </p:sp>
      <p:graphicFrame>
        <p:nvGraphicFramePr>
          <p:cNvPr id="4" name="Chart 0"/>
          <p:cNvGraphicFramePr/>
          <p:nvPr/>
        </p:nvGraphicFramePr>
        <p:xfrm>
          <a:off x="457200" y="1325880"/>
          <a:ext cx="112471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461772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9204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4,723 repeat calls came within 1 day of the previous call, 15.3 percent. 4,847 came within 2 to 7 days, 15.7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6,400 came within 8 to 30 days, 20.7 percent. Together, 15,970 repeat calls came within 30 days, 51.7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8,533 came more than 90 days later, 27.6 percent, including 4,418 more than 180 days later, 14.3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Shares are of the 30,881 repeat calls, not of all calls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Share of calls followed by a repeat within 30 days, by month</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Months without a full 30-day follow-up window are excluded.</a:t>
            </a:r>
            <a:endParaRPr lang="en-US" sz="1350" dirty="0"/>
          </a:p>
        </p:txBody>
      </p:sp>
      <p:graphicFrame>
        <p:nvGraphicFramePr>
          <p:cNvPr id="4" name="Chart 0"/>
          <p:cNvGraphicFramePr/>
          <p:nvPr/>
        </p:nvGraphicFramePr>
        <p:xfrm>
          <a:off x="457200" y="1325880"/>
          <a:ext cx="112471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470916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983480"/>
            <a:ext cx="11247120" cy="146304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monthly rate ranged from 9.2 percent in December 2024 to 12.9 percent in September 2025, a spread of 3.7 points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first four months, October 2024 through January 2025, are the four lowest at 9.2 to 9.9 percent. Every month from February 2025 onward is between 10.5 and 12.9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Monthly calls measured grew from 3,660 in October 2024 to 8,277 in June 2026</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July and August 2026 are excluded because they lack a full 30-day follow-up window within the data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Share of calls followed by a repeat, by disposition</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marL="0" indent="0">
              <a:buNone/>
            </a:pPr>
            <a:r>
              <a:rPr lang="en-US" sz="1350" dirty="0">
                <a:solidFill>
                  <a:srgbClr val="595959"/>
                </a:solidFill>
                <a:latin typeface="Calibri" pitchFamily="34" charset="0"/>
                <a:ea typeface="Calibri" pitchFamily="34" charset="-122"/>
                <a:cs typeface="Calibri" pitchFamily="34" charset="-120"/>
              </a:rPr>
              <a:t>The disposition recorded on a call, and how often that person called again afterward.</a:t>
            </a:r>
            <a:endParaRPr lang="en-US" sz="1350" dirty="0"/>
          </a:p>
        </p:txBody>
      </p:sp>
      <p:graphicFrame>
        <p:nvGraphicFramePr>
          <p:cNvPr id="4" name="Chart 0"/>
          <p:cNvGraphicFramePr/>
          <p:nvPr/>
        </p:nvGraphicFramePr>
        <p:xfrm>
          <a:off x="457200" y="1325880"/>
          <a:ext cx="112471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443484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709160"/>
            <a:ext cx="11247120" cy="164592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30-day rate ranges from 5.9 percent for ALS to 27.7 percent for Virtual Care. The rate across all calls is 11.3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BLS is the largest group at 75,759 calls measured and is at 8.6 percent. Self-care is 21,875 calls at 10.3 percent, NN ER is 17,162 calls at 17.7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Virtual Care is 5,429 calls measured. ALS is 4,875. VC ER is 475 and Mobile Urgent Care is 578</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Two dispositions, VC MUC and Ready Response, had 4 and 1 calls and are not shown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700" b="1" dirty="0">
                <a:solidFill>
                  <a:srgbClr val="222222"/>
                </a:solidFill>
                <a:latin typeface="Calibri" pitchFamily="34" charset="0"/>
                <a:ea typeface="Calibri" pitchFamily="34" charset="-122"/>
                <a:cs typeface="Calibri" pitchFamily="34" charset="-120"/>
              </a:rPr>
              <a:t>Summary of figures</a:t>
            </a:r>
            <a:endParaRPr lang="en-US" sz="2700" dirty="0"/>
          </a:p>
        </p:txBody>
      </p:sp>
      <p:sp>
        <p:nvSpPr>
          <p:cNvPr id="3" name="Text 1"/>
          <p:cNvSpPr txBox="1"/>
          <p:nvPr/>
        </p:nvSpPr>
        <p:spPr>
          <a:xfrm>
            <a:off x="457200" y="114300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POPULATION</a:t>
            </a:r>
            <a:endParaRPr lang="en-US" sz="1250" dirty="0"/>
          </a:p>
        </p:txBody>
      </p:sp>
      <p:sp>
        <p:nvSpPr>
          <p:cNvPr id="4" name="Text 2"/>
          <p:cNvSpPr txBox="1"/>
          <p:nvPr/>
        </p:nvSpPr>
        <p:spPr>
          <a:xfrm>
            <a:off x="457200" y="1417320"/>
            <a:ext cx="11247120" cy="109728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150,000 calls, October 2024 through August 2026. 142,738 tied to a person, 95.2 percent</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111,857 people, an average of 1.28 calls each</a:t>
            </a:r>
            <a:endParaRPr lang="en-US" sz="1400" dirty="0"/>
          </a:p>
        </p:txBody>
      </p:sp>
      <p:sp>
        <p:nvSpPr>
          <p:cNvPr id="5" name="Text 3"/>
          <p:cNvSpPr txBox="1"/>
          <p:nvPr/>
        </p:nvSpPr>
        <p:spPr>
          <a:xfrm>
            <a:off x="457200" y="265176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REPEAT CALLS</a:t>
            </a:r>
            <a:endParaRPr lang="en-US" sz="1250" dirty="0"/>
          </a:p>
        </p:txBody>
      </p:sp>
      <p:sp>
        <p:nvSpPr>
          <p:cNvPr id="6" name="Text 4"/>
          <p:cNvSpPr txBox="1"/>
          <p:nvPr/>
        </p:nvSpPr>
        <p:spPr>
          <a:xfrm>
            <a:off x="457200" y="2926080"/>
            <a:ext cx="11247120" cy="109728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30,881 repeat calls, 21.6 percent of calls tied to a person and 20.6 percent of all calls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15,970 within 30 days, 19,889 within 60 days, 22,348 within 90 days, or 51.7, 64.4, and 72.4 percent of all repeat calls</a:t>
            </a:r>
            <a:endParaRPr lang="en-US" sz="1400" dirty="0"/>
          </a:p>
        </p:txBody>
      </p:sp>
      <p:sp>
        <p:nvSpPr>
          <p:cNvPr id="7" name="Text 5"/>
          <p:cNvSpPr txBox="1"/>
          <p:nvPr/>
        </p:nvSpPr>
        <p:spPr>
          <a:xfrm>
            <a:off x="457200" y="4160520"/>
            <a:ext cx="10972800" cy="256032"/>
          </a:xfrm>
          <a:prstGeom prst="rect">
            <a:avLst/>
          </a:prstGeom>
          <a:noFill/>
          <a:ln/>
        </p:spPr>
        <p:txBody>
          <a:bodyPr wrap="square" lIns="0" tIns="0" rIns="0" bIns="0" rtlCol="0" anchor="ctr"/>
          <a:lstStyle/>
          <a:p>
            <a:pPr marL="0" indent="0">
              <a:buNone/>
            </a:pPr>
            <a:r>
              <a:rPr lang="en-US" sz="1250" b="1" dirty="0">
                <a:solidFill>
                  <a:srgbClr val="222222"/>
                </a:solidFill>
                <a:latin typeface="Calibri" pitchFamily="34" charset="0"/>
                <a:ea typeface="Calibri" pitchFamily="34" charset="-122"/>
                <a:cs typeface="Calibri" pitchFamily="34" charset="-120"/>
              </a:rPr>
              <a:t>CONCENTRATION</a:t>
            </a:r>
            <a:endParaRPr lang="en-US" sz="1250" dirty="0"/>
          </a:p>
        </p:txBody>
      </p:sp>
      <p:sp>
        <p:nvSpPr>
          <p:cNvPr id="8" name="Text 6"/>
          <p:cNvSpPr txBox="1"/>
          <p:nvPr/>
        </p:nvSpPr>
        <p:spPr>
          <a:xfrm>
            <a:off x="457200" y="4434840"/>
            <a:ext cx="11247120" cy="109728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86.7 percent of people called once and account for 68.0 percent of calls. The top 10 percent of people by call count account for 27 percent of calls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Six markets account for 70.2 percent of returning calls. NN ER, Ref CCR, and Virtual Care are 22.3 percent of calls measured and 38.9 percent of returning calls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2879</Words>
  <Application>Microsoft Macintosh PowerPoint</Application>
  <PresentationFormat>Widescreen</PresentationFormat>
  <Paragraphs>203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josh smitherman</cp:lastModifiedBy>
  <cp:revision>6</cp:revision>
  <dcterms:created xsi:type="dcterms:W3CDTF">2026-09-15T12:14:01Z</dcterms:created>
  <dcterms:modified xsi:type="dcterms:W3CDTF">2026-09-15T13:28:59Z</dcterms:modified>
</cp:coreProperties>
</file>