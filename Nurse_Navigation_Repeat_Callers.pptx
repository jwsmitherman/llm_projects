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Calls linked</c:v>
                </c:pt>
              </c:strCache>
            </c:strRef>
          </c:tx>
          <c:spPr>
            <a:solidFill>
              <a:srgbClr val="028090"/>
            </a:solidFill>
            <a:effectLst/>
          </c:spPr>
          <c:invertIfNegative val="0"/>
          <c:dLbls>
            <c:numFmt formatCode="#,##0" sourceLinked="0"/>
            <c:txPr>
              <a:bodyPr/>
              <a:lstStyle/>
              <a:p>
                <a:pPr>
                  <a:defRPr b="0" i="0" strike="noStrike" sz="950" u="none">
                    <a:solidFill>
                      <a:srgbClr val="2222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Exact name and date of birth</c:v>
                  </c:pt>
                  <c:pt idx="1">
                    <c:v>Similar first name, same last name and date of birth</c:v>
                  </c:pt>
                  <c:pt idx="2">
                    <c:v>Similar last name, same first name and date of birth</c:v>
                  </c:pt>
                  <c:pt idx="3">
                    <c:v>Same first name, date of birth and phone</c:v>
                  </c:pt>
                  <c:pt idx="4">
                    <c:v>Same name and phone, one date of birth or none</c:v>
                  </c:pt>
                </c:lvl>
              </c:multiLvlStrCache>
            </c:multiLvlStrRef>
          </c:cat>
          <c:val>
            <c:numRef>
              <c:f>Sheet1!$B$2:$B$6</c:f>
              <c:numCache>
                <c:formatCode>General</c:formatCode>
                <c:ptCount val="5"/>
                <c:pt idx="0">
                  <c:v>23844</c:v>
                </c:pt>
                <c:pt idx="1">
                  <c:v>2830</c:v>
                </c:pt>
                <c:pt idx="2">
                  <c:v>3130</c:v>
                </c:pt>
                <c:pt idx="3">
                  <c:v>882</c:v>
                </c:pt>
                <c:pt idx="4">
                  <c:v>195</c:v>
                </c:pt>
              </c:numCache>
            </c:numRef>
          </c:val>
        </c:ser>
        <c:ser>
          <c:idx val="1"/>
          <c:order val="1"/>
          <c:tx>
            <c:strRef>
              <c:f>Sheet1!$C$1</c:f>
              <c:strCache>
                <c:ptCount val="1"/>
                <c:pt idx="0">
                  <c:v>Links rejected by the name-variant limit</c:v>
                </c:pt>
              </c:strCache>
            </c:strRef>
          </c:tx>
          <c:spPr>
            <a:solidFill>
              <a:srgbClr val="D1495B"/>
            </a:solidFill>
            <a:effectLst/>
          </c:spPr>
          <c:invertIfNegative val="0"/>
          <c:dLbls>
            <c:numFmt formatCode="#,##0" sourceLinked="0"/>
            <c:txPr>
              <a:bodyPr/>
              <a:lstStyle/>
              <a:p>
                <a:pPr>
                  <a:defRPr b="0" i="0" strike="noStrike" sz="950" u="none">
                    <a:solidFill>
                      <a:srgbClr val="2222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Exact name and date of birth</c:v>
                  </c:pt>
                  <c:pt idx="1">
                    <c:v>Similar first name, same last name and date of birth</c:v>
                  </c:pt>
                  <c:pt idx="2">
                    <c:v>Similar last name, same first name and date of birth</c:v>
                  </c:pt>
                  <c:pt idx="3">
                    <c:v>Same first name, date of birth and phone</c:v>
                  </c:pt>
                  <c:pt idx="4">
                    <c:v>Same name and phone, one date of birth or none</c:v>
                  </c:pt>
                </c:lvl>
              </c:multiLvlStrCache>
            </c:multiLvlStrRef>
          </c:cat>
          <c:val>
            <c:numRef>
              <c:f>Sheet1!$C$2:$C$6</c:f>
              <c:numCache>
                <c:formatCode>General</c:formatCode>
                <c:ptCount val="5"/>
                <c:pt idx="0">
                  <c:v>0</c:v>
                </c:pt>
                <c:pt idx="1">
                  <c:v>301</c:v>
                </c:pt>
                <c:pt idx="2">
                  <c:v>494</c:v>
                </c:pt>
                <c:pt idx="3">
                  <c:v>344</c:v>
                </c:pt>
                <c:pt idx="4">
                  <c:v>0</c:v>
                </c:pt>
              </c:numCache>
            </c:numRef>
          </c:val>
        </c:ser>
        <c:dLbls>
          <c:numFmt formatCode="#,##0" sourceLinked="0"/>
          <c:txPr>
            <a:bodyPr/>
            <a:lstStyle/>
            <a:p>
              <a:pPr>
                <a:defRPr b="0" i="0" strike="noStrike" sz="95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29000"/>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Repeat calls</c:v>
                </c:pt>
              </c:strCache>
            </c:strRef>
          </c:tx>
          <c:spPr>
            <a:solidFill>
              <a:srgbClr val="D1495B"/>
            </a:solidFill>
            <a:effectLst/>
          </c:spPr>
          <c:invertIfNegative val="0"/>
          <c:dLbls>
            <c:numFmt formatCode="#,##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D1495B"/>
              </a:solidFill>
              <a:effectLst/>
            </c:spPr>
          </c:dPt>
          <c:dPt>
            <c:idx val="2"/>
            <c:invertIfNegative val="0"/>
            <c:bubble3D val="0"/>
            <c:spPr>
              <a:solidFill>
                <a:srgbClr val="D1495B"/>
              </a:solidFill>
              <a:effectLst/>
            </c:spPr>
          </c:dPt>
          <c:dPt>
            <c:idx val="3"/>
            <c:invertIfNegative val="0"/>
            <c:bubble3D val="0"/>
            <c:spPr>
              <a:solidFill>
                <a:srgbClr val="D1495B"/>
              </a:solidFill>
              <a:effectLst/>
            </c:spPr>
          </c:dPt>
          <c:dPt>
            <c:idx val="4"/>
            <c:invertIfNegative val="0"/>
            <c:bubble3D val="0"/>
            <c:spPr>
              <a:solidFill>
                <a:srgbClr val="028090"/>
              </a:solidFill>
              <a:effectLst/>
            </c:spPr>
          </c:dPt>
          <c:dPt>
            <c:idx val="5"/>
            <c:invertIfNegative val="0"/>
            <c:bubble3D val="0"/>
            <c:spPr>
              <a:solidFill>
                <a:srgbClr val="028090"/>
              </a:solidFill>
              <a:effectLst/>
            </c:spPr>
          </c:dPt>
          <c:dPt>
            <c:idx val="6"/>
            <c:invertIfNegative val="0"/>
            <c:bubble3D val="0"/>
            <c:spPr>
              <a:solidFill>
                <a:srgbClr val="028090"/>
              </a:solidFill>
              <a:effectLst/>
            </c:spPr>
          </c:dPt>
          <c:dPt>
            <c:idx val="7"/>
            <c:invertIfNegative val="0"/>
            <c:bubble3D val="0"/>
            <c:spPr>
              <a:solidFill>
                <a:srgbClr val="028090"/>
              </a:solidFill>
              <a:effectLst/>
            </c:spPr>
          </c:dPt>
          <c:dPt>
            <c:idx val="8"/>
            <c:invertIfNegative val="0"/>
            <c:bubble3D val="0"/>
            <c:spPr>
              <a:solidFill>
                <a:srgbClr val="0B2545"/>
              </a:solidFill>
              <a:effectLst/>
            </c:spPr>
          </c:dPt>
          <c:cat>
            <c:multiLvlStrRef>
              <c:f>Sheet1!$A$2:$A$10</c:f>
              <c:multiLvlStrCache>
                <c:ptCount val="9"/>
                <c:lvl>
                  <c:pt idx="0">
                    <c:v>1 day</c:v>
                  </c:pt>
                  <c:pt idx="1">
                    <c:v>3 days</c:v>
                  </c:pt>
                  <c:pt idx="2">
                    <c:v>5 days</c:v>
                  </c:pt>
                  <c:pt idx="3">
                    <c:v>7 days</c:v>
                  </c:pt>
                  <c:pt idx="4">
                    <c:v>14 days</c:v>
                  </c:pt>
                  <c:pt idx="5">
                    <c:v>30 days</c:v>
                  </c:pt>
                  <c:pt idx="6">
                    <c:v>60 days</c:v>
                  </c:pt>
                  <c:pt idx="7">
                    <c:v>90 days</c:v>
                  </c:pt>
                  <c:pt idx="8">
                    <c:v>All repeat
calls</c:v>
                  </c:pt>
                </c:lvl>
              </c:multiLvlStrCache>
            </c:multiLvlStrRef>
          </c:cat>
          <c:val>
            <c:numRef>
              <c:f>Sheet1!$B$2:$B$10</c:f>
              <c:numCache>
                <c:formatCode>General</c:formatCode>
                <c:ptCount val="9"/>
                <c:pt idx="0">
                  <c:v>4723</c:v>
                </c:pt>
                <c:pt idx="1">
                  <c:v>7021</c:v>
                </c:pt>
                <c:pt idx="2">
                  <c:v>8449</c:v>
                </c:pt>
                <c:pt idx="3">
                  <c:v>9570</c:v>
                </c:pt>
                <c:pt idx="4">
                  <c:v>12394</c:v>
                </c:pt>
                <c:pt idx="5">
                  <c:v>15970</c:v>
                </c:pt>
                <c:pt idx="6">
                  <c:v>19889</c:v>
                </c:pt>
                <c:pt idx="7">
                  <c:v>22348</c:v>
                </c:pt>
                <c:pt idx="8">
                  <c:v>30881</c:v>
                </c:pt>
              </c:numCache>
            </c:numRef>
          </c:val>
        </c:ser>
        <c:dLbls>
          <c:numFmt formatCode="#,##0" sourceLinked="0"/>
          <c:txPr>
            <a:bodyPr/>
            <a:lstStyle/>
            <a:p>
              <a:pPr>
                <a:defRPr b="0" i="0" strike="noStrike" sz="100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Days after first call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360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Repeat calls</c:v>
                </c:pt>
              </c:strCache>
            </c:strRef>
          </c:tx>
          <c:spPr>
            <a:solidFill>
              <a:srgbClr val="D1495B"/>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028090"/>
              </a:solidFill>
              <a:effectLst/>
            </c:spPr>
          </c:dPt>
          <c:cat>
            <c:multiLvlStrRef>
              <c:f>Sheet1!$A$2:$A$3</c:f>
              <c:multiLvlStrCache>
                <c:ptCount val="2"/>
                <c:lvl>
                  <c:pt idx="0">
                    <c:v>Same calendar day as the previous call</c:v>
                  </c:pt>
                  <c:pt idx="1">
                    <c:v>A later calendar day</c:v>
                  </c:pt>
                </c:lvl>
              </c:multiLvlStrCache>
            </c:multiLvlStrRef>
          </c:cat>
          <c:val>
            <c:numRef>
              <c:f>Sheet1!$B$2:$B$3</c:f>
              <c:numCache>
                <c:formatCode>General</c:formatCode>
                <c:ptCount val="2"/>
                <c:pt idx="0">
                  <c:v>3603</c:v>
                </c:pt>
                <c:pt idx="1">
                  <c:v>27278</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320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people</c:v>
                </c:pt>
              </c:strCache>
            </c:strRef>
          </c:tx>
          <c:spPr>
            <a:solidFill>
              <a:srgbClr val="028090"/>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 call</c:v>
                  </c:pt>
                  <c:pt idx="1">
                    <c:v>2 calls</c:v>
                  </c:pt>
                  <c:pt idx="2">
                    <c:v>3-4 calls</c:v>
                  </c:pt>
                  <c:pt idx="3">
                    <c:v>5-9 calls</c:v>
                  </c:pt>
                  <c:pt idx="4">
                    <c:v>10 or more calls</c:v>
                  </c:pt>
                </c:lvl>
              </c:multiLvlStrCache>
            </c:multiLvlStrRef>
          </c:cat>
          <c:val>
            <c:numRef>
              <c:f>Sheet1!$B$2:$B$6</c:f>
              <c:numCache>
                <c:formatCode>General</c:formatCode>
                <c:ptCount val="5"/>
                <c:pt idx="0">
                  <c:v>86.7</c:v>
                </c:pt>
                <c:pt idx="1">
                  <c:v>8.6</c:v>
                </c:pt>
                <c:pt idx="2">
                  <c:v>3.3</c:v>
                </c:pt>
                <c:pt idx="3">
                  <c:v>1.1</c:v>
                </c:pt>
                <c:pt idx="4">
                  <c:v>0.3</c:v>
                </c:pt>
              </c:numCache>
            </c:numRef>
          </c:val>
        </c:ser>
        <c:ser>
          <c:idx val="1"/>
          <c:order val="1"/>
          <c:tx>
            <c:strRef>
              <c:f>Sheet1!$C$1</c:f>
              <c:strCache>
                <c:ptCount val="1"/>
                <c:pt idx="0">
                  <c:v>Share of calls</c:v>
                </c:pt>
              </c:strCache>
            </c:strRef>
          </c:tx>
          <c:spPr>
            <a:solidFill>
              <a:srgbClr val="0B2545"/>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 call</c:v>
                  </c:pt>
                  <c:pt idx="1">
                    <c:v>2 calls</c:v>
                  </c:pt>
                  <c:pt idx="2">
                    <c:v>3-4 calls</c:v>
                  </c:pt>
                  <c:pt idx="3">
                    <c:v>5-9 calls</c:v>
                  </c:pt>
                  <c:pt idx="4">
                    <c:v>10 or more calls</c:v>
                  </c:pt>
                </c:lvl>
              </c:multiLvlStrCache>
            </c:multiLvlStrRef>
          </c:cat>
          <c:val>
            <c:numRef>
              <c:f>Sheet1!$C$2:$C$6</c:f>
              <c:numCache>
                <c:formatCode>General</c:formatCode>
                <c:ptCount val="5"/>
                <c:pt idx="0">
                  <c:v>68</c:v>
                </c:pt>
                <c:pt idx="1">
                  <c:v>13.4</c:v>
                </c:pt>
                <c:pt idx="2">
                  <c:v>8.4</c:v>
                </c:pt>
                <c:pt idx="3">
                  <c:v>5.3</c:v>
                </c:pt>
                <c:pt idx="4">
                  <c:v>4.9</c:v>
                </c:pt>
              </c:numCache>
            </c:numRef>
          </c:val>
        </c:ser>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30 days</c:v>
                </c:pt>
              </c:strCache>
            </c:strRef>
          </c:tx>
          <c:spPr>
            <a:solidFill>
              <a:srgbClr val="028090"/>
            </a:solidFill>
            <a:effectLst/>
          </c:spPr>
          <c:invertIfNegative val="0"/>
          <c:dLbls>
            <c:numFmt formatCode="#,##0" sourceLinked="0"/>
            <c:txPr>
              <a:bodyPr/>
              <a:lstStyle/>
              <a:p>
                <a:pPr>
                  <a:defRPr b="0" i="0" strike="noStrike" sz="95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or more calls</c:v>
                  </c:pt>
                  <c:pt idx="1">
                    <c:v>3 or more calls</c:v>
                  </c:pt>
                  <c:pt idx="2">
                    <c:v>5 or more calls</c:v>
                  </c:pt>
                </c:lvl>
              </c:multiLvlStrCache>
            </c:multiLvlStrRef>
          </c:cat>
          <c:val>
            <c:numRef>
              <c:f>Sheet1!$B$2:$B$4</c:f>
              <c:numCache>
                <c:formatCode>General</c:formatCode>
                <c:ptCount val="3"/>
                <c:pt idx="0">
                  <c:v>8158</c:v>
                </c:pt>
                <c:pt idx="1">
                  <c:v>1737</c:v>
                </c:pt>
                <c:pt idx="2">
                  <c:v>334</c:v>
                </c:pt>
              </c:numCache>
            </c:numRef>
          </c:val>
        </c:ser>
        <c:ser>
          <c:idx val="1"/>
          <c:order val="1"/>
          <c:tx>
            <c:strRef>
              <c:f>Sheet1!$C$1</c:f>
              <c:strCache>
                <c:ptCount val="1"/>
                <c:pt idx="0">
                  <c:v>60 days</c:v>
                </c:pt>
              </c:strCache>
            </c:strRef>
          </c:tx>
          <c:spPr>
            <a:solidFill>
              <a:srgbClr val="0B2545"/>
            </a:solidFill>
            <a:effectLst/>
          </c:spPr>
          <c:invertIfNegative val="0"/>
          <c:dLbls>
            <c:numFmt formatCode="#,##0" sourceLinked="0"/>
            <c:txPr>
              <a:bodyPr/>
              <a:lstStyle/>
              <a:p>
                <a:pPr>
                  <a:defRPr b="0" i="0" strike="noStrike" sz="95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or more calls</c:v>
                  </c:pt>
                  <c:pt idx="1">
                    <c:v>3 or more calls</c:v>
                  </c:pt>
                  <c:pt idx="2">
                    <c:v>5 or more calls</c:v>
                  </c:pt>
                </c:lvl>
              </c:multiLvlStrCache>
            </c:multiLvlStrRef>
          </c:cat>
          <c:val>
            <c:numRef>
              <c:f>Sheet1!$C$2:$C$4</c:f>
              <c:numCache>
                <c:formatCode>General</c:formatCode>
                <c:ptCount val="3"/>
                <c:pt idx="0">
                  <c:v>9658</c:v>
                </c:pt>
                <c:pt idx="1">
                  <c:v>2448</c:v>
                </c:pt>
                <c:pt idx="2">
                  <c:v>527</c:v>
                </c:pt>
              </c:numCache>
            </c:numRef>
          </c:val>
        </c:ser>
        <c:ser>
          <c:idx val="2"/>
          <c:order val="2"/>
          <c:tx>
            <c:strRef>
              <c:f>Sheet1!$D$1</c:f>
              <c:strCache>
                <c:ptCount val="1"/>
                <c:pt idx="0">
                  <c:v>90 days</c:v>
                </c:pt>
              </c:strCache>
            </c:strRef>
          </c:tx>
          <c:spPr>
            <a:solidFill>
              <a:srgbClr val="8FA0A6"/>
            </a:solidFill>
            <a:effectLst/>
          </c:spPr>
          <c:invertIfNegative val="0"/>
          <c:dLbls>
            <c:numFmt formatCode="#,##0" sourceLinked="0"/>
            <c:txPr>
              <a:bodyPr/>
              <a:lstStyle/>
              <a:p>
                <a:pPr>
                  <a:defRPr b="0" i="0" strike="noStrike" sz="95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or more calls</c:v>
                  </c:pt>
                  <c:pt idx="1">
                    <c:v>3 or more calls</c:v>
                  </c:pt>
                  <c:pt idx="2">
                    <c:v>5 or more calls</c:v>
                  </c:pt>
                </c:lvl>
              </c:multiLvlStrCache>
            </c:multiLvlStrRef>
          </c:cat>
          <c:val>
            <c:numRef>
              <c:f>Sheet1!$D$2:$D$4</c:f>
              <c:numCache>
                <c:formatCode>General</c:formatCode>
                <c:ptCount val="3"/>
                <c:pt idx="0">
                  <c:v>10686</c:v>
                </c:pt>
                <c:pt idx="1">
                  <c:v>2899</c:v>
                </c:pt>
                <c:pt idx="2">
                  <c:v>678</c:v>
                </c:pt>
              </c:numCache>
            </c:numRef>
          </c:val>
        </c:ser>
        <c:dLbls>
          <c:numFmt formatCode="#,##0" sourceLinked="0"/>
          <c:txPr>
            <a:bodyPr/>
            <a:lstStyle/>
            <a:p>
              <a:pPr>
                <a:defRPr b="0" i="0" strike="noStrike" sz="95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25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Repeat calls</c:v>
                </c:pt>
              </c:strCache>
            </c:strRef>
          </c:tx>
          <c:spPr>
            <a:solidFill>
              <a:srgbClr val="D1495B"/>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D1495B"/>
              </a:solidFill>
              <a:effectLst/>
            </c:spPr>
          </c:dPt>
          <c:dPt>
            <c:idx val="2"/>
            <c:invertIfNegative val="0"/>
            <c:bubble3D val="0"/>
            <c:spPr>
              <a:solidFill>
                <a:srgbClr val="D1495B"/>
              </a:solidFill>
              <a:effectLst/>
            </c:spPr>
          </c:dPt>
          <c:dPt>
            <c:idx val="3"/>
            <c:invertIfNegative val="0"/>
            <c:bubble3D val="0"/>
            <c:spPr>
              <a:solidFill>
                <a:srgbClr val="D1495B"/>
              </a:solidFill>
              <a:effectLst/>
            </c:spPr>
          </c:dPt>
          <c:dPt>
            <c:idx val="4"/>
            <c:invertIfNegative val="0"/>
            <c:bubble3D val="0"/>
            <c:spPr>
              <a:solidFill>
                <a:srgbClr val="028090"/>
              </a:solidFill>
              <a:effectLst/>
            </c:spPr>
          </c:dPt>
          <c:dPt>
            <c:idx val="5"/>
            <c:invertIfNegative val="0"/>
            <c:bubble3D val="0"/>
            <c:spPr>
              <a:solidFill>
                <a:srgbClr val="028090"/>
              </a:solidFill>
              <a:effectLst/>
            </c:spPr>
          </c:dPt>
          <c:dPt>
            <c:idx val="6"/>
            <c:invertIfNegative val="0"/>
            <c:bubble3D val="0"/>
            <c:spPr>
              <a:solidFill>
                <a:srgbClr val="8FA0A6"/>
              </a:solidFill>
              <a:effectLst/>
            </c:spPr>
          </c:dPt>
          <c:dPt>
            <c:idx val="7"/>
            <c:invertIfNegative val="0"/>
            <c:bubble3D val="0"/>
            <c:spPr>
              <a:solidFill>
                <a:srgbClr val="8FA0A6"/>
              </a:solidFill>
              <a:effectLst/>
            </c:spPr>
          </c:dPt>
          <c:dPt>
            <c:idx val="8"/>
            <c:invertIfNegative val="0"/>
            <c:bubble3D val="0"/>
            <c:spPr>
              <a:solidFill>
                <a:srgbClr val="8FA0A6"/>
              </a:solidFill>
              <a:effectLst/>
            </c:spPr>
          </c:dPt>
          <c:dPt>
            <c:idx val="9"/>
            <c:invertIfNegative val="0"/>
            <c:bubble3D val="0"/>
            <c:spPr>
              <a:solidFill>
                <a:srgbClr val="8FA0A6"/>
              </a:solidFill>
              <a:effectLst/>
            </c:spPr>
          </c:dPt>
          <c:cat>
            <c:multiLvlStrRef>
              <c:f>Sheet1!$A$2:$A$11</c:f>
              <c:multiLvlStrCache>
                <c:ptCount val="10"/>
                <c:lvl>
                  <c:pt idx="0">
                    <c:v>1 day</c:v>
                  </c:pt>
                  <c:pt idx="1">
                    <c:v>2-3
days</c:v>
                  </c:pt>
                  <c:pt idx="2">
                    <c:v>4-5
days</c:v>
                  </c:pt>
                  <c:pt idx="3">
                    <c:v>6-7
days</c:v>
                  </c:pt>
                  <c:pt idx="4">
                    <c:v>8-14
days</c:v>
                  </c:pt>
                  <c:pt idx="5">
                    <c:v>15-30
days</c:v>
                  </c:pt>
                  <c:pt idx="6">
                    <c:v>31-60
days</c:v>
                  </c:pt>
                  <c:pt idx="7">
                    <c:v>61-90
days</c:v>
                  </c:pt>
                  <c:pt idx="8">
                    <c:v>91-180
days</c:v>
                  </c:pt>
                  <c:pt idx="9">
                    <c:v>over 180
days</c:v>
                  </c:pt>
                </c:lvl>
              </c:multiLvlStrCache>
            </c:multiLvlStrRef>
          </c:cat>
          <c:val>
            <c:numRef>
              <c:f>Sheet1!$B$2:$B$11</c:f>
              <c:numCache>
                <c:formatCode>General</c:formatCode>
                <c:ptCount val="10"/>
                <c:pt idx="0">
                  <c:v>4723</c:v>
                </c:pt>
                <c:pt idx="1">
                  <c:v>2298</c:v>
                </c:pt>
                <c:pt idx="2">
                  <c:v>1428</c:v>
                </c:pt>
                <c:pt idx="3">
                  <c:v>1121</c:v>
                </c:pt>
                <c:pt idx="4">
                  <c:v>2824</c:v>
                </c:pt>
                <c:pt idx="5">
                  <c:v>3576</c:v>
                </c:pt>
                <c:pt idx="6">
                  <c:v>3919</c:v>
                </c:pt>
                <c:pt idx="7">
                  <c:v>2459</c:v>
                </c:pt>
                <c:pt idx="8">
                  <c:v>4115</c:v>
                </c:pt>
                <c:pt idx="9">
                  <c:v>4418</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95959"/>
                    </a:solidFill>
                    <a:latin typeface="Calibri"/>
                  </a:defRPr>
                </a:pPr>
                <a:r>
                  <a:rPr sz="1100" b="0" i="0" u="none" strike="noStrike">
                    <a:solidFill>
                      <a:srgbClr val="595959"/>
                    </a:solidFill>
                    <a:latin typeface="Calibri"/>
                  </a:rPr>
                  <a:t>Days after first call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560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30-day return rate</c:v>
                </c:pt>
              </c:strCache>
            </c:strRef>
          </c:tx>
          <c:spPr>
            <a:solidFill>
              <a:srgbClr val="028090"/>
            </a:solidFill>
            <a:ln w="38100" cap="flat">
              <a:solidFill>
                <a:srgbClr val="028090"/>
              </a:solidFill>
              <a:prstDash val="solid"/>
              <a:round/>
            </a:ln>
            <a:effectLst/>
          </c:spPr>
          <c:invertIfNegative val="0"/>
          <c:dLbls>
            <c:numFmt formatCode="0.0&quot;%&quot;" sourceLinked="0"/>
            <c:txPr>
              <a:bodyPr/>
              <a:lstStyle/>
              <a:p>
                <a:pPr>
                  <a:defRPr b="0" i="0" strike="noStrike" sz="900" u="none">
                    <a:solidFill>
                      <a:srgbClr val="222222"/>
                    </a:solidFill>
                    <a:latin typeface="Calibri"/>
                  </a:defRPr>
                </a:pPr>
              </a:p>
            </c:txPr>
            <c:dLblPos val="t"/>
            <c:showLegendKey val="0"/>
            <c:showVal val="1"/>
            <c:showCatName val="0"/>
            <c:showSerName val="0"/>
            <c:showPercent val="0"/>
            <c:showBubbleSize val="0"/>
            <c:showLeaderLines val="0"/>
          </c:dLbls>
          <c:marker>
            <c:symbol val="circle"/>
            <c:size val="6"/>
            <c:spPr>
              <a:solidFill>
                <a:srgbClr val="028090"/>
              </a:solidFill>
              <a:ln w="9525" cap="flat">
                <a:solidFill>
                  <a:srgbClr val="028090"/>
                </a:solidFill>
                <a:prstDash val="solid"/>
                <a:round/>
              </a:ln>
              <a:effectLst/>
            </c:spPr>
          </c:marker>
          <c:cat>
            <c:multiLvlStrRef>
              <c:f>Sheet1!$A$2:$A$22</c:f>
              <c:multiLvlStrCache>
                <c:ptCount val="21"/>
                <c:lvl>
                  <c:pt idx="0">
                    <c:v>Oct 24</c:v>
                  </c:pt>
                  <c:pt idx="1">
                    <c:v>Nov</c:v>
                  </c:pt>
                  <c:pt idx="2">
                    <c:v>Dec</c:v>
                  </c:pt>
                  <c:pt idx="3">
                    <c:v>Jan 25</c:v>
                  </c:pt>
                  <c:pt idx="4">
                    <c:v>Feb</c:v>
                  </c:pt>
                  <c:pt idx="5">
                    <c:v>Mar</c:v>
                  </c:pt>
                  <c:pt idx="6">
                    <c:v>Apr</c:v>
                  </c:pt>
                  <c:pt idx="7">
                    <c:v>May</c:v>
                  </c:pt>
                  <c:pt idx="8">
                    <c:v>Jun</c:v>
                  </c:pt>
                  <c:pt idx="9">
                    <c:v>Jul</c:v>
                  </c:pt>
                  <c:pt idx="10">
                    <c:v>Aug</c:v>
                  </c:pt>
                  <c:pt idx="11">
                    <c:v>Sep</c:v>
                  </c:pt>
                  <c:pt idx="12">
                    <c:v>Oct</c:v>
                  </c:pt>
                  <c:pt idx="13">
                    <c:v>Nov</c:v>
                  </c:pt>
                  <c:pt idx="14">
                    <c:v>Dec</c:v>
                  </c:pt>
                  <c:pt idx="15">
                    <c:v>Jan 26</c:v>
                  </c:pt>
                  <c:pt idx="16">
                    <c:v>Feb</c:v>
                  </c:pt>
                  <c:pt idx="17">
                    <c:v>Mar</c:v>
                  </c:pt>
                  <c:pt idx="18">
                    <c:v>Apr</c:v>
                  </c:pt>
                  <c:pt idx="19">
                    <c:v>May</c:v>
                  </c:pt>
                  <c:pt idx="20">
                    <c:v>Jun 26</c:v>
                  </c:pt>
                </c:lvl>
              </c:multiLvlStrCache>
            </c:multiLvlStrRef>
          </c:cat>
          <c:val>
            <c:numRef>
              <c:f>Sheet1!$B$2:$B$22</c:f>
              <c:numCache>
                <c:formatCode>General</c:formatCode>
                <c:ptCount val="21"/>
                <c:pt idx="0">
                  <c:v>9.9</c:v>
                </c:pt>
                <c:pt idx="1">
                  <c:v>9.9</c:v>
                </c:pt>
                <c:pt idx="2">
                  <c:v>9.2</c:v>
                </c:pt>
                <c:pt idx="3">
                  <c:v>9.4</c:v>
                </c:pt>
                <c:pt idx="4">
                  <c:v>10.5</c:v>
                </c:pt>
                <c:pt idx="5">
                  <c:v>11.1</c:v>
                </c:pt>
                <c:pt idx="6">
                  <c:v>12.4</c:v>
                </c:pt>
                <c:pt idx="7">
                  <c:v>11.8</c:v>
                </c:pt>
                <c:pt idx="8">
                  <c:v>10.5</c:v>
                </c:pt>
                <c:pt idx="9">
                  <c:v>12</c:v>
                </c:pt>
                <c:pt idx="10">
                  <c:v>12.8</c:v>
                </c:pt>
                <c:pt idx="11">
                  <c:v>12.9</c:v>
                </c:pt>
                <c:pt idx="12">
                  <c:v>11.9</c:v>
                </c:pt>
                <c:pt idx="13">
                  <c:v>11.2</c:v>
                </c:pt>
                <c:pt idx="14">
                  <c:v>11.5</c:v>
                </c:pt>
                <c:pt idx="15">
                  <c:v>11.3</c:v>
                </c:pt>
                <c:pt idx="16">
                  <c:v>10.7</c:v>
                </c:pt>
                <c:pt idx="17">
                  <c:v>11.7</c:v>
                </c:pt>
                <c:pt idx="18">
                  <c:v>12.1</c:v>
                </c:pt>
                <c:pt idx="19">
                  <c:v>11.3</c:v>
                </c:pt>
                <c:pt idx="20">
                  <c:v>11.9</c:v>
                </c:pt>
              </c:numCache>
            </c:numRef>
          </c:val>
          <c:smooth val="0"/>
        </c:ser>
        <c:dLbls>
          <c:numFmt formatCode="0.0&quot;%&quot;" sourceLinked="0"/>
          <c:txPr>
            <a:bodyPr/>
            <a:lstStyle/>
            <a:p>
              <a:pPr>
                <a:defRPr b="0" i="0" strike="noStrike" sz="900" u="none">
                  <a:solidFill>
                    <a:srgbClr val="2222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4"/>
          <c:min val="8"/>
        </c:scaling>
        <c:delete val="0"/>
        <c:axPos val="l"/>
        <c:majorGridlines>
          <c:spPr>
            <a:ln w="12700" cap="flat">
              <a:solidFill>
                <a:srgbClr val="E6E6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Repeat calls</c:v>
                </c:pt>
              </c:strCache>
            </c:strRef>
          </c:tx>
          <c:spPr>
            <a:solidFill>
              <a:srgbClr val="028090"/>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Ready Respn</c:v>
                  </c:pt>
                  <c:pt idx="1">
                    <c:v>Mobile urgent care</c:v>
                  </c:pt>
                  <c:pt idx="2">
                    <c:v>VC ER</c:v>
                  </c:pt>
                  <c:pt idx="3">
                    <c:v>VC EMS</c:v>
                  </c:pt>
                  <c:pt idx="4">
                    <c:v>ALS</c:v>
                  </c:pt>
                  <c:pt idx="5">
                    <c:v>Virtual care</c:v>
                  </c:pt>
                  <c:pt idx="6">
                    <c:v>Ref CCR</c:v>
                  </c:pt>
                  <c:pt idx="7">
                    <c:v>Self-care</c:v>
                  </c:pt>
                  <c:pt idx="8">
                    <c:v>NN ER</c:v>
                  </c:pt>
                  <c:pt idx="9">
                    <c:v>BLS</c:v>
                  </c:pt>
                </c:lvl>
              </c:multiLvlStrCache>
            </c:multiLvlStrRef>
          </c:cat>
          <c:val>
            <c:numRef>
              <c:f>Sheet1!$B$2:$B$11</c:f>
              <c:numCache>
                <c:formatCode>General</c:formatCode>
                <c:ptCount val="10"/>
                <c:pt idx="0">
                  <c:v>1</c:v>
                </c:pt>
                <c:pt idx="1">
                  <c:v>78</c:v>
                </c:pt>
                <c:pt idx="2">
                  <c:v>288</c:v>
                </c:pt>
                <c:pt idx="3">
                  <c:v>324</c:v>
                </c:pt>
                <c:pt idx="4">
                  <c:v>824</c:v>
                </c:pt>
                <c:pt idx="5">
                  <c:v>1424</c:v>
                </c:pt>
                <c:pt idx="6">
                  <c:v>2140</c:v>
                </c:pt>
                <c:pt idx="7">
                  <c:v>3995</c:v>
                </c:pt>
                <c:pt idx="8">
                  <c:v>5980</c:v>
                </c:pt>
                <c:pt idx="9">
                  <c:v>15827</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8500"/>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Repeat calls</c:v>
                </c:pt>
              </c:strCache>
            </c:strRef>
          </c:tx>
          <c:spPr>
            <a:solidFill>
              <a:srgbClr val="028090"/>
            </a:solidFill>
            <a:effectLst/>
          </c:spPr>
          <c:invertIfNegative val="0"/>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Mobile urgent care</c:v>
                  </c:pt>
                  <c:pt idx="1">
                    <c:v>VC ER</c:v>
                  </c:pt>
                  <c:pt idx="2">
                    <c:v>VC EMS</c:v>
                  </c:pt>
                  <c:pt idx="3">
                    <c:v>ALS</c:v>
                  </c:pt>
                  <c:pt idx="4">
                    <c:v>Ref CCR</c:v>
                  </c:pt>
                  <c:pt idx="5">
                    <c:v>NN ER</c:v>
                  </c:pt>
                  <c:pt idx="6">
                    <c:v>Self-care</c:v>
                  </c:pt>
                  <c:pt idx="7">
                    <c:v>Virtual care</c:v>
                  </c:pt>
                  <c:pt idx="8">
                    <c:v>BLS</c:v>
                  </c:pt>
                </c:lvl>
              </c:multiLvlStrCache>
            </c:multiLvlStrRef>
          </c:cat>
          <c:val>
            <c:numRef>
              <c:f>Sheet1!$B$2:$B$10</c:f>
              <c:numCache>
                <c:formatCode>General</c:formatCode>
                <c:ptCount val="9"/>
                <c:pt idx="0">
                  <c:v>10</c:v>
                </c:pt>
                <c:pt idx="1">
                  <c:v>15</c:v>
                </c:pt>
                <c:pt idx="2">
                  <c:v>16</c:v>
                </c:pt>
                <c:pt idx="3">
                  <c:v>27</c:v>
                </c:pt>
                <c:pt idx="4">
                  <c:v>131</c:v>
                </c:pt>
                <c:pt idx="5">
                  <c:v>163</c:v>
                </c:pt>
                <c:pt idx="6">
                  <c:v>294</c:v>
                </c:pt>
                <c:pt idx="7">
                  <c:v>327</c:v>
                </c:pt>
                <c:pt idx="8">
                  <c:v>441</c:v>
                </c:pt>
              </c:numCache>
            </c:numRef>
          </c:val>
        </c:ser>
        <c:dLbls>
          <c:numFmt formatCode="#,##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540"/>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30 days</c:v>
                </c:pt>
              </c:strCache>
            </c:strRef>
          </c:tx>
          <c:spPr>
            <a:solidFill>
              <a:srgbClr val="028090"/>
            </a:solidFill>
            <a:effectLst/>
          </c:spPr>
          <c:invertIfNegative val="0"/>
          <c:dLbls>
            <c:numFmt formatCode="0.0&quot;%&quot;"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ALS</c:v>
                  </c:pt>
                  <c:pt idx="1">
                    <c:v>BLS</c:v>
                  </c:pt>
                  <c:pt idx="2">
                    <c:v>VC EMS</c:v>
                  </c:pt>
                  <c:pt idx="3">
                    <c:v>Self-care</c:v>
                  </c:pt>
                  <c:pt idx="4">
                    <c:v>Mobile urgent care</c:v>
                  </c:pt>
                  <c:pt idx="5">
                    <c:v>NN ER</c:v>
                  </c:pt>
                  <c:pt idx="6">
                    <c:v>Ref CCR</c:v>
                  </c:pt>
                  <c:pt idx="7">
                    <c:v>VC ER</c:v>
                  </c:pt>
                  <c:pt idx="8">
                    <c:v>Virtual care</c:v>
                  </c:pt>
                </c:lvl>
              </c:multiLvlStrCache>
            </c:multiLvlStrRef>
          </c:cat>
          <c:val>
            <c:numRef>
              <c:f>Sheet1!$B$2:$B$10</c:f>
              <c:numCache>
                <c:formatCode>General</c:formatCode>
                <c:ptCount val="9"/>
                <c:pt idx="0">
                  <c:v>5.9</c:v>
                </c:pt>
                <c:pt idx="1">
                  <c:v>8.6</c:v>
                </c:pt>
                <c:pt idx="2">
                  <c:v>9.8</c:v>
                </c:pt>
                <c:pt idx="3">
                  <c:v>10.3</c:v>
                </c:pt>
                <c:pt idx="4">
                  <c:v>11.8</c:v>
                </c:pt>
                <c:pt idx="5">
                  <c:v>17.7</c:v>
                </c:pt>
                <c:pt idx="6">
                  <c:v>18.6</c:v>
                </c:pt>
                <c:pt idx="7">
                  <c:v>19.4</c:v>
                </c:pt>
                <c:pt idx="8">
                  <c:v>27.7</c:v>
                </c:pt>
              </c:numCache>
            </c:numRef>
          </c:val>
        </c:ser>
        <c:ser>
          <c:idx val="1"/>
          <c:order val="1"/>
          <c:tx>
            <c:strRef>
              <c:f>Sheet1!$C$1</c:f>
              <c:strCache>
                <c:ptCount val="1"/>
                <c:pt idx="0">
                  <c:v>90 days</c:v>
                </c:pt>
              </c:strCache>
            </c:strRef>
          </c:tx>
          <c:spPr>
            <a:solidFill>
              <a:srgbClr val="0B2545"/>
            </a:solidFill>
            <a:effectLst/>
          </c:spPr>
          <c:invertIfNegative val="0"/>
          <c:dLbls>
            <c:numFmt formatCode="0.0&quot;%&quot;"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ALS</c:v>
                  </c:pt>
                  <c:pt idx="1">
                    <c:v>BLS</c:v>
                  </c:pt>
                  <c:pt idx="2">
                    <c:v>VC EMS</c:v>
                  </c:pt>
                  <c:pt idx="3">
                    <c:v>Self-care</c:v>
                  </c:pt>
                  <c:pt idx="4">
                    <c:v>Mobile urgent care</c:v>
                  </c:pt>
                  <c:pt idx="5">
                    <c:v>NN ER</c:v>
                  </c:pt>
                  <c:pt idx="6">
                    <c:v>Ref CCR</c:v>
                  </c:pt>
                  <c:pt idx="7">
                    <c:v>VC ER</c:v>
                  </c:pt>
                  <c:pt idx="8">
                    <c:v>Virtual care</c:v>
                  </c:pt>
                </c:lvl>
              </c:multiLvlStrCache>
            </c:multiLvlStrRef>
          </c:cat>
          <c:val>
            <c:numRef>
              <c:f>Sheet1!$C$2:$C$10</c:f>
              <c:numCache>
                <c:formatCode>General</c:formatCode>
                <c:ptCount val="9"/>
                <c:pt idx="0">
                  <c:v>9.8</c:v>
                </c:pt>
                <c:pt idx="1">
                  <c:v>13.6</c:v>
                </c:pt>
                <c:pt idx="2">
                  <c:v>14.4</c:v>
                </c:pt>
                <c:pt idx="3">
                  <c:v>14.1</c:v>
                </c:pt>
                <c:pt idx="4">
                  <c:v>15.7</c:v>
                </c:pt>
                <c:pt idx="5">
                  <c:v>24.5</c:v>
                </c:pt>
                <c:pt idx="6">
                  <c:v>23.8</c:v>
                </c:pt>
                <c:pt idx="7">
                  <c:v>25.1</c:v>
                </c:pt>
                <c:pt idx="8">
                  <c:v>31.9</c:v>
                </c:pt>
              </c:numCache>
            </c:numRef>
          </c:val>
        </c:ser>
        <c:dLbls>
          <c:numFmt formatCode="0.0&quot;%&quot;" sourceLinked="0"/>
          <c:txPr>
            <a:bodyPr/>
            <a:lstStyle/>
            <a:p>
              <a:pPr>
                <a:defRPr b="0" i="0" strike="noStrike" sz="90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38"/>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calls measured</c:v>
                </c:pt>
              </c:strCache>
            </c:strRef>
          </c:tx>
          <c:spPr>
            <a:solidFill>
              <a:srgbClr val="8FA0A6"/>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BLS</c:v>
                  </c:pt>
                  <c:pt idx="1">
                    <c:v>Self-care</c:v>
                  </c:pt>
                  <c:pt idx="2">
                    <c:v>NN ER</c:v>
                  </c:pt>
                  <c:pt idx="3">
                    <c:v>Ref CCR</c:v>
                  </c:pt>
                  <c:pt idx="4">
                    <c:v>Virtual care</c:v>
                  </c:pt>
                  <c:pt idx="5">
                    <c:v>ALS</c:v>
                  </c:pt>
                </c:lvl>
              </c:multiLvlStrCache>
            </c:multiLvlStrRef>
          </c:cat>
          <c:val>
            <c:numRef>
              <c:f>Sheet1!$B$2:$B$7</c:f>
              <c:numCache>
                <c:formatCode>General</c:formatCode>
                <c:ptCount val="6"/>
                <c:pt idx="0">
                  <c:v>56.4</c:v>
                </c:pt>
                <c:pt idx="1">
                  <c:v>16.3</c:v>
                </c:pt>
                <c:pt idx="2">
                  <c:v>12.8</c:v>
                </c:pt>
                <c:pt idx="3">
                  <c:v>5.5</c:v>
                </c:pt>
                <c:pt idx="4">
                  <c:v>4</c:v>
                </c:pt>
                <c:pt idx="5">
                  <c:v>3.6</c:v>
                </c:pt>
              </c:numCache>
            </c:numRef>
          </c:val>
        </c:ser>
        <c:ser>
          <c:idx val="1"/>
          <c:order val="1"/>
          <c:tx>
            <c:strRef>
              <c:f>Sheet1!$C$1</c:f>
              <c:strCache>
                <c:ptCount val="1"/>
                <c:pt idx="0">
                  <c:v>Share of calls with a return</c:v>
                </c:pt>
              </c:strCache>
            </c:strRef>
          </c:tx>
          <c:spPr>
            <a:solidFill>
              <a:srgbClr val="028090"/>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BLS</c:v>
                  </c:pt>
                  <c:pt idx="1">
                    <c:v>Self-care</c:v>
                  </c:pt>
                  <c:pt idx="2">
                    <c:v>NN ER</c:v>
                  </c:pt>
                  <c:pt idx="3">
                    <c:v>Ref CCR</c:v>
                  </c:pt>
                  <c:pt idx="4">
                    <c:v>Virtual care</c:v>
                  </c:pt>
                  <c:pt idx="5">
                    <c:v>ALS</c:v>
                  </c:pt>
                </c:lvl>
              </c:multiLvlStrCache>
            </c:multiLvlStrRef>
          </c:cat>
          <c:val>
            <c:numRef>
              <c:f>Sheet1!$C$2:$C$7</c:f>
              <c:numCache>
                <c:formatCode>General</c:formatCode>
                <c:ptCount val="6"/>
                <c:pt idx="0">
                  <c:v>42.9</c:v>
                </c:pt>
                <c:pt idx="1">
                  <c:v>14.8</c:v>
                </c:pt>
                <c:pt idx="2">
                  <c:v>20</c:v>
                </c:pt>
                <c:pt idx="3">
                  <c:v>9</c:v>
                </c:pt>
                <c:pt idx="4">
                  <c:v>9.9</c:v>
                </c:pt>
                <c:pt idx="5">
                  <c:v>1.9</c:v>
                </c:pt>
              </c:numCache>
            </c:numRef>
          </c:val>
        </c:ser>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30-day return rate</c:v>
                </c:pt>
              </c:strCache>
            </c:strRef>
          </c:tx>
          <c:spPr>
            <a:solidFill>
              <a:srgbClr val="028090"/>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Sheet1!$A$2:$A$9</c:f>
              <c:multiLvlStrCache>
                <c:ptCount val="8"/>
                <c:lvl>
                  <c:pt idx="0">
                    <c:v>Snohomish WA</c:v>
                  </c:pt>
                  <c:pt idx="1">
                    <c:v>Baltimore MD</c:v>
                  </c:pt>
                  <c:pt idx="2">
                    <c:v>Seattle WA</c:v>
                  </c:pt>
                  <c:pt idx="3">
                    <c:v>Wake County NC</c:v>
                  </c:pt>
                  <c:pt idx="4">
                    <c:v>DCFEMS</c:v>
                  </c:pt>
                  <c:pt idx="5">
                    <c:v>Dekalb County GA</c:v>
                  </c:pt>
                  <c:pt idx="6">
                    <c:v>Rochester NY</c:v>
                  </c:pt>
                  <c:pt idx="7">
                    <c:v>Knox County TN</c:v>
                  </c:pt>
                </c:lvl>
              </c:multiLvlStrCache>
            </c:multiLvlStrRef>
          </c:cat>
          <c:val>
            <c:numRef>
              <c:f>Sheet1!$B$2:$B$9</c:f>
              <c:numCache>
                <c:formatCode>General</c:formatCode>
                <c:ptCount val="8"/>
                <c:pt idx="0">
                  <c:v>5.9</c:v>
                </c:pt>
                <c:pt idx="1">
                  <c:v>7</c:v>
                </c:pt>
                <c:pt idx="2">
                  <c:v>7.5</c:v>
                </c:pt>
                <c:pt idx="3">
                  <c:v>9.9</c:v>
                </c:pt>
                <c:pt idx="4">
                  <c:v>10.1</c:v>
                </c:pt>
                <c:pt idx="5">
                  <c:v>12.3</c:v>
                </c:pt>
                <c:pt idx="6">
                  <c:v>13.2</c:v>
                </c:pt>
                <c:pt idx="7">
                  <c:v>17.1</c:v>
                </c:pt>
              </c:numCache>
            </c:numRef>
          </c:val>
        </c:ser>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21"/>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calls measured</c:v>
                </c:pt>
              </c:strCache>
            </c:strRef>
          </c:tx>
          <c:spPr>
            <a:solidFill>
              <a:srgbClr val="8FA0A6"/>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Dekalb County GA</c:v>
                  </c:pt>
                  <c:pt idx="1">
                    <c:v>Wake County NC</c:v>
                  </c:pt>
                  <c:pt idx="2">
                    <c:v>Seattle WA</c:v>
                  </c:pt>
                  <c:pt idx="3">
                    <c:v>Rochester NY</c:v>
                  </c:pt>
                  <c:pt idx="4">
                    <c:v>DCFEMS</c:v>
                  </c:pt>
                  <c:pt idx="5">
                    <c:v>Knox County TN</c:v>
                  </c:pt>
                </c:lvl>
              </c:multiLvlStrCache>
            </c:multiLvlStrRef>
          </c:cat>
          <c:val>
            <c:numRef>
              <c:f>Sheet1!$B$2:$B$7</c:f>
              <c:numCache>
                <c:formatCode>General</c:formatCode>
                <c:ptCount val="6"/>
                <c:pt idx="0">
                  <c:v>18.5</c:v>
                </c:pt>
                <c:pt idx="1">
                  <c:v>12.5</c:v>
                </c:pt>
                <c:pt idx="2">
                  <c:v>10.9</c:v>
                </c:pt>
                <c:pt idx="3">
                  <c:v>7.9</c:v>
                </c:pt>
                <c:pt idx="4">
                  <c:v>7.3</c:v>
                </c:pt>
                <c:pt idx="5">
                  <c:v>6.2</c:v>
                </c:pt>
              </c:numCache>
            </c:numRef>
          </c:val>
        </c:ser>
        <c:ser>
          <c:idx val="1"/>
          <c:order val="1"/>
          <c:tx>
            <c:strRef>
              <c:f>Sheet1!$C$1</c:f>
              <c:strCache>
                <c:ptCount val="1"/>
                <c:pt idx="0">
                  <c:v>Share of calls with a return</c:v>
                </c:pt>
              </c:strCache>
            </c:strRef>
          </c:tx>
          <c:spPr>
            <a:solidFill>
              <a:srgbClr val="028090"/>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Sheet1!$A$2:$A$7</c:f>
              <c:multiLvlStrCache>
                <c:ptCount val="6"/>
                <c:lvl>
                  <c:pt idx="0">
                    <c:v>Dekalb County GA</c:v>
                  </c:pt>
                  <c:pt idx="1">
                    <c:v>Wake County NC</c:v>
                  </c:pt>
                  <c:pt idx="2">
                    <c:v>Seattle WA</c:v>
                  </c:pt>
                  <c:pt idx="3">
                    <c:v>Rochester NY</c:v>
                  </c:pt>
                  <c:pt idx="4">
                    <c:v>DCFEMS</c:v>
                  </c:pt>
                  <c:pt idx="5">
                    <c:v>Knox County TN</c:v>
                  </c:pt>
                </c:lvl>
              </c:multiLvlStrCache>
            </c:multiLvlStrRef>
          </c:cat>
          <c:val>
            <c:numRef>
              <c:f>Sheet1!$C$2:$C$7</c:f>
              <c:numCache>
                <c:formatCode>General</c:formatCode>
                <c:ptCount val="6"/>
                <c:pt idx="0">
                  <c:v>22.2</c:v>
                </c:pt>
                <c:pt idx="1">
                  <c:v>12.1</c:v>
                </c:pt>
                <c:pt idx="2">
                  <c:v>8</c:v>
                </c:pt>
                <c:pt idx="3">
                  <c:v>10.2</c:v>
                </c:pt>
                <c:pt idx="4">
                  <c:v>7.2</c:v>
                </c:pt>
                <c:pt idx="5">
                  <c:v>10.4</c:v>
                </c:pt>
              </c:numCache>
            </c:numRef>
          </c:val>
        </c:ser>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30 days</c:v>
                </c:pt>
              </c:strCache>
            </c:strRef>
          </c:tx>
          <c:spPr>
            <a:solidFill>
              <a:srgbClr val="028090"/>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Call Taker</c:v>
                  </c:pt>
                  <c:pt idx="1">
                    <c:v>Field Fire</c:v>
                  </c:pt>
                  <c:pt idx="2">
                    <c:v>Field AMR</c:v>
                  </c:pt>
                </c:lvl>
              </c:multiLvlStrCache>
            </c:multiLvlStrRef>
          </c:cat>
          <c:val>
            <c:numRef>
              <c:f>Sheet1!$B$2:$B$4</c:f>
              <c:numCache>
                <c:formatCode>General</c:formatCode>
                <c:ptCount val="3"/>
                <c:pt idx="0">
                  <c:v>11.4</c:v>
                </c:pt>
                <c:pt idx="1">
                  <c:v>9.7</c:v>
                </c:pt>
                <c:pt idx="2">
                  <c:v>2.1</c:v>
                </c:pt>
              </c:numCache>
            </c:numRef>
          </c:val>
        </c:ser>
        <c:ser>
          <c:idx val="1"/>
          <c:order val="1"/>
          <c:tx>
            <c:strRef>
              <c:f>Sheet1!$C$1</c:f>
              <c:strCache>
                <c:ptCount val="1"/>
                <c:pt idx="0">
                  <c:v>60 days</c:v>
                </c:pt>
              </c:strCache>
            </c:strRef>
          </c:tx>
          <c:spPr>
            <a:solidFill>
              <a:srgbClr val="0B2545"/>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Call Taker</c:v>
                  </c:pt>
                  <c:pt idx="1">
                    <c:v>Field Fire</c:v>
                  </c:pt>
                  <c:pt idx="2">
                    <c:v>Field AMR</c:v>
                  </c:pt>
                </c:lvl>
              </c:multiLvlStrCache>
            </c:multiLvlStrRef>
          </c:cat>
          <c:val>
            <c:numRef>
              <c:f>Sheet1!$C$2:$C$4</c:f>
              <c:numCache>
                <c:formatCode>General</c:formatCode>
                <c:ptCount val="3"/>
                <c:pt idx="0">
                  <c:v>14.3</c:v>
                </c:pt>
                <c:pt idx="1">
                  <c:v>12.3</c:v>
                </c:pt>
                <c:pt idx="2">
                  <c:v>14.9</c:v>
                </c:pt>
              </c:numCache>
            </c:numRef>
          </c:val>
        </c:ser>
        <c:ser>
          <c:idx val="2"/>
          <c:order val="2"/>
          <c:tx>
            <c:strRef>
              <c:f>Sheet1!$D$1</c:f>
              <c:strCache>
                <c:ptCount val="1"/>
                <c:pt idx="0">
                  <c:v>90 days</c:v>
                </c:pt>
              </c:strCache>
            </c:strRef>
          </c:tx>
          <c:spPr>
            <a:solidFill>
              <a:srgbClr val="8FA0A6"/>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Call Taker</c:v>
                  </c:pt>
                  <c:pt idx="1">
                    <c:v>Field Fire</c:v>
                  </c:pt>
                  <c:pt idx="2">
                    <c:v>Field AMR</c:v>
                  </c:pt>
                </c:lvl>
              </c:multiLvlStrCache>
            </c:multiLvlStrRef>
          </c:cat>
          <c:val>
            <c:numRef>
              <c:f>Sheet1!$D$2:$D$4</c:f>
              <c:numCache>
                <c:formatCode>General</c:formatCode>
                <c:ptCount val="3"/>
                <c:pt idx="0">
                  <c:v>16.4</c:v>
                </c:pt>
                <c:pt idx="1">
                  <c:v>13.9</c:v>
                </c:pt>
                <c:pt idx="2">
                  <c:v>17</c:v>
                </c:pt>
              </c:numCache>
            </c:numRef>
          </c:val>
        </c:ser>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Increase from 30 to 60 days, in percentage points</c:v>
                </c:pt>
              </c:strCache>
            </c:strRef>
          </c:tx>
          <c:spPr>
            <a:solidFill>
              <a:srgbClr val="028090"/>
            </a:solidFill>
            <a:effectLst/>
          </c:spPr>
          <c:invertIfNegative val="0"/>
          <c:dLbls>
            <c:numFmt formatCode="0.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Snohomish WA</c:v>
                  </c:pt>
                  <c:pt idx="1">
                    <c:v>DCFEMS</c:v>
                  </c:pt>
                  <c:pt idx="2">
                    <c:v>Wake County NC</c:v>
                  </c:pt>
                  <c:pt idx="3">
                    <c:v>Baltimore MD</c:v>
                  </c:pt>
                  <c:pt idx="4">
                    <c:v>Rochester NY</c:v>
                  </c:pt>
                  <c:pt idx="5">
                    <c:v>Dekalb County GA</c:v>
                  </c:pt>
                  <c:pt idx="6">
                    <c:v>Knox County TN</c:v>
                  </c:pt>
                  <c:pt idx="7">
                    <c:v>Field AMR</c:v>
                  </c:pt>
                  <c:pt idx="8">
                    <c:v>Seattle WA</c:v>
                  </c:pt>
                </c:lvl>
              </c:multiLvlStrCache>
            </c:multiLvlStrRef>
          </c:cat>
          <c:val>
            <c:numRef>
              <c:f>Sheet1!$B$2:$B$10</c:f>
              <c:numCache>
                <c:formatCode>General</c:formatCode>
                <c:ptCount val="9"/>
                <c:pt idx="0">
                  <c:v>2.3</c:v>
                </c:pt>
                <c:pt idx="1">
                  <c:v>2.5</c:v>
                </c:pt>
                <c:pt idx="2">
                  <c:v>2.6</c:v>
                </c:pt>
                <c:pt idx="3">
                  <c:v>2.7</c:v>
                </c:pt>
                <c:pt idx="4">
                  <c:v>3.2</c:v>
                </c:pt>
                <c:pt idx="5">
                  <c:v>3.3</c:v>
                </c:pt>
                <c:pt idx="6">
                  <c:v>4.1</c:v>
                </c:pt>
                <c:pt idx="7">
                  <c:v>12.8</c:v>
                </c:pt>
                <c:pt idx="8">
                  <c:v>14</c:v>
                </c:pt>
              </c:numCache>
            </c:numRef>
          </c:val>
        </c:ser>
        <c:dLbls>
          <c:numFmt formatCode="0.0"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17"/>
          <c:min val="0"/>
        </c:scaling>
        <c:delete val="0"/>
        <c:axPos val="b"/>
        <c:majorGridlines>
          <c:spPr>
            <a:ln w="1270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30 days</c:v>
                </c:pt>
              </c:strCache>
            </c:strRef>
          </c:tx>
          <c:spPr>
            <a:solidFill>
              <a:srgbClr val="028090"/>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No behavioral health language</c:v>
                  </c:pt>
                  <c:pt idx="1">
                    <c:v>Behavioral health language present</c:v>
                  </c:pt>
                </c:lvl>
              </c:multiLvlStrCache>
            </c:multiLvlStrRef>
          </c:cat>
          <c:val>
            <c:numRef>
              <c:f>Sheet1!$B$2:$B$3</c:f>
              <c:numCache>
                <c:formatCode>General</c:formatCode>
                <c:ptCount val="2"/>
                <c:pt idx="0">
                  <c:v>11</c:v>
                </c:pt>
                <c:pt idx="1">
                  <c:v>12.8</c:v>
                </c:pt>
              </c:numCache>
            </c:numRef>
          </c:val>
        </c:ser>
        <c:ser>
          <c:idx val="1"/>
          <c:order val="1"/>
          <c:tx>
            <c:strRef>
              <c:f>Sheet1!$C$1</c:f>
              <c:strCache>
                <c:ptCount val="1"/>
                <c:pt idx="0">
                  <c:v>60 days</c:v>
                </c:pt>
              </c:strCache>
            </c:strRef>
          </c:tx>
          <c:spPr>
            <a:solidFill>
              <a:srgbClr val="0B2545"/>
            </a:solidFill>
            <a:effectLst/>
          </c:spPr>
          <c:invertIfNegative val="0"/>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cat>
            <c:multiLvlStrRef>
              <c:f>Sheet1!$A$2:$A$3</c:f>
              <c:multiLvlStrCache>
                <c:ptCount val="2"/>
                <c:lvl>
                  <c:pt idx="0">
                    <c:v>No behavioral health language</c:v>
                  </c:pt>
                  <c:pt idx="1">
                    <c:v>Behavioral health language present</c:v>
                  </c:pt>
                </c:lvl>
              </c:multiLvlStrCache>
            </c:multiLvlStrRef>
          </c:cat>
          <c:val>
            <c:numRef>
              <c:f>Sheet1!$C$2:$C$3</c:f>
              <c:numCache>
                <c:formatCode>General</c:formatCode>
                <c:ptCount val="2"/>
                <c:pt idx="0">
                  <c:v>13.9</c:v>
                </c:pt>
                <c:pt idx="1">
                  <c:v>16</c:v>
                </c:pt>
              </c:numCache>
            </c:numRef>
          </c:val>
        </c:ser>
        <c:dLbls>
          <c:numFmt formatCode="0.0&quot;%&quot;" sourceLinked="0"/>
          <c:txPr>
            <a:bodyPr/>
            <a:lstStyle/>
            <a:p>
              <a:pPr>
                <a:defRPr b="0" i="0" strike="noStrike" sz="1050" u="none">
                  <a:solidFill>
                    <a:srgbClr val="222222"/>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1270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911 calls transferred to nurse navigation, October 2024 through August 2026, all markets. Behavioral health volume is reported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142,738 calls tied to 111,857 people. The difference, 30,881, is the number of repeat calls. 21.6 percent of calls tied to a person, 20.6 percent of all 150,000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by rule: exact name and date of birth 23,844; similar first name 2,830; similar last name 3,130; same first name with date of birth and phone 882; same name and phone 195. Rejected by the variant limit: 301, 494, and 344 on rules two, three, and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calls total 30,881 of 142,738 calls tied to a person, 21.6 percent. Excluding same-calendar-day repeats leaves 27,278.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calendar day is measured on the call date, not a 24-hour gap. 4,723 repeat calls came within 24 hours, of which 3,603 fell on the same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Totals: 111,857 people, 142,738 calls. Concentration figures are cumulative shares of calls by people ranked from most to fewest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60-day counts: 9,658 at 2 or more, 2,448 at 3 or more, 527 at 5 or more. Calls from these people: 30 days 30,665, 13,310, 5,534. 60 days 34,449, 16,628, 7,472. 90 days 36,942, 18,493, 8,725.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1 day or less 4,723 (includes same-day repeats); 2-3 days 2,298; 4-5 days 1,428; 6-7 days 1,121; 8-14 days 2,824; 15-30 days 3,576; 31-60 days 3,919; 61-90 days 2,459; 91-180 days 4,115; over 180 days 4,418. Total 30,881.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Calls measured and calls with a return by month, October 2024 through June 2026: 3,660/364; 4,172/412; 4,928/452; 5,392/507; 4,777/503; 4,988/555; 4,876/607; 5,096/602; 5,267/554; 5,810/698; 5,498/705; 5,848/752; 6,770/808; 7,017/784; 8,517/979; 7,923/898; 6,966/745; 7,901/927; 7,614/918; 7,784/883; 8,277/984.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BLS 15,827; NN ER 5,980; Self-care 3,995; Ref CCR 2,140; Virtual Care 1,424; ALS 824; VC EMS 324; VC ER 288; Mobile Urgent Care 78; Ready Respn 1. Total 30,881.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BLS 441; Virtual Care 327; Self-care 294; NN ER 163; Ref CCR 131; ALS 27; VC EMS 16; VC ER 15; Mobile Urgent Care 10. Total 1,424.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Calls measured at 30 days and rates at 30, 60, 90 days: BLS 75,759 at 8.6, 11.6, 13.6. Self-care 21,875 at 10.3, 12.5, 14.1. NN ER 17,162 at 17.7, 21.9, 24.5. Ref CCR 7,363 at 18.6, 21.9, 23.8. Virtual Care 5,429 at 27.7, 30.5, 31.9. ALS 4,875 at 5.9, 8.2, 9.8. VC EMS 732 at 9.8, 12.9, 14.4. Mobile Urgent Care 578 at 11.8, 13.8, 15.7. VC ER 475 at 19.4, 23.5, 25.1.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calls measured multiplied by the 30-day return rate for each disposition. Total 15,200, which matches the reported 15,224 within 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Markets with 5,000 or more calls measured at 30 days: Dekalb County GA 24,862 at 12.3; Wake County NC 16,846 at 9.9; Seattle WA 14,599 at 7.5; Rochester NY 10,660 at 13.2; DCFEMS 9,867 at 10.1; Knox County TN 8,345 at 17.1; Snohomish WA 6,549 at 5.9; Baltimore MD 6,012 at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Returning calls by market at 30 days: Dekalb County GA 3,058; Wake County NC 1,668; Knox County TN 1,427; Rochester NY 1,407; Seattle WA 1,095; DCFEMS 997. Total across all markets 13,757.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Taker 126,363 calls at 11.4, 14.3, 16.4 percent. Field AMR 4,046 at 2.1, 14.9, 17.0. Field Fire 3,201 at 9.7, 12.3, 13.9.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has not been investigated. Seattle 7.5, 21.5, 24.0. Field AMR 2.1, 14.9, 17.0. Comparison group increases: Snohomish 2.3, DCFEMS 2.5, Wake 2.6, Baltimore 2.7, Rochester 3.2, Dekalb 3.3, Knox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days: no behavioral health language 106,656 calls at 11.0 percent; behavioral health language 27,597 calls at 12.8 percent. 60 days: 99,639 at 13.9 percent; 25,888 at 16.0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Excluded calls: 7,262 of 150,000. Links rejected by the variant limit: 1,139 of 32,020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on this slide are stated elsewhere in the deck with their supporting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011680"/>
            <a:ext cx="10881360" cy="1097280"/>
          </a:xfrm>
          <a:prstGeom prst="rect">
            <a:avLst/>
          </a:prstGeom>
          <a:noFill/>
          <a:ln/>
        </p:spPr>
        <p:txBody>
          <a:bodyPr wrap="square" rtlCol="0" anchor="ctr"/>
          <a:lstStyle/>
          <a:p>
            <a:pPr indent="0" marL="0">
              <a:buNone/>
            </a:pPr>
            <a:r>
              <a:rPr lang="en-US" sz="3600" b="1" dirty="0">
                <a:solidFill>
                  <a:srgbClr val="222222"/>
                </a:solidFill>
                <a:latin typeface="Calibri" pitchFamily="34" charset="0"/>
                <a:ea typeface="Calibri" pitchFamily="34" charset="-122"/>
                <a:cs typeface="Calibri" pitchFamily="34" charset="-120"/>
              </a:rPr>
              <a:t>Repeat Callers in 911 Nurse Navigation</a:t>
            </a:r>
            <a:endParaRPr lang="en-US" sz="3600" dirty="0"/>
          </a:p>
        </p:txBody>
      </p:sp>
      <p:sp>
        <p:nvSpPr>
          <p:cNvPr id="3" name="Text 1"/>
          <p:cNvSpPr txBox="1"/>
          <p:nvPr/>
        </p:nvSpPr>
        <p:spPr>
          <a:xfrm>
            <a:off x="640080" y="3291840"/>
            <a:ext cx="10881360" cy="914400"/>
          </a:xfrm>
          <a:prstGeom prst="rect">
            <a:avLst/>
          </a:prstGeom>
          <a:noFill/>
          <a:ln/>
        </p:spPr>
        <p:txBody>
          <a:bodyPr wrap="square" rtlCol="0" anchor="ctr"/>
          <a:lstStyle/>
          <a:p>
            <a:pPr indent="0" marL="0">
              <a:lnSpc>
                <a:spcPts val="2600"/>
              </a:lnSpc>
              <a:buNone/>
            </a:pPr>
            <a:r>
              <a:rPr lang="en-US" sz="1500" dirty="0">
                <a:solidFill>
                  <a:srgbClr val="595959"/>
                </a:solidFill>
                <a:latin typeface="Calibri" pitchFamily="34" charset="0"/>
                <a:ea typeface="Calibri" pitchFamily="34" charset="-122"/>
                <a:cs typeface="Calibri" pitchFamily="34" charset="-120"/>
              </a:rPr>
              <a:t>How often the same person calls again within 30, 60, and 90 days</a:t>
            </a:r>
            <a:endParaRPr lang="en-US" sz="1500" dirty="0"/>
          </a:p>
          <a:p>
            <a:pPr indent="0" marL="0">
              <a:lnSpc>
                <a:spcPts val="2600"/>
              </a:lnSpc>
              <a:buNone/>
            </a:pPr>
            <a:r>
              <a:rPr lang="en-US" sz="1500" dirty="0">
                <a:solidFill>
                  <a:srgbClr val="595959"/>
                </a:solidFill>
                <a:latin typeface="Calibri" pitchFamily="34" charset="0"/>
                <a:ea typeface="Calibri" pitchFamily="34" charset="-122"/>
                <a:cs typeface="Calibri" pitchFamily="34" charset="-120"/>
              </a:rPr>
              <a:t>150,000 calls, October 2024 through August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The answer, up front</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The question, the figures, and the definitions behind them.</a:t>
            </a:r>
            <a:endParaRPr lang="en-US" sz="1350" dirty="0"/>
          </a:p>
        </p:txBody>
      </p:sp>
      <p:sp>
        <p:nvSpPr>
          <p:cNvPr id="4" name="Text 2"/>
          <p:cNvSpPr txBox="1"/>
          <p:nvPr/>
        </p:nvSpPr>
        <p:spPr>
          <a:xfrm>
            <a:off x="457200" y="1325880"/>
            <a:ext cx="54864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QUESTION</a:t>
            </a:r>
            <a:endParaRPr lang="en-US" sz="1250" dirty="0"/>
          </a:p>
        </p:txBody>
      </p:sp>
      <p:sp>
        <p:nvSpPr>
          <p:cNvPr id="5" name="Text 3"/>
          <p:cNvSpPr txBox="1"/>
          <p:nvPr/>
        </p:nvSpPr>
        <p:spPr>
          <a:xfrm>
            <a:off x="457200" y="1600200"/>
            <a:ext cx="11247120" cy="457200"/>
          </a:xfrm>
          <a:prstGeom prst="rect">
            <a:avLst/>
          </a:prstGeom>
          <a:noFill/>
          <a:ln/>
        </p:spPr>
        <p:txBody>
          <a:bodyPr wrap="square" rtlCol="0" anchor="ctr"/>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How many nurse navigation calls are repeat calls from a person who has already called, and how soon do they come back?</a:t>
            </a:r>
            <a:endParaRPr lang="en-US" sz="1350" dirty="0"/>
          </a:p>
        </p:txBody>
      </p:sp>
      <p:sp>
        <p:nvSpPr>
          <p:cNvPr id="6" name="Text 4"/>
          <p:cNvSpPr txBox="1"/>
          <p:nvPr/>
        </p:nvSpPr>
        <p:spPr>
          <a:xfrm>
            <a:off x="457200" y="2240280"/>
            <a:ext cx="54864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ANSWER</a:t>
            </a:r>
            <a:endParaRPr lang="en-US" sz="1250" dirty="0"/>
          </a:p>
        </p:txBody>
      </p:sp>
      <p:sp>
        <p:nvSpPr>
          <p:cNvPr id="7" name="Text 5"/>
          <p:cNvSpPr txBox="1"/>
          <p:nvPr/>
        </p:nvSpPr>
        <p:spPr>
          <a:xfrm>
            <a:off x="457200" y="2514600"/>
            <a:ext cx="11247120" cy="548640"/>
          </a:xfrm>
          <a:prstGeom prst="rect">
            <a:avLst/>
          </a:prstGeom>
          <a:noFill/>
          <a:ln/>
        </p:spPr>
        <p:txBody>
          <a:bodyPr wrap="square" rtlCol="0" anchor="ctr"/>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30,881 calls are repeat calls, 21.6 percent of the calls that could be tied to a person. 15,970 of those came within 30 days of that person's previous call.</a:t>
            </a:r>
            <a:endParaRPr lang="en-US" sz="1350" dirty="0"/>
          </a:p>
        </p:txBody>
      </p:sp>
      <p:sp>
        <p:nvSpPr>
          <p:cNvPr id="8" name="Text 6"/>
          <p:cNvSpPr txBox="1"/>
          <p:nvPr/>
        </p:nvSpPr>
        <p:spPr>
          <a:xfrm>
            <a:off x="457200" y="3200400"/>
            <a:ext cx="54864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DEFINITIONS USED</a:t>
            </a:r>
            <a:endParaRPr lang="en-US" sz="1250" dirty="0"/>
          </a:p>
        </p:txBody>
      </p:sp>
      <p:sp>
        <p:nvSpPr>
          <p:cNvPr id="9" name="Text 7"/>
          <p:cNvSpPr txBox="1"/>
          <p:nvPr/>
        </p:nvSpPr>
        <p:spPr>
          <a:xfrm>
            <a:off x="457200" y="3474720"/>
            <a:ext cx="11247120" cy="256032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A repeat call is any call that is a person's second or later call. 142,738 of 150,000 calls could be tied to a person, 95.2 percent, and those resolve to 111,857 people</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51.7 percent of repeat calls came within 30 days of that person's previous call, and 72.4 percent within 90 days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86.7 percent of people called once. The 13.3 percent who called more than once account for 32.0 percent of calls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Calls that could not be tied to a person are excluded from every figure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How a person was identified</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Records carry no patient identifier, so people were assembled from name, date of birth, and phone.</a:t>
            </a:r>
            <a:endParaRPr lang="en-US" sz="1350" dirty="0"/>
          </a:p>
        </p:txBody>
      </p:sp>
      <p:graphicFrame>
        <p:nvGraphicFramePr>
          <p:cNvPr id="4" name="Chart 0" descr=""/>
          <p:cNvGraphicFramePr/>
          <p:nvPr/>
        </p:nvGraphicFramePr>
        <p:xfrm>
          <a:off x="457200" y="1325880"/>
          <a:ext cx="11247120" cy="2834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34340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HOW THE RULES WERE APPLIED</a:t>
            </a:r>
            <a:endParaRPr lang="en-US" sz="1250" dirty="0"/>
          </a:p>
        </p:txBody>
      </p:sp>
      <p:sp>
        <p:nvSpPr>
          <p:cNvPr id="6" name="Text 3"/>
          <p:cNvSpPr txBox="1"/>
          <p:nvPr/>
        </p:nvSpPr>
        <p:spPr>
          <a:xfrm>
            <a:off x="457200" y="4617720"/>
            <a:ext cx="11247120" cy="173736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Five rules were applied in order. 30,881 calls were linked to an existing person. Calls were never grouped on name alone</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Placeholder names, implausible dates of birth, and phone numbers used by more than five different people were excluded from matching</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A person is limited to three first-name variants and three last-name variants. 1,139 proposed links exceeded that limit and were rejected</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Name fields are populated on 96.9 percent of calls for first name, 96.3 percent for last name, 94.4 percent for date of birth, and 86.6 percent for phone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Repeat calls by how soon the person called back</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All 30,881 repeat calls. Counts are cumulative.</a:t>
            </a:r>
            <a:endParaRPr lang="en-US" sz="1350" dirty="0"/>
          </a:p>
        </p:txBody>
      </p:sp>
      <p:graphicFrame>
        <p:nvGraphicFramePr>
          <p:cNvPr id="4" name="Chart 0" descr=""/>
          <p:cNvGraphicFramePr/>
          <p:nvPr/>
        </p:nvGraphicFramePr>
        <p:xfrm>
          <a:off x="457200" y="1554480"/>
          <a:ext cx="11247120"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11247120" cy="914400"/>
        </p:xfrm>
        <a:graphic>
          <a:graphicData uri="http://schemas.openxmlformats.org/drawingml/2006/table">
            <a:tbl>
              <a:tblPr/>
              <a:tblGrid>
                <a:gridCol w="3200400"/>
                <a:gridCol w="2011680"/>
                <a:gridCol w="2011680"/>
                <a:gridCol w="2011680"/>
                <a:gridCol w="2011680"/>
              </a:tblGrid>
              <a:tr h="224028">
                <a:tc>
                  <a:txBody>
                    <a:bodyPr/>
                    <a:lstStyle/>
                    <a:p>
                      <a:pPr indent="0" marL="0">
                        <a:buNone/>
                      </a:pPr>
                      <a:r>
                        <a:rPr lang="en-US" sz="1050" b="1" dirty="0">
                          <a:solidFill>
                            <a:srgbClr val="222222"/>
                          </a:solidFill>
                          <a:latin typeface="Calibri" pitchFamily="34" charset="0"/>
                          <a:ea typeface="Calibri" pitchFamily="34" charset="-122"/>
                          <a:cs typeface="Calibri" pitchFamily="34" charset="-120"/>
                        </a:rPr>
                        <a:t>Days after first call</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22222"/>
                          </a:solidFill>
                          <a:latin typeface="Calibri" pitchFamily="34" charset="0"/>
                          <a:ea typeface="Calibri" pitchFamily="34" charset="-122"/>
                          <a:cs typeface="Calibri" pitchFamily="34" charset="-120"/>
                        </a:rPr>
                        <a:t>Repeat calls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22222"/>
                          </a:solidFill>
                          <a:latin typeface="Calibri" pitchFamily="34" charset="0"/>
                          <a:ea typeface="Calibri" pitchFamily="34" charset="-122"/>
                          <a:cs typeface="Calibri" pitchFamily="34" charset="-120"/>
                        </a:rPr>
                        <a:t>Share of all repeat calls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22222"/>
                          </a:solidFill>
                          <a:latin typeface="Calibri" pitchFamily="34" charset="0"/>
                          <a:ea typeface="Calibri" pitchFamily="34" charset="-122"/>
                          <a:cs typeface="Calibri" pitchFamily="34" charset="-120"/>
                        </a:rPr>
                        <a:t>Excluding same calendar day</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22222"/>
                          </a:solidFill>
                          <a:latin typeface="Calibri" pitchFamily="34" charset="0"/>
                          <a:ea typeface="Calibri" pitchFamily="34" charset="-122"/>
                          <a:cs typeface="Calibri" pitchFamily="34" charset="-120"/>
                        </a:rPr>
                        <a:t>Share of those repeat calls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 day</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4,723</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15.3%</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1,120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 days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7,021</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3,418</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5 days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8,449</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27.4%</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4,846</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17.8%</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7 days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9,570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5,967</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21.9%</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14 days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12,394</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40.1%</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8,791</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32.2%</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30 days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15,970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51.7%</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12,367</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45.3%</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60 days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19,889</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64.4%</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16,286</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59.7%</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90 days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22,348</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72.4%</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18,745</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22222"/>
                          </a:solidFill>
                          <a:latin typeface="Calibri" pitchFamily="34" charset="0"/>
                          <a:ea typeface="Calibri" pitchFamily="34" charset="-122"/>
                          <a:cs typeface="Calibri" pitchFamily="34" charset="-120"/>
                        </a:rPr>
                        <a:t>68.7%</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24028">
                <a:tc>
                  <a:txBody>
                    <a:bodyPr/>
                    <a:lstStyle/>
                    <a:p>
                      <a:pPr indent="0" marL="0">
                        <a:buNone/>
                      </a:pPr>
                      <a:r>
                        <a:rPr lang="en-US" sz="1050" b="1" dirty="0">
                          <a:solidFill>
                            <a:srgbClr val="222222"/>
                          </a:solidFill>
                          <a:latin typeface="Calibri" pitchFamily="34" charset="0"/>
                          <a:ea typeface="Calibri" pitchFamily="34" charset="-122"/>
                          <a:cs typeface="Calibri" pitchFamily="34" charset="-120"/>
                        </a:rPr>
                        <a:t>All repeat calls</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22222"/>
                          </a:solidFill>
                          <a:latin typeface="Calibri" pitchFamily="34" charset="0"/>
                          <a:ea typeface="Calibri" pitchFamily="34" charset="-122"/>
                          <a:cs typeface="Calibri" pitchFamily="34" charset="-120"/>
                        </a:rPr>
                        <a:t>30,881</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22222"/>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22222"/>
                          </a:solidFill>
                          <a:latin typeface="Calibri" pitchFamily="34" charset="0"/>
                          <a:ea typeface="Calibri" pitchFamily="34" charset="-122"/>
                          <a:cs typeface="Calibri" pitchFamily="34" charset="-120"/>
                        </a:rPr>
                        <a:t>27,278</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222222"/>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1097280"/>
            <a:ext cx="11247120" cy="457200"/>
          </a:xfrm>
          <a:prstGeom prst="rect">
            <a:avLst/>
          </a:prstGeom>
          <a:noFill/>
          <a:ln/>
        </p:spPr>
        <p:txBody>
          <a:bodyPr wrap="square" rtlCol="0" anchor="ctr"/>
          <a:lstStyle/>
          <a:p>
            <a:pPr indent="0" marL="0">
              <a:buNone/>
            </a:pPr>
            <a:r>
              <a:rPr lang="en-US" sz="1150" i="1" dirty="0">
                <a:solidFill>
                  <a:srgbClr val="595959"/>
                </a:solidFill>
                <a:latin typeface="Calibri" pitchFamily="34" charset="0"/>
                <a:ea typeface="Calibri" pitchFamily="34" charset="-122"/>
                <a:cs typeface="Calibri" pitchFamily="34" charset="-120"/>
              </a:rPr>
              <a:t>The last two columns remove the 3,603 repeat calls that fell on the same calendar day. For a caller with more than two calls, each repeat call is measured from that caller's preceding call.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Same calendar day or a later day</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Whether the repeat call happened on the same date as that person's previous call.</a:t>
            </a:r>
            <a:endParaRPr lang="en-US" sz="1350" dirty="0"/>
          </a:p>
        </p:txBody>
      </p:sp>
      <p:graphicFrame>
        <p:nvGraphicFramePr>
          <p:cNvPr id="4" name="Chart 0" descr=""/>
          <p:cNvGraphicFramePr/>
          <p:nvPr/>
        </p:nvGraphicFramePr>
        <p:xfrm>
          <a:off x="457200" y="1325880"/>
          <a:ext cx="11247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262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0060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3,603 repeat calls were on the same calendar day as the person's previous call, 11.7 percent of all repeat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27,278 were on a later calendar day, 88.3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Under a definition that requires a different day, repeat calls total 27,278 rather than 30,881, and 19.1 percent of calls tied to a person rather than 21.6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Every timing figure in this deck is reported on both bases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Calls per person</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111,857 people account for the 142,738 calls that could be tied to a person.</a:t>
            </a:r>
            <a:endParaRPr lang="en-US" sz="1350" dirty="0"/>
          </a:p>
        </p:txBody>
      </p:sp>
      <p:graphicFrame>
        <p:nvGraphicFramePr>
          <p:cNvPr id="4" name="Chart 0" descr=""/>
          <p:cNvGraphicFramePr/>
          <p:nvPr/>
        </p:nvGraphicFramePr>
        <p:xfrm>
          <a:off x="457200" y="1280160"/>
          <a:ext cx="11247120" cy="26974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114800"/>
          <a:ext cx="11247120" cy="914400"/>
        </p:xfrm>
        <a:graphic>
          <a:graphicData uri="http://schemas.openxmlformats.org/drawingml/2006/table">
            <a:tbl>
              <a:tblPr/>
              <a:tblGrid>
                <a:gridCol w="2103120"/>
                <a:gridCol w="1600200"/>
                <a:gridCol w="1600200"/>
                <a:gridCol w="1600200"/>
                <a:gridCol w="1600200"/>
                <a:gridCol w="1600200"/>
                <a:gridCol w="1600200"/>
              </a:tblGrid>
              <a:tr h="292608">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Calls per person</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1 call</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2 calls</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3-4 calls</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5-9 calls</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10 or more</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People</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97,003</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9,594</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3,662</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1,215</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383</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111,857</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97,003</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19,188</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12,036</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7,545</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6,966</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142,738</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Repeat calls</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9,594</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8,374</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6,330</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6,583</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222222"/>
                          </a:solidFill>
                          <a:latin typeface="Calibri" pitchFamily="34" charset="0"/>
                          <a:ea typeface="Calibri" pitchFamily="34" charset="-122"/>
                          <a:cs typeface="Calibri" pitchFamily="34" charset="-120"/>
                        </a:rPr>
                        <a:t>30,881</a:t>
                      </a:r>
                      <a:endParaRPr lang="en-US" sz="12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54406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7" name="Text 3"/>
          <p:cNvSpPr txBox="1"/>
          <p:nvPr/>
        </p:nvSpPr>
        <p:spPr>
          <a:xfrm>
            <a:off x="457200" y="5715000"/>
            <a:ext cx="11247120" cy="100584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383 people with ten or more calls are 0.3 percent of people, 4.9 percent of calls, and 21.3 percent of all repeat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Ranked by call count, the top 1 percent of people account for 8 percent of calls, the top 10 percent for 27 percent, and the top 25 percent for 41 percent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Frequent callers by rolling window</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People whose calls fall inside a single rolling 30, 60, or 90 day period.</a:t>
            </a:r>
            <a:endParaRPr lang="en-US" sz="1350" dirty="0"/>
          </a:p>
        </p:txBody>
      </p:sp>
      <p:graphicFrame>
        <p:nvGraphicFramePr>
          <p:cNvPr id="4" name="Chart 0" descr=""/>
          <p:cNvGraphicFramePr/>
          <p:nvPr/>
        </p:nvGraphicFramePr>
        <p:xfrm>
          <a:off x="457200" y="1325880"/>
          <a:ext cx="11247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262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0060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Within any 30-day period: 8,158 people made 2 or more calls, 1,737 made 3 or more, and 334 made 5 or more</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Within any 90-day period: 10,686 people made 2 or more calls, 2,899 made 3 or more, and 678 made 5 or more</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8,158 people with 2 or more calls in 30 days are 7.3 percent of people and account for 30,665 calls, 21.5 percent of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334 people with 5 or more calls in 30 days are 0.3 percent of people and account for 5,534 calls, 3.9 percent of calls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How soon repeat calls come back</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Days between a repeat call and that caller's first call. All 30,881 repeat calls.</a:t>
            </a:r>
            <a:endParaRPr lang="en-US" sz="1350" dirty="0"/>
          </a:p>
        </p:txBody>
      </p:sp>
      <p:graphicFrame>
        <p:nvGraphicFramePr>
          <p:cNvPr id="4" name="Chart 0" descr=""/>
          <p:cNvGraphicFramePr/>
          <p:nvPr/>
        </p:nvGraphicFramePr>
        <p:xfrm>
          <a:off x="457200" y="1280160"/>
          <a:ext cx="11247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7200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46320"/>
            <a:ext cx="11247120" cy="1645920"/>
          </a:xfrm>
          <a:prstGeom prst="rect">
            <a:avLst/>
          </a:prstGeom>
          <a:noFill/>
          <a:ln/>
        </p:spPr>
        <p:txBody>
          <a:bodyPr wrap="square" rtlCol="0" anchor="ctr"/>
          <a:lstStyle/>
          <a:p>
            <a:pPr marL="342900" indent="-342900">
              <a:lnSpc>
                <a:spcPts val="1900"/>
              </a:lnSpc>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The largest single band is 1 day at 4,723 repeat calls, 15.3 percent</a:t>
            </a:r>
            <a:endParaRPr lang="en-US" sz="1250" dirty="0"/>
          </a:p>
          <a:p>
            <a:pPr marL="342900" indent="-342900">
              <a:lnSpc>
                <a:spcPts val="1900"/>
              </a:lnSpc>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Within the rest of the first week the counts fall: 2-3 days 2,298, 4-5 days 1,428, 6-7 days 1,121</a:t>
            </a:r>
            <a:endParaRPr lang="en-US" sz="1250" dirty="0"/>
          </a:p>
          <a:p>
            <a:pPr marL="342900" indent="-342900">
              <a:lnSpc>
                <a:spcPts val="1900"/>
              </a:lnSpc>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They rise again across the wider bands: 8-14 days 2,824, 15-30 days 3,576, 31-60 days 3,919</a:t>
            </a:r>
            <a:endParaRPr lang="en-US" sz="1250" dirty="0"/>
          </a:p>
          <a:p>
            <a:pPr marL="342900" indent="-342900">
              <a:lnSpc>
                <a:spcPts val="1900"/>
              </a:lnSpc>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4,115 came 91 to 180 days later and 4,418 came more than 180 days later. Shares are of the 30,881 repeat calls</a:t>
            </a:r>
            <a:endParaRPr lang="en-US" sz="1250" dirty="0"/>
          </a:p>
          <a:p>
            <a:pPr marL="342900" indent="-342900">
              <a:lnSpc>
                <a:spcPts val="1900"/>
              </a:lnSpc>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For a caller with more than two calls, each repeat call is measured from that caller's preceding call rather than from their first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Share of calls followed by a repeat within 30 days, by month</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Months without a full 30-day follow-up window are excluded.</a:t>
            </a:r>
            <a:endParaRPr lang="en-US" sz="1350" dirty="0"/>
          </a:p>
        </p:txBody>
      </p:sp>
      <p:graphicFrame>
        <p:nvGraphicFramePr>
          <p:cNvPr id="4" name="Chart 0" descr=""/>
          <p:cNvGraphicFramePr/>
          <p:nvPr/>
        </p:nvGraphicFramePr>
        <p:xfrm>
          <a:off x="457200" y="1325880"/>
          <a:ext cx="1124712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70916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983480"/>
            <a:ext cx="11247120" cy="146304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monthly rate ranged from 9.2 percent in December 2024 to 12.9 percent in September 2025, a spread of 3.7 points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first four months, October 2024 through January 2025, are the four lowest at 9.2 to 9.9 percent. Every month from February 2025 onward is between 10.5 and 12.9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Monthly calls measured grew from 3,660 in October 2024 to 8,277 in June 2026</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July and August 2026 are excluded because they lack a full 30-day follow-up window within the data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Disposition recorded on the repeat call</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What happened on the repeat call itself. All 30,881 repeat calls.</a:t>
            </a:r>
            <a:endParaRPr lang="en-US" sz="1350" dirty="0"/>
          </a:p>
        </p:txBody>
      </p:sp>
      <p:graphicFrame>
        <p:nvGraphicFramePr>
          <p:cNvPr id="4" name="Chart 0" descr=""/>
          <p:cNvGraphicFramePr/>
          <p:nvPr/>
        </p:nvGraphicFramePr>
        <p:xfrm>
          <a:off x="457200" y="1325880"/>
          <a:ext cx="1124712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66344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937760"/>
            <a:ext cx="11247120" cy="146304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BLS accounts for 15,827 repeat calls, 51.3 percent. NN ER is 5,980, 19.4 percent. Self-care is 3,995, 12.9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Virtual Care accounts for 1,424 repeat calls, 4.6 percent of all repeat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This is a different measure from the rate two slides on. There, 27.7 percent of Virtual Care calls were followed by a repeat. Here, 4.6 percent of repeat calls were themselves dispositioned Virtual Care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Where the virtual care repeat calls came from</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The disposition on the previous call, for all 1,424 repeat calls dispositioned Virtual Care.</a:t>
            </a:r>
            <a:endParaRPr lang="en-US" sz="1350" dirty="0"/>
          </a:p>
        </p:txBody>
      </p:sp>
      <p:graphicFrame>
        <p:nvGraphicFramePr>
          <p:cNvPr id="4" name="Chart 0" descr=""/>
          <p:cNvGraphicFramePr/>
          <p:nvPr/>
        </p:nvGraphicFramePr>
        <p:xfrm>
          <a:off x="457200" y="1325880"/>
          <a:ext cx="1124712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66344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937760"/>
            <a:ext cx="11247120" cy="146304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441 of these repeat calls followed a BLS call, 31.0 percent. 327 followed another Virtual Care call, 23.0 percent. 294 followed a Self-care call, 20.6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163 followed an NN ER call, 11.4 percent, and 131 followed a Ref CCR call, 9.2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This covers every repeat call dispositioned Virtual Care. The nine dispositions shown account for all 1,424</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Share of calls followed by a repeat, by disposition</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The disposition recorded on a call, and how often that person called again afterward.</a:t>
            </a:r>
            <a:endParaRPr lang="en-US" sz="1350" dirty="0"/>
          </a:p>
        </p:txBody>
      </p:sp>
      <p:graphicFrame>
        <p:nvGraphicFramePr>
          <p:cNvPr id="4" name="Chart 0" descr=""/>
          <p:cNvGraphicFramePr/>
          <p:nvPr/>
        </p:nvGraphicFramePr>
        <p:xfrm>
          <a:off x="457200" y="1325880"/>
          <a:ext cx="11247120" cy="2926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43484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709160"/>
            <a:ext cx="11247120" cy="164592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30-day rate ranges from 5.9 percent for ALS to 27.7 percent for Virtual Care. The rate across all calls is 11.3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This is the share of calls with that disposition that were followed by a repeat. It is a different measure from the share of repeat calls carrying that disposition, shown two slides earlier</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BLS is the largest group at 75,759 calls measured and is at 8.6 percent. Self-care is 21,875 calls at 10.3 percent, NN ER is 17,162 calls at 17.7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Virtual Care is 5,429 calls measured. ALS is 4,875. VC ER is 475 and Mobile Urgent Care is 578</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Two dispositions, VC MUC and Ready Response, had 4 and 1 calls and are not shown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Where the returning calls come from</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Share of calls measured against share of calls that were followed by a return, 30-day window.</a:t>
            </a:r>
            <a:endParaRPr lang="en-US" sz="1350" dirty="0"/>
          </a:p>
        </p:txBody>
      </p:sp>
      <p:graphicFrame>
        <p:nvGraphicFramePr>
          <p:cNvPr id="4" name="Chart 0" descr=""/>
          <p:cNvGraphicFramePr/>
          <p:nvPr/>
        </p:nvGraphicFramePr>
        <p:xfrm>
          <a:off x="457200" y="1325880"/>
          <a:ext cx="11247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262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0060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BLS accounts for 56.4 percent of calls measured and 42.9 percent of calls followed by a return, about 6,515 of 15,200</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NN ER, Ref CCR, and Virtual Care together account for 22.3 percent of calls measured and 38.9 percent of calls followed by a return</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ALS accounts for 3.6 percent of calls measured and 1.9 percent of calls followed by a return</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Returning calls by disposition: BLS 6,515, NN ER 3,038, Self-care 2,253, Virtual Care 1,504, Ref CCR 1,370, ALS 288</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Share of calls followed by a repeat within 30 days, by market</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Eight markets with 5,000 or more calls measured.</a:t>
            </a:r>
            <a:endParaRPr lang="en-US" sz="1350" dirty="0"/>
          </a:p>
        </p:txBody>
      </p:sp>
      <p:graphicFrame>
        <p:nvGraphicFramePr>
          <p:cNvPr id="4" name="Chart 0" descr=""/>
          <p:cNvGraphicFramePr/>
          <p:nvPr/>
        </p:nvGraphicFramePr>
        <p:xfrm>
          <a:off x="457200" y="1325880"/>
          <a:ext cx="1124712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7200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4632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Among these eight markets the 30-day rate runs from 5.9 percent in Snohomish WA to 17.1 percent in Knox County TN. The rate across all calls is 11.3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36 markets appear in the data. 13 have fewer than 1,000 calls measured, and rates for those markets move several points on a small number of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Dekalb County GA is the largest at 24,862 calls measured and is at 12.3 percent. Seattle WA is 14,599 calls at 7.5 percent</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Each market is measured against its own call volume. The same matching rules were applied to every market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Six markets account for seven in ten returning calls</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Share of calls measured against share of calls followed by a return, 30-day window.</a:t>
            </a:r>
            <a:endParaRPr lang="en-US" sz="1350" dirty="0"/>
          </a:p>
        </p:txBody>
      </p:sp>
      <p:graphicFrame>
        <p:nvGraphicFramePr>
          <p:cNvPr id="4" name="Chart 0" descr=""/>
          <p:cNvGraphicFramePr/>
          <p:nvPr/>
        </p:nvGraphicFramePr>
        <p:xfrm>
          <a:off x="457200" y="1325880"/>
          <a:ext cx="11247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262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0060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These six markets account for 63.4 percent of calls measured and 70.2 percent of calls followed by a return</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Dekalb County GA accounts for 22.2 percent of returning calls, about 3,058. Knox County TN accounts for 10.4 percent on 6.2 percent of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Seattle WA accounts for 10.9 percent of calls measured and 8.0 percent of returning calls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remaining 30 markets account for 36.6 percent of calls measured and 29.8 percent of returning calls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Share of calls followed by a repeat, by caller type</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Who initiated the transfer to nurse navigation.</a:t>
            </a:r>
            <a:endParaRPr lang="en-US" sz="1350" dirty="0"/>
          </a:p>
        </p:txBody>
      </p:sp>
      <p:graphicFrame>
        <p:nvGraphicFramePr>
          <p:cNvPr id="4" name="Chart 0" descr=""/>
          <p:cNvGraphicFramePr/>
          <p:nvPr/>
        </p:nvGraphicFramePr>
        <p:xfrm>
          <a:off x="457200" y="1325880"/>
          <a:ext cx="11247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262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0060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Call Taker accounts for 126,363 of 134,253 calls measured, 94.1 percent, and 96.8 percent of calls followed by a return</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Field AMR is 4,046 calls measured and Field Fire is 3,201</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41 venue-named values account for a combined 629 calls, and 14 calls have no caller type recorded</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Call Taker 30-day rate of 11.4 percent is the closest of any group to the overall rate of 11.3 percent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Two groups behave differently between the 30 and 60 day windows</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Change in return rate from the 30-day window to the 60-day window.</a:t>
            </a:r>
            <a:endParaRPr lang="en-US" sz="1350" dirty="0"/>
          </a:p>
        </p:txBody>
      </p:sp>
      <p:graphicFrame>
        <p:nvGraphicFramePr>
          <p:cNvPr id="4" name="Chart 0" descr=""/>
          <p:cNvGraphicFramePr/>
          <p:nvPr/>
        </p:nvGraphicFramePr>
        <p:xfrm>
          <a:off x="457200" y="1325880"/>
          <a:ext cx="11247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5262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THE FIGURES</a:t>
            </a:r>
            <a:endParaRPr lang="en-US" sz="1250" dirty="0"/>
          </a:p>
        </p:txBody>
      </p:sp>
      <p:sp>
        <p:nvSpPr>
          <p:cNvPr id="6" name="Text 3"/>
          <p:cNvSpPr txBox="1"/>
          <p:nvPr/>
        </p:nvSpPr>
        <p:spPr>
          <a:xfrm>
            <a:off x="457200" y="4800600"/>
            <a:ext cx="11247120" cy="155448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Seattle WA rises from 7.5 percent at 30 days to 21.5 percent at 60 days, an increase of 14.0 points. Field AMR rises from 2.1 percent to 14.9 percent, an increase of 12.8 points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Every other group with 5,000 or more calls measured rises between 2.3 and 4.1 points across the same two windows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Seattle WA is 14,599 calls measured at 30 days. Field AMR is 4,046</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At 90 days Seattle is 24.0 percent and Field AMR is 17.0 percent, both above the overall 90-day rate of 16.3 percent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Share of calls followed by a repeat, with and without behavioral health language</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Using the behavioral health screen from the separate behavioral health review.</a:t>
            </a:r>
            <a:endParaRPr lang="en-US" sz="1350" dirty="0"/>
          </a:p>
        </p:txBody>
      </p:sp>
      <p:graphicFrame>
        <p:nvGraphicFramePr>
          <p:cNvPr id="4" name="Chart 0" descr=""/>
          <p:cNvGraphicFramePr/>
          <p:nvPr/>
        </p:nvGraphicFramePr>
        <p:xfrm>
          <a:off x="457200" y="1325880"/>
          <a:ext cx="66751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60920" y="1554480"/>
            <a:ext cx="4343400" cy="274320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106,656 calls measured without behavioral health language</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27,597 calls measured with behavioral health language</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difference is 1.8 points at 30 days</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difference is 2.1 points at 60 days</a:t>
            </a:r>
            <a:endParaRPr lang="en-US" sz="1300" dirty="0"/>
          </a:p>
        </p:txBody>
      </p:sp>
      <p:sp>
        <p:nvSpPr>
          <p:cNvPr id="6" name="Text 3"/>
          <p:cNvSpPr txBox="1"/>
          <p:nvPr/>
        </p:nvSpPr>
        <p:spPr>
          <a:xfrm>
            <a:off x="457200" y="457200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SCOPE OF THIS COMPARISON</a:t>
            </a:r>
            <a:endParaRPr lang="en-US" sz="1250" dirty="0"/>
          </a:p>
        </p:txBody>
      </p:sp>
      <p:sp>
        <p:nvSpPr>
          <p:cNvPr id="7" name="Text 4"/>
          <p:cNvSpPr txBox="1"/>
          <p:nvPr/>
        </p:nvSpPr>
        <p:spPr>
          <a:xfrm>
            <a:off x="457200" y="4846320"/>
            <a:ext cx="11247120" cy="1463040"/>
          </a:xfrm>
          <a:prstGeom prst="rect">
            <a:avLst/>
          </a:prstGeom>
          <a:noFill/>
          <a:ln/>
        </p:spPr>
        <p:txBody>
          <a:bodyPr wrap="square" rtlCol="0" anchor="ctr"/>
          <a:lstStyle/>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This uses the unadjusted behavioral health screen. In the separate behavioral health review, 60.5 percent of screened calls were confirmed on detailed read</a:t>
            </a:r>
            <a:endParaRPr lang="en-US" sz="1300" dirty="0"/>
          </a:p>
          <a:p>
            <a:pPr marL="342900" indent="-342900">
              <a:lnSpc>
                <a:spcPts val="1900"/>
              </a:lnSpc>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calls flagged here therefore include calls that are not behavioral health. The comparison has not been repeated using confirmed calls only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Scope of the figures</a:t>
            </a:r>
            <a:endParaRPr lang="en-US" sz="2700" dirty="0"/>
          </a:p>
        </p:txBody>
      </p:sp>
      <p:sp>
        <p:nvSpPr>
          <p:cNvPr id="3" name="Text 1"/>
          <p:cNvSpPr txBox="1"/>
          <p:nvPr/>
        </p:nvSpPr>
        <p:spPr>
          <a:xfrm>
            <a:off x="457200" y="868680"/>
            <a:ext cx="11247120" cy="347472"/>
          </a:xfrm>
          <a:prstGeom prst="rect">
            <a:avLst/>
          </a:prstGeom>
          <a:noFill/>
          <a:ln/>
        </p:spPr>
        <p:txBody>
          <a:bodyPr wrap="square" rtlCol="0" anchor="ctr"/>
          <a:lstStyle/>
          <a:p>
            <a:pPr indent="0" marL="0">
              <a:buNone/>
            </a:pPr>
            <a:r>
              <a:rPr lang="en-US" sz="1350" dirty="0">
                <a:solidFill>
                  <a:srgbClr val="595959"/>
                </a:solidFill>
                <a:latin typeface="Calibri" pitchFamily="34" charset="0"/>
                <a:ea typeface="Calibri" pitchFamily="34" charset="-122"/>
                <a:cs typeface="Calibri" pitchFamily="34" charset="-120"/>
              </a:rPr>
              <a:t>Four items that define what the numbers do and do not cover.</a:t>
            </a:r>
            <a:endParaRPr lang="en-US" sz="1350" dirty="0"/>
          </a:p>
        </p:txBody>
      </p:sp>
      <p:sp>
        <p:nvSpPr>
          <p:cNvPr id="4" name="Text 2"/>
          <p:cNvSpPr txBox="1"/>
          <p:nvPr/>
        </p:nvSpPr>
        <p:spPr>
          <a:xfrm>
            <a:off x="457200" y="128016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1  —  PEOPLE ARE ASSEMBLED, NOT IDENTIFIED</a:t>
            </a:r>
            <a:endParaRPr lang="en-US" sz="1250" dirty="0"/>
          </a:p>
        </p:txBody>
      </p:sp>
      <p:sp>
        <p:nvSpPr>
          <p:cNvPr id="5" name="Text 3"/>
          <p:cNvSpPr txBox="1"/>
          <p:nvPr/>
        </p:nvSpPr>
        <p:spPr>
          <a:xfrm>
            <a:off x="457200" y="1554480"/>
            <a:ext cx="11247120" cy="457200"/>
          </a:xfrm>
          <a:prstGeom prst="rect">
            <a:avLst/>
          </a:prstGeom>
          <a:noFill/>
          <a:ln/>
        </p:spPr>
        <p:txBody>
          <a:bodyPr wrap="square" rtlCol="0" anchor="ctr"/>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No patient identifier exists in the records. People were assembled from name, date of birth, and phone. 7,262 calls, 4.8 percent, could not be tied to a person and are excluded from every figure.</a:t>
            </a:r>
            <a:endParaRPr lang="en-US" sz="1350" dirty="0"/>
          </a:p>
        </p:txBody>
      </p:sp>
      <p:sp>
        <p:nvSpPr>
          <p:cNvPr id="6" name="Text 4"/>
          <p:cNvSpPr txBox="1"/>
          <p:nvPr/>
        </p:nvSpPr>
        <p:spPr>
          <a:xfrm>
            <a:off x="457200" y="214884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2  —  THE NAME-VARIANT LIMIT REJECTS SOME LINKS</a:t>
            </a:r>
            <a:endParaRPr lang="en-US" sz="1250" dirty="0"/>
          </a:p>
        </p:txBody>
      </p:sp>
      <p:sp>
        <p:nvSpPr>
          <p:cNvPr id="7" name="Text 5"/>
          <p:cNvSpPr txBox="1"/>
          <p:nvPr/>
        </p:nvSpPr>
        <p:spPr>
          <a:xfrm>
            <a:off x="457200" y="2423160"/>
            <a:ext cx="11247120" cy="457200"/>
          </a:xfrm>
          <a:prstGeom prst="rect">
            <a:avLst/>
          </a:prstGeom>
          <a:noFill/>
          <a:ln/>
        </p:spPr>
        <p:txBody>
          <a:bodyPr wrap="square" rtlCol="0" anchor="ctr"/>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1,139 proposed links were rejected because they would have exceeded three first-name or three last-name variants for one person. Rejected links produce separate people rather than one.</a:t>
            </a:r>
            <a:endParaRPr lang="en-US" sz="1350" dirty="0"/>
          </a:p>
        </p:txBody>
      </p:sp>
      <p:sp>
        <p:nvSpPr>
          <p:cNvPr id="8" name="Text 6"/>
          <p:cNvSpPr txBox="1"/>
          <p:nvPr/>
        </p:nvSpPr>
        <p:spPr>
          <a:xfrm>
            <a:off x="457200" y="301752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3  —  TWO WAYS OF COUNTING APPEAR IN THIS DECK</a:t>
            </a:r>
            <a:endParaRPr lang="en-US" sz="1250" dirty="0"/>
          </a:p>
        </p:txBody>
      </p:sp>
      <p:sp>
        <p:nvSpPr>
          <p:cNvPr id="9" name="Text 7"/>
          <p:cNvSpPr txBox="1"/>
          <p:nvPr/>
        </p:nvSpPr>
        <p:spPr>
          <a:xfrm>
            <a:off x="457200" y="3291840"/>
            <a:ext cx="11247120" cy="640080"/>
          </a:xfrm>
          <a:prstGeom prst="rect">
            <a:avLst/>
          </a:prstGeom>
          <a:noFill/>
          <a:ln/>
        </p:spPr>
        <p:txBody>
          <a:bodyPr wrap="square" rtlCol="0" anchor="ctr"/>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Repeat call counts cover every repeat call. Rates cover only calls with a full follow-up window before the end of the data, so 15,970 repeat calls came within 30 days while the 30-day rate is based on 15,224. Both describe the same events from different ends of the pair.</a:t>
            </a:r>
            <a:endParaRPr lang="en-US" sz="1350" dirty="0"/>
          </a:p>
        </p:txBody>
      </p:sp>
      <p:sp>
        <p:nvSpPr>
          <p:cNvPr id="10" name="Text 8"/>
          <p:cNvSpPr txBox="1"/>
          <p:nvPr/>
        </p:nvSpPr>
        <p:spPr>
          <a:xfrm>
            <a:off x="457200" y="388620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4  —  GROUP COMPARISONS ARE NOT ADJUSTED</a:t>
            </a:r>
            <a:endParaRPr lang="en-US" sz="1250" dirty="0"/>
          </a:p>
        </p:txBody>
      </p:sp>
      <p:sp>
        <p:nvSpPr>
          <p:cNvPr id="11" name="Text 9"/>
          <p:cNvSpPr txBox="1"/>
          <p:nvPr/>
        </p:nvSpPr>
        <p:spPr>
          <a:xfrm>
            <a:off x="457200" y="4160520"/>
            <a:ext cx="11247120" cy="640080"/>
          </a:xfrm>
          <a:prstGeom prst="rect">
            <a:avLst/>
          </a:prstGeom>
          <a:noFill/>
          <a:ln/>
        </p:spPr>
        <p:txBody>
          <a:bodyPr wrap="square" rtlCol="0" anchor="ctr"/>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The market, disposition, caller type, and behavioral health breakdowns report rates as measured. They are not adjusted for acuity, call volume, or any other difference between the groups. The 30 to 60 day pattern in Seattle WA and Field AMR has not been investigated.</a:t>
            </a:r>
            <a:endParaRPr lang="en-US" sz="1350" dirty="0"/>
          </a:p>
        </p:txBody>
      </p:sp>
      <p:sp>
        <p:nvSpPr>
          <p:cNvPr id="12" name="Text 10"/>
          <p:cNvSpPr txBox="1"/>
          <p:nvPr/>
        </p:nvSpPr>
        <p:spPr>
          <a:xfrm>
            <a:off x="457200" y="4892040"/>
            <a:ext cx="11247120" cy="1188720"/>
          </a:xfrm>
          <a:prstGeom prst="rect">
            <a:avLst/>
          </a:prstGeom>
          <a:noFill/>
          <a:ln/>
        </p:spPr>
        <p:txBody>
          <a:bodyPr wrap="square" rtlCol="0" anchor="ctr"/>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Items 1 and 2 mean the reported repeat call counts are at or below the actual counts. Separately, all 150,000 incident numbers are distinct, so whether one 911 call can produce more than one record has not been confirmed. If it can, the shortest-gap counts are overstated.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48640"/>
          </a:xfrm>
          <a:prstGeom prst="rect">
            <a:avLst/>
          </a:prstGeom>
          <a:noFill/>
          <a:ln/>
        </p:spPr>
        <p:txBody>
          <a:bodyPr wrap="square"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Summary of figures</a:t>
            </a:r>
            <a:endParaRPr lang="en-US" sz="2700" dirty="0"/>
          </a:p>
        </p:txBody>
      </p:sp>
      <p:sp>
        <p:nvSpPr>
          <p:cNvPr id="3" name="Text 1"/>
          <p:cNvSpPr txBox="1"/>
          <p:nvPr/>
        </p:nvSpPr>
        <p:spPr>
          <a:xfrm>
            <a:off x="457200" y="114300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POPULATION</a:t>
            </a:r>
            <a:endParaRPr lang="en-US" sz="1250" dirty="0"/>
          </a:p>
        </p:txBody>
      </p:sp>
      <p:sp>
        <p:nvSpPr>
          <p:cNvPr id="4" name="Text 2"/>
          <p:cNvSpPr txBox="1"/>
          <p:nvPr/>
        </p:nvSpPr>
        <p:spPr>
          <a:xfrm>
            <a:off x="457200" y="1417320"/>
            <a:ext cx="11247120" cy="109728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150,000 calls, October 2024 through August 2026. 142,738 tied to a person, 95.2 percent</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111,857 people, an average of 1.28 calls each</a:t>
            </a:r>
            <a:endParaRPr lang="en-US" sz="1400" dirty="0"/>
          </a:p>
        </p:txBody>
      </p:sp>
      <p:sp>
        <p:nvSpPr>
          <p:cNvPr id="5" name="Text 3"/>
          <p:cNvSpPr txBox="1"/>
          <p:nvPr/>
        </p:nvSpPr>
        <p:spPr>
          <a:xfrm>
            <a:off x="457200" y="265176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REPEAT CALLS</a:t>
            </a:r>
            <a:endParaRPr lang="en-US" sz="1250" dirty="0"/>
          </a:p>
        </p:txBody>
      </p:sp>
      <p:sp>
        <p:nvSpPr>
          <p:cNvPr id="6" name="Text 4"/>
          <p:cNvSpPr txBox="1"/>
          <p:nvPr/>
        </p:nvSpPr>
        <p:spPr>
          <a:xfrm>
            <a:off x="457200" y="2926080"/>
            <a:ext cx="11247120" cy="109728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30,881 repeat calls, 21.6 percent of calls tied to a person and 20.6 percent of all calls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9,570 came back within 7 days, 15,970 within 30 days, and 22,348 within 90 days, or 31.0, 51.7, and 72.4 percent of all repeat calls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3,603 repeat calls, 11.7 percent, were on the same calendar day as the previous call. On a different-day definition the total is 27,278</a:t>
            </a:r>
            <a:endParaRPr lang="en-US" sz="1400" dirty="0"/>
          </a:p>
        </p:txBody>
      </p:sp>
      <p:sp>
        <p:nvSpPr>
          <p:cNvPr id="7" name="Text 5"/>
          <p:cNvSpPr txBox="1"/>
          <p:nvPr/>
        </p:nvSpPr>
        <p:spPr>
          <a:xfrm>
            <a:off x="457200" y="416052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CONCENTRATION</a:t>
            </a:r>
            <a:endParaRPr lang="en-US" sz="1250" dirty="0"/>
          </a:p>
        </p:txBody>
      </p:sp>
      <p:sp>
        <p:nvSpPr>
          <p:cNvPr id="8" name="Text 6"/>
          <p:cNvSpPr txBox="1"/>
          <p:nvPr/>
        </p:nvSpPr>
        <p:spPr>
          <a:xfrm>
            <a:off x="457200" y="4434840"/>
            <a:ext cx="11247120" cy="1097280"/>
          </a:xfrm>
          <a:prstGeom prst="rect">
            <a:avLst/>
          </a:prstGeom>
          <a:noFill/>
          <a:ln/>
        </p:spPr>
        <p:txBody>
          <a:bodyPr wrap="square" rtlCol="0" anchor="ctr"/>
          <a:lstStyle/>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86.7 percent of people called once and account for 68.0 percent of calls. The top 10 percent of people by call count account for 27 percent of calls</a:t>
            </a:r>
            <a:endParaRPr lang="en-US" sz="1400" dirty="0"/>
          </a:p>
          <a:p>
            <a:pPr marL="342900" indent="-342900">
              <a:lnSpc>
                <a:spcPts val="1900"/>
              </a:lnSpc>
              <a:spcAft>
                <a:spcPts val="700"/>
              </a:spcAft>
              <a:buSzPct val="100000"/>
              <a:buChar char="•"/>
            </a:pPr>
            <a:r>
              <a:rPr lang="en-US" sz="1400" dirty="0">
                <a:solidFill>
                  <a:srgbClr val="222222"/>
                </a:solidFill>
                <a:latin typeface="Calibri" pitchFamily="34" charset="0"/>
                <a:ea typeface="Calibri" pitchFamily="34" charset="-122"/>
                <a:cs typeface="Calibri" pitchFamily="34" charset="-120"/>
              </a:rPr>
              <a:t>Six markets account for 70.2 percent of returning calls. BLS carries 15,827 repeat calls, 51.3 percent, and Virtual Care 1,424, 4.6 percent</a:t>
            </a:r>
            <a:endParaRPr lang="en-US" sz="1400" dirty="0"/>
          </a:p>
        </p:txBody>
      </p:sp>
      <p:sp>
        <p:nvSpPr>
          <p:cNvPr id="9" name="Text 7"/>
          <p:cNvSpPr txBox="1"/>
          <p:nvPr/>
        </p:nvSpPr>
        <p:spPr>
          <a:xfrm>
            <a:off x="457200" y="5669280"/>
            <a:ext cx="10972800" cy="256032"/>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OPEN ITEM</a:t>
            </a:r>
            <a:endParaRPr lang="en-US" sz="1250" dirty="0"/>
          </a:p>
        </p:txBody>
      </p:sp>
      <p:sp>
        <p:nvSpPr>
          <p:cNvPr id="10" name="Text 8"/>
          <p:cNvSpPr txBox="1"/>
          <p:nvPr/>
        </p:nvSpPr>
        <p:spPr>
          <a:xfrm>
            <a:off x="457200" y="5943600"/>
            <a:ext cx="11247120" cy="457200"/>
          </a:xfrm>
          <a:prstGeom prst="rect">
            <a:avLst/>
          </a:prstGeom>
          <a:noFill/>
          <a:ln/>
        </p:spPr>
        <p:txBody>
          <a:bodyPr wrap="square" rtlCol="0" anchor="ctr"/>
          <a:lstStyle/>
          <a:p>
            <a:pPr indent="0" marL="0">
              <a:lnSpc>
                <a:spcPts val="1900"/>
              </a:lnSpc>
              <a:buNone/>
            </a:pPr>
            <a:r>
              <a:rPr lang="en-US" sz="1350" dirty="0">
                <a:solidFill>
                  <a:srgbClr val="222222"/>
                </a:solidFill>
                <a:latin typeface="Calibri" pitchFamily="34" charset="0"/>
                <a:ea typeface="Calibri" pitchFamily="34" charset="-122"/>
                <a:cs typeface="Calibri" pitchFamily="34" charset="-120"/>
              </a:rPr>
              <a:t>Whether one 911 call can produce more than one record has not been confirmed. If it can, the short-window return rates are overstated.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2026-09-15T15:39:09Z</dcterms:created>
  <dcterms:modified xsi:type="dcterms:W3CDTF">2026-09-15T15:39:10Z</dcterms:modified>
</cp:coreProperties>
</file>