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5652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Assets in the model today are the federal coverage guidance, the September 2025 billing training guide, and the August 2026 facility training. The lower band answers the retrieval versus prompting question: the criteria corpus is small enough to place entirely in context, which removes retrieval recall as a failure mode.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three trade-offs in order. Retrieval is unnecessary because the criteria fit in one instruction, and skipping it removes the risk that a relevant criterion is never fetched. Few shot is avoided because examples would import the approval rate of whatever sample was chosen. Constrained output is what makes mechanical validation and fixed downstream logic possible. Then walk the determination path and the three categories. The closing point: certainty is derived from recorded facts, not from a model score, so any determination can be reconstructed by a reviewer.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rtlCol="0" anchor="ctr"/>
          <a:lstStyle/>
          <a:p>
            <a:pPr marL="0" indent="0">
              <a:buNone/>
            </a:pPr>
            <a:r>
              <a:rPr lang="en-US" sz="2300" b="1" dirty="0">
                <a:solidFill>
                  <a:srgbClr val="000000"/>
                </a:solidFill>
                <a:latin typeface="Calibri" pitchFamily="34" charset="0"/>
                <a:ea typeface="Calibri" pitchFamily="34" charset="-122"/>
                <a:cs typeface="Calibri" pitchFamily="34" charset="-120"/>
              </a:rPr>
              <a:t>Integrating the knowledge assets into the medical necessity model</a:t>
            </a:r>
            <a:endParaRPr lang="en-US" sz="2300" dirty="0"/>
          </a:p>
        </p:txBody>
      </p:sp>
      <p:sp>
        <p:nvSpPr>
          <p:cNvPr id="3" name="Text 1"/>
          <p:cNvSpPr/>
          <p:nvPr/>
        </p:nvSpPr>
        <p:spPr>
          <a:xfrm>
            <a:off x="411480" y="685800"/>
            <a:ext cx="11338560" cy="274320"/>
          </a:xfrm>
          <a:prstGeom prst="rect">
            <a:avLst/>
          </a:prstGeom>
          <a:noFill/>
          <a:ln/>
        </p:spPr>
        <p:txBody>
          <a:bodyPr wrap="square" rtlCol="0" anchor="ctr"/>
          <a:lstStyle/>
          <a:p>
            <a:pPr marL="0" indent="0">
              <a:buNone/>
            </a:pPr>
            <a:r>
              <a:rPr lang="en-US" sz="1250" dirty="0">
                <a:solidFill>
                  <a:srgbClr val="595959"/>
                </a:solidFill>
                <a:latin typeface="Calibri" pitchFamily="34" charset="0"/>
                <a:ea typeface="Calibri" pitchFamily="34" charset="-122"/>
                <a:cs typeface="Calibri" pitchFamily="34" charset="-120"/>
              </a:rPr>
              <a:t>Every source is written into one criteria file. That file compiles both the rules engine and the model instruction, so the two always read the same version.</a:t>
            </a:r>
            <a:endParaRPr lang="en-US" sz="1250" dirty="0"/>
          </a:p>
        </p:txBody>
      </p:sp>
      <p:sp>
        <p:nvSpPr>
          <p:cNvPr id="4" name="Text 2"/>
          <p:cNvSpPr/>
          <p:nvPr/>
        </p:nvSpPr>
        <p:spPr>
          <a:xfrm>
            <a:off x="411480" y="1051560"/>
            <a:ext cx="3017520" cy="201168"/>
          </a:xfrm>
          <a:prstGeom prst="rect">
            <a:avLst/>
          </a:prstGeom>
          <a:noFill/>
          <a:ln/>
        </p:spPr>
        <p:txBody>
          <a:bodyPr wrap="square" rtlCol="0" anchor="ctr"/>
          <a:lstStyle/>
          <a:p>
            <a:pPr marL="0" indent="0">
              <a:buNone/>
            </a:pPr>
            <a:r>
              <a:rPr lang="en-US" sz="1050" b="1" dirty="0">
                <a:solidFill>
                  <a:srgbClr val="595959"/>
                </a:solidFill>
                <a:latin typeface="Calibri" pitchFamily="34" charset="0"/>
                <a:ea typeface="Calibri" pitchFamily="34" charset="-122"/>
                <a:cs typeface="Calibri" pitchFamily="34" charset="-120"/>
              </a:rPr>
              <a:t>KNOWLEDGE ASSETS</a:t>
            </a:r>
            <a:endParaRPr lang="en-US" sz="1050" dirty="0"/>
          </a:p>
        </p:txBody>
      </p:sp>
      <p:sp>
        <p:nvSpPr>
          <p:cNvPr id="5" name="Text 3"/>
          <p:cNvSpPr/>
          <p:nvPr/>
        </p:nvSpPr>
        <p:spPr>
          <a:xfrm>
            <a:off x="4160520" y="1051560"/>
            <a:ext cx="2468880" cy="201168"/>
          </a:xfrm>
          <a:prstGeom prst="rect">
            <a:avLst/>
          </a:prstGeom>
          <a:noFill/>
          <a:ln/>
        </p:spPr>
        <p:txBody>
          <a:bodyPr wrap="square" rtlCol="0" anchor="ctr"/>
          <a:lstStyle/>
          <a:p>
            <a:pPr marL="0" indent="0">
              <a:buNone/>
            </a:pPr>
            <a:r>
              <a:rPr lang="en-US" sz="1050" b="1" dirty="0">
                <a:solidFill>
                  <a:srgbClr val="595959"/>
                </a:solidFill>
                <a:latin typeface="Calibri" pitchFamily="34" charset="0"/>
                <a:ea typeface="Calibri" pitchFamily="34" charset="-122"/>
                <a:cs typeface="Calibri" pitchFamily="34" charset="-120"/>
              </a:rPr>
              <a:t>SINGLE CRITERIA FILE</a:t>
            </a:r>
            <a:endParaRPr lang="en-US" sz="1050" dirty="0"/>
          </a:p>
        </p:txBody>
      </p:sp>
      <p:sp>
        <p:nvSpPr>
          <p:cNvPr id="6" name="Text 4"/>
          <p:cNvSpPr/>
          <p:nvPr/>
        </p:nvSpPr>
        <p:spPr>
          <a:xfrm>
            <a:off x="7178040" y="1051560"/>
            <a:ext cx="2194560" cy="201168"/>
          </a:xfrm>
          <a:prstGeom prst="rect">
            <a:avLst/>
          </a:prstGeom>
          <a:noFill/>
          <a:ln/>
        </p:spPr>
        <p:txBody>
          <a:bodyPr wrap="square" rtlCol="0" anchor="ctr"/>
          <a:lstStyle/>
          <a:p>
            <a:pPr marL="0" indent="0">
              <a:buNone/>
            </a:pPr>
            <a:r>
              <a:rPr lang="en-US" sz="1050" b="1" dirty="0">
                <a:solidFill>
                  <a:srgbClr val="595959"/>
                </a:solidFill>
                <a:latin typeface="Calibri" pitchFamily="34" charset="0"/>
                <a:ea typeface="Calibri" pitchFamily="34" charset="-122"/>
                <a:cs typeface="Calibri" pitchFamily="34" charset="-120"/>
              </a:rPr>
              <a:t>AI PROCESSING</a:t>
            </a:r>
            <a:endParaRPr lang="en-US" sz="1050" dirty="0"/>
          </a:p>
        </p:txBody>
      </p:sp>
      <p:sp>
        <p:nvSpPr>
          <p:cNvPr id="7" name="Text 5"/>
          <p:cNvSpPr/>
          <p:nvPr/>
        </p:nvSpPr>
        <p:spPr>
          <a:xfrm>
            <a:off x="9829800" y="1051560"/>
            <a:ext cx="2011680" cy="201168"/>
          </a:xfrm>
          <a:prstGeom prst="rect">
            <a:avLst/>
          </a:prstGeom>
          <a:noFill/>
          <a:ln/>
        </p:spPr>
        <p:txBody>
          <a:bodyPr wrap="square" rtlCol="0" anchor="ctr"/>
          <a:lstStyle/>
          <a:p>
            <a:pPr marL="0" indent="0">
              <a:buNone/>
            </a:pPr>
            <a:r>
              <a:rPr lang="en-US" sz="1050" b="1" dirty="0">
                <a:solidFill>
                  <a:srgbClr val="595959"/>
                </a:solidFill>
                <a:latin typeface="Calibri" pitchFamily="34" charset="0"/>
                <a:ea typeface="Calibri" pitchFamily="34" charset="-122"/>
                <a:cs typeface="Calibri" pitchFamily="34" charset="-120"/>
              </a:rPr>
              <a:t>DETERMINATION</a:t>
            </a:r>
            <a:endParaRPr lang="en-US" sz="1050" dirty="0"/>
          </a:p>
        </p:txBody>
      </p:sp>
      <p:sp>
        <p:nvSpPr>
          <p:cNvPr id="8" name="Shape 6"/>
          <p:cNvSpPr/>
          <p:nvPr/>
        </p:nvSpPr>
        <p:spPr>
          <a:xfrm>
            <a:off x="411480" y="1298448"/>
            <a:ext cx="3017520" cy="411480"/>
          </a:xfrm>
          <a:prstGeom prst="rect">
            <a:avLst/>
          </a:prstGeom>
          <a:solidFill>
            <a:srgbClr val="FFFFFF"/>
          </a:solidFill>
          <a:ln w="9525">
            <a:solidFill>
              <a:srgbClr val="808080"/>
            </a:solidFill>
            <a:prstDash val="solid"/>
          </a:ln>
        </p:spPr>
        <p:txBody>
          <a:bodyPr/>
          <a:lstStyle/>
          <a:p>
            <a:endParaRPr lang="en-US"/>
          </a:p>
        </p:txBody>
      </p:sp>
      <p:sp>
        <p:nvSpPr>
          <p:cNvPr id="9" name="Text 7"/>
          <p:cNvSpPr/>
          <p:nvPr/>
        </p:nvSpPr>
        <p:spPr>
          <a:xfrm>
            <a:off x="502920" y="1316736"/>
            <a:ext cx="2194560" cy="201168"/>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Federal coverage guidance</a:t>
            </a:r>
            <a:endParaRPr lang="en-US" sz="1000" dirty="0"/>
          </a:p>
        </p:txBody>
      </p:sp>
      <p:sp>
        <p:nvSpPr>
          <p:cNvPr id="10" name="Text 8"/>
          <p:cNvSpPr/>
          <p:nvPr/>
        </p:nvSpPr>
        <p:spPr>
          <a:xfrm>
            <a:off x="502920" y="1490472"/>
            <a:ext cx="2834640" cy="201168"/>
          </a:xfrm>
          <a:prstGeom prst="rect">
            <a:avLst/>
          </a:prstGeom>
          <a:noFill/>
          <a:ln/>
        </p:spPr>
        <p:txBody>
          <a:bodyPr wrap="square" rtlCol="0" anchor="ctr"/>
          <a:lstStyle/>
          <a:p>
            <a:pPr marL="0" indent="0">
              <a:buNone/>
            </a:pPr>
            <a:r>
              <a:rPr lang="en-US" sz="750" dirty="0">
                <a:solidFill>
                  <a:srgbClr val="595959"/>
                </a:solidFill>
                <a:latin typeface="Calibri" pitchFamily="34" charset="0"/>
                <a:ea typeface="Calibri" pitchFamily="34" charset="-122"/>
                <a:cs typeface="Calibri" pitchFamily="34" charset="-120"/>
              </a:rPr>
              <a:t>Medicare Benefit Policy Manual, Chapter 10</a:t>
            </a:r>
            <a:endParaRPr lang="en-US" sz="750" dirty="0"/>
          </a:p>
        </p:txBody>
      </p:sp>
      <p:sp>
        <p:nvSpPr>
          <p:cNvPr id="11" name="Text 9"/>
          <p:cNvSpPr/>
          <p:nvPr/>
        </p:nvSpPr>
        <p:spPr>
          <a:xfrm>
            <a:off x="2606040" y="1316736"/>
            <a:ext cx="777240" cy="201168"/>
          </a:xfrm>
          <a:prstGeom prst="rect">
            <a:avLst/>
          </a:prstGeom>
          <a:noFill/>
          <a:ln/>
        </p:spPr>
        <p:txBody>
          <a:bodyPr wrap="square" rtlCol="0" anchor="ctr"/>
          <a:lstStyle/>
          <a:p>
            <a:pPr marL="0" indent="0" algn="r">
              <a:buNone/>
            </a:pPr>
            <a:r>
              <a:rPr lang="en-US" sz="850" dirty="0">
                <a:solidFill>
                  <a:srgbClr val="000000"/>
                </a:solidFill>
                <a:latin typeface="Calibri" pitchFamily="34" charset="0"/>
                <a:ea typeface="Calibri" pitchFamily="34" charset="-122"/>
                <a:cs typeface="Calibri" pitchFamily="34" charset="-120"/>
              </a:rPr>
              <a:t>In model</a:t>
            </a:r>
            <a:endParaRPr lang="en-US" sz="850" dirty="0"/>
          </a:p>
        </p:txBody>
      </p:sp>
      <p:sp>
        <p:nvSpPr>
          <p:cNvPr id="12" name="Shape 10"/>
          <p:cNvSpPr/>
          <p:nvPr/>
        </p:nvSpPr>
        <p:spPr>
          <a:xfrm>
            <a:off x="411480" y="1764792"/>
            <a:ext cx="3017520" cy="411480"/>
          </a:xfrm>
          <a:prstGeom prst="rect">
            <a:avLst/>
          </a:prstGeom>
          <a:solidFill>
            <a:srgbClr val="FFFFFF"/>
          </a:solidFill>
          <a:ln w="9525">
            <a:solidFill>
              <a:srgbClr val="808080"/>
            </a:solidFill>
            <a:prstDash val="solid"/>
          </a:ln>
        </p:spPr>
        <p:txBody>
          <a:bodyPr/>
          <a:lstStyle/>
          <a:p>
            <a:endParaRPr lang="en-US"/>
          </a:p>
        </p:txBody>
      </p:sp>
      <p:sp>
        <p:nvSpPr>
          <p:cNvPr id="13" name="Text 11"/>
          <p:cNvSpPr/>
          <p:nvPr/>
        </p:nvSpPr>
        <p:spPr>
          <a:xfrm>
            <a:off x="502920" y="1783080"/>
            <a:ext cx="2194560" cy="201168"/>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Billing training guide, Sep 2025</a:t>
            </a:r>
            <a:endParaRPr lang="en-US" sz="1000" dirty="0"/>
          </a:p>
        </p:txBody>
      </p:sp>
      <p:sp>
        <p:nvSpPr>
          <p:cNvPr id="14" name="Text 12"/>
          <p:cNvSpPr/>
          <p:nvPr/>
        </p:nvSpPr>
        <p:spPr>
          <a:xfrm>
            <a:off x="502920" y="1956816"/>
            <a:ext cx="2834640" cy="201168"/>
          </a:xfrm>
          <a:prstGeom prst="rect">
            <a:avLst/>
          </a:prstGeom>
          <a:noFill/>
          <a:ln/>
        </p:spPr>
        <p:txBody>
          <a:bodyPr wrap="square" rtlCol="0" anchor="ctr"/>
          <a:lstStyle/>
          <a:p>
            <a:pPr marL="0" indent="0">
              <a:buNone/>
            </a:pPr>
            <a:r>
              <a:rPr lang="en-US" sz="750" dirty="0">
                <a:solidFill>
                  <a:srgbClr val="595959"/>
                </a:solidFill>
                <a:latin typeface="Calibri" pitchFamily="34" charset="0"/>
                <a:ea typeface="Calibri" pitchFamily="34" charset="-122"/>
                <a:cs typeface="Calibri" pitchFamily="34" charset="-120"/>
              </a:rPr>
              <a:t>Decision trees, presumed conditions, denial test</a:t>
            </a:r>
            <a:endParaRPr lang="en-US" sz="750" dirty="0"/>
          </a:p>
        </p:txBody>
      </p:sp>
      <p:sp>
        <p:nvSpPr>
          <p:cNvPr id="15" name="Text 13"/>
          <p:cNvSpPr/>
          <p:nvPr/>
        </p:nvSpPr>
        <p:spPr>
          <a:xfrm>
            <a:off x="2606040" y="1783080"/>
            <a:ext cx="777240" cy="201168"/>
          </a:xfrm>
          <a:prstGeom prst="rect">
            <a:avLst/>
          </a:prstGeom>
          <a:noFill/>
          <a:ln/>
        </p:spPr>
        <p:txBody>
          <a:bodyPr wrap="square" rtlCol="0" anchor="ctr"/>
          <a:lstStyle/>
          <a:p>
            <a:pPr marL="0" indent="0" algn="r">
              <a:buNone/>
            </a:pPr>
            <a:r>
              <a:rPr lang="en-US" sz="850" dirty="0">
                <a:solidFill>
                  <a:srgbClr val="000000"/>
                </a:solidFill>
                <a:latin typeface="Calibri" pitchFamily="34" charset="0"/>
                <a:ea typeface="Calibri" pitchFamily="34" charset="-122"/>
                <a:cs typeface="Calibri" pitchFamily="34" charset="-120"/>
              </a:rPr>
              <a:t>In model</a:t>
            </a:r>
            <a:endParaRPr lang="en-US" sz="850" dirty="0"/>
          </a:p>
        </p:txBody>
      </p:sp>
      <p:sp>
        <p:nvSpPr>
          <p:cNvPr id="16" name="Shape 14"/>
          <p:cNvSpPr/>
          <p:nvPr/>
        </p:nvSpPr>
        <p:spPr>
          <a:xfrm>
            <a:off x="411480" y="2231136"/>
            <a:ext cx="3017520" cy="411480"/>
          </a:xfrm>
          <a:prstGeom prst="rect">
            <a:avLst/>
          </a:prstGeom>
          <a:solidFill>
            <a:srgbClr val="FFFFFF"/>
          </a:solidFill>
          <a:ln w="9525">
            <a:solidFill>
              <a:srgbClr val="808080"/>
            </a:solidFill>
            <a:prstDash val="solid"/>
          </a:ln>
        </p:spPr>
        <p:txBody>
          <a:bodyPr/>
          <a:lstStyle/>
          <a:p>
            <a:endParaRPr lang="en-US"/>
          </a:p>
        </p:txBody>
      </p:sp>
      <p:sp>
        <p:nvSpPr>
          <p:cNvPr id="17" name="Text 15"/>
          <p:cNvSpPr/>
          <p:nvPr/>
        </p:nvSpPr>
        <p:spPr>
          <a:xfrm>
            <a:off x="502920" y="2249424"/>
            <a:ext cx="2194560" cy="201168"/>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Facility training, Aug 2026</a:t>
            </a:r>
            <a:endParaRPr lang="en-US" sz="1000" dirty="0"/>
          </a:p>
        </p:txBody>
      </p:sp>
      <p:sp>
        <p:nvSpPr>
          <p:cNvPr id="18" name="Text 16"/>
          <p:cNvSpPr/>
          <p:nvPr/>
        </p:nvSpPr>
        <p:spPr>
          <a:xfrm>
            <a:off x="502920" y="2423160"/>
            <a:ext cx="2834640" cy="201168"/>
          </a:xfrm>
          <a:prstGeom prst="rect">
            <a:avLst/>
          </a:prstGeom>
          <a:noFill/>
          <a:ln/>
        </p:spPr>
        <p:txBody>
          <a:bodyPr wrap="square" rtlCol="0" anchor="ctr"/>
          <a:lstStyle/>
          <a:p>
            <a:pPr marL="0" indent="0">
              <a:buNone/>
            </a:pPr>
            <a:r>
              <a:rPr lang="en-US" sz="750" dirty="0">
                <a:solidFill>
                  <a:srgbClr val="595959"/>
                </a:solidFill>
                <a:latin typeface="Calibri" pitchFamily="34" charset="0"/>
                <a:ea typeface="Calibri" pitchFamily="34" charset="-122"/>
                <a:cs typeface="Calibri" pitchFamily="34" charset="-120"/>
              </a:rPr>
              <a:t>Care needs crews provide, non-covered situations</a:t>
            </a:r>
            <a:endParaRPr lang="en-US" sz="750" dirty="0"/>
          </a:p>
        </p:txBody>
      </p:sp>
      <p:sp>
        <p:nvSpPr>
          <p:cNvPr id="19" name="Text 17"/>
          <p:cNvSpPr/>
          <p:nvPr/>
        </p:nvSpPr>
        <p:spPr>
          <a:xfrm>
            <a:off x="2606040" y="2249424"/>
            <a:ext cx="777240" cy="201168"/>
          </a:xfrm>
          <a:prstGeom prst="rect">
            <a:avLst/>
          </a:prstGeom>
          <a:noFill/>
          <a:ln/>
        </p:spPr>
        <p:txBody>
          <a:bodyPr wrap="square" rtlCol="0" anchor="ctr"/>
          <a:lstStyle/>
          <a:p>
            <a:pPr marL="0" indent="0" algn="r">
              <a:buNone/>
            </a:pPr>
            <a:r>
              <a:rPr lang="en-US" sz="850" dirty="0">
                <a:solidFill>
                  <a:srgbClr val="000000"/>
                </a:solidFill>
                <a:latin typeface="Calibri" pitchFamily="34" charset="0"/>
                <a:ea typeface="Calibri" pitchFamily="34" charset="-122"/>
                <a:cs typeface="Calibri" pitchFamily="34" charset="-120"/>
              </a:rPr>
              <a:t>In model</a:t>
            </a:r>
            <a:endParaRPr lang="en-US" sz="850" dirty="0"/>
          </a:p>
        </p:txBody>
      </p:sp>
      <p:sp>
        <p:nvSpPr>
          <p:cNvPr id="20" name="Shape 18"/>
          <p:cNvSpPr/>
          <p:nvPr/>
        </p:nvSpPr>
        <p:spPr>
          <a:xfrm>
            <a:off x="411480" y="2697480"/>
            <a:ext cx="3017520" cy="411480"/>
          </a:xfrm>
          <a:prstGeom prst="rect">
            <a:avLst/>
          </a:prstGeom>
          <a:solidFill>
            <a:srgbClr val="FFFFFF"/>
          </a:solidFill>
          <a:ln w="9525">
            <a:solidFill>
              <a:srgbClr val="808080"/>
            </a:solidFill>
            <a:prstDash val="solid"/>
          </a:ln>
        </p:spPr>
        <p:txBody>
          <a:bodyPr/>
          <a:lstStyle/>
          <a:p>
            <a:endParaRPr lang="en-US"/>
          </a:p>
        </p:txBody>
      </p:sp>
      <p:sp>
        <p:nvSpPr>
          <p:cNvPr id="21" name="Text 19"/>
          <p:cNvSpPr/>
          <p:nvPr/>
        </p:nvSpPr>
        <p:spPr>
          <a:xfrm>
            <a:off x="502920" y="2715768"/>
            <a:ext cx="2194560" cy="201168"/>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Clinical Standard Operating Procedure</a:t>
            </a:r>
            <a:endParaRPr lang="en-US" sz="1000" dirty="0"/>
          </a:p>
        </p:txBody>
      </p:sp>
      <p:sp>
        <p:nvSpPr>
          <p:cNvPr id="22" name="Text 20"/>
          <p:cNvSpPr/>
          <p:nvPr/>
        </p:nvSpPr>
        <p:spPr>
          <a:xfrm>
            <a:off x="502920" y="2889504"/>
            <a:ext cx="2834640" cy="201168"/>
          </a:xfrm>
          <a:prstGeom prst="rect">
            <a:avLst/>
          </a:prstGeom>
          <a:noFill/>
          <a:ln/>
        </p:spPr>
        <p:txBody>
          <a:bodyPr wrap="square" rtlCol="0" anchor="ctr"/>
          <a:lstStyle/>
          <a:p>
            <a:pPr marL="0" indent="0">
              <a:buNone/>
            </a:pPr>
            <a:r>
              <a:rPr lang="en-US" sz="750" dirty="0">
                <a:solidFill>
                  <a:srgbClr val="595959"/>
                </a:solidFill>
                <a:latin typeface="Calibri" pitchFamily="34" charset="0"/>
                <a:ea typeface="Calibri" pitchFamily="34" charset="-122"/>
                <a:cs typeface="Calibri" pitchFamily="34" charset="-120"/>
              </a:rPr>
              <a:t>Clinical subject matter expert review standard</a:t>
            </a:r>
            <a:endParaRPr lang="en-US" sz="750" dirty="0"/>
          </a:p>
        </p:txBody>
      </p:sp>
      <p:sp>
        <p:nvSpPr>
          <p:cNvPr id="23" name="Text 21"/>
          <p:cNvSpPr/>
          <p:nvPr/>
        </p:nvSpPr>
        <p:spPr>
          <a:xfrm>
            <a:off x="2606040" y="2715768"/>
            <a:ext cx="777240" cy="201168"/>
          </a:xfrm>
          <a:prstGeom prst="rect">
            <a:avLst/>
          </a:prstGeom>
          <a:noFill/>
          <a:ln/>
        </p:spPr>
        <p:txBody>
          <a:bodyPr wrap="square" rtlCol="0" anchor="ctr"/>
          <a:lstStyle/>
          <a:p>
            <a:pPr marL="0" indent="0" algn="r">
              <a:buNone/>
            </a:pPr>
            <a:r>
              <a:rPr lang="en-US" sz="850" i="1" dirty="0">
                <a:solidFill>
                  <a:srgbClr val="595959"/>
                </a:solidFill>
                <a:latin typeface="Calibri" pitchFamily="34" charset="0"/>
                <a:ea typeface="Calibri" pitchFamily="34" charset="-122"/>
                <a:cs typeface="Calibri" pitchFamily="34" charset="-120"/>
              </a:rPr>
              <a:t>To ingest</a:t>
            </a:r>
            <a:endParaRPr lang="en-US" sz="850" dirty="0"/>
          </a:p>
        </p:txBody>
      </p:sp>
      <p:sp>
        <p:nvSpPr>
          <p:cNvPr id="24" name="Shape 22"/>
          <p:cNvSpPr/>
          <p:nvPr/>
        </p:nvSpPr>
        <p:spPr>
          <a:xfrm>
            <a:off x="411480" y="3163824"/>
            <a:ext cx="3017520" cy="411480"/>
          </a:xfrm>
          <a:prstGeom prst="rect">
            <a:avLst/>
          </a:prstGeom>
          <a:solidFill>
            <a:srgbClr val="FFFFFF"/>
          </a:solidFill>
          <a:ln w="9525">
            <a:solidFill>
              <a:srgbClr val="808080"/>
            </a:solidFill>
            <a:prstDash val="solid"/>
          </a:ln>
        </p:spPr>
        <p:txBody>
          <a:bodyPr/>
          <a:lstStyle/>
          <a:p>
            <a:endParaRPr lang="en-US"/>
          </a:p>
        </p:txBody>
      </p:sp>
      <p:sp>
        <p:nvSpPr>
          <p:cNvPr id="25" name="Text 23"/>
          <p:cNvSpPr/>
          <p:nvPr/>
        </p:nvSpPr>
        <p:spPr>
          <a:xfrm>
            <a:off x="502920" y="3182112"/>
            <a:ext cx="2194560" cy="201168"/>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Clinical criteria Smartsheet</a:t>
            </a:r>
            <a:endParaRPr lang="en-US" sz="1000" dirty="0"/>
          </a:p>
        </p:txBody>
      </p:sp>
      <p:sp>
        <p:nvSpPr>
          <p:cNvPr id="26" name="Text 24"/>
          <p:cNvSpPr/>
          <p:nvPr/>
        </p:nvSpPr>
        <p:spPr>
          <a:xfrm>
            <a:off x="502920" y="3355848"/>
            <a:ext cx="2834640" cy="201168"/>
          </a:xfrm>
          <a:prstGeom prst="rect">
            <a:avLst/>
          </a:prstGeom>
          <a:noFill/>
          <a:ln/>
        </p:spPr>
        <p:txBody>
          <a:bodyPr wrap="square" rtlCol="0" anchor="ctr"/>
          <a:lstStyle/>
          <a:p>
            <a:pPr marL="0" indent="0">
              <a:buNone/>
            </a:pPr>
            <a:r>
              <a:rPr lang="en-US" sz="750" dirty="0">
                <a:solidFill>
                  <a:srgbClr val="595959"/>
                </a:solidFill>
                <a:latin typeface="Calibri" pitchFamily="34" charset="0"/>
                <a:ea typeface="Calibri" pitchFamily="34" charset="-122"/>
                <a:cs typeface="Calibri" pitchFamily="34" charset="-120"/>
              </a:rPr>
              <a:t>Criteria maintained by clinical review</a:t>
            </a:r>
            <a:endParaRPr lang="en-US" sz="750" dirty="0"/>
          </a:p>
        </p:txBody>
      </p:sp>
      <p:sp>
        <p:nvSpPr>
          <p:cNvPr id="27" name="Text 25"/>
          <p:cNvSpPr/>
          <p:nvPr/>
        </p:nvSpPr>
        <p:spPr>
          <a:xfrm>
            <a:off x="2606040" y="3182112"/>
            <a:ext cx="777240" cy="201168"/>
          </a:xfrm>
          <a:prstGeom prst="rect">
            <a:avLst/>
          </a:prstGeom>
          <a:noFill/>
          <a:ln/>
        </p:spPr>
        <p:txBody>
          <a:bodyPr wrap="square" rtlCol="0" anchor="ctr"/>
          <a:lstStyle/>
          <a:p>
            <a:pPr marL="0" indent="0" algn="r">
              <a:buNone/>
            </a:pPr>
            <a:r>
              <a:rPr lang="en-US" sz="850" i="1" dirty="0">
                <a:solidFill>
                  <a:srgbClr val="595959"/>
                </a:solidFill>
                <a:latin typeface="Calibri" pitchFamily="34" charset="0"/>
                <a:ea typeface="Calibri" pitchFamily="34" charset="-122"/>
                <a:cs typeface="Calibri" pitchFamily="34" charset="-120"/>
              </a:rPr>
              <a:t>To ingest</a:t>
            </a:r>
            <a:endParaRPr lang="en-US" sz="850" dirty="0"/>
          </a:p>
        </p:txBody>
      </p:sp>
      <p:sp>
        <p:nvSpPr>
          <p:cNvPr id="28" name="Shape 26"/>
          <p:cNvSpPr/>
          <p:nvPr/>
        </p:nvSpPr>
        <p:spPr>
          <a:xfrm>
            <a:off x="411480" y="3630168"/>
            <a:ext cx="3017520" cy="411480"/>
          </a:xfrm>
          <a:prstGeom prst="rect">
            <a:avLst/>
          </a:prstGeom>
          <a:solidFill>
            <a:srgbClr val="FFFFFF"/>
          </a:solidFill>
          <a:ln w="9525">
            <a:solidFill>
              <a:srgbClr val="808080"/>
            </a:solidFill>
            <a:prstDash val="solid"/>
          </a:ln>
        </p:spPr>
        <p:txBody>
          <a:bodyPr/>
          <a:lstStyle/>
          <a:p>
            <a:endParaRPr lang="en-US"/>
          </a:p>
        </p:txBody>
      </p:sp>
      <p:sp>
        <p:nvSpPr>
          <p:cNvPr id="29" name="Text 27"/>
          <p:cNvSpPr/>
          <p:nvPr/>
        </p:nvSpPr>
        <p:spPr>
          <a:xfrm>
            <a:off x="502920" y="3648456"/>
            <a:ext cx="2194560" cy="201168"/>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GY modifier guidance</a:t>
            </a:r>
            <a:endParaRPr lang="en-US" sz="1000" dirty="0"/>
          </a:p>
        </p:txBody>
      </p:sp>
      <p:sp>
        <p:nvSpPr>
          <p:cNvPr id="30" name="Text 28"/>
          <p:cNvSpPr/>
          <p:nvPr/>
        </p:nvSpPr>
        <p:spPr>
          <a:xfrm>
            <a:off x="502920" y="3822192"/>
            <a:ext cx="2834640" cy="201168"/>
          </a:xfrm>
          <a:prstGeom prst="rect">
            <a:avLst/>
          </a:prstGeom>
          <a:noFill/>
          <a:ln/>
        </p:spPr>
        <p:txBody>
          <a:bodyPr wrap="square" rtlCol="0" anchor="ctr"/>
          <a:lstStyle/>
          <a:p>
            <a:pPr marL="0" indent="0">
              <a:buNone/>
            </a:pPr>
            <a:r>
              <a:rPr lang="en-US" sz="750" dirty="0">
                <a:solidFill>
                  <a:srgbClr val="595959"/>
                </a:solidFill>
                <a:latin typeface="Calibri" pitchFamily="34" charset="0"/>
                <a:ea typeface="Calibri" pitchFamily="34" charset="-122"/>
                <a:cs typeface="Calibri" pitchFamily="34" charset="-120"/>
              </a:rPr>
              <a:t>Statutorily excluded services</a:t>
            </a:r>
            <a:endParaRPr lang="en-US" sz="750" dirty="0"/>
          </a:p>
        </p:txBody>
      </p:sp>
      <p:sp>
        <p:nvSpPr>
          <p:cNvPr id="31" name="Text 29"/>
          <p:cNvSpPr/>
          <p:nvPr/>
        </p:nvSpPr>
        <p:spPr>
          <a:xfrm>
            <a:off x="2606040" y="3648456"/>
            <a:ext cx="777240" cy="201168"/>
          </a:xfrm>
          <a:prstGeom prst="rect">
            <a:avLst/>
          </a:prstGeom>
          <a:noFill/>
          <a:ln/>
        </p:spPr>
        <p:txBody>
          <a:bodyPr wrap="square" rtlCol="0" anchor="ctr"/>
          <a:lstStyle/>
          <a:p>
            <a:pPr marL="0" indent="0" algn="r">
              <a:buNone/>
            </a:pPr>
            <a:r>
              <a:rPr lang="en-US" sz="850" i="1" dirty="0">
                <a:solidFill>
                  <a:srgbClr val="595959"/>
                </a:solidFill>
                <a:latin typeface="Calibri" pitchFamily="34" charset="0"/>
                <a:ea typeface="Calibri" pitchFamily="34" charset="-122"/>
                <a:cs typeface="Calibri" pitchFamily="34" charset="-120"/>
              </a:rPr>
              <a:t>Incoming</a:t>
            </a:r>
            <a:endParaRPr lang="en-US" sz="850" dirty="0"/>
          </a:p>
        </p:txBody>
      </p:sp>
      <p:sp>
        <p:nvSpPr>
          <p:cNvPr id="32" name="Shape 30"/>
          <p:cNvSpPr/>
          <p:nvPr/>
        </p:nvSpPr>
        <p:spPr>
          <a:xfrm>
            <a:off x="3547872" y="2331720"/>
            <a:ext cx="457200" cy="237744"/>
          </a:xfrm>
          <a:prstGeom prst="rightArrow">
            <a:avLst/>
          </a:prstGeom>
          <a:solidFill>
            <a:srgbClr val="808080"/>
          </a:solidFill>
          <a:ln w="12700">
            <a:solidFill>
              <a:srgbClr val="808080"/>
            </a:solidFill>
            <a:prstDash val="solid"/>
          </a:ln>
        </p:spPr>
        <p:txBody>
          <a:bodyPr/>
          <a:lstStyle/>
          <a:p>
            <a:endParaRPr lang="en-US"/>
          </a:p>
        </p:txBody>
      </p:sp>
      <p:sp>
        <p:nvSpPr>
          <p:cNvPr id="33" name="Shape 31"/>
          <p:cNvSpPr/>
          <p:nvPr/>
        </p:nvSpPr>
        <p:spPr>
          <a:xfrm>
            <a:off x="6748272" y="2331720"/>
            <a:ext cx="365760" cy="237744"/>
          </a:xfrm>
          <a:prstGeom prst="rightArrow">
            <a:avLst/>
          </a:prstGeom>
          <a:solidFill>
            <a:srgbClr val="808080"/>
          </a:solidFill>
          <a:ln w="12700">
            <a:solidFill>
              <a:srgbClr val="808080"/>
            </a:solidFill>
            <a:prstDash val="solid"/>
          </a:ln>
        </p:spPr>
        <p:txBody>
          <a:bodyPr/>
          <a:lstStyle/>
          <a:p>
            <a:endParaRPr lang="en-US"/>
          </a:p>
        </p:txBody>
      </p:sp>
      <p:sp>
        <p:nvSpPr>
          <p:cNvPr id="34" name="Shape 32"/>
          <p:cNvSpPr/>
          <p:nvPr/>
        </p:nvSpPr>
        <p:spPr>
          <a:xfrm>
            <a:off x="9464040" y="2331720"/>
            <a:ext cx="365760" cy="237744"/>
          </a:xfrm>
          <a:prstGeom prst="rightArrow">
            <a:avLst/>
          </a:prstGeom>
          <a:solidFill>
            <a:srgbClr val="808080"/>
          </a:solidFill>
          <a:ln w="12700">
            <a:solidFill>
              <a:srgbClr val="808080"/>
            </a:solidFill>
            <a:prstDash val="solid"/>
          </a:ln>
        </p:spPr>
        <p:txBody>
          <a:bodyPr/>
          <a:lstStyle/>
          <a:p>
            <a:endParaRPr lang="en-US"/>
          </a:p>
        </p:txBody>
      </p:sp>
      <p:sp>
        <p:nvSpPr>
          <p:cNvPr id="35" name="Shape 33"/>
          <p:cNvSpPr/>
          <p:nvPr/>
        </p:nvSpPr>
        <p:spPr>
          <a:xfrm>
            <a:off x="4160520" y="1298448"/>
            <a:ext cx="2468880" cy="2734056"/>
          </a:xfrm>
          <a:prstGeom prst="rect">
            <a:avLst/>
          </a:prstGeom>
          <a:solidFill>
            <a:srgbClr val="F2F2F2"/>
          </a:solidFill>
          <a:ln w="9525">
            <a:solidFill>
              <a:srgbClr val="808080"/>
            </a:solidFill>
            <a:prstDash val="solid"/>
          </a:ln>
        </p:spPr>
        <p:txBody>
          <a:bodyPr/>
          <a:lstStyle/>
          <a:p>
            <a:endParaRPr lang="en-US"/>
          </a:p>
        </p:txBody>
      </p:sp>
      <p:sp>
        <p:nvSpPr>
          <p:cNvPr id="36" name="Text 34"/>
          <p:cNvSpPr/>
          <p:nvPr/>
        </p:nvSpPr>
        <p:spPr>
          <a:xfrm>
            <a:off x="4251960" y="1362456"/>
            <a:ext cx="2286000" cy="219456"/>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med_nec_knowledge.json</a:t>
            </a:r>
            <a:endParaRPr lang="en-US" sz="1150" dirty="0"/>
          </a:p>
        </p:txBody>
      </p:sp>
      <p:sp>
        <p:nvSpPr>
          <p:cNvPr id="37" name="Text 35"/>
          <p:cNvSpPr/>
          <p:nvPr/>
        </p:nvSpPr>
        <p:spPr>
          <a:xfrm>
            <a:off x="4251960" y="1618488"/>
            <a:ext cx="2286000" cy="2377440"/>
          </a:xfrm>
          <a:prstGeom prst="rect">
            <a:avLst/>
          </a:prstGeom>
          <a:noFill/>
          <a:ln/>
        </p:spPr>
        <p:txBody>
          <a:bodyPr wrap="square" rtlCol="0" anchor="t"/>
          <a:lstStyle/>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27 concepts with axis, weight, source and citation</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3 bed confinement elements, required together</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9 presumed conditions</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9 non-covered situations</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13 decision gate questions across two trees</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4 part denial test</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336 documented phrasings</a:t>
            </a:r>
            <a:endParaRPr lang="en-US" sz="900" dirty="0"/>
          </a:p>
        </p:txBody>
      </p:sp>
      <p:sp>
        <p:nvSpPr>
          <p:cNvPr id="38" name="Shape 36"/>
          <p:cNvSpPr/>
          <p:nvPr/>
        </p:nvSpPr>
        <p:spPr>
          <a:xfrm>
            <a:off x="7178040" y="1298448"/>
            <a:ext cx="2194560" cy="2734056"/>
          </a:xfrm>
          <a:prstGeom prst="rect">
            <a:avLst/>
          </a:prstGeom>
          <a:solidFill>
            <a:srgbClr val="FFFFFF"/>
          </a:solidFill>
          <a:ln w="9525">
            <a:solidFill>
              <a:srgbClr val="808080"/>
            </a:solidFill>
            <a:prstDash val="solid"/>
          </a:ln>
        </p:spPr>
        <p:txBody>
          <a:bodyPr/>
          <a:lstStyle/>
          <a:p>
            <a:endParaRPr lang="en-US"/>
          </a:p>
        </p:txBody>
      </p:sp>
      <p:sp>
        <p:nvSpPr>
          <p:cNvPr id="39" name="Text 37"/>
          <p:cNvSpPr/>
          <p:nvPr/>
        </p:nvSpPr>
        <p:spPr>
          <a:xfrm>
            <a:off x="7269480" y="1362456"/>
            <a:ext cx="2011680" cy="219456"/>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AI Processing</a:t>
            </a:r>
            <a:endParaRPr lang="en-US" sz="1150" dirty="0"/>
          </a:p>
        </p:txBody>
      </p:sp>
      <p:sp>
        <p:nvSpPr>
          <p:cNvPr id="40" name="Text 38"/>
          <p:cNvSpPr/>
          <p:nvPr/>
        </p:nvSpPr>
        <p:spPr>
          <a:xfrm>
            <a:off x="7269480" y="1618488"/>
            <a:ext cx="2011680" cy="2377440"/>
          </a:xfrm>
          <a:prstGeom prst="rect">
            <a:avLst/>
          </a:prstGeom>
          <a:noFill/>
          <a:ln/>
        </p:spPr>
        <p:txBody>
          <a:bodyPr wrap="square" rtlCol="0" anchor="t"/>
          <a:lstStyle/>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Criteria file compiled into a single model instruction at run time</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Large language model returns structured output, one call per order</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Each answer carries a verbatim quote from the order text</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Rules engine matches the same criteria independently</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Two paths compared for agreement</a:t>
            </a:r>
            <a:endParaRPr lang="en-US" sz="900" dirty="0"/>
          </a:p>
        </p:txBody>
      </p:sp>
      <p:sp>
        <p:nvSpPr>
          <p:cNvPr id="41" name="Shape 39"/>
          <p:cNvSpPr/>
          <p:nvPr/>
        </p:nvSpPr>
        <p:spPr>
          <a:xfrm>
            <a:off x="9829800" y="1298448"/>
            <a:ext cx="1965960" cy="2734056"/>
          </a:xfrm>
          <a:prstGeom prst="rect">
            <a:avLst/>
          </a:prstGeom>
          <a:solidFill>
            <a:srgbClr val="FFFFFF"/>
          </a:solidFill>
          <a:ln w="9525">
            <a:solidFill>
              <a:srgbClr val="808080"/>
            </a:solidFill>
            <a:prstDash val="solid"/>
          </a:ln>
        </p:spPr>
        <p:txBody>
          <a:bodyPr/>
          <a:lstStyle/>
          <a:p>
            <a:endParaRPr lang="en-US"/>
          </a:p>
        </p:txBody>
      </p:sp>
      <p:sp>
        <p:nvSpPr>
          <p:cNvPr id="42" name="Text 40"/>
          <p:cNvSpPr/>
          <p:nvPr/>
        </p:nvSpPr>
        <p:spPr>
          <a:xfrm>
            <a:off x="9921240" y="1362456"/>
            <a:ext cx="1783080" cy="219456"/>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Determination</a:t>
            </a:r>
            <a:endParaRPr lang="en-US" sz="1150" dirty="0"/>
          </a:p>
        </p:txBody>
      </p:sp>
      <p:sp>
        <p:nvSpPr>
          <p:cNvPr id="43" name="Text 41"/>
          <p:cNvSpPr/>
          <p:nvPr/>
        </p:nvSpPr>
        <p:spPr>
          <a:xfrm>
            <a:off x="9921240" y="1618488"/>
            <a:ext cx="1783080" cy="2377440"/>
          </a:xfrm>
          <a:prstGeom prst="rect">
            <a:avLst/>
          </a:prstGeom>
          <a:noFill/>
          <a:ln/>
        </p:spPr>
        <p:txBody>
          <a:bodyPr wrap="square" rtlCol="0" anchor="t"/>
          <a:lstStyle/>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Fixed logic, not the model</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Presumed conditions checked first</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Gates walked in order, first match exits</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Denial test decides the remainder</a:t>
            </a:r>
            <a:endParaRPr lang="en-US" sz="900" dirty="0"/>
          </a:p>
          <a:p>
            <a:pPr marL="342900" indent="-342900">
              <a:spcAft>
                <a:spcPts val="400"/>
              </a:spcAft>
              <a:buSzPct val="100000"/>
              <a:buChar char="•"/>
            </a:pPr>
            <a:r>
              <a:rPr lang="en-US" sz="900" dirty="0">
                <a:solidFill>
                  <a:srgbClr val="000000"/>
                </a:solidFill>
                <a:latin typeface="Calibri" pitchFamily="34" charset="0"/>
                <a:ea typeface="Calibri" pitchFamily="34" charset="-122"/>
                <a:cs typeface="Calibri" pitchFamily="34" charset="-120"/>
              </a:rPr>
              <a:t>Reasons and quoted evidence per order</a:t>
            </a:r>
            <a:endParaRPr lang="en-US" sz="900" dirty="0"/>
          </a:p>
        </p:txBody>
      </p:sp>
      <p:sp>
        <p:nvSpPr>
          <p:cNvPr id="44" name="Shape 42"/>
          <p:cNvSpPr/>
          <p:nvPr/>
        </p:nvSpPr>
        <p:spPr>
          <a:xfrm>
            <a:off x="411480" y="4224528"/>
            <a:ext cx="11384280" cy="0"/>
          </a:xfrm>
          <a:prstGeom prst="line">
            <a:avLst/>
          </a:prstGeom>
          <a:noFill/>
          <a:ln w="9525">
            <a:solidFill>
              <a:srgbClr val="808080"/>
            </a:solidFill>
            <a:prstDash val="solid"/>
          </a:ln>
        </p:spPr>
        <p:txBody>
          <a:bodyPr/>
          <a:lstStyle/>
          <a:p>
            <a:endParaRPr lang="en-US"/>
          </a:p>
        </p:txBody>
      </p:sp>
      <p:sp>
        <p:nvSpPr>
          <p:cNvPr id="45" name="Text 43"/>
          <p:cNvSpPr/>
          <p:nvPr/>
        </p:nvSpPr>
        <p:spPr>
          <a:xfrm>
            <a:off x="411480" y="4343400"/>
            <a:ext cx="5486400" cy="201168"/>
          </a:xfrm>
          <a:prstGeom prst="rect">
            <a:avLst/>
          </a:prstGeom>
          <a:noFill/>
          <a:ln/>
        </p:spPr>
        <p:txBody>
          <a:bodyPr wrap="square" rtlCol="0" anchor="ctr"/>
          <a:lstStyle/>
          <a:p>
            <a:pPr marL="0" indent="0">
              <a:buNone/>
            </a:pPr>
            <a:r>
              <a:rPr lang="en-US" sz="1050" b="1" dirty="0">
                <a:solidFill>
                  <a:srgbClr val="595959"/>
                </a:solidFill>
                <a:latin typeface="Calibri" pitchFamily="34" charset="0"/>
                <a:ea typeface="Calibri" pitchFamily="34" charset="-122"/>
                <a:cs typeface="Calibri" pitchFamily="34" charset="-120"/>
              </a:rPr>
              <a:t>THE PIPELINE, STAGE BY STAGE</a:t>
            </a:r>
            <a:endParaRPr lang="en-US" sz="1050" dirty="0"/>
          </a:p>
        </p:txBody>
      </p:sp>
      <p:sp>
        <p:nvSpPr>
          <p:cNvPr id="46" name="Shape 44"/>
          <p:cNvSpPr/>
          <p:nvPr/>
        </p:nvSpPr>
        <p:spPr>
          <a:xfrm>
            <a:off x="411480" y="4590288"/>
            <a:ext cx="2084832" cy="329184"/>
          </a:xfrm>
          <a:prstGeom prst="rect">
            <a:avLst/>
          </a:prstGeom>
          <a:solidFill>
            <a:srgbClr val="F2F2F2"/>
          </a:solidFill>
          <a:ln w="9525">
            <a:solidFill>
              <a:srgbClr val="808080"/>
            </a:solidFill>
            <a:prstDash val="solid"/>
          </a:ln>
        </p:spPr>
        <p:txBody>
          <a:bodyPr/>
          <a:lstStyle/>
          <a:p>
            <a:endParaRPr lang="en-US"/>
          </a:p>
        </p:txBody>
      </p:sp>
      <p:sp>
        <p:nvSpPr>
          <p:cNvPr id="47" name="Text 45"/>
          <p:cNvSpPr/>
          <p:nvPr/>
        </p:nvSpPr>
        <p:spPr>
          <a:xfrm>
            <a:off x="484632" y="4608576"/>
            <a:ext cx="1938528" cy="27432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1  Intake</a:t>
            </a:r>
            <a:endParaRPr lang="en-US" sz="1050" dirty="0"/>
          </a:p>
        </p:txBody>
      </p:sp>
      <p:sp>
        <p:nvSpPr>
          <p:cNvPr id="48" name="Text 46"/>
          <p:cNvSpPr/>
          <p:nvPr/>
        </p:nvSpPr>
        <p:spPr>
          <a:xfrm>
            <a:off x="448056" y="4983480"/>
            <a:ext cx="2011680" cy="1691640"/>
          </a:xfrm>
          <a:prstGeom prst="rect">
            <a:avLst/>
          </a:prstGeom>
          <a:noFill/>
          <a:ln/>
        </p:spPr>
        <p:txBody>
          <a:bodyPr wrap="square" rtlCol="0" anchor="t"/>
          <a:lstStyle/>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All columns selected, none dropped at the query</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Out of scope removed: emergency, wheelchair, quotes, organ procurement</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Population count recorded at each filter</a:t>
            </a:r>
            <a:endParaRPr lang="en-US" sz="850" dirty="0"/>
          </a:p>
        </p:txBody>
      </p:sp>
      <p:sp>
        <p:nvSpPr>
          <p:cNvPr id="49" name="Shape 47"/>
          <p:cNvSpPr/>
          <p:nvPr/>
        </p:nvSpPr>
        <p:spPr>
          <a:xfrm>
            <a:off x="2505456" y="4663440"/>
            <a:ext cx="182880" cy="164592"/>
          </a:xfrm>
          <a:prstGeom prst="rightArrow">
            <a:avLst/>
          </a:prstGeom>
          <a:solidFill>
            <a:srgbClr val="808080"/>
          </a:solidFill>
          <a:ln w="12700">
            <a:solidFill>
              <a:srgbClr val="808080"/>
            </a:solidFill>
            <a:prstDash val="solid"/>
          </a:ln>
        </p:spPr>
        <p:txBody>
          <a:bodyPr/>
          <a:lstStyle/>
          <a:p>
            <a:endParaRPr lang="en-US"/>
          </a:p>
        </p:txBody>
      </p:sp>
      <p:sp>
        <p:nvSpPr>
          <p:cNvPr id="50" name="Shape 48"/>
          <p:cNvSpPr/>
          <p:nvPr/>
        </p:nvSpPr>
        <p:spPr>
          <a:xfrm>
            <a:off x="2697480" y="4590288"/>
            <a:ext cx="2084832" cy="329184"/>
          </a:xfrm>
          <a:prstGeom prst="rect">
            <a:avLst/>
          </a:prstGeom>
          <a:solidFill>
            <a:srgbClr val="F2F2F2"/>
          </a:solidFill>
          <a:ln w="9525">
            <a:solidFill>
              <a:srgbClr val="808080"/>
            </a:solidFill>
            <a:prstDash val="solid"/>
          </a:ln>
        </p:spPr>
        <p:txBody>
          <a:bodyPr/>
          <a:lstStyle/>
          <a:p>
            <a:endParaRPr lang="en-US"/>
          </a:p>
        </p:txBody>
      </p:sp>
      <p:sp>
        <p:nvSpPr>
          <p:cNvPr id="51" name="Text 49"/>
          <p:cNvSpPr/>
          <p:nvPr/>
        </p:nvSpPr>
        <p:spPr>
          <a:xfrm>
            <a:off x="2770632" y="4608576"/>
            <a:ext cx="1938528" cy="27432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2  Assemble the text</a:t>
            </a:r>
            <a:endParaRPr lang="en-US" sz="1050" dirty="0"/>
          </a:p>
        </p:txBody>
      </p:sp>
      <p:sp>
        <p:nvSpPr>
          <p:cNvPr id="52" name="Text 50"/>
          <p:cNvSpPr/>
          <p:nvPr/>
        </p:nvSpPr>
        <p:spPr>
          <a:xfrm>
            <a:off x="2734056" y="4983480"/>
            <a:ext cx="2011680" cy="1691640"/>
          </a:xfrm>
          <a:prstGeom prst="rect">
            <a:avLst/>
          </a:prstGeom>
          <a:noFill/>
          <a:ln/>
        </p:spPr>
        <p:txBody>
          <a:bodyPr wrap="square" rtlCol="0" anchor="t"/>
          <a:lstStyle/>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Justification built from the clinical free text fields</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Every text column ranked by criteria vocabulary density</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Run halts if the selected field is a workflow status list</a:t>
            </a:r>
            <a:endParaRPr lang="en-US" sz="850" dirty="0"/>
          </a:p>
        </p:txBody>
      </p:sp>
      <p:sp>
        <p:nvSpPr>
          <p:cNvPr id="53" name="Shape 51"/>
          <p:cNvSpPr/>
          <p:nvPr/>
        </p:nvSpPr>
        <p:spPr>
          <a:xfrm>
            <a:off x="4791456" y="4663440"/>
            <a:ext cx="182880" cy="164592"/>
          </a:xfrm>
          <a:prstGeom prst="rightArrow">
            <a:avLst/>
          </a:prstGeom>
          <a:solidFill>
            <a:srgbClr val="808080"/>
          </a:solidFill>
          <a:ln w="12700">
            <a:solidFill>
              <a:srgbClr val="808080"/>
            </a:solidFill>
            <a:prstDash val="solid"/>
          </a:ln>
        </p:spPr>
        <p:txBody>
          <a:bodyPr/>
          <a:lstStyle/>
          <a:p>
            <a:endParaRPr lang="en-US"/>
          </a:p>
        </p:txBody>
      </p:sp>
      <p:sp>
        <p:nvSpPr>
          <p:cNvPr id="54" name="Shape 52"/>
          <p:cNvSpPr/>
          <p:nvPr/>
        </p:nvSpPr>
        <p:spPr>
          <a:xfrm>
            <a:off x="4983480" y="4590288"/>
            <a:ext cx="2084832" cy="329184"/>
          </a:xfrm>
          <a:prstGeom prst="rect">
            <a:avLst/>
          </a:prstGeom>
          <a:solidFill>
            <a:srgbClr val="F2F2F2"/>
          </a:solidFill>
          <a:ln w="9525">
            <a:solidFill>
              <a:srgbClr val="808080"/>
            </a:solidFill>
            <a:prstDash val="solid"/>
          </a:ln>
        </p:spPr>
        <p:txBody>
          <a:bodyPr/>
          <a:lstStyle/>
          <a:p>
            <a:endParaRPr lang="en-US"/>
          </a:p>
        </p:txBody>
      </p:sp>
      <p:sp>
        <p:nvSpPr>
          <p:cNvPr id="55" name="Text 53"/>
          <p:cNvSpPr/>
          <p:nvPr/>
        </p:nvSpPr>
        <p:spPr>
          <a:xfrm>
            <a:off x="5056632" y="4608576"/>
            <a:ext cx="1938528" cy="27432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3  Compile the instruction</a:t>
            </a:r>
            <a:endParaRPr lang="en-US" sz="1050" dirty="0"/>
          </a:p>
        </p:txBody>
      </p:sp>
      <p:sp>
        <p:nvSpPr>
          <p:cNvPr id="56" name="Text 54"/>
          <p:cNvSpPr/>
          <p:nvPr/>
        </p:nvSpPr>
        <p:spPr>
          <a:xfrm>
            <a:off x="5020056" y="4983480"/>
            <a:ext cx="2011680" cy="1691640"/>
          </a:xfrm>
          <a:prstGeom prst="rect">
            <a:avLst/>
          </a:prstGeom>
          <a:noFill/>
          <a:ln/>
        </p:spPr>
        <p:txBody>
          <a:bodyPr wrap="square" rtlCol="0" anchor="t"/>
          <a:lstStyle/>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Criteria file rendered into one instruction</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Concepts, gates, presumed conditions, non-covered situations, denial test</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Output declared as a fixed schema of booleans plus an evidence array</a:t>
            </a:r>
            <a:endParaRPr lang="en-US" sz="850" dirty="0"/>
          </a:p>
        </p:txBody>
      </p:sp>
      <p:sp>
        <p:nvSpPr>
          <p:cNvPr id="57" name="Shape 55"/>
          <p:cNvSpPr/>
          <p:nvPr/>
        </p:nvSpPr>
        <p:spPr>
          <a:xfrm>
            <a:off x="7077456" y="4663440"/>
            <a:ext cx="182880" cy="164592"/>
          </a:xfrm>
          <a:prstGeom prst="rightArrow">
            <a:avLst/>
          </a:prstGeom>
          <a:solidFill>
            <a:srgbClr val="808080"/>
          </a:solidFill>
          <a:ln w="12700">
            <a:solidFill>
              <a:srgbClr val="808080"/>
            </a:solidFill>
            <a:prstDash val="solid"/>
          </a:ln>
        </p:spPr>
        <p:txBody>
          <a:bodyPr/>
          <a:lstStyle/>
          <a:p>
            <a:endParaRPr lang="en-US"/>
          </a:p>
        </p:txBody>
      </p:sp>
      <p:sp>
        <p:nvSpPr>
          <p:cNvPr id="58" name="Shape 56"/>
          <p:cNvSpPr/>
          <p:nvPr/>
        </p:nvSpPr>
        <p:spPr>
          <a:xfrm>
            <a:off x="7269480" y="4590288"/>
            <a:ext cx="2084832" cy="329184"/>
          </a:xfrm>
          <a:prstGeom prst="rect">
            <a:avLst/>
          </a:prstGeom>
          <a:solidFill>
            <a:srgbClr val="F2F2F2"/>
          </a:solidFill>
          <a:ln w="9525">
            <a:solidFill>
              <a:srgbClr val="808080"/>
            </a:solidFill>
            <a:prstDash val="solid"/>
          </a:ln>
        </p:spPr>
        <p:txBody>
          <a:bodyPr/>
          <a:lstStyle/>
          <a:p>
            <a:endParaRPr lang="en-US"/>
          </a:p>
        </p:txBody>
      </p:sp>
      <p:sp>
        <p:nvSpPr>
          <p:cNvPr id="59" name="Text 57"/>
          <p:cNvSpPr/>
          <p:nvPr/>
        </p:nvSpPr>
        <p:spPr>
          <a:xfrm>
            <a:off x="7342632" y="4608576"/>
            <a:ext cx="1938528" cy="27432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4  Extract</a:t>
            </a:r>
            <a:endParaRPr lang="en-US" sz="1050" dirty="0"/>
          </a:p>
        </p:txBody>
      </p:sp>
      <p:sp>
        <p:nvSpPr>
          <p:cNvPr id="60" name="Text 58"/>
          <p:cNvSpPr/>
          <p:nvPr/>
        </p:nvSpPr>
        <p:spPr>
          <a:xfrm>
            <a:off x="7306056" y="4983480"/>
            <a:ext cx="2011680" cy="1691640"/>
          </a:xfrm>
          <a:prstGeom prst="rect">
            <a:avLst/>
          </a:prstGeom>
          <a:noFill/>
          <a:ln/>
        </p:spPr>
        <p:txBody>
          <a:bodyPr wrap="square" rtlCol="0" anchor="t"/>
          <a:lstStyle/>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One call per order, low temperature, no chaining</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Model answers each gate from the text alone</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Every affirmative answer must quote the source words</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Rules engine matches the same text independently</a:t>
            </a:r>
            <a:endParaRPr lang="en-US" sz="850" dirty="0"/>
          </a:p>
        </p:txBody>
      </p:sp>
      <p:sp>
        <p:nvSpPr>
          <p:cNvPr id="61" name="Shape 59"/>
          <p:cNvSpPr/>
          <p:nvPr/>
        </p:nvSpPr>
        <p:spPr>
          <a:xfrm>
            <a:off x="9363456" y="4663440"/>
            <a:ext cx="182880" cy="164592"/>
          </a:xfrm>
          <a:prstGeom prst="rightArrow">
            <a:avLst/>
          </a:prstGeom>
          <a:solidFill>
            <a:srgbClr val="808080"/>
          </a:solidFill>
          <a:ln w="12700">
            <a:solidFill>
              <a:srgbClr val="808080"/>
            </a:solidFill>
            <a:prstDash val="solid"/>
          </a:ln>
        </p:spPr>
        <p:txBody>
          <a:bodyPr/>
          <a:lstStyle/>
          <a:p>
            <a:endParaRPr lang="en-US"/>
          </a:p>
        </p:txBody>
      </p:sp>
      <p:sp>
        <p:nvSpPr>
          <p:cNvPr id="62" name="Shape 60"/>
          <p:cNvSpPr/>
          <p:nvPr/>
        </p:nvSpPr>
        <p:spPr>
          <a:xfrm>
            <a:off x="9555480" y="4590288"/>
            <a:ext cx="2084832" cy="329184"/>
          </a:xfrm>
          <a:prstGeom prst="rect">
            <a:avLst/>
          </a:prstGeom>
          <a:solidFill>
            <a:srgbClr val="F2F2F2"/>
          </a:solidFill>
          <a:ln w="9525">
            <a:solidFill>
              <a:srgbClr val="808080"/>
            </a:solidFill>
            <a:prstDash val="solid"/>
          </a:ln>
        </p:spPr>
        <p:txBody>
          <a:bodyPr/>
          <a:lstStyle/>
          <a:p>
            <a:endParaRPr lang="en-US"/>
          </a:p>
        </p:txBody>
      </p:sp>
      <p:sp>
        <p:nvSpPr>
          <p:cNvPr id="63" name="Text 61"/>
          <p:cNvSpPr/>
          <p:nvPr/>
        </p:nvSpPr>
        <p:spPr>
          <a:xfrm>
            <a:off x="9628632" y="4608576"/>
            <a:ext cx="1938528" cy="27432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5  Evaluate and return</a:t>
            </a:r>
            <a:endParaRPr lang="en-US" sz="1050" dirty="0"/>
          </a:p>
        </p:txBody>
      </p:sp>
      <p:sp>
        <p:nvSpPr>
          <p:cNvPr id="64" name="Text 62"/>
          <p:cNvSpPr/>
          <p:nvPr/>
        </p:nvSpPr>
        <p:spPr>
          <a:xfrm>
            <a:off x="9592056" y="4983480"/>
            <a:ext cx="2011680" cy="1691640"/>
          </a:xfrm>
          <a:prstGeom prst="rect">
            <a:avLst/>
          </a:prstGeom>
          <a:noFill/>
          <a:ln/>
        </p:spPr>
        <p:txBody>
          <a:bodyPr wrap="square" rtlCol="0" anchor="t"/>
          <a:lstStyle/>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Response parsed and schema checked</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Answer with no quote discarded before evaluation</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Fixed logic walks the tree and applies the denial test</a:t>
            </a:r>
            <a:endParaRPr lang="en-US" sz="850" dirty="0"/>
          </a:p>
          <a:p>
            <a:pPr marL="342900" indent="-342900">
              <a:spcAft>
                <a:spcPts val="400"/>
              </a:spcAft>
              <a:buSzPct val="100000"/>
              <a:buChar char="•"/>
            </a:pPr>
            <a:r>
              <a:rPr lang="en-US" sz="850" dirty="0">
                <a:solidFill>
                  <a:srgbClr val="000000"/>
                </a:solidFill>
                <a:latin typeface="Calibri" pitchFamily="34" charset="0"/>
                <a:ea typeface="Calibri" pitchFamily="34" charset="-122"/>
                <a:cs typeface="Calibri" pitchFamily="34" charset="-120"/>
              </a:rPr>
              <a:t>Determination, reasons, quotes and citations per order</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rtlCol="0" anchor="ctr"/>
          <a:lstStyle/>
          <a:p>
            <a:pPr marL="0" indent="0">
              <a:buNone/>
            </a:pPr>
            <a:r>
              <a:rPr lang="en-US" sz="2300" b="1" dirty="0">
                <a:solidFill>
                  <a:srgbClr val="000000"/>
                </a:solidFill>
                <a:latin typeface="Calibri" pitchFamily="34" charset="0"/>
                <a:ea typeface="Calibri" pitchFamily="34" charset="-122"/>
                <a:cs typeface="Calibri" pitchFamily="34" charset="-120"/>
              </a:rPr>
              <a:t>How the language model is used, and how a determination is reached</a:t>
            </a:r>
            <a:endParaRPr lang="en-US" sz="2300" dirty="0"/>
          </a:p>
        </p:txBody>
      </p:sp>
      <p:sp>
        <p:nvSpPr>
          <p:cNvPr id="3" name="Text 1"/>
          <p:cNvSpPr/>
          <p:nvPr/>
        </p:nvSpPr>
        <p:spPr>
          <a:xfrm>
            <a:off x="411480" y="685800"/>
            <a:ext cx="11338560" cy="274320"/>
          </a:xfrm>
          <a:prstGeom prst="rect">
            <a:avLst/>
          </a:prstGeom>
          <a:noFill/>
          <a:ln/>
        </p:spPr>
        <p:txBody>
          <a:bodyPr wrap="square" rtlCol="0" anchor="ctr"/>
          <a:lstStyle/>
          <a:p>
            <a:pPr marL="0" indent="0">
              <a:buNone/>
            </a:pPr>
            <a:r>
              <a:rPr lang="en-US" sz="1250" dirty="0">
                <a:solidFill>
                  <a:srgbClr val="595959"/>
                </a:solidFill>
                <a:latin typeface="Calibri" pitchFamily="34" charset="0"/>
                <a:ea typeface="Calibri" pitchFamily="34" charset="-122"/>
                <a:cs typeface="Calibri" pitchFamily="34" charset="-120"/>
              </a:rPr>
              <a:t>Three design choices approaches.</a:t>
            </a:r>
            <a:endParaRPr lang="en-US" sz="1250" dirty="0"/>
          </a:p>
        </p:txBody>
      </p:sp>
      <p:sp>
        <p:nvSpPr>
          <p:cNvPr id="4" name="Text 2"/>
          <p:cNvSpPr/>
          <p:nvPr/>
        </p:nvSpPr>
        <p:spPr>
          <a:xfrm>
            <a:off x="411480" y="1051560"/>
            <a:ext cx="3566160" cy="228600"/>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Retrieval versus full context</a:t>
            </a:r>
            <a:endParaRPr lang="en-US" sz="1150" dirty="0"/>
          </a:p>
        </p:txBody>
      </p:sp>
      <p:sp>
        <p:nvSpPr>
          <p:cNvPr id="5" name="Text 3"/>
          <p:cNvSpPr/>
          <p:nvPr/>
        </p:nvSpPr>
        <p:spPr>
          <a:xfrm>
            <a:off x="411480" y="1298448"/>
            <a:ext cx="3566160" cy="777240"/>
          </a:xfrm>
          <a:prstGeom prst="rect">
            <a:avLst/>
          </a:prstGeom>
          <a:noFill/>
          <a:ln/>
        </p:spPr>
        <p:txBody>
          <a:bodyPr wrap="square" rtlCol="0" anchor="t"/>
          <a:lstStyle/>
          <a:p>
            <a:pPr marL="0" indent="0">
              <a:buNone/>
            </a:pPr>
            <a:r>
              <a:rPr lang="en-US" sz="950" b="1" dirty="0">
                <a:solidFill>
                  <a:srgbClr val="000000"/>
                </a:solidFill>
                <a:latin typeface="Calibri" pitchFamily="34" charset="0"/>
                <a:ea typeface="Calibri" pitchFamily="34" charset="-122"/>
                <a:cs typeface="Calibri" pitchFamily="34" charset="-120"/>
              </a:rPr>
              <a:t>What retrieval means. </a:t>
            </a:r>
            <a:r>
              <a:rPr lang="en-US" sz="950" dirty="0">
                <a:solidFill>
                  <a:srgbClr val="000000"/>
                </a:solidFill>
                <a:latin typeface="Calibri" pitchFamily="34" charset="0"/>
                <a:ea typeface="Calibri" pitchFamily="34" charset="-122"/>
                <a:cs typeface="Calibri" pitchFamily="34" charset="-120"/>
              </a:rPr>
              <a:t>Reference material is split into passages, stored as numeric vectors, and the closest few are fetched at question time. It keeps the instruction small, but the model only sees what was fetched.</a:t>
            </a:r>
            <a:endParaRPr lang="en-US" sz="950" dirty="0"/>
          </a:p>
        </p:txBody>
      </p:sp>
      <p:sp>
        <p:nvSpPr>
          <p:cNvPr id="6" name="Text 4"/>
          <p:cNvSpPr/>
          <p:nvPr/>
        </p:nvSpPr>
        <p:spPr>
          <a:xfrm>
            <a:off x="411480" y="2103120"/>
            <a:ext cx="3566160" cy="1554480"/>
          </a:xfrm>
          <a:prstGeom prst="rect">
            <a:avLst/>
          </a:prstGeom>
          <a:noFill/>
          <a:ln/>
        </p:spPr>
        <p:txBody>
          <a:bodyPr wrap="square" rtlCol="0" anchor="t"/>
          <a:lstStyle/>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Our criteria set is 27 concepts, 13 gate questions, 9 presumed conditions and 336 documented phrasings</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Rendered as text that is roughly 18,000 characters, well inside a single instruction</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So the entire criteria set is sent with every order. Nothing is selected, so nothing can be left out</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Retrieval becomes necessary when the corpus outgrows one instruction, for example payer specific coverage determinations</a:t>
            </a:r>
            <a:endParaRPr lang="en-US" sz="950" dirty="0"/>
          </a:p>
        </p:txBody>
      </p:sp>
      <p:sp>
        <p:nvSpPr>
          <p:cNvPr id="7" name="Text 5"/>
          <p:cNvSpPr/>
          <p:nvPr/>
        </p:nvSpPr>
        <p:spPr>
          <a:xfrm>
            <a:off x="4297680" y="1051560"/>
            <a:ext cx="3657600" cy="228600"/>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Zero shot versus few shot</a:t>
            </a:r>
            <a:endParaRPr lang="en-US" sz="1150" dirty="0"/>
          </a:p>
        </p:txBody>
      </p:sp>
      <p:sp>
        <p:nvSpPr>
          <p:cNvPr id="8" name="Text 6"/>
          <p:cNvSpPr/>
          <p:nvPr/>
        </p:nvSpPr>
        <p:spPr>
          <a:xfrm>
            <a:off x="4297680" y="1298448"/>
            <a:ext cx="3657600" cy="777240"/>
          </a:xfrm>
          <a:prstGeom prst="rect">
            <a:avLst/>
          </a:prstGeom>
          <a:noFill/>
          <a:ln/>
        </p:spPr>
        <p:txBody>
          <a:bodyPr wrap="square" rtlCol="0" anchor="t"/>
          <a:lstStyle/>
          <a:p>
            <a:pPr marL="0" indent="0">
              <a:buNone/>
            </a:pPr>
            <a:r>
              <a:rPr lang="en-US" sz="950" b="1" dirty="0">
                <a:solidFill>
                  <a:srgbClr val="000000"/>
                </a:solidFill>
                <a:latin typeface="Calibri" pitchFamily="34" charset="0"/>
                <a:ea typeface="Calibri" pitchFamily="34" charset="-122"/>
                <a:cs typeface="Calibri" pitchFamily="34" charset="-120"/>
              </a:rPr>
              <a:t>What few shot means. </a:t>
            </a:r>
            <a:r>
              <a:rPr lang="en-US" sz="950" dirty="0">
                <a:solidFill>
                  <a:srgbClr val="000000"/>
                </a:solidFill>
                <a:latin typeface="Calibri" pitchFamily="34" charset="0"/>
                <a:ea typeface="Calibri" pitchFamily="34" charset="-122"/>
                <a:cs typeface="Calibri" pitchFamily="34" charset="-120"/>
              </a:rPr>
              <a:t>Worked examples of input and correct answer are supplied so the model imitates the pattern. It also teaches the model the mix of answers in those examples.</a:t>
            </a:r>
            <a:endParaRPr lang="en-US" sz="950" dirty="0"/>
          </a:p>
        </p:txBody>
      </p:sp>
      <p:sp>
        <p:nvSpPr>
          <p:cNvPr id="9" name="Text 7"/>
          <p:cNvSpPr/>
          <p:nvPr/>
        </p:nvSpPr>
        <p:spPr>
          <a:xfrm>
            <a:off x="4297680" y="2103120"/>
            <a:ext cx="3657600" cy="1554480"/>
          </a:xfrm>
          <a:prstGeom prst="rect">
            <a:avLst/>
          </a:prstGeom>
          <a:noFill/>
          <a:ln/>
        </p:spPr>
        <p:txBody>
          <a:bodyPr wrap="square" rtlCol="0" anchor="t"/>
          <a:lstStyle/>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We use zero shot: the rules and the required output shape are supplied, and no examples</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Examples drawn from historical orders would carry the approval rate of that sample into every future answer</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The instruction is generated from the criteria file at run time, so concept phrasing, gate wording and the denial test never diverge from the rules engine</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Adding a criterion is a data edit; no prompt is rewritten by hand</a:t>
            </a:r>
            <a:endParaRPr lang="en-US" sz="950" dirty="0"/>
          </a:p>
        </p:txBody>
      </p:sp>
      <p:sp>
        <p:nvSpPr>
          <p:cNvPr id="10" name="Text 8"/>
          <p:cNvSpPr/>
          <p:nvPr/>
        </p:nvSpPr>
        <p:spPr>
          <a:xfrm>
            <a:off x="8229600" y="1051560"/>
            <a:ext cx="3566160" cy="228600"/>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Constrained output and run settings</a:t>
            </a:r>
            <a:endParaRPr lang="en-US" sz="1150" dirty="0"/>
          </a:p>
        </p:txBody>
      </p:sp>
      <p:sp>
        <p:nvSpPr>
          <p:cNvPr id="11" name="Text 9"/>
          <p:cNvSpPr/>
          <p:nvPr/>
        </p:nvSpPr>
        <p:spPr>
          <a:xfrm>
            <a:off x="8229600" y="1298448"/>
            <a:ext cx="3566160" cy="777240"/>
          </a:xfrm>
          <a:prstGeom prst="rect">
            <a:avLst/>
          </a:prstGeom>
          <a:noFill/>
          <a:ln/>
        </p:spPr>
        <p:txBody>
          <a:bodyPr wrap="square" rtlCol="0" anchor="t"/>
          <a:lstStyle/>
          <a:p>
            <a:pPr marL="0" indent="0">
              <a:buNone/>
            </a:pPr>
            <a:r>
              <a:rPr lang="en-US" sz="950" b="1" dirty="0">
                <a:solidFill>
                  <a:srgbClr val="000000"/>
                </a:solidFill>
                <a:latin typeface="Calibri" pitchFamily="34" charset="0"/>
                <a:ea typeface="Calibri" pitchFamily="34" charset="-122"/>
                <a:cs typeface="Calibri" pitchFamily="34" charset="-120"/>
              </a:rPr>
              <a:t>What constrained output means. </a:t>
            </a:r>
            <a:r>
              <a:rPr lang="en-US" sz="950" dirty="0">
                <a:solidFill>
                  <a:srgbClr val="000000"/>
                </a:solidFill>
                <a:latin typeface="Calibri" pitchFamily="34" charset="0"/>
                <a:ea typeface="Calibri" pitchFamily="34" charset="-122"/>
                <a:cs typeface="Calibri" pitchFamily="34" charset="-120"/>
              </a:rPr>
              <a:t>The model must answer in a declared structure rather than in prose, so the response can be checked mechanically before anything is done with it.</a:t>
            </a:r>
            <a:endParaRPr lang="en-US" sz="950" dirty="0"/>
          </a:p>
        </p:txBody>
      </p:sp>
      <p:sp>
        <p:nvSpPr>
          <p:cNvPr id="12" name="Text 10"/>
          <p:cNvSpPr/>
          <p:nvPr/>
        </p:nvSpPr>
        <p:spPr>
          <a:xfrm>
            <a:off x="8229600" y="2103120"/>
            <a:ext cx="3566160" cy="1554480"/>
          </a:xfrm>
          <a:prstGeom prst="rect">
            <a:avLst/>
          </a:prstGeom>
          <a:noFill/>
          <a:ln/>
        </p:spPr>
        <p:txBody>
          <a:bodyPr wrap="square" rtlCol="0" anchor="t"/>
          <a:lstStyle/>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One true or false value per criterion, per gate and per denial element, plus an evidence array and a short rationale</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Values cannot be left empty, and prose is accepted only in the rationale field</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Low temperature, one call per order, no chaining and no conversation history, so each order is judged independently</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The model never returns a determination. Structured facts are what allow fixed logic to decide</a:t>
            </a:r>
            <a:endParaRPr lang="en-US" sz="950" dirty="0"/>
          </a:p>
        </p:txBody>
      </p:sp>
      <p:sp>
        <p:nvSpPr>
          <p:cNvPr id="13" name="Shape 11"/>
          <p:cNvSpPr/>
          <p:nvPr/>
        </p:nvSpPr>
        <p:spPr>
          <a:xfrm>
            <a:off x="411480" y="3767328"/>
            <a:ext cx="11384280" cy="0"/>
          </a:xfrm>
          <a:prstGeom prst="line">
            <a:avLst/>
          </a:prstGeom>
          <a:noFill/>
          <a:ln w="9525">
            <a:solidFill>
              <a:srgbClr val="808080"/>
            </a:solidFill>
            <a:prstDash val="solid"/>
          </a:ln>
        </p:spPr>
        <p:txBody>
          <a:bodyPr/>
          <a:lstStyle/>
          <a:p>
            <a:endParaRPr lang="en-US"/>
          </a:p>
        </p:txBody>
      </p:sp>
      <p:sp>
        <p:nvSpPr>
          <p:cNvPr id="14" name="Text 12"/>
          <p:cNvSpPr/>
          <p:nvPr/>
        </p:nvSpPr>
        <p:spPr>
          <a:xfrm>
            <a:off x="411480" y="3913632"/>
            <a:ext cx="5486400" cy="228600"/>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How a determination is reached</a:t>
            </a:r>
            <a:endParaRPr lang="en-US" sz="1150" dirty="0"/>
          </a:p>
        </p:txBody>
      </p:sp>
      <p:sp>
        <p:nvSpPr>
          <p:cNvPr id="15" name="Text 13"/>
          <p:cNvSpPr/>
          <p:nvPr/>
        </p:nvSpPr>
        <p:spPr>
          <a:xfrm>
            <a:off x="411480" y="4169664"/>
            <a:ext cx="5486400" cy="2377440"/>
          </a:xfrm>
          <a:prstGeom prst="rect">
            <a:avLst/>
          </a:prstGeom>
          <a:noFill/>
          <a:ln/>
        </p:spPr>
        <p:txBody>
          <a:bodyPr wrap="square" rtlCol="0" anchor="t"/>
          <a:lstStyle/>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Validation first. Unparseable output is a failed extraction, not a default answer. A criterion asserted with no verbatim quote is treated as not documented</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Presumed conditions checked first. A condition on the federal list, properly documented, carries its own presumption of necessity</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Decision tree selected by origin and destination modifier: higher level of care, or lower level of care</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Gates walked in order. A gate is satisfied only when the question is answered yes and the documentation supports it. First match exits and later gates are not consulted</a:t>
            </a:r>
            <a:endParaRPr lang="en-US" sz="950" dirty="0"/>
          </a:p>
          <a:p>
            <a:pPr marL="342900" indent="-342900">
              <a:spcAft>
                <a:spcPts val="400"/>
              </a:spcAft>
              <a:buSzPct val="100000"/>
              <a:buChar char="•"/>
            </a:pPr>
            <a:r>
              <a:rPr lang="en-US" sz="950" dirty="0">
                <a:solidFill>
                  <a:srgbClr val="000000"/>
                </a:solidFill>
                <a:latin typeface="Calibri" pitchFamily="34" charset="0"/>
                <a:ea typeface="Calibri" pitchFamily="34" charset="-122"/>
                <a:cs typeface="Calibri" pitchFamily="34" charset="-120"/>
              </a:rPr>
              <a:t>If no gate is satisfied, the four part denial test decides. Denial requires all four at once: no procedures performed, vitals normal, history none or not pertinent, no condition given</a:t>
            </a:r>
            <a:endParaRPr lang="en-US" sz="950" dirty="0"/>
          </a:p>
        </p:txBody>
      </p:sp>
      <p:sp>
        <p:nvSpPr>
          <p:cNvPr id="16" name="Text 14"/>
          <p:cNvSpPr/>
          <p:nvPr/>
        </p:nvSpPr>
        <p:spPr>
          <a:xfrm>
            <a:off x="6263640" y="3913632"/>
            <a:ext cx="5486400" cy="228600"/>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Certainty categories, and how each is reached</a:t>
            </a:r>
            <a:endParaRPr lang="en-US" sz="1150" dirty="0"/>
          </a:p>
        </p:txBody>
      </p:sp>
      <p:sp>
        <p:nvSpPr>
          <p:cNvPr id="17" name="Text 15"/>
          <p:cNvSpPr/>
          <p:nvPr/>
        </p:nvSpPr>
        <p:spPr>
          <a:xfrm>
            <a:off x="6263640" y="4169664"/>
            <a:ext cx="5486400" cy="2377440"/>
          </a:xfrm>
          <a:prstGeom prst="rect">
            <a:avLst/>
          </a:prstGeom>
          <a:noFill/>
          <a:ln/>
        </p:spPr>
        <p:txBody>
          <a:bodyPr wrap="square" rtlCol="0" anchor="t"/>
          <a:lstStyle/>
          <a:p>
            <a:pPr marL="0" indent="0">
              <a:spcAft>
                <a:spcPts val="600"/>
              </a:spcAft>
              <a:buNone/>
            </a:pPr>
            <a:r>
              <a:rPr lang="en-US" sz="950" b="1" dirty="0">
                <a:solidFill>
                  <a:srgbClr val="000000"/>
                </a:solidFill>
                <a:latin typeface="Calibri" pitchFamily="34" charset="0"/>
                <a:ea typeface="Calibri" pitchFamily="34" charset="-122"/>
                <a:cs typeface="Calibri" pitchFamily="34" charset="-120"/>
              </a:rPr>
              <a:t>Meets criteria. </a:t>
            </a:r>
            <a:r>
              <a:rPr lang="en-US" sz="950" dirty="0">
                <a:solidFill>
                  <a:srgbClr val="000000"/>
                </a:solidFill>
                <a:latin typeface="Calibri" pitchFamily="34" charset="0"/>
                <a:ea typeface="Calibri" pitchFamily="34" charset="-122"/>
                <a:cs typeface="Calibri" pitchFamily="34" charset="-120"/>
              </a:rPr>
              <a:t>A presumed condition is documented, or a gate is satisfied with supporting documentation. The satisfying gate is recorded.</a:t>
            </a:r>
            <a:endParaRPr lang="en-US" sz="950" dirty="0"/>
          </a:p>
          <a:p>
            <a:pPr marL="0" indent="0">
              <a:spcAft>
                <a:spcPts val="600"/>
              </a:spcAft>
              <a:buNone/>
            </a:pPr>
            <a:r>
              <a:rPr lang="en-US" sz="950" b="1" dirty="0">
                <a:solidFill>
                  <a:srgbClr val="000000"/>
                </a:solidFill>
                <a:latin typeface="Calibri" pitchFamily="34" charset="0"/>
                <a:ea typeface="Calibri" pitchFamily="34" charset="-122"/>
                <a:cs typeface="Calibri" pitchFamily="34" charset="-120"/>
              </a:rPr>
              <a:t>Does not meet criteria. </a:t>
            </a:r>
            <a:r>
              <a:rPr lang="en-US" sz="950" dirty="0">
                <a:solidFill>
                  <a:srgbClr val="000000"/>
                </a:solidFill>
                <a:latin typeface="Calibri" pitchFamily="34" charset="0"/>
                <a:ea typeface="Calibri" pitchFamily="34" charset="-122"/>
                <a:cs typeface="Calibri" pitchFamily="34" charset="-120"/>
              </a:rPr>
              <a:t>No gate is satisfied and all four denial criteria are present. This is the only path to a negative determination.</a:t>
            </a:r>
            <a:endParaRPr lang="en-US" sz="950" dirty="0"/>
          </a:p>
          <a:p>
            <a:pPr marL="0" indent="0">
              <a:spcAft>
                <a:spcPts val="600"/>
              </a:spcAft>
              <a:buNone/>
            </a:pPr>
            <a:r>
              <a:rPr lang="en-US" sz="950" b="1" dirty="0">
                <a:solidFill>
                  <a:srgbClr val="000000"/>
                </a:solidFill>
                <a:latin typeface="Calibri" pitchFamily="34" charset="0"/>
                <a:ea typeface="Calibri" pitchFamily="34" charset="-122"/>
                <a:cs typeface="Calibri" pitchFamily="34" charset="-120"/>
              </a:rPr>
              <a:t>Needs clinical review. </a:t>
            </a:r>
            <a:r>
              <a:rPr lang="en-US" sz="950" dirty="0">
                <a:solidFill>
                  <a:srgbClr val="000000"/>
                </a:solidFill>
                <a:latin typeface="Calibri" pitchFamily="34" charset="0"/>
                <a:ea typeface="Calibri" pitchFamily="34" charset="-122"/>
                <a:cs typeface="Calibri" pitchFamily="34" charset="-120"/>
              </a:rPr>
              <a:t>No gate is satisfied but the denial criteria are not all present, or the extraction failed validation. The absent criteria are recorded so the reviewer starts from the gap.</a:t>
            </a:r>
            <a:endParaRPr lang="en-US" sz="950" dirty="0"/>
          </a:p>
          <a:p>
            <a:pPr marL="0" indent="0">
              <a:spcAft>
                <a:spcPts val="600"/>
              </a:spcAft>
              <a:buNone/>
            </a:pPr>
            <a:r>
              <a:rPr lang="en-US" sz="950" b="1" dirty="0">
                <a:solidFill>
                  <a:srgbClr val="000000"/>
                </a:solidFill>
                <a:latin typeface="Calibri" pitchFamily="34" charset="0"/>
                <a:ea typeface="Calibri" pitchFamily="34" charset="-122"/>
                <a:cs typeface="Calibri" pitchFamily="34" charset="-120"/>
              </a:rPr>
              <a:t>No confidence score is produced. </a:t>
            </a:r>
            <a:r>
              <a:rPr lang="en-US" sz="950" dirty="0">
                <a:solidFill>
                  <a:srgbClr val="000000"/>
                </a:solidFill>
                <a:latin typeface="Calibri" pitchFamily="34" charset="0"/>
                <a:ea typeface="Calibri" pitchFamily="34" charset="-122"/>
                <a:cs typeface="Calibri" pitchFamily="34" charset="-120"/>
              </a:rPr>
              <a:t>A number would be the model's own opinion of its output and could not be traced to a source. Certainty is read instead from facts recorded on the order: which gate was satisfied and how early, whether each criterion is cited in guidance or inferred from it, the quote behind every answer, how many of the four denial criteria are present, and whether the rules engine and the model agree.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1243</Words>
  <Application>Microsoft Macintosh PowerPoint</Application>
  <PresentationFormat>Widescreen</PresentationFormat>
  <Paragraphs>102</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josh smitherman</cp:lastModifiedBy>
  <cp:revision>2</cp:revision>
  <dcterms:created xsi:type="dcterms:W3CDTF">2026-09-03T14:17:32Z</dcterms:created>
  <dcterms:modified xsi:type="dcterms:W3CDTF">2026-09-03T14:31:57Z</dcterms:modified>
</cp:coreProperties>
</file>