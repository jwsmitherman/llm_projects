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Page size 10</c:v>
                </c:pt>
              </c:strCache>
            </c:strRef>
          </c:tx>
          <c:spPr>
            <a:solidFill>
              <a:srgbClr val="1F3A5F"/>
            </a:solidFill>
            <a:effectLst/>
          </c:spPr>
          <c:invertIfNegative val="0"/>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default</c:v>
                  </c:pt>
                  <c:pt idx="1">
                    <c:v>max clause, DOB boost</c:v>
                  </c:pt>
                  <c:pt idx="2">
                    <c:v>max clause, name boost</c:v>
                  </c:pt>
                </c:lvl>
              </c:multiLvlStrCache>
            </c:multiLvlStrRef>
          </c:cat>
          <c:val>
            <c:numRef>
              <c:f>Sheet1!$B$2:$B$4</c:f>
              <c:numCache>
                <c:formatCode>General</c:formatCode>
                <c:ptCount val="3"/>
                <c:pt idx="0">
                  <c:v>10</c:v>
                </c:pt>
                <c:pt idx="1">
                  <c:v>10</c:v>
                </c:pt>
                <c:pt idx="2">
                  <c:v>9.8</c:v>
                </c:pt>
              </c:numCache>
            </c:numRef>
          </c:val>
        </c:ser>
        <c:ser>
          <c:idx val="1"/>
          <c:order val="1"/>
          <c:tx>
            <c:strRef>
              <c:f>Sheet1!$C$1</c:f>
              <c:strCache>
                <c:ptCount val="1"/>
                <c:pt idx="0">
                  <c:v>Page size 20</c:v>
                </c:pt>
              </c:strCache>
            </c:strRef>
          </c:tx>
          <c:spPr>
            <a:solidFill>
              <a:srgbClr val="6B7C93"/>
            </a:solidFill>
            <a:effectLst/>
          </c:spPr>
          <c:invertIfNegative val="0"/>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default</c:v>
                  </c:pt>
                  <c:pt idx="1">
                    <c:v>max clause, DOB boost</c:v>
                  </c:pt>
                  <c:pt idx="2">
                    <c:v>max clause, name boost</c:v>
                  </c:pt>
                </c:lvl>
              </c:multiLvlStrCache>
            </c:multiLvlStrRef>
          </c:cat>
          <c:val>
            <c:numRef>
              <c:f>Sheet1!$C$2:$C$4</c:f>
              <c:numCache>
                <c:formatCode>General</c:formatCode>
                <c:ptCount val="3"/>
                <c:pt idx="0">
                  <c:v>20</c:v>
                </c:pt>
                <c:pt idx="1">
                  <c:v>20</c:v>
                </c:pt>
                <c:pt idx="2">
                  <c:v>18.3</c:v>
                </c:pt>
              </c:numCache>
            </c:numRef>
          </c:val>
        </c:ser>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Calibri"/>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12700" cap="flat">
              <a:solidFill>
                <a:srgbClr val="E2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default</c:v>
                </c:pt>
              </c:strCache>
            </c:strRef>
          </c:tx>
          <c:spPr>
            <a:solidFill>
              <a:srgbClr val="1F3A5F"/>
            </a:solidFill>
            <a:effectLst/>
          </c:spPr>
          <c:invertIfNegative val="0"/>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UIPATH</c:v>
                  </c:pt>
                  <c:pt idx="1">
                    <c:v>CRIS</c:v>
                  </c:pt>
                  <c:pt idx="2">
                    <c:v>BHUB c</c:v>
                  </c:pt>
                  <c:pt idx="3">
                    <c:v>All other clients</c:v>
                  </c:pt>
                </c:lvl>
              </c:multiLvlStrCache>
            </c:multiLvlStrRef>
          </c:cat>
          <c:val>
            <c:numRef>
              <c:f>Sheet1!$B$2:$B$5</c:f>
              <c:numCache>
                <c:formatCode>General</c:formatCode>
                <c:ptCount val="4"/>
                <c:pt idx="0">
                  <c:v>20</c:v>
                </c:pt>
                <c:pt idx="1">
                  <c:v>20</c:v>
                </c:pt>
                <c:pt idx="2">
                  <c:v>20</c:v>
                </c:pt>
                <c:pt idx="3">
                  <c:v>20</c:v>
                </c:pt>
              </c:numCache>
            </c:numRef>
          </c:val>
        </c:ser>
        <c:ser>
          <c:idx val="1"/>
          <c:order val="1"/>
          <c:tx>
            <c:strRef>
              <c:f>Sheet1!$C$1</c:f>
              <c:strCache>
                <c:ptCount val="1"/>
                <c:pt idx="0">
                  <c:v>max clause, name boost</c:v>
                </c:pt>
              </c:strCache>
            </c:strRef>
          </c:tx>
          <c:spPr>
            <a:solidFill>
              <a:srgbClr val="AAB6C6"/>
            </a:solidFill>
            <a:effectLst/>
          </c:spPr>
          <c:invertIfNegative val="0"/>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UIPATH</c:v>
                  </c:pt>
                  <c:pt idx="1">
                    <c:v>CRIS</c:v>
                  </c:pt>
                  <c:pt idx="2">
                    <c:v>BHUB c</c:v>
                  </c:pt>
                  <c:pt idx="3">
                    <c:v>All other clients</c:v>
                  </c:pt>
                </c:lvl>
              </c:multiLvlStrCache>
            </c:multiLvlStrRef>
          </c:cat>
          <c:val>
            <c:numRef>
              <c:f>Sheet1!$C$2:$C$5</c:f>
              <c:numCache>
                <c:formatCode>General</c:formatCode>
                <c:ptCount val="4"/>
                <c:pt idx="0">
                  <c:v>14</c:v>
                </c:pt>
                <c:pt idx="1">
                  <c:v>18.8</c:v>
                </c:pt>
                <c:pt idx="2">
                  <c:v>19.9</c:v>
                </c:pt>
                <c:pt idx="3">
                  <c:v>20</c:v>
                </c:pt>
              </c:numCache>
            </c:numRef>
          </c:val>
        </c:ser>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Calibri"/>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12700" cap="flat">
              <a:solidFill>
                <a:srgbClr val="E2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Page size 10</c:v>
                </c:pt>
              </c:strCache>
            </c:strRef>
          </c:tx>
          <c:spPr>
            <a:solidFill>
              <a:srgbClr val="1F3A5F"/>
            </a:solidFill>
            <a:effectLst/>
          </c:spPr>
          <c:invertIfNegative val="0"/>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default vs DOB boost</c:v>
                  </c:pt>
                  <c:pt idx="1">
                    <c:v>default vs name boost</c:v>
                  </c:pt>
                  <c:pt idx="2">
                    <c:v>DOB vs name boost</c:v>
                  </c:pt>
                </c:lvl>
              </c:multiLvlStrCache>
            </c:multiLvlStrRef>
          </c:cat>
          <c:val>
            <c:numRef>
              <c:f>Sheet1!$B$2:$B$4</c:f>
              <c:numCache>
                <c:formatCode>General</c:formatCode>
                <c:ptCount val="3"/>
                <c:pt idx="0">
                  <c:v>47.5</c:v>
                </c:pt>
                <c:pt idx="1">
                  <c:v>50.7</c:v>
                </c:pt>
                <c:pt idx="2">
                  <c:v>57.7</c:v>
                </c:pt>
              </c:numCache>
            </c:numRef>
          </c:val>
        </c:ser>
        <c:ser>
          <c:idx val="1"/>
          <c:order val="1"/>
          <c:tx>
            <c:strRef>
              <c:f>Sheet1!$C$1</c:f>
              <c:strCache>
                <c:ptCount val="1"/>
                <c:pt idx="0">
                  <c:v>Page size 20</c:v>
                </c:pt>
              </c:strCache>
            </c:strRef>
          </c:tx>
          <c:spPr>
            <a:solidFill>
              <a:srgbClr val="6B7C93"/>
            </a:solidFill>
            <a:effectLst/>
          </c:spPr>
          <c:invertIfNegative val="0"/>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default vs DOB boost</c:v>
                  </c:pt>
                  <c:pt idx="1">
                    <c:v>default vs name boost</c:v>
                  </c:pt>
                  <c:pt idx="2">
                    <c:v>DOB vs name boost</c:v>
                  </c:pt>
                </c:lvl>
              </c:multiLvlStrCache>
            </c:multiLvlStrRef>
          </c:cat>
          <c:val>
            <c:numRef>
              <c:f>Sheet1!$C$2:$C$4</c:f>
              <c:numCache>
                <c:formatCode>General</c:formatCode>
                <c:ptCount val="3"/>
                <c:pt idx="0">
                  <c:v>44.2</c:v>
                </c:pt>
                <c:pt idx="1">
                  <c:v>50</c:v>
                </c:pt>
                <c:pt idx="2">
                  <c:v>57.3</c:v>
                </c:pt>
              </c:numCache>
            </c:numRef>
          </c:val>
        </c:ser>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2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Distinct people surfaced</c:v>
                </c:pt>
              </c:strCache>
            </c:strRef>
          </c:tx>
          <c:spPr>
            <a:solidFill>
              <a:srgbClr val="1F3A5F"/>
            </a:solidFill>
            <a:effectLst/>
          </c:spPr>
          <c:invertIfNegative val="0"/>
          <c:dLbls>
            <c:numFmt formatCode="#,##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default</c:v>
                  </c:pt>
                  <c:pt idx="1">
                    <c:v>max clause, name boost</c:v>
                  </c:pt>
                  <c:pt idx="2">
                    <c:v>max clause, DOB boost</c:v>
                  </c:pt>
                </c:lvl>
              </c:multiLvlStrCache>
            </c:multiLvlStrRef>
          </c:cat>
          <c:val>
            <c:numRef>
              <c:f>Sheet1!$B$2:$B$4</c:f>
              <c:numCache>
                <c:formatCode>General</c:formatCode>
                <c:ptCount val="3"/>
                <c:pt idx="0">
                  <c:v>78479</c:v>
                </c:pt>
                <c:pt idx="1">
                  <c:v>70494</c:v>
                </c:pt>
                <c:pt idx="2">
                  <c:v>70478</c:v>
                </c:pt>
              </c:numCache>
            </c:numRef>
          </c:val>
        </c:ser>
        <c:dLbls>
          <c:numFmt formatCode="#,##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E2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Page size 10</c:v>
                </c:pt>
              </c:strCache>
            </c:strRef>
          </c:tx>
          <c:spPr>
            <a:solidFill>
              <a:srgbClr val="1F3A5F"/>
            </a:solidFill>
            <a:effectLst/>
          </c:spPr>
          <c:invertIfNegative val="0"/>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default vs DOB boost</c:v>
                  </c:pt>
                  <c:pt idx="1">
                    <c:v>default vs name boost</c:v>
                  </c:pt>
                  <c:pt idx="2">
                    <c:v>DOB vs name boost</c:v>
                  </c:pt>
                </c:lvl>
              </c:multiLvlStrCache>
            </c:multiLvlStrRef>
          </c:cat>
          <c:val>
            <c:numRef>
              <c:f>Sheet1!$B$2:$B$4</c:f>
              <c:numCache>
                <c:formatCode>General</c:formatCode>
                <c:ptCount val="3"/>
                <c:pt idx="0">
                  <c:v>85.8</c:v>
                </c:pt>
                <c:pt idx="1">
                  <c:v>86.9</c:v>
                </c:pt>
                <c:pt idx="2">
                  <c:v>87.2</c:v>
                </c:pt>
              </c:numCache>
            </c:numRef>
          </c:val>
        </c:ser>
        <c:ser>
          <c:idx val="1"/>
          <c:order val="1"/>
          <c:tx>
            <c:strRef>
              <c:f>Sheet1!$C$1</c:f>
              <c:strCache>
                <c:ptCount val="1"/>
                <c:pt idx="0">
                  <c:v>Page size 20</c:v>
                </c:pt>
              </c:strCache>
            </c:strRef>
          </c:tx>
          <c:spPr>
            <a:solidFill>
              <a:srgbClr val="6B7C93"/>
            </a:solidFill>
            <a:effectLst/>
          </c:spPr>
          <c:invertIfNegative val="0"/>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default vs DOB boost</c:v>
                  </c:pt>
                  <c:pt idx="1">
                    <c:v>default vs name boost</c:v>
                  </c:pt>
                  <c:pt idx="2">
                    <c:v>DOB vs name boost</c:v>
                  </c:pt>
                </c:lvl>
              </c:multiLvlStrCache>
            </c:multiLvlStrRef>
          </c:cat>
          <c:val>
            <c:numRef>
              <c:f>Sheet1!$C$2:$C$4</c:f>
              <c:numCache>
                <c:formatCode>General</c:formatCode>
                <c:ptCount val="3"/>
                <c:pt idx="0">
                  <c:v>85.1</c:v>
                </c:pt>
                <c:pt idx="1">
                  <c:v>86.2</c:v>
                </c:pt>
                <c:pt idx="2">
                  <c:v>86.2</c:v>
                </c:pt>
              </c:numCache>
            </c:numRef>
          </c:val>
        </c:ser>
        <c:dLbls>
          <c:numFmt formatCode="0.0" sourceLinked="0"/>
          <c:txPr>
            <a:bodyPr/>
            <a:lstStyle/>
            <a:p>
              <a:pPr>
                <a:defRPr b="0" i="0" strike="noStrike" sz="1000" u="none">
                  <a:solidFill>
                    <a:srgbClr val="3333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2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replays real logged searches against each candidate template and reports what each returns. It is reusable for every future template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derived from replaying real logged searches. The measure is what each version returns, not whether a result is correct, as no agreed source of truth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is effectively identical except for the name boost variant at page size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boost shortfall is concentrated in UIPATH and CRIS. The DOB boost variant is level with the current version, so the gap comes from the name boost rather than the max clause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first result the versions surface substantially different people. The two max clause variants resemble each other more than the current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result difference would fail the stated acceptance bar, but it is unconfirmed. The direct test path rebuilds the query outside the service, and the service path showed no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figures behind the charts, volume and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figures behind the charts, shortfall and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Reduced tiers matched the current version on every measure. Max clause showed a recall gap concentrated in two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Reduced tiers goes to staging this week on the strength of this analysis. Max clause stays under review until the recall gap and the first result question are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411480"/>
            <a:ext cx="10881360" cy="50292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Search template comparison framework</a:t>
            </a:r>
            <a:endParaRPr lang="en-US" sz="3000" dirty="0"/>
          </a:p>
        </p:txBody>
      </p:sp>
      <p:sp>
        <p:nvSpPr>
          <p:cNvPr id="3" name="Text 1"/>
          <p:cNvSpPr txBox="1"/>
          <p:nvPr/>
        </p:nvSpPr>
        <p:spPr>
          <a:xfrm>
            <a:off x="640080" y="932688"/>
            <a:ext cx="10881360" cy="292608"/>
          </a:xfrm>
          <a:prstGeom prst="rect">
            <a:avLst/>
          </a:prstGeom>
          <a:noFill/>
          <a:ln/>
        </p:spPr>
        <p:txBody>
          <a:bodyPr wrap="square" lIns="0" tIns="0" rIns="0" bIns="0" rtlCol="0" anchor="ctr"/>
          <a:lstStyle/>
          <a:p>
            <a:pPr indent="0" marL="0">
              <a:buNone/>
            </a:pPr>
            <a:r>
              <a:rPr lang="en-US" sz="1400" dirty="0">
                <a:solidFill>
                  <a:srgbClr val="444444"/>
                </a:solidFill>
                <a:latin typeface="Calibri" pitchFamily="34" charset="0"/>
                <a:ea typeface="Calibri" pitchFamily="34" charset="-122"/>
                <a:cs typeface="Calibri" pitchFamily="34" charset="-120"/>
              </a:rPr>
              <a:t>A repeatable comparison of search template versions against real production traffic</a:t>
            </a:r>
            <a:endParaRPr lang="en-US" sz="1400" dirty="0"/>
          </a:p>
        </p:txBody>
      </p:sp>
      <p:sp>
        <p:nvSpPr>
          <p:cNvPr id="4" name="Text 2"/>
          <p:cNvSpPr txBox="1"/>
          <p:nvPr/>
        </p:nvSpPr>
        <p:spPr>
          <a:xfrm>
            <a:off x="640080" y="1371600"/>
            <a:ext cx="10881360" cy="4846320"/>
          </a:xfrm>
          <a:prstGeom prst="rect">
            <a:avLst/>
          </a:prstGeom>
          <a:noFill/>
          <a:ln/>
        </p:spPr>
        <p:txBody>
          <a:bodyPr wrap="square" lIns="0" tIns="0" rIns="0" bIns="0" rtlCol="0" anchor="ctr"/>
          <a:lstStyle/>
          <a:p>
            <a:pPr indent="0" marL="0">
              <a:lnSpc>
                <a:spcPts val="2200"/>
              </a:lnSpc>
              <a:spcAft>
                <a:spcPts val="800"/>
              </a:spcAft>
              <a:buNone/>
            </a:pPr>
            <a:r>
              <a:rPr lang="en-US" sz="1500" b="1" dirty="0">
                <a:solidFill>
                  <a:srgbClr val="000000"/>
                </a:solidFill>
                <a:latin typeface="Calibri" pitchFamily="34" charset="0"/>
                <a:ea typeface="Calibri" pitchFamily="34" charset="-122"/>
                <a:cs typeface="Calibri" pitchFamily="34" charset="-120"/>
              </a:rPr>
              <a:t>Prior state</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Template changes were assessed by hand, a few searches at a time</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No measure of whether a change helped or hurt across the full range of real searches</a:t>
            </a:r>
            <a:endParaRPr lang="en-US" sz="1500" dirty="0"/>
          </a:p>
          <a:p>
            <a:pPr indent="0" marL="0">
              <a:lnSpc>
                <a:spcPts val="2200"/>
              </a:lnSpc>
              <a:spcAft>
                <a:spcPts val="800"/>
              </a:spcAft>
              <a:buNone/>
            </a:pPr>
            <a:r>
              <a:rPr lang="en-US" sz="1500" b="1" dirty="0">
                <a:solidFill>
                  <a:srgbClr val="000000"/>
                </a:solidFill>
                <a:latin typeface="Calibri" pitchFamily="34" charset="0"/>
                <a:ea typeface="Calibri" pitchFamily="34" charset="-122"/>
                <a:cs typeface="Calibri" pitchFamily="34" charset="-120"/>
              </a:rPr>
              <a:t>Current capability</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Automated comparison driven by production search logs</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Replays every logged search against each template version</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Reports results per client, per search type and per page size</a:t>
            </a:r>
            <a:endParaRPr lang="en-US" sz="1500" dirty="0"/>
          </a:p>
          <a:p>
            <a:pPr indent="0" marL="0">
              <a:lnSpc>
                <a:spcPts val="2200"/>
              </a:lnSpc>
              <a:spcAft>
                <a:spcPts val="800"/>
              </a:spcAft>
              <a:buNone/>
            </a:pPr>
            <a:r>
              <a:rPr lang="en-US" sz="1500" b="1" dirty="0">
                <a:solidFill>
                  <a:srgbClr val="000000"/>
                </a:solidFill>
                <a:latin typeface="Calibri" pitchFamily="34" charset="0"/>
                <a:ea typeface="Calibri" pitchFamily="34" charset="-122"/>
                <a:cs typeface="Calibri" pitchFamily="34" charset="-120"/>
              </a:rPr>
              <a:t>Scale of the current run</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4,252 production searches across 6 consuming systems</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3 template versions, 2 result page sizes, 51,000 search calls</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Data source is production audit logs, no test data was created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10881360" cy="50292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How the numbers are derived</a:t>
            </a:r>
            <a:endParaRPr lang="en-US" sz="3000" dirty="0"/>
          </a:p>
        </p:txBody>
      </p:sp>
      <p:sp>
        <p:nvSpPr>
          <p:cNvPr id="3" name="Text 1"/>
          <p:cNvSpPr txBox="1"/>
          <p:nvPr/>
        </p:nvSpPr>
        <p:spPr>
          <a:xfrm>
            <a:off x="640080" y="932688"/>
            <a:ext cx="10881360" cy="292608"/>
          </a:xfrm>
          <a:prstGeom prst="rect">
            <a:avLst/>
          </a:prstGeom>
          <a:noFill/>
          <a:ln/>
        </p:spPr>
        <p:txBody>
          <a:bodyPr wrap="square" lIns="0" tIns="0" rIns="0" bIns="0" rtlCol="0" anchor="ctr"/>
          <a:lstStyle/>
          <a:p>
            <a:pPr indent="0" marL="0">
              <a:buNone/>
            </a:pPr>
            <a:r>
              <a:rPr lang="en-US" sz="1400" dirty="0">
                <a:solidFill>
                  <a:srgbClr val="444444"/>
                </a:solidFill>
                <a:latin typeface="Calibri" pitchFamily="34" charset="0"/>
                <a:ea typeface="Calibri" pitchFamily="34" charset="-122"/>
                <a:cs typeface="Calibri" pitchFamily="34" charset="-120"/>
              </a:rPr>
              <a:t>Every figure is derived from replaying real logged searches, not from sampling or estimation</a:t>
            </a:r>
            <a:endParaRPr lang="en-US" sz="1400" dirty="0"/>
          </a:p>
        </p:txBody>
      </p:sp>
      <p:sp>
        <p:nvSpPr>
          <p:cNvPr id="4" name="Text 2"/>
          <p:cNvSpPr txBox="1"/>
          <p:nvPr/>
        </p:nvSpPr>
        <p:spPr>
          <a:xfrm>
            <a:off x="640080" y="1371600"/>
            <a:ext cx="10881360" cy="4846320"/>
          </a:xfrm>
          <a:prstGeom prst="rect">
            <a:avLst/>
          </a:prstGeom>
          <a:noFill/>
          <a:ln/>
        </p:spPr>
        <p:txBody>
          <a:bodyPr wrap="square" lIns="0" tIns="0" rIns="0" bIns="0" rtlCol="0" anchor="ctr"/>
          <a:lstStyle/>
          <a:p>
            <a:pPr indent="0" marL="0">
              <a:lnSpc>
                <a:spcPts val="2200"/>
              </a:lnSpc>
              <a:spcAft>
                <a:spcPts val="800"/>
              </a:spcAft>
              <a:buNone/>
            </a:pPr>
            <a:r>
              <a:rPr lang="en-US" sz="1400" b="1" dirty="0">
                <a:solidFill>
                  <a:srgbClr val="000000"/>
                </a:solidFill>
                <a:latin typeface="Calibri" pitchFamily="34" charset="0"/>
                <a:ea typeface="Calibri" pitchFamily="34" charset="-122"/>
                <a:cs typeface="Calibri" pitchFamily="34" charset="-120"/>
              </a:rPr>
              <a:t>Source of the searches</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Production audit logs record the search terms a client sent and what was returned</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Each logged search is read and repeated exactly as the client sent it, against each template version</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Repeat searches are counted once, so a popular search does not skew the totals</a:t>
            </a:r>
            <a:endParaRPr lang="en-US" sz="1400" dirty="0"/>
          </a:p>
          <a:p>
            <a:pPr indent="0" marL="0">
              <a:lnSpc>
                <a:spcPts val="2200"/>
              </a:lnSpc>
              <a:spcAft>
                <a:spcPts val="800"/>
              </a:spcAft>
              <a:buNone/>
            </a:pPr>
            <a:r>
              <a:rPr lang="en-US" sz="1400" b="1" dirty="0">
                <a:solidFill>
                  <a:srgbClr val="000000"/>
                </a:solidFill>
                <a:latin typeface="Calibri" pitchFamily="34" charset="0"/>
                <a:ea typeface="Calibri" pitchFamily="34" charset="-122"/>
                <a:cs typeface="Calibri" pitchFamily="34" charset="-120"/>
              </a:rPr>
              <a:t>Measures counted</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Records returned per search, after removing repeated records within the same result set</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Distinct people surfaced, counted once across the whole run no matter how often they appear</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Whether the first result is the same person under each version, compared search by search</a:t>
            </a:r>
            <a:endParaRPr lang="en-US" sz="1400" dirty="0"/>
          </a:p>
          <a:p>
            <a:pPr indent="0" marL="0">
              <a:lnSpc>
                <a:spcPts val="2200"/>
              </a:lnSpc>
              <a:spcAft>
                <a:spcPts val="800"/>
              </a:spcAft>
              <a:buNone/>
            </a:pPr>
            <a:r>
              <a:rPr lang="en-US" sz="1400" b="1" dirty="0">
                <a:solidFill>
                  <a:srgbClr val="000000"/>
                </a:solidFill>
                <a:latin typeface="Calibri" pitchFamily="34" charset="0"/>
                <a:ea typeface="Calibri" pitchFamily="34" charset="-122"/>
                <a:cs typeface="Calibri" pitchFamily="34" charset="-120"/>
              </a:rPr>
              <a:t>Measures deliberately excluded</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Whether a result is correct, as no agreed source of truth exists to check against</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Failed calls are excluded rather than counted as an empty result</a:t>
            </a:r>
            <a:endParaRPr lang="en-US" sz="1400" dirty="0"/>
          </a:p>
          <a:p>
            <a:pPr indent="0" marL="0">
              <a:lnSpc>
                <a:spcPts val="2200"/>
              </a:lnSpc>
              <a:spcAft>
                <a:spcPts val="800"/>
              </a:spcAft>
              <a:buNone/>
            </a:pPr>
            <a:r>
              <a:rPr lang="en-US" sz="1400" b="1" dirty="0">
                <a:solidFill>
                  <a:srgbClr val="000000"/>
                </a:solidFill>
                <a:latin typeface="Calibri" pitchFamily="34" charset="0"/>
                <a:ea typeface="Calibri" pitchFamily="34" charset="-122"/>
                <a:cs typeface="Calibri" pitchFamily="34" charset="-120"/>
              </a:rPr>
              <a:t>Breakdowns available</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By client, by the fields the client searched on, and by the page size the client requests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10881360" cy="50292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Records returned per search</a:t>
            </a:r>
            <a:endParaRPr lang="en-US" sz="3000" dirty="0"/>
          </a:p>
        </p:txBody>
      </p:sp>
      <p:sp>
        <p:nvSpPr>
          <p:cNvPr id="3" name="Text 1"/>
          <p:cNvSpPr txBox="1"/>
          <p:nvPr/>
        </p:nvSpPr>
        <p:spPr>
          <a:xfrm>
            <a:off x="640080" y="932688"/>
            <a:ext cx="10881360" cy="292608"/>
          </a:xfrm>
          <a:prstGeom prst="rect">
            <a:avLst/>
          </a:prstGeom>
          <a:noFill/>
          <a:ln/>
        </p:spPr>
        <p:txBody>
          <a:bodyPr wrap="square" lIns="0" tIns="0" rIns="0" bIns="0" rtlCol="0" anchor="ctr"/>
          <a:lstStyle/>
          <a:p>
            <a:pPr indent="0" marL="0">
              <a:buNone/>
            </a:pPr>
            <a:r>
              <a:rPr lang="en-US" sz="1400" dirty="0">
                <a:solidFill>
                  <a:srgbClr val="444444"/>
                </a:solidFill>
                <a:latin typeface="Calibri" pitchFamily="34" charset="0"/>
                <a:ea typeface="Calibri" pitchFamily="34" charset="-122"/>
                <a:cs typeface="Calibri" pitchFamily="34" charset="-120"/>
              </a:rPr>
              <a:t>All three versions fill the requested page. Max clause with name boost falls short at the larger page size.</a:t>
            </a:r>
            <a:endParaRPr lang="en-US" sz="1400" dirty="0"/>
          </a:p>
        </p:txBody>
      </p:sp>
      <p:graphicFrame>
        <p:nvGraphicFramePr>
          <p:cNvPr id="4" name="Chart 0" descr=""/>
          <p:cNvGraphicFramePr/>
          <p:nvPr/>
        </p:nvGraphicFramePr>
        <p:xfrm>
          <a:off x="640080" y="141732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1463040"/>
            <a:ext cx="3840480" cy="4206240"/>
          </a:xfrm>
          <a:prstGeom prst="rect">
            <a:avLst/>
          </a:prstGeom>
          <a:noFill/>
          <a:ln/>
        </p:spPr>
        <p:txBody>
          <a:bodyPr wrap="square" lIns="0" tIns="0" rIns="0" bIns="0" rtlCol="0" anchor="ctr"/>
          <a:lstStyle/>
          <a:p>
            <a:pPr indent="0" marL="0">
              <a:lnSpc>
                <a:spcPts val="2200"/>
              </a:lnSpc>
              <a:spcAft>
                <a:spcPts val="800"/>
              </a:spcAft>
              <a:buNone/>
            </a:pPr>
            <a:r>
              <a:rPr lang="en-US" sz="1250" b="1" dirty="0">
                <a:solidFill>
                  <a:srgbClr val="000000"/>
                </a:solidFill>
                <a:latin typeface="Calibri" pitchFamily="34" charset="0"/>
                <a:ea typeface="Calibri" pitchFamily="34" charset="-122"/>
                <a:cs typeface="Calibri" pitchFamily="34" charset="-120"/>
              </a:rPr>
              <a:t>Derivation</a:t>
            </a:r>
            <a:endParaRPr lang="en-US" sz="1250" dirty="0"/>
          </a:p>
          <a:p>
            <a:pPr lvl="1" marL="685800" indent="-342900">
              <a:lnSpc>
                <a:spcPts val="22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Average count of distinct records returned per search, across 4,252 searches</a:t>
            </a:r>
            <a:endParaRPr lang="en-US" sz="1250" dirty="0"/>
          </a:p>
          <a:p>
            <a:pPr lvl="1" marL="685800" indent="-342900">
              <a:lnSpc>
                <a:spcPts val="22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Clients request either 10 or 20 records, so both are tested</a:t>
            </a:r>
            <a:endParaRPr lang="en-US" sz="1250" dirty="0"/>
          </a:p>
          <a:p>
            <a:pPr indent="0" marL="0">
              <a:lnSpc>
                <a:spcPts val="2200"/>
              </a:lnSpc>
              <a:spcAft>
                <a:spcPts val="800"/>
              </a:spcAft>
              <a:buNone/>
            </a:pPr>
            <a:r>
              <a:rPr lang="en-US" sz="1250" b="1" dirty="0">
                <a:solidFill>
                  <a:srgbClr val="000000"/>
                </a:solidFill>
                <a:latin typeface="Calibri" pitchFamily="34" charset="0"/>
                <a:ea typeface="Calibri" pitchFamily="34" charset="-122"/>
                <a:cs typeface="Calibri" pitchFamily="34" charset="-120"/>
              </a:rPr>
              <a:t>Interpretation</a:t>
            </a:r>
            <a:endParaRPr lang="en-US" sz="1250" dirty="0"/>
          </a:p>
          <a:p>
            <a:pPr lvl="1" marL="685800" indent="-342900">
              <a:lnSpc>
                <a:spcPts val="22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Default and DOB boost fill the requested page every time</a:t>
            </a:r>
            <a:endParaRPr lang="en-US" sz="1250" dirty="0"/>
          </a:p>
          <a:p>
            <a:pPr lvl="1" marL="685800" indent="-342900">
              <a:lnSpc>
                <a:spcPts val="22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Name boost averages 18.3 of the 20 requested, so an operator sees a shorter list</a:t>
            </a:r>
            <a:endParaRPr lang="en-US" sz="1250" dirty="0"/>
          </a:p>
          <a:p>
            <a:pPr lvl="1" marL="685800" indent="-342900">
              <a:lnSpc>
                <a:spcPts val="22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The gap only appears at the larger page size</a:t>
            </a:r>
            <a:endParaRPr lang="en-US" sz="1250" dirty="0"/>
          </a:p>
          <a:p>
            <a:pPr lvl="1" marL="685800" indent="-342900">
              <a:lnSpc>
                <a:spcPts val="2200"/>
              </a:lnSpc>
              <a:spcAft>
                <a:spcPts val="800"/>
              </a:spcAft>
              <a:buSzPct val="100000"/>
              <a:buChar char="•"/>
            </a:pPr>
            <a:r>
              <a:rPr lang="en-US" sz="1250" dirty="0">
                <a:solidFill>
                  <a:srgbClr val="000000"/>
                </a:solidFill>
                <a:latin typeface="Calibri" pitchFamily="34" charset="0"/>
                <a:ea typeface="Calibri" pitchFamily="34" charset="-122"/>
                <a:cs typeface="Calibri" pitchFamily="34" charset="-120"/>
              </a:rPr>
              <a:t>The earlier concern that max clause returned far too few records does not appear at the page sizes clients actually request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10881360" cy="50292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Where max clause falls short</a:t>
            </a:r>
            <a:endParaRPr lang="en-US" sz="3000" dirty="0"/>
          </a:p>
        </p:txBody>
      </p:sp>
      <p:sp>
        <p:nvSpPr>
          <p:cNvPr id="3" name="Text 1"/>
          <p:cNvSpPr txBox="1"/>
          <p:nvPr/>
        </p:nvSpPr>
        <p:spPr>
          <a:xfrm>
            <a:off x="640080" y="932688"/>
            <a:ext cx="10881360" cy="292608"/>
          </a:xfrm>
          <a:prstGeom prst="rect">
            <a:avLst/>
          </a:prstGeom>
          <a:noFill/>
          <a:ln/>
        </p:spPr>
        <p:txBody>
          <a:bodyPr wrap="square" lIns="0" tIns="0" rIns="0" bIns="0" rtlCol="0" anchor="ctr"/>
          <a:lstStyle/>
          <a:p>
            <a:pPr indent="0" marL="0">
              <a:buNone/>
            </a:pPr>
            <a:r>
              <a:rPr lang="en-US" sz="1400" dirty="0">
                <a:solidFill>
                  <a:srgbClr val="444444"/>
                </a:solidFill>
                <a:latin typeface="Calibri" pitchFamily="34" charset="0"/>
                <a:ea typeface="Calibri" pitchFamily="34" charset="-122"/>
                <a:cs typeface="Calibri" pitchFamily="34" charset="-120"/>
              </a:rPr>
              <a:t>Records returned per search by client at page size 20, out of 4,252 searches</a:t>
            </a:r>
            <a:endParaRPr lang="en-US" sz="1400" dirty="0"/>
          </a:p>
        </p:txBody>
      </p:sp>
      <p:graphicFrame>
        <p:nvGraphicFramePr>
          <p:cNvPr id="4" name="Chart 0" descr=""/>
          <p:cNvGraphicFramePr/>
          <p:nvPr/>
        </p:nvGraphicFramePr>
        <p:xfrm>
          <a:off x="640080" y="1417320"/>
          <a:ext cx="640080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0" y="1463040"/>
            <a:ext cx="4206240" cy="4297680"/>
          </a:xfrm>
          <a:prstGeom prst="rect">
            <a:avLst/>
          </a:prstGeom>
          <a:noFill/>
          <a:ln/>
        </p:spPr>
        <p:txBody>
          <a:bodyPr wrap="square" lIns="0" tIns="0" rIns="0" bIns="0" rtlCol="0" anchor="ctr"/>
          <a:lstStyle/>
          <a:p>
            <a:pPr indent="0" marL="0">
              <a:lnSpc>
                <a:spcPts val="2200"/>
              </a:lnSpc>
              <a:spcAft>
                <a:spcPts val="800"/>
              </a:spcAft>
              <a:buNone/>
            </a:pPr>
            <a:r>
              <a:rPr lang="en-US" sz="1200" b="1" dirty="0">
                <a:solidFill>
                  <a:srgbClr val="000000"/>
                </a:solidFill>
                <a:latin typeface="Calibri" pitchFamily="34" charset="0"/>
                <a:ea typeface="Calibri" pitchFamily="34" charset="-122"/>
                <a:cs typeface="Calibri" pitchFamily="34" charset="-120"/>
              </a:rPr>
              <a:t>Findings</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name boost variant returned fewer records on 851 of 4,252 searches at page size 20, and on 253 at page size 10</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DOB boost variant returned fewer on 5 searches, effectively level with the current version</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shortfall is concentrated in UIPATH and CRIS, both of which search by identifier only</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CRIS returns 9.6 records per search at page size 10, with 13 searches returning a single record and 4 returning none</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current version was never the one returning fewer records</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name boost is what costs recall, not the max clause change itself</a:t>
            </a:r>
            <a:endParaRPr lang="en-US" sz="1200" dirty="0"/>
          </a:p>
        </p:txBody>
      </p:sp>
      <p:sp>
        <p:nvSpPr>
          <p:cNvPr id="6" name="Text 3"/>
          <p:cNvSpPr txBox="1"/>
          <p:nvPr/>
        </p:nvSpPr>
        <p:spPr>
          <a:xfrm>
            <a:off x="640080" y="5669280"/>
            <a:ext cx="6400800" cy="457200"/>
          </a:xfrm>
          <a:prstGeom prst="rect">
            <a:avLst/>
          </a:prstGeom>
          <a:noFill/>
          <a:ln/>
        </p:spPr>
        <p:txBody>
          <a:bodyPr wrap="square" lIns="0" tIns="0" rIns="0" bIns="0" rtlCol="0" anchor="ctr"/>
          <a:lstStyle/>
          <a:p>
            <a:pPr indent="0" marL="0">
              <a:lnSpc>
                <a:spcPts val="2200"/>
              </a:lnSpc>
              <a:spcAft>
                <a:spcPts val="800"/>
              </a:spcAft>
              <a:buNone/>
            </a:pPr>
            <a:r>
              <a:rPr lang="en-US" sz="1100" dirty="0">
                <a:solidFill>
                  <a:srgbClr val="444444"/>
                </a:solidFill>
                <a:latin typeface="Calibri" pitchFamily="34" charset="0"/>
                <a:ea typeface="Calibri" pitchFamily="34" charset="-122"/>
                <a:cs typeface="Calibri" pitchFamily="34" charset="-120"/>
              </a:rPr>
              <a:t>Every client other than UIPATH, CRIS and BHUB c returned the full 20 records under all three versions.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10881360" cy="50292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How much the result sets differ</a:t>
            </a:r>
            <a:endParaRPr lang="en-US" sz="3000" dirty="0"/>
          </a:p>
        </p:txBody>
      </p:sp>
      <p:sp>
        <p:nvSpPr>
          <p:cNvPr id="3" name="Text 1"/>
          <p:cNvSpPr txBox="1"/>
          <p:nvPr/>
        </p:nvSpPr>
        <p:spPr>
          <a:xfrm>
            <a:off x="640080" y="932688"/>
            <a:ext cx="10881360" cy="292608"/>
          </a:xfrm>
          <a:prstGeom prst="rect">
            <a:avLst/>
          </a:prstGeom>
          <a:noFill/>
          <a:ln/>
        </p:spPr>
        <p:txBody>
          <a:bodyPr wrap="square" lIns="0" tIns="0" rIns="0" bIns="0" rtlCol="0" anchor="ctr"/>
          <a:lstStyle/>
          <a:p>
            <a:pPr indent="0" marL="0">
              <a:buNone/>
            </a:pPr>
            <a:r>
              <a:rPr lang="en-US" sz="1400" dirty="0">
                <a:solidFill>
                  <a:srgbClr val="444444"/>
                </a:solidFill>
                <a:latin typeface="Calibri" pitchFamily="34" charset="0"/>
                <a:ea typeface="Calibri" pitchFamily="34" charset="-122"/>
                <a:cs typeface="Calibri" pitchFamily="34" charset="-120"/>
              </a:rPr>
              <a:t>Share of returned records that both versions have in common, and distinct people surfaced across the run</a:t>
            </a:r>
            <a:endParaRPr lang="en-US" sz="1400" dirty="0"/>
          </a:p>
        </p:txBody>
      </p:sp>
      <p:graphicFrame>
        <p:nvGraphicFramePr>
          <p:cNvPr id="4" name="Chart 0" descr=""/>
          <p:cNvGraphicFramePr/>
          <p:nvPr/>
        </p:nvGraphicFramePr>
        <p:xfrm>
          <a:off x="640080" y="1463040"/>
          <a:ext cx="41148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937760" y="1463040"/>
          <a:ext cx="3200400" cy="393192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8412480" y="1508760"/>
            <a:ext cx="3108960" cy="4206240"/>
          </a:xfrm>
          <a:prstGeom prst="rect">
            <a:avLst/>
          </a:prstGeom>
          <a:noFill/>
          <a:ln/>
        </p:spPr>
        <p:txBody>
          <a:bodyPr wrap="square" lIns="0" tIns="0" rIns="0" bIns="0" rtlCol="0" anchor="ctr"/>
          <a:lstStyle/>
          <a:p>
            <a:pPr indent="0" marL="0">
              <a:lnSpc>
                <a:spcPts val="2200"/>
              </a:lnSpc>
              <a:spcAft>
                <a:spcPts val="800"/>
              </a:spcAft>
              <a:buNone/>
            </a:pPr>
            <a:r>
              <a:rPr lang="en-US" sz="1200" b="1" dirty="0">
                <a:solidFill>
                  <a:srgbClr val="000000"/>
                </a:solidFill>
                <a:latin typeface="Calibri" pitchFamily="34" charset="0"/>
                <a:ea typeface="Calibri" pitchFamily="34" charset="-122"/>
                <a:cs typeface="Calibri" pitchFamily="34" charset="-120"/>
              </a:rPr>
              <a:t>Findings</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Any two versions have only 44 to 58 percent of their returned records in common</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two max clause variants are closest to each other at 57 percent, so they behave more like each other than like the current version</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Both max clause variants surface about 10 percent fewer distinct people across the run</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They return a full page but repeat the same people more often, so an operator scanning for someone the first page missed has less to work with</a:t>
            </a:r>
            <a:endParaRPr lang="en-US" sz="1200" dirty="0"/>
          </a:p>
        </p:txBody>
      </p:sp>
      <p:sp>
        <p:nvSpPr>
          <p:cNvPr id="7" name="Text 3"/>
          <p:cNvSpPr txBox="1"/>
          <p:nvPr/>
        </p:nvSpPr>
        <p:spPr>
          <a:xfrm>
            <a:off x="640080" y="5532120"/>
            <a:ext cx="4114800" cy="274320"/>
          </a:xfrm>
          <a:prstGeom prst="rect">
            <a:avLst/>
          </a:prstGeom>
          <a:noFill/>
          <a:ln/>
        </p:spPr>
        <p:txBody>
          <a:bodyPr wrap="square" lIns="0" tIns="0" rIns="0" bIns="0" rtlCol="0" anchor="ctr"/>
          <a:lstStyle/>
          <a:p>
            <a:pPr indent="0" marL="0">
              <a:lnSpc>
                <a:spcPts val="2200"/>
              </a:lnSpc>
              <a:spcAft>
                <a:spcPts val="800"/>
              </a:spcAft>
              <a:buNone/>
            </a:pPr>
            <a:r>
              <a:rPr lang="en-US" sz="1100" dirty="0">
                <a:solidFill>
                  <a:srgbClr val="444444"/>
                </a:solidFill>
                <a:latin typeface="Calibri" pitchFamily="34" charset="0"/>
                <a:ea typeface="Calibri" pitchFamily="34" charset="-122"/>
                <a:cs typeface="Calibri" pitchFamily="34" charset="-120"/>
              </a:rPr>
              <a:t>Records in common, percent</a:t>
            </a:r>
            <a:endParaRPr lang="en-US" sz="1100" dirty="0"/>
          </a:p>
        </p:txBody>
      </p:sp>
      <p:sp>
        <p:nvSpPr>
          <p:cNvPr id="8" name="Text 4"/>
          <p:cNvSpPr txBox="1"/>
          <p:nvPr/>
        </p:nvSpPr>
        <p:spPr>
          <a:xfrm>
            <a:off x="4937760" y="5532120"/>
            <a:ext cx="3200400" cy="274320"/>
          </a:xfrm>
          <a:prstGeom prst="rect">
            <a:avLst/>
          </a:prstGeom>
          <a:noFill/>
          <a:ln/>
        </p:spPr>
        <p:txBody>
          <a:bodyPr wrap="square" lIns="0" tIns="0" rIns="0" bIns="0" rtlCol="0" anchor="ctr"/>
          <a:lstStyle/>
          <a:p>
            <a:pPr indent="0" marL="0">
              <a:lnSpc>
                <a:spcPts val="2200"/>
              </a:lnSpc>
              <a:spcAft>
                <a:spcPts val="800"/>
              </a:spcAft>
              <a:buNone/>
            </a:pPr>
            <a:r>
              <a:rPr lang="en-US" sz="1100" dirty="0">
                <a:solidFill>
                  <a:srgbClr val="444444"/>
                </a:solidFill>
                <a:latin typeface="Calibri" pitchFamily="34" charset="0"/>
                <a:ea typeface="Calibri" pitchFamily="34" charset="-122"/>
                <a:cs typeface="Calibri" pitchFamily="34" charset="-120"/>
              </a:rPr>
              <a:t>Distinct people, page size 10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10881360" cy="50292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First result agreement</a:t>
            </a:r>
            <a:endParaRPr lang="en-US" sz="3000" dirty="0"/>
          </a:p>
        </p:txBody>
      </p:sp>
      <p:sp>
        <p:nvSpPr>
          <p:cNvPr id="3" name="Text 1"/>
          <p:cNvSpPr txBox="1"/>
          <p:nvPr/>
        </p:nvSpPr>
        <p:spPr>
          <a:xfrm>
            <a:off x="640080" y="932688"/>
            <a:ext cx="10881360" cy="292608"/>
          </a:xfrm>
          <a:prstGeom prst="rect">
            <a:avLst/>
          </a:prstGeom>
          <a:noFill/>
          <a:ln/>
        </p:spPr>
        <p:txBody>
          <a:bodyPr wrap="square" lIns="0" tIns="0" rIns="0" bIns="0" rtlCol="0" anchor="ctr"/>
          <a:lstStyle/>
          <a:p>
            <a:pPr indent="0" marL="0">
              <a:buNone/>
            </a:pPr>
            <a:r>
              <a:rPr lang="en-US" sz="1400" dirty="0">
                <a:solidFill>
                  <a:srgbClr val="444444"/>
                </a:solidFill>
                <a:latin typeface="Calibri" pitchFamily="34" charset="0"/>
                <a:ea typeface="Calibri" pitchFamily="34" charset="-122"/>
                <a:cs typeface="Calibri" pitchFamily="34" charset="-120"/>
              </a:rPr>
              <a:t>Share of searches where both versions returned the same person first</a:t>
            </a:r>
            <a:endParaRPr lang="en-US" sz="1400" dirty="0"/>
          </a:p>
        </p:txBody>
      </p:sp>
      <p:graphicFrame>
        <p:nvGraphicFramePr>
          <p:cNvPr id="4" name="Chart 0" descr=""/>
          <p:cNvGraphicFramePr/>
          <p:nvPr/>
        </p:nvGraphicFramePr>
        <p:xfrm>
          <a:off x="640080" y="1463040"/>
          <a:ext cx="658368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498080" y="1508760"/>
            <a:ext cx="4023360" cy="4206240"/>
          </a:xfrm>
          <a:prstGeom prst="rect">
            <a:avLst/>
          </a:prstGeom>
          <a:noFill/>
          <a:ln/>
        </p:spPr>
        <p:txBody>
          <a:bodyPr wrap="square" lIns="0" tIns="0" rIns="0" bIns="0" rtlCol="0" anchor="ctr"/>
          <a:lstStyle/>
          <a:p>
            <a:pPr indent="0" marL="0">
              <a:lnSpc>
                <a:spcPts val="2200"/>
              </a:lnSpc>
              <a:spcAft>
                <a:spcPts val="800"/>
              </a:spcAft>
              <a:buNone/>
            </a:pPr>
            <a:r>
              <a:rPr lang="en-US" sz="1200" b="1" dirty="0">
                <a:solidFill>
                  <a:srgbClr val="000000"/>
                </a:solidFill>
                <a:latin typeface="Calibri" pitchFamily="34" charset="0"/>
                <a:ea typeface="Calibri" pitchFamily="34" charset="-122"/>
                <a:cs typeface="Calibri" pitchFamily="34" charset="-120"/>
              </a:rPr>
              <a:t>Findings</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first result differs on about 14 percent of searches for every version pair</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That is 545 to 634 searches per comparison</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stated acceptance bar is that a new version must not change the first result, so this figure would fail it</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Not yet confirmed. These runs used the direct test path, where the query is rebuilt outside the search service</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The service test path showed no first result differences in the earlier run</a:t>
            </a:r>
            <a:endParaRPr lang="en-US" sz="1200" dirty="0"/>
          </a:p>
          <a:p>
            <a:pPr lvl="1" marL="685800" indent="-342900">
              <a:lnSpc>
                <a:spcPts val="2200"/>
              </a:lnSpc>
              <a:spcAft>
                <a:spcPts val="800"/>
              </a:spcAft>
              <a:buSzPct val="100000"/>
              <a:buChar char="•"/>
            </a:pPr>
            <a:r>
              <a:rPr lang="en-US" sz="1200" dirty="0">
                <a:solidFill>
                  <a:srgbClr val="000000"/>
                </a:solidFill>
                <a:latin typeface="Calibri" pitchFamily="34" charset="0"/>
                <a:ea typeface="Calibri" pitchFamily="34" charset="-122"/>
                <a:cs typeface="Calibri" pitchFamily="34" charset="-120"/>
              </a:rPr>
              <a:t>To be verified before it is treated as a finding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11480"/>
            <a:ext cx="10881360" cy="50292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Detailed figures, volume and agreement</a:t>
            </a:r>
            <a:endParaRPr lang="en-US" sz="3000" dirty="0"/>
          </a:p>
        </p:txBody>
      </p:sp>
      <p:sp>
        <p:nvSpPr>
          <p:cNvPr id="3" name="Text 1"/>
          <p:cNvSpPr txBox="1"/>
          <p:nvPr/>
        </p:nvSpPr>
        <p:spPr>
          <a:xfrm>
            <a:off x="640080" y="932688"/>
            <a:ext cx="10881360" cy="292608"/>
          </a:xfrm>
          <a:prstGeom prst="rect">
            <a:avLst/>
          </a:prstGeom>
          <a:noFill/>
          <a:ln/>
        </p:spPr>
        <p:txBody>
          <a:bodyPr wrap="square" lIns="0" tIns="0" rIns="0" bIns="0" rtlCol="0" anchor="ctr"/>
          <a:lstStyle/>
          <a:p>
            <a:pPr indent="0" marL="0">
              <a:buNone/>
            </a:pPr>
            <a:r>
              <a:rPr lang="en-US" sz="1400" dirty="0">
                <a:solidFill>
                  <a:srgbClr val="444444"/>
                </a:solidFill>
                <a:latin typeface="Calibri" pitchFamily="34" charset="0"/>
                <a:ea typeface="Calibri" pitchFamily="34" charset="-122"/>
                <a:cs typeface="Calibri" pitchFamily="34" charset="-120"/>
              </a:rPr>
              <a:t>4,252 production searches, three template versions, result sizes 10 and 20</a:t>
            </a:r>
            <a:endParaRPr lang="en-US" sz="1400" dirty="0"/>
          </a:p>
        </p:txBody>
      </p:sp>
      <p:sp>
        <p:nvSpPr>
          <p:cNvPr id="4" name="Text 2"/>
          <p:cNvSpPr txBox="1"/>
          <p:nvPr/>
        </p:nvSpPr>
        <p:spPr>
          <a:xfrm>
            <a:off x="640080" y="1371600"/>
            <a:ext cx="10881360" cy="4846320"/>
          </a:xfrm>
          <a:prstGeom prst="rect">
            <a:avLst/>
          </a:prstGeom>
          <a:noFill/>
          <a:ln/>
        </p:spPr>
        <p:txBody>
          <a:bodyPr wrap="square" lIns="0" tIns="0" rIns="0" bIns="0" rtlCol="0" anchor="ctr"/>
          <a:lstStyle/>
          <a:p>
            <a:pPr indent="0" marL="0">
              <a:lnSpc>
                <a:spcPts val="2200"/>
              </a:lnSpc>
              <a:spcAft>
                <a:spcPts val="800"/>
              </a:spcAft>
              <a:buNone/>
            </a:pPr>
            <a:r>
              <a:rPr lang="en-US" sz="1350" b="1" dirty="0">
                <a:solidFill>
                  <a:srgbClr val="000000"/>
                </a:solidFill>
                <a:latin typeface="Calibri" pitchFamily="34" charset="0"/>
                <a:ea typeface="Calibri" pitchFamily="34" charset="-122"/>
                <a:cs typeface="Calibri" pitchFamily="34" charset="-120"/>
              </a:rPr>
              <a:t>Records returned per search</a:t>
            </a:r>
            <a:endParaRPr lang="en-US" sz="1350" dirty="0"/>
          </a:p>
          <a:p>
            <a:pPr lvl="1" marL="685800" indent="-342900">
              <a:lnSpc>
                <a:spcPts val="22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Size 10: default 10.0, DOB boost 10.0, name boost 9.8</a:t>
            </a:r>
            <a:endParaRPr lang="en-US" sz="1350" dirty="0"/>
          </a:p>
          <a:p>
            <a:pPr lvl="1" marL="685800" indent="-342900">
              <a:lnSpc>
                <a:spcPts val="22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Size 20: default 20.0, DOB boost 20.0, name boost 18.3</a:t>
            </a:r>
            <a:endParaRPr lang="en-US" sz="1350" dirty="0"/>
          </a:p>
          <a:p>
            <a:pPr lvl="1" marL="685800" indent="-342900">
              <a:lnSpc>
                <a:spcPts val="22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Name boost is the only version that falls short, and only at size 20</a:t>
            </a:r>
            <a:endParaRPr lang="en-US" sz="1350" dirty="0"/>
          </a:p>
          <a:p>
            <a:pPr indent="0" marL="0">
              <a:lnSpc>
                <a:spcPts val="2200"/>
              </a:lnSpc>
              <a:spcAft>
                <a:spcPts val="800"/>
              </a:spcAft>
              <a:buNone/>
            </a:pPr>
            <a:r>
              <a:rPr lang="en-US" sz="1350" b="1" dirty="0">
                <a:solidFill>
                  <a:srgbClr val="000000"/>
                </a:solidFill>
                <a:latin typeface="Calibri" pitchFamily="34" charset="0"/>
                <a:ea typeface="Calibri" pitchFamily="34" charset="-122"/>
                <a:cs typeface="Calibri" pitchFamily="34" charset="-120"/>
              </a:rPr>
              <a:t>First result the same, percent of searches</a:t>
            </a:r>
            <a:endParaRPr lang="en-US" sz="1350" dirty="0"/>
          </a:p>
          <a:p>
            <a:pPr lvl="1" marL="685800" indent="-342900">
              <a:lnSpc>
                <a:spcPts val="22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default vs DOB boost: 85.8 at size 10, 85.1 at size 20</a:t>
            </a:r>
            <a:endParaRPr lang="en-US" sz="1350" dirty="0"/>
          </a:p>
          <a:p>
            <a:pPr lvl="1" marL="685800" indent="-342900">
              <a:lnSpc>
                <a:spcPts val="22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default vs name boost: 86.9 at size 10, 86.2 at size 20</a:t>
            </a:r>
            <a:endParaRPr lang="en-US" sz="1350" dirty="0"/>
          </a:p>
          <a:p>
            <a:pPr lvl="1" marL="685800" indent="-342900">
              <a:lnSpc>
                <a:spcPts val="22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DOB boost vs name boost: 87.2 at size 10, 86.2 at size 20</a:t>
            </a:r>
            <a:endParaRPr lang="en-US" sz="1350" dirty="0"/>
          </a:p>
          <a:p>
            <a:pPr lvl="1" marL="685800" indent="-342900">
              <a:lnSpc>
                <a:spcPts val="22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Between 545 and 634 searches per pair returned a different first result</a:t>
            </a:r>
            <a:endParaRPr lang="en-US" sz="1350" dirty="0"/>
          </a:p>
          <a:p>
            <a:pPr indent="0" marL="0">
              <a:lnSpc>
                <a:spcPts val="2200"/>
              </a:lnSpc>
              <a:spcAft>
                <a:spcPts val="800"/>
              </a:spcAft>
              <a:buNone/>
            </a:pPr>
            <a:r>
              <a:rPr lang="en-US" sz="1350" b="1" dirty="0">
                <a:solidFill>
                  <a:srgbClr val="000000"/>
                </a:solidFill>
                <a:latin typeface="Calibri" pitchFamily="34" charset="0"/>
                <a:ea typeface="Calibri" pitchFamily="34" charset="-122"/>
                <a:cs typeface="Calibri" pitchFamily="34" charset="-120"/>
              </a:rPr>
              <a:t>Records in common between two versions, percent</a:t>
            </a:r>
            <a:endParaRPr lang="en-US" sz="1350" dirty="0"/>
          </a:p>
          <a:p>
            <a:pPr lvl="1" marL="685800" indent="-342900">
              <a:lnSpc>
                <a:spcPts val="22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default vs DOB boost: 47.5 at size 10, 44.2 at size 20</a:t>
            </a:r>
            <a:endParaRPr lang="en-US" sz="1350" dirty="0"/>
          </a:p>
          <a:p>
            <a:pPr lvl="1" marL="685800" indent="-342900">
              <a:lnSpc>
                <a:spcPts val="22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default vs name boost: 50.7 at size 10, 50.0 at size 20</a:t>
            </a:r>
            <a:endParaRPr lang="en-US" sz="1350" dirty="0"/>
          </a:p>
          <a:p>
            <a:pPr lvl="1" marL="685800" indent="-342900">
              <a:lnSpc>
                <a:spcPts val="2200"/>
              </a:lnSpc>
              <a:spcAft>
                <a:spcPts val="800"/>
              </a:spcAft>
              <a:buSzPct val="100000"/>
              <a:buChar char="•"/>
            </a:pPr>
            <a:r>
              <a:rPr lang="en-US" sz="1350" dirty="0">
                <a:solidFill>
                  <a:srgbClr val="000000"/>
                </a:solidFill>
                <a:latin typeface="Calibri" pitchFamily="34" charset="0"/>
                <a:ea typeface="Calibri" pitchFamily="34" charset="-122"/>
                <a:cs typeface="Calibri" pitchFamily="34" charset="-120"/>
              </a:rPr>
              <a:t>DOB boost vs name boost: 57.7 at size 10, 57.3 at size 20</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10881360" cy="50292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Detailed figures, shortfall and coverage</a:t>
            </a:r>
            <a:endParaRPr lang="en-US" sz="3000" dirty="0"/>
          </a:p>
        </p:txBody>
      </p:sp>
      <p:sp>
        <p:nvSpPr>
          <p:cNvPr id="3" name="Text 1"/>
          <p:cNvSpPr txBox="1"/>
          <p:nvPr/>
        </p:nvSpPr>
        <p:spPr>
          <a:xfrm>
            <a:off x="640080" y="932688"/>
            <a:ext cx="10881360" cy="292608"/>
          </a:xfrm>
          <a:prstGeom prst="rect">
            <a:avLst/>
          </a:prstGeom>
          <a:noFill/>
          <a:ln/>
        </p:spPr>
        <p:txBody>
          <a:bodyPr wrap="square" lIns="0" tIns="0" rIns="0" bIns="0" rtlCol="0" anchor="ctr"/>
          <a:lstStyle/>
          <a:p>
            <a:pPr indent="0" marL="0">
              <a:buNone/>
            </a:pPr>
            <a:r>
              <a:rPr lang="en-US" sz="1400" dirty="0">
                <a:solidFill>
                  <a:srgbClr val="444444"/>
                </a:solidFill>
                <a:latin typeface="Calibri" pitchFamily="34" charset="0"/>
                <a:ea typeface="Calibri" pitchFamily="34" charset="-122"/>
                <a:cs typeface="Calibri" pitchFamily="34" charset="-120"/>
              </a:rPr>
              <a:t>4,252 production searches, three template versions, result sizes 10 and 20</a:t>
            </a:r>
            <a:endParaRPr lang="en-US" sz="1400" dirty="0"/>
          </a:p>
        </p:txBody>
      </p:sp>
      <p:sp>
        <p:nvSpPr>
          <p:cNvPr id="4" name="Text 2"/>
          <p:cNvSpPr txBox="1"/>
          <p:nvPr/>
        </p:nvSpPr>
        <p:spPr>
          <a:xfrm>
            <a:off x="640080" y="1371600"/>
            <a:ext cx="10881360" cy="4846320"/>
          </a:xfrm>
          <a:prstGeom prst="rect">
            <a:avLst/>
          </a:prstGeom>
          <a:noFill/>
          <a:ln/>
        </p:spPr>
        <p:txBody>
          <a:bodyPr wrap="square" lIns="0" tIns="0" rIns="0" bIns="0" rtlCol="0" anchor="ctr"/>
          <a:lstStyle/>
          <a:p>
            <a:pPr indent="0" marL="0">
              <a:lnSpc>
                <a:spcPts val="1800"/>
              </a:lnSpc>
              <a:spcAft>
                <a:spcPts val="500"/>
              </a:spcAft>
              <a:buNone/>
            </a:pPr>
            <a:r>
              <a:rPr lang="en-US" sz="1200" b="1" dirty="0">
                <a:solidFill>
                  <a:srgbClr val="000000"/>
                </a:solidFill>
                <a:latin typeface="Calibri" pitchFamily="34" charset="0"/>
                <a:ea typeface="Calibri" pitchFamily="34" charset="-122"/>
                <a:cs typeface="Calibri" pitchFamily="34" charset="-120"/>
              </a:rPr>
              <a:t>Searches returning fewer records than the current version</a:t>
            </a:r>
            <a:endParaRPr lang="en-US" sz="1200" dirty="0"/>
          </a:p>
          <a:p>
            <a:pPr lvl="1" marL="685800" indent="-342900">
              <a:lnSpc>
                <a:spcPts val="1800"/>
              </a:lnSpc>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Name boost: 253 at size 10, 851 at size 20</a:t>
            </a:r>
            <a:endParaRPr lang="en-US" sz="1200" dirty="0"/>
          </a:p>
          <a:p>
            <a:pPr lvl="1" marL="685800" indent="-342900">
              <a:lnSpc>
                <a:spcPts val="1800"/>
              </a:lnSpc>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DOB boost: 4 at size 10, 5 at size 20</a:t>
            </a:r>
            <a:endParaRPr lang="en-US" sz="1200" dirty="0"/>
          </a:p>
          <a:p>
            <a:pPr lvl="1" marL="685800" indent="-342900">
              <a:lnSpc>
                <a:spcPts val="1800"/>
              </a:lnSpc>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The current version returned fewer on 0 searches</a:t>
            </a:r>
            <a:endParaRPr lang="en-US" sz="1200" dirty="0"/>
          </a:p>
          <a:p>
            <a:pPr indent="0" marL="0">
              <a:lnSpc>
                <a:spcPts val="1800"/>
              </a:lnSpc>
              <a:spcAft>
                <a:spcPts val="500"/>
              </a:spcAft>
              <a:buNone/>
            </a:pPr>
            <a:r>
              <a:rPr lang="en-US" sz="1200" b="1" dirty="0">
                <a:solidFill>
                  <a:srgbClr val="000000"/>
                </a:solidFill>
                <a:latin typeface="Calibri" pitchFamily="34" charset="0"/>
                <a:ea typeface="Calibri" pitchFamily="34" charset="-122"/>
                <a:cs typeface="Calibri" pitchFamily="34" charset="-120"/>
              </a:rPr>
              <a:t>Where the name boost shortfall occurs, by client</a:t>
            </a:r>
            <a:endParaRPr lang="en-US" sz="1200" dirty="0"/>
          </a:p>
          <a:p>
            <a:pPr lvl="1" marL="685800" indent="-342900">
              <a:lnSpc>
                <a:spcPts val="1800"/>
              </a:lnSpc>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UIPATH at size 20: 14.0 records per search against 20.0 for the other two versions</a:t>
            </a:r>
            <a:endParaRPr lang="en-US" sz="1200" dirty="0"/>
          </a:p>
          <a:p>
            <a:pPr lvl="1" marL="685800" indent="-342900">
              <a:lnSpc>
                <a:spcPts val="1800"/>
              </a:lnSpc>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CRIS at size 10: 9.6 records per search, 13 searches returned one record, 4 returned none</a:t>
            </a:r>
            <a:endParaRPr lang="en-US" sz="1200" dirty="0"/>
          </a:p>
          <a:p>
            <a:pPr lvl="1" marL="685800" indent="-342900">
              <a:lnSpc>
                <a:spcPts val="1800"/>
              </a:lnSpc>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BHUB c at size 20: 19.9 records per search, minimum of 3</a:t>
            </a:r>
            <a:endParaRPr lang="en-US" sz="1200" dirty="0"/>
          </a:p>
          <a:p>
            <a:pPr lvl="1" marL="685800" indent="-342900">
              <a:lnSpc>
                <a:spcPts val="1800"/>
              </a:lnSpc>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All other clients returned the full 10 or 20 under all three versions</a:t>
            </a:r>
            <a:endParaRPr lang="en-US" sz="1200" dirty="0"/>
          </a:p>
          <a:p>
            <a:pPr indent="0" marL="0">
              <a:lnSpc>
                <a:spcPts val="1800"/>
              </a:lnSpc>
              <a:spcAft>
                <a:spcPts val="500"/>
              </a:spcAft>
              <a:buNone/>
            </a:pPr>
            <a:r>
              <a:rPr lang="en-US" sz="1200" b="1" dirty="0">
                <a:solidFill>
                  <a:srgbClr val="000000"/>
                </a:solidFill>
                <a:latin typeface="Calibri" pitchFamily="34" charset="0"/>
                <a:ea typeface="Calibri" pitchFamily="34" charset="-122"/>
                <a:cs typeface="Calibri" pitchFamily="34" charset="-120"/>
              </a:rPr>
              <a:t>Distinct people surfaced across the run, size 10, all search criteria</a:t>
            </a:r>
            <a:endParaRPr lang="en-US" sz="1200" dirty="0"/>
          </a:p>
          <a:p>
            <a:pPr lvl="1" marL="685800" indent="-342900">
              <a:lnSpc>
                <a:spcPts val="1800"/>
              </a:lnSpc>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default 78,479</a:t>
            </a:r>
            <a:endParaRPr lang="en-US" sz="1200" dirty="0"/>
          </a:p>
          <a:p>
            <a:pPr lvl="1" marL="685800" indent="-342900">
              <a:lnSpc>
                <a:spcPts val="1800"/>
              </a:lnSpc>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name boost 70,494</a:t>
            </a:r>
            <a:endParaRPr lang="en-US" sz="1200" dirty="0"/>
          </a:p>
          <a:p>
            <a:pPr lvl="1" marL="685800" indent="-342900">
              <a:lnSpc>
                <a:spcPts val="1800"/>
              </a:lnSpc>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DOB boost 70,478</a:t>
            </a:r>
            <a:endParaRPr lang="en-US" sz="1200" dirty="0"/>
          </a:p>
          <a:p>
            <a:pPr indent="0" marL="0">
              <a:lnSpc>
                <a:spcPts val="1800"/>
              </a:lnSpc>
              <a:spcAft>
                <a:spcPts val="500"/>
              </a:spcAft>
              <a:buNone/>
            </a:pPr>
            <a:r>
              <a:rPr lang="en-US" sz="1200" b="1" dirty="0">
                <a:solidFill>
                  <a:srgbClr val="000000"/>
                </a:solidFill>
                <a:latin typeface="Calibri" pitchFamily="34" charset="0"/>
                <a:ea typeface="Calibri" pitchFamily="34" charset="-122"/>
                <a:cs typeface="Calibri" pitchFamily="34" charset="-120"/>
              </a:rPr>
              <a:t>Searches returning nothing at size 10</a:t>
            </a:r>
            <a:endParaRPr lang="en-US" sz="1200" dirty="0"/>
          </a:p>
          <a:p>
            <a:pPr lvl="1" marL="685800" indent="-342900">
              <a:lnSpc>
                <a:spcPts val="1800"/>
              </a:lnSpc>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default 2, name boost 14 mostly CRIS and UIPATH, DOB boost 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11480"/>
            <a:ext cx="10881360" cy="50292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Summary of findings</a:t>
            </a:r>
            <a:endParaRPr lang="en-US" sz="3000" dirty="0"/>
          </a:p>
        </p:txBody>
      </p:sp>
      <p:sp>
        <p:nvSpPr>
          <p:cNvPr id="3" name="Text 1"/>
          <p:cNvSpPr txBox="1"/>
          <p:nvPr/>
        </p:nvSpPr>
        <p:spPr>
          <a:xfrm>
            <a:off x="640080" y="1188720"/>
            <a:ext cx="10881360" cy="5029200"/>
          </a:xfrm>
          <a:prstGeom prst="rect">
            <a:avLst/>
          </a:prstGeom>
          <a:noFill/>
          <a:ln/>
        </p:spPr>
        <p:txBody>
          <a:bodyPr wrap="square" lIns="0" tIns="0" rIns="0" bIns="0" rtlCol="0" anchor="ctr"/>
          <a:lstStyle/>
          <a:p>
            <a:pPr indent="0" marL="0">
              <a:lnSpc>
                <a:spcPts val="2200"/>
              </a:lnSpc>
              <a:spcAft>
                <a:spcPts val="800"/>
              </a:spcAft>
              <a:buNone/>
            </a:pPr>
            <a:r>
              <a:rPr lang="en-US" sz="1400" b="1" dirty="0">
                <a:solidFill>
                  <a:srgbClr val="000000"/>
                </a:solidFill>
                <a:latin typeface="Calibri" pitchFamily="34" charset="0"/>
                <a:ea typeface="Calibri" pitchFamily="34" charset="-122"/>
                <a:cs typeface="Calibri" pitchFamily="34" charset="-120"/>
              </a:rPr>
              <a:t>Reduced tiers, ready for staging</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Returns the same number of records per search as the current version, at both page sizes</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Not one of the 4,252 searches returned fewer results than the current version</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Holds across every client and every combination of search fields</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Faster response times, so no trade off between result volume and speed</a:t>
            </a:r>
            <a:endParaRPr lang="en-US" sz="1400" dirty="0"/>
          </a:p>
          <a:p>
            <a:pPr indent="0" marL="0">
              <a:lnSpc>
                <a:spcPts val="2200"/>
              </a:lnSpc>
              <a:spcAft>
                <a:spcPts val="800"/>
              </a:spcAft>
              <a:buNone/>
            </a:pPr>
            <a:r>
              <a:rPr lang="en-US" sz="1400" b="1" dirty="0">
                <a:solidFill>
                  <a:srgbClr val="000000"/>
                </a:solidFill>
                <a:latin typeface="Calibri" pitchFamily="34" charset="0"/>
                <a:ea typeface="Calibri" pitchFamily="34" charset="-122"/>
                <a:cs typeface="Calibri" pitchFamily="34" charset="-120"/>
              </a:rPr>
              <a:t>Max clause, not yet ready</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Name boost variant returns fewer records on 851 searches and nothing at all on 14</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Shortfall concentrated in UIPATH and CRIS, both identifier only searches</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Both variants surface about 10 percent fewer distinct people across the run</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Any two versions have only 44 to 58 percent of returned records in common</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DOB boost variant matches the current version on volume, so the gap comes from the name boost rather than the max clause change itself</a:t>
            </a:r>
            <a:endParaRPr lang="en-US" sz="1400" dirty="0"/>
          </a:p>
          <a:p>
            <a:pPr indent="0" marL="0">
              <a:lnSpc>
                <a:spcPts val="2200"/>
              </a:lnSpc>
              <a:spcAft>
                <a:spcPts val="800"/>
              </a:spcAft>
              <a:buNone/>
            </a:pPr>
            <a:r>
              <a:rPr lang="en-US" sz="1400" b="1" dirty="0">
                <a:solidFill>
                  <a:srgbClr val="000000"/>
                </a:solidFill>
                <a:latin typeface="Calibri" pitchFamily="34" charset="0"/>
                <a:ea typeface="Calibri" pitchFamily="34" charset="-122"/>
                <a:cs typeface="Calibri" pitchFamily="34" charset="-120"/>
              </a:rPr>
              <a:t>Open question</a:t>
            </a:r>
            <a:endParaRPr lang="en-US" sz="1400" dirty="0"/>
          </a:p>
          <a:p>
            <a:pPr lvl="1" marL="685800" indent="-342900">
              <a:lnSpc>
                <a:spcPts val="2200"/>
              </a:lnSpc>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First result differed on about 14 percent of searches on one test path and not at all on the other, being verified before it is treated as a finding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11480"/>
            <a:ext cx="10881360" cy="502920"/>
          </a:xfrm>
          <a:prstGeom prst="rect">
            <a:avLst/>
          </a:prstGeom>
          <a:noFill/>
          <a:ln/>
        </p:spPr>
        <p:txBody>
          <a:bodyPr wrap="square" lIns="0" tIns="0" rIns="0" bIns="0" rtlCol="0" anchor="ctr"/>
          <a:lstStyle/>
          <a:p>
            <a:pPr indent="0" marL="0">
              <a:buNone/>
            </a:pPr>
            <a:r>
              <a:rPr lang="en-US" sz="3000" b="1" dirty="0">
                <a:solidFill>
                  <a:srgbClr val="000000"/>
                </a:solidFill>
                <a:latin typeface="Calibri" pitchFamily="34" charset="0"/>
                <a:ea typeface="Calibri" pitchFamily="34" charset="-122"/>
                <a:cs typeface="Calibri" pitchFamily="34" charset="-120"/>
              </a:rPr>
              <a:t>Next steps</a:t>
            </a:r>
            <a:endParaRPr lang="en-US" sz="3000" dirty="0"/>
          </a:p>
        </p:txBody>
      </p:sp>
      <p:sp>
        <p:nvSpPr>
          <p:cNvPr id="3" name="Text 1"/>
          <p:cNvSpPr txBox="1"/>
          <p:nvPr/>
        </p:nvSpPr>
        <p:spPr>
          <a:xfrm>
            <a:off x="640080" y="1280160"/>
            <a:ext cx="10881360" cy="4937760"/>
          </a:xfrm>
          <a:prstGeom prst="rect">
            <a:avLst/>
          </a:prstGeom>
          <a:noFill/>
          <a:ln/>
        </p:spPr>
        <p:txBody>
          <a:bodyPr wrap="square" lIns="0" tIns="0" rIns="0" bIns="0" rtlCol="0" anchor="ctr"/>
          <a:lstStyle/>
          <a:p>
            <a:pPr indent="0" marL="0">
              <a:lnSpc>
                <a:spcPts val="2200"/>
              </a:lnSpc>
              <a:spcAft>
                <a:spcPts val="800"/>
              </a:spcAft>
              <a:buNone/>
            </a:pPr>
            <a:r>
              <a:rPr lang="en-US" sz="1500" b="1" dirty="0">
                <a:solidFill>
                  <a:srgbClr val="000000"/>
                </a:solidFill>
                <a:latin typeface="Calibri" pitchFamily="34" charset="0"/>
                <a:ea typeface="Calibri" pitchFamily="34" charset="-122"/>
                <a:cs typeface="Calibri" pitchFamily="34" charset="-120"/>
              </a:rPr>
              <a:t>This week</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Reduced tiers released to staging, validated by this analysis</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Regression testing continues in staging</a:t>
            </a:r>
            <a:endParaRPr lang="en-US" sz="1500" dirty="0"/>
          </a:p>
          <a:p>
            <a:pPr indent="0" marL="0">
              <a:lnSpc>
                <a:spcPts val="2200"/>
              </a:lnSpc>
              <a:spcAft>
                <a:spcPts val="800"/>
              </a:spcAft>
              <a:buNone/>
            </a:pPr>
            <a:r>
              <a:rPr lang="en-US" sz="1500" b="1" dirty="0">
                <a:solidFill>
                  <a:srgbClr val="000000"/>
                </a:solidFill>
                <a:latin typeface="Calibri" pitchFamily="34" charset="0"/>
                <a:ea typeface="Calibri" pitchFamily="34" charset="-122"/>
                <a:cs typeface="Calibri" pitchFamily="34" charset="-120"/>
              </a:rPr>
              <a:t>Next</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First result finding to be confirmed by re-running through the service path</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Max clause recall to be investigated, focused on UIPATH and CRIS</a:t>
            </a:r>
            <a:endParaRPr lang="en-US" sz="1500" dirty="0"/>
          </a:p>
          <a:p>
            <a:pPr indent="0" marL="0">
              <a:lnSpc>
                <a:spcPts val="2200"/>
              </a:lnSpc>
              <a:spcAft>
                <a:spcPts val="800"/>
              </a:spcAft>
              <a:buNone/>
            </a:pPr>
            <a:r>
              <a:rPr lang="en-US" sz="1500" b="1" dirty="0">
                <a:solidFill>
                  <a:srgbClr val="000000"/>
                </a:solidFill>
                <a:latin typeface="Calibri" pitchFamily="34" charset="0"/>
                <a:ea typeface="Calibri" pitchFamily="34" charset="-122"/>
                <a:cs typeface="Calibri" pitchFamily="34" charset="-120"/>
              </a:rPr>
              <a:t>Ongoing</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Comparison re-run on each new template version</a:t>
            </a:r>
            <a:endParaRPr lang="en-US" sz="1500" dirty="0"/>
          </a:p>
          <a:p>
            <a:pPr indent="0" marL="0">
              <a:lnSpc>
                <a:spcPts val="2200"/>
              </a:lnSpc>
              <a:spcAft>
                <a:spcPts val="800"/>
              </a:spcAft>
              <a:buNone/>
            </a:pPr>
            <a:r>
              <a:rPr lang="en-US" sz="1500" b="1" dirty="0">
                <a:solidFill>
                  <a:srgbClr val="000000"/>
                </a:solidFill>
                <a:latin typeface="Calibri" pitchFamily="34" charset="0"/>
                <a:ea typeface="Calibri" pitchFamily="34" charset="-122"/>
                <a:cs typeface="Calibri" pitchFamily="34" charset="-120"/>
              </a:rPr>
              <a:t>Summary</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This analysis validated reduced tiers for release to staging this week</a:t>
            </a:r>
            <a:endParaRPr lang="en-US" sz="1500" dirty="0"/>
          </a:p>
          <a:p>
            <a:pPr lvl="1" marL="685800" indent="-342900">
              <a:lnSpc>
                <a:spcPts val="2200"/>
              </a:lnSpc>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Max clause remains under review</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2026-09-08T15:14:43Z</dcterms:created>
  <dcterms:modified xsi:type="dcterms:W3CDTF">2026-09-08T15:14:43Z</dcterms:modified>
</cp:coreProperties>
</file>