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Attachment for the Azure Foundry SNOW request.
Request path, left to right. Transport.net posts the whole trip request on submission and holds the submit while the call is in flight. The App Service reads the question and answer pairs, compiles the criteria file into a single model instruction, and makes one call per trip so related answers are seen together. Foundry returns structured facts. Fixed logic in the App Service, not the model, produces the determination. Three fields go back.
Two points the committee will ask about. First, data handling. The Foundry deployment is our own resource, reached over a private endpoint, and payloads are not used to train models. The open question is abuse monitoring, where Azure may retain prompts for up to 30 days unless the exemption is approved. That is listed as an open item rather than asserted as solved, and it needs confirming before PHI flows. Second, secrets. No component holds a long lived credential; every resource call uses the App Service managed identity.
Azure AI Search appeared on an earlier version of this diagram and has been removed deliberately. The criteria set is small enough to place entirely in the instruction, so there is no retrieval step and no index to provision or keep in 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11480" y="237744"/>
            <a:ext cx="11338560" cy="384048"/>
          </a:xfrm>
          <a:prstGeom prst="rect">
            <a:avLst/>
          </a:prstGeom>
          <a:noFill/>
          <a:ln/>
        </p:spPr>
        <p:txBody>
          <a:bodyPr wrap="square" rtlCol="0" anchor="ctr"/>
          <a:lstStyle/>
          <a:p>
            <a:pPr indent="0" marL="0">
              <a:buNone/>
            </a:pPr>
            <a:r>
              <a:rPr lang="en-US" sz="2200" b="1" dirty="0">
                <a:solidFill>
                  <a:srgbClr val="000000"/>
                </a:solidFill>
                <a:latin typeface="Calibri" pitchFamily="34" charset="0"/>
                <a:ea typeface="Calibri" pitchFamily="34" charset="-122"/>
                <a:cs typeface="Calibri" pitchFamily="34" charset="-120"/>
              </a:rPr>
              <a:t>Medical necessity guidance service — Azure architecture</a:t>
            </a:r>
            <a:endParaRPr lang="en-US" sz="2200" dirty="0"/>
          </a:p>
        </p:txBody>
      </p:sp>
      <p:sp>
        <p:nvSpPr>
          <p:cNvPr id="3" name="Text 1"/>
          <p:cNvSpPr/>
          <p:nvPr/>
        </p:nvSpPr>
        <p:spPr>
          <a:xfrm>
            <a:off x="411480" y="640080"/>
            <a:ext cx="11338560" cy="256032"/>
          </a:xfrm>
          <a:prstGeom prst="rect">
            <a:avLst/>
          </a:prstGeom>
          <a:noFill/>
          <a:ln/>
        </p:spPr>
        <p:txBody>
          <a:bodyPr wrap="square" rtlCol="0" anchor="ctr"/>
          <a:lstStyle/>
          <a:p>
            <a:pPr indent="0" marL="0">
              <a:buNone/>
            </a:pPr>
            <a:r>
              <a:rPr lang="en-US" sz="1200" dirty="0">
                <a:solidFill>
                  <a:srgbClr val="595959"/>
                </a:solidFill>
                <a:latin typeface="Calibri" pitchFamily="34" charset="0"/>
                <a:ea typeface="Calibri" pitchFamily="34" charset="-122"/>
                <a:cs typeface="Calibri" pitchFamily="34" charset="-120"/>
              </a:rPr>
              <a:t>One new App Service and one Foundry model deployment, provisioned inside the Transport.net subscription. Called by the OLOS API on trip submission.</a:t>
            </a:r>
            <a:endParaRPr lang="en-US" sz="1200" dirty="0"/>
          </a:p>
        </p:txBody>
      </p:sp>
      <p:sp>
        <p:nvSpPr>
          <p:cNvPr id="4" name="Text 2"/>
          <p:cNvSpPr/>
          <p:nvPr/>
        </p:nvSpPr>
        <p:spPr>
          <a:xfrm>
            <a:off x="411480" y="969264"/>
            <a:ext cx="5486400" cy="182880"/>
          </a:xfrm>
          <a:prstGeom prst="rect">
            <a:avLst/>
          </a:prstGeom>
          <a:noFill/>
          <a:ln/>
        </p:spPr>
        <p:txBody>
          <a:bodyPr wrap="square" rtlCol="0" anchor="ctr"/>
          <a:lstStyle/>
          <a:p>
            <a:pPr indent="0" marL="0">
              <a:buNone/>
            </a:pPr>
            <a:r>
              <a:rPr lang="en-US" sz="1000" b="1" dirty="0">
                <a:solidFill>
                  <a:srgbClr val="595959"/>
                </a:solidFill>
                <a:latin typeface="Calibri" pitchFamily="34" charset="0"/>
                <a:ea typeface="Calibri" pitchFamily="34" charset="-122"/>
                <a:cs typeface="Calibri" pitchFamily="34" charset="-120"/>
              </a:rPr>
              <a:t>REQUEST PATH, ON TRIP SUBMISSION</a:t>
            </a:r>
            <a:endParaRPr lang="en-US" sz="1000" dirty="0"/>
          </a:p>
        </p:txBody>
      </p:sp>
      <p:sp>
        <p:nvSpPr>
          <p:cNvPr id="5" name="Shape 3"/>
          <p:cNvSpPr/>
          <p:nvPr/>
        </p:nvSpPr>
        <p:spPr>
          <a:xfrm>
            <a:off x="411480" y="1207008"/>
            <a:ext cx="2331720" cy="1572768"/>
          </a:xfrm>
          <a:prstGeom prst="rect">
            <a:avLst/>
          </a:prstGeom>
          <a:solidFill>
            <a:srgbClr val="FFFFFF"/>
          </a:solidFill>
          <a:ln w="9525">
            <a:solidFill>
              <a:srgbClr val="808080"/>
            </a:solidFill>
            <a:prstDash val="solid"/>
          </a:ln>
        </p:spPr>
      </p:sp>
      <p:sp>
        <p:nvSpPr>
          <p:cNvPr id="6" name="Text 4"/>
          <p:cNvSpPr/>
          <p:nvPr/>
        </p:nvSpPr>
        <p:spPr>
          <a:xfrm>
            <a:off x="512064" y="1261872"/>
            <a:ext cx="2148840" cy="182880"/>
          </a:xfrm>
          <a:prstGeom prst="rect">
            <a:avLst/>
          </a:prstGeom>
          <a:noFill/>
          <a:ln/>
        </p:spPr>
        <p:txBody>
          <a:bodyPr wrap="square"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Transport.net</a:t>
            </a:r>
            <a:endParaRPr lang="en-US" sz="1100" dirty="0"/>
          </a:p>
        </p:txBody>
      </p:sp>
      <p:sp>
        <p:nvSpPr>
          <p:cNvPr id="7" name="Text 5"/>
          <p:cNvSpPr/>
          <p:nvPr/>
        </p:nvSpPr>
        <p:spPr>
          <a:xfrm>
            <a:off x="512064" y="1435608"/>
            <a:ext cx="2148840" cy="164592"/>
          </a:xfrm>
          <a:prstGeom prst="rect">
            <a:avLst/>
          </a:prstGeom>
          <a:noFill/>
          <a:ln/>
        </p:spPr>
        <p:txBody>
          <a:bodyPr wrap="square" rtlCol="0" anchor="ctr"/>
          <a:lstStyle/>
          <a:p>
            <a:pPr indent="0" marL="0">
              <a:buNone/>
            </a:pPr>
            <a:r>
              <a:rPr lang="en-US" sz="800" i="1" dirty="0">
                <a:solidFill>
                  <a:srgbClr val="595959"/>
                </a:solidFill>
                <a:latin typeface="Calibri" pitchFamily="34" charset="0"/>
                <a:ea typeface="Calibri" pitchFamily="34" charset="-122"/>
                <a:cs typeface="Calibri" pitchFamily="34" charset="-120"/>
              </a:rPr>
              <a:t>existing, OLOS API</a:t>
            </a:r>
            <a:endParaRPr lang="en-US" sz="800" dirty="0"/>
          </a:p>
        </p:txBody>
      </p:sp>
      <p:sp>
        <p:nvSpPr>
          <p:cNvPr id="8" name="Text 6"/>
          <p:cNvSpPr/>
          <p:nvPr/>
        </p:nvSpPr>
        <p:spPr>
          <a:xfrm>
            <a:off x="475488" y="1636776"/>
            <a:ext cx="2240280" cy="1097280"/>
          </a:xfrm>
          <a:prstGeom prst="rect">
            <a:avLst/>
          </a:prstGeom>
          <a:noFill/>
          <a:ln/>
        </p:spPr>
        <p:txBody>
          <a:bodyPr wrap="square" rtlCol="0" anchor="t"/>
          <a:lstStyle/>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Posts the full trip request on submit</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Holds submission while in flight</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Proceeds unchanged on timeout</a:t>
            </a:r>
            <a:endParaRPr lang="en-US" sz="850" dirty="0"/>
          </a:p>
        </p:txBody>
      </p:sp>
      <p:sp>
        <p:nvSpPr>
          <p:cNvPr id="9" name="Text 7"/>
          <p:cNvSpPr/>
          <p:nvPr/>
        </p:nvSpPr>
        <p:spPr>
          <a:xfrm>
            <a:off x="2798064" y="1627632"/>
            <a:ext cx="274320" cy="164592"/>
          </a:xfrm>
          <a:prstGeom prst="rect">
            <a:avLst/>
          </a:prstGeom>
          <a:noFill/>
          <a:ln/>
        </p:spPr>
        <p:txBody>
          <a:bodyPr wrap="square" rtlCol="0" anchor="ctr"/>
          <a:lstStyle/>
          <a:p>
            <a:pPr algn="ctr" indent="0" marL="0">
              <a:buNone/>
            </a:pPr>
            <a:r>
              <a:rPr lang="en-US" sz="900" b="1" dirty="0">
                <a:solidFill>
                  <a:srgbClr val="595959"/>
                </a:solidFill>
                <a:latin typeface="Calibri" pitchFamily="34" charset="0"/>
                <a:ea typeface="Calibri" pitchFamily="34" charset="-122"/>
                <a:cs typeface="Calibri" pitchFamily="34" charset="-120"/>
              </a:rPr>
              <a:t>1</a:t>
            </a:r>
            <a:endParaRPr lang="en-US" sz="900" dirty="0"/>
          </a:p>
        </p:txBody>
      </p:sp>
      <p:sp>
        <p:nvSpPr>
          <p:cNvPr id="10" name="Shape 8"/>
          <p:cNvSpPr/>
          <p:nvPr/>
        </p:nvSpPr>
        <p:spPr>
          <a:xfrm>
            <a:off x="2798064" y="1792224"/>
            <a:ext cx="310896" cy="201168"/>
          </a:xfrm>
          <a:prstGeom prst="rightArrow">
            <a:avLst/>
          </a:prstGeom>
          <a:solidFill>
            <a:srgbClr val="808080"/>
          </a:solidFill>
          <a:ln w="12700">
            <a:solidFill>
              <a:srgbClr val="808080"/>
            </a:solidFill>
            <a:prstDash val="solid"/>
          </a:ln>
        </p:spPr>
      </p:sp>
      <p:sp>
        <p:nvSpPr>
          <p:cNvPr id="11" name="Shape 9"/>
          <p:cNvSpPr/>
          <p:nvPr/>
        </p:nvSpPr>
        <p:spPr>
          <a:xfrm>
            <a:off x="3218688" y="1207008"/>
            <a:ext cx="3200400" cy="1572768"/>
          </a:xfrm>
          <a:prstGeom prst="rect">
            <a:avLst/>
          </a:prstGeom>
          <a:solidFill>
            <a:srgbClr val="F2F2F2"/>
          </a:solidFill>
          <a:ln w="9525">
            <a:solidFill>
              <a:srgbClr val="808080"/>
            </a:solidFill>
            <a:prstDash val="solid"/>
          </a:ln>
        </p:spPr>
      </p:sp>
      <p:sp>
        <p:nvSpPr>
          <p:cNvPr id="12" name="Text 10"/>
          <p:cNvSpPr/>
          <p:nvPr/>
        </p:nvSpPr>
        <p:spPr>
          <a:xfrm>
            <a:off x="3319272" y="1261872"/>
            <a:ext cx="3017520" cy="182880"/>
          </a:xfrm>
          <a:prstGeom prst="rect">
            <a:avLst/>
          </a:prstGeom>
          <a:noFill/>
          <a:ln/>
        </p:spPr>
        <p:txBody>
          <a:bodyPr wrap="square"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Azure App Service (Linux)</a:t>
            </a:r>
            <a:endParaRPr lang="en-US" sz="1100" dirty="0"/>
          </a:p>
        </p:txBody>
      </p:sp>
      <p:sp>
        <p:nvSpPr>
          <p:cNvPr id="13" name="Text 11"/>
          <p:cNvSpPr/>
          <p:nvPr/>
        </p:nvSpPr>
        <p:spPr>
          <a:xfrm>
            <a:off x="3319272" y="1435608"/>
            <a:ext cx="3017520" cy="164592"/>
          </a:xfrm>
          <a:prstGeom prst="rect">
            <a:avLst/>
          </a:prstGeom>
          <a:noFill/>
          <a:ln/>
        </p:spPr>
        <p:txBody>
          <a:bodyPr wrap="square" rtlCol="0" anchor="ctr"/>
          <a:lstStyle/>
          <a:p>
            <a:pPr indent="0" marL="0">
              <a:buNone/>
            </a:pPr>
            <a:r>
              <a:rPr lang="en-US" sz="800" i="1" dirty="0">
                <a:solidFill>
                  <a:srgbClr val="595959"/>
                </a:solidFill>
                <a:latin typeface="Calibri" pitchFamily="34" charset="0"/>
                <a:ea typeface="Calibri" pitchFamily="34" charset="-122"/>
                <a:cs typeface="Calibri" pitchFamily="34" charset="-120"/>
              </a:rPr>
              <a:t>new  ·  Python 3.11 / FastAPI  ·  VNet integrated</a:t>
            </a:r>
            <a:endParaRPr lang="en-US" sz="800" dirty="0"/>
          </a:p>
        </p:txBody>
      </p:sp>
      <p:sp>
        <p:nvSpPr>
          <p:cNvPr id="14" name="Text 12"/>
          <p:cNvSpPr/>
          <p:nvPr/>
        </p:nvSpPr>
        <p:spPr>
          <a:xfrm>
            <a:off x="3282696" y="1636776"/>
            <a:ext cx="3108960" cy="1097280"/>
          </a:xfrm>
          <a:prstGeom prst="rect">
            <a:avLst/>
          </a:prstGeom>
          <a:noFill/>
          <a:ln/>
        </p:spPr>
        <p:txBody>
          <a:bodyPr wrap="square" rtlCol="0" anchor="t"/>
          <a:lstStyle/>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Validates payload, reads the Q and A pairs</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Compiles criteria file into one instruction</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One model call per trip, whole trip together</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Validates response, applies the fixed rules</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Returns summary, flag, clarifying question</a:t>
            </a:r>
            <a:endParaRPr lang="en-US" sz="850" dirty="0"/>
          </a:p>
        </p:txBody>
      </p:sp>
      <p:sp>
        <p:nvSpPr>
          <p:cNvPr id="15" name="Text 13"/>
          <p:cNvSpPr/>
          <p:nvPr/>
        </p:nvSpPr>
        <p:spPr>
          <a:xfrm>
            <a:off x="6473952" y="1536192"/>
            <a:ext cx="274320" cy="164592"/>
          </a:xfrm>
          <a:prstGeom prst="rect">
            <a:avLst/>
          </a:prstGeom>
          <a:noFill/>
          <a:ln/>
        </p:spPr>
        <p:txBody>
          <a:bodyPr wrap="square" rtlCol="0" anchor="ctr"/>
          <a:lstStyle/>
          <a:p>
            <a:pPr algn="ctr" indent="0" marL="0">
              <a:buNone/>
            </a:pPr>
            <a:r>
              <a:rPr lang="en-US" sz="900" b="1" dirty="0">
                <a:solidFill>
                  <a:srgbClr val="595959"/>
                </a:solidFill>
                <a:latin typeface="Calibri" pitchFamily="34" charset="0"/>
                <a:ea typeface="Calibri" pitchFamily="34" charset="-122"/>
                <a:cs typeface="Calibri" pitchFamily="34" charset="-120"/>
              </a:rPr>
              <a:t>2</a:t>
            </a:r>
            <a:endParaRPr lang="en-US" sz="900" dirty="0"/>
          </a:p>
        </p:txBody>
      </p:sp>
      <p:sp>
        <p:nvSpPr>
          <p:cNvPr id="16" name="Shape 14"/>
          <p:cNvSpPr/>
          <p:nvPr/>
        </p:nvSpPr>
        <p:spPr>
          <a:xfrm>
            <a:off x="6473952" y="1700784"/>
            <a:ext cx="310896" cy="201168"/>
          </a:xfrm>
          <a:prstGeom prst="rightArrow">
            <a:avLst/>
          </a:prstGeom>
          <a:solidFill>
            <a:srgbClr val="808080"/>
          </a:solidFill>
          <a:ln w="12700">
            <a:solidFill>
              <a:srgbClr val="808080"/>
            </a:solidFill>
            <a:prstDash val="solid"/>
          </a:ln>
        </p:spPr>
      </p:sp>
      <p:sp>
        <p:nvSpPr>
          <p:cNvPr id="17" name="Text 15"/>
          <p:cNvSpPr/>
          <p:nvPr/>
        </p:nvSpPr>
        <p:spPr>
          <a:xfrm>
            <a:off x="6473952" y="2103120"/>
            <a:ext cx="274320" cy="164592"/>
          </a:xfrm>
          <a:prstGeom prst="rect">
            <a:avLst/>
          </a:prstGeom>
          <a:noFill/>
          <a:ln/>
        </p:spPr>
        <p:txBody>
          <a:bodyPr wrap="square" rtlCol="0" anchor="ctr"/>
          <a:lstStyle/>
          <a:p>
            <a:pPr algn="ctr" indent="0" marL="0">
              <a:buNone/>
            </a:pPr>
            <a:r>
              <a:rPr lang="en-US" sz="900" b="1" dirty="0">
                <a:solidFill>
                  <a:srgbClr val="595959"/>
                </a:solidFill>
                <a:latin typeface="Calibri" pitchFamily="34" charset="0"/>
                <a:ea typeface="Calibri" pitchFamily="34" charset="-122"/>
                <a:cs typeface="Calibri" pitchFamily="34" charset="-120"/>
              </a:rPr>
              <a:t>3</a:t>
            </a:r>
            <a:endParaRPr lang="en-US" sz="900" dirty="0"/>
          </a:p>
        </p:txBody>
      </p:sp>
      <p:sp>
        <p:nvSpPr>
          <p:cNvPr id="18" name="Shape 16"/>
          <p:cNvSpPr/>
          <p:nvPr/>
        </p:nvSpPr>
        <p:spPr>
          <a:xfrm>
            <a:off x="6473952" y="2267712"/>
            <a:ext cx="310896" cy="201168"/>
          </a:xfrm>
          <a:prstGeom prst="leftArrow">
            <a:avLst/>
          </a:prstGeom>
          <a:solidFill>
            <a:srgbClr val="808080"/>
          </a:solidFill>
          <a:ln w="12700">
            <a:solidFill>
              <a:srgbClr val="808080"/>
            </a:solidFill>
            <a:prstDash val="solid"/>
          </a:ln>
        </p:spPr>
      </p:sp>
      <p:sp>
        <p:nvSpPr>
          <p:cNvPr id="19" name="Shape 17"/>
          <p:cNvSpPr/>
          <p:nvPr/>
        </p:nvSpPr>
        <p:spPr>
          <a:xfrm>
            <a:off x="6894576" y="1207008"/>
            <a:ext cx="2606040" cy="1572768"/>
          </a:xfrm>
          <a:prstGeom prst="rect">
            <a:avLst/>
          </a:prstGeom>
          <a:solidFill>
            <a:srgbClr val="FFFFFF"/>
          </a:solidFill>
          <a:ln w="9525">
            <a:solidFill>
              <a:srgbClr val="808080"/>
            </a:solidFill>
            <a:prstDash val="solid"/>
          </a:ln>
        </p:spPr>
      </p:sp>
      <p:sp>
        <p:nvSpPr>
          <p:cNvPr id="20" name="Text 18"/>
          <p:cNvSpPr/>
          <p:nvPr/>
        </p:nvSpPr>
        <p:spPr>
          <a:xfrm>
            <a:off x="6995160" y="1261872"/>
            <a:ext cx="2423160" cy="182880"/>
          </a:xfrm>
          <a:prstGeom prst="rect">
            <a:avLst/>
          </a:prstGeom>
          <a:noFill/>
          <a:ln/>
        </p:spPr>
        <p:txBody>
          <a:bodyPr wrap="square"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Azure AI Foundry</a:t>
            </a:r>
            <a:endParaRPr lang="en-US" sz="1100" dirty="0"/>
          </a:p>
        </p:txBody>
      </p:sp>
      <p:sp>
        <p:nvSpPr>
          <p:cNvPr id="21" name="Text 19"/>
          <p:cNvSpPr/>
          <p:nvPr/>
        </p:nvSpPr>
        <p:spPr>
          <a:xfrm>
            <a:off x="6995160" y="1435608"/>
            <a:ext cx="2423160" cy="164592"/>
          </a:xfrm>
          <a:prstGeom prst="rect">
            <a:avLst/>
          </a:prstGeom>
          <a:noFill/>
          <a:ln/>
        </p:spPr>
        <p:txBody>
          <a:bodyPr wrap="square" rtlCol="0" anchor="ctr"/>
          <a:lstStyle/>
          <a:p>
            <a:pPr indent="0" marL="0">
              <a:buNone/>
            </a:pPr>
            <a:r>
              <a:rPr lang="en-US" sz="800" i="1" dirty="0">
                <a:solidFill>
                  <a:srgbClr val="595959"/>
                </a:solidFill>
                <a:latin typeface="Calibri" pitchFamily="34" charset="0"/>
                <a:ea typeface="Calibri" pitchFamily="34" charset="-122"/>
                <a:cs typeface="Calibri" pitchFamily="34" charset="-120"/>
              </a:rPr>
              <a:t>new  ·  hub, project, model deployment</a:t>
            </a:r>
            <a:endParaRPr lang="en-US" sz="800" dirty="0"/>
          </a:p>
        </p:txBody>
      </p:sp>
      <p:sp>
        <p:nvSpPr>
          <p:cNvPr id="22" name="Text 20"/>
          <p:cNvSpPr/>
          <p:nvPr/>
        </p:nvSpPr>
        <p:spPr>
          <a:xfrm>
            <a:off x="6958584" y="1636776"/>
            <a:ext cx="2514600" cy="1097280"/>
          </a:xfrm>
          <a:prstGeom prst="rect">
            <a:avLst/>
          </a:prstGeom>
          <a:noFill/>
          <a:ln/>
        </p:spPr>
        <p:txBody>
          <a:bodyPr wrap="square" rtlCol="0" anchor="t"/>
          <a:lstStyle/>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Claude model, deployed to our resource</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Private endpoint, no public egress</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Payloads not used for model training</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Token spend metered per call</a:t>
            </a:r>
            <a:endParaRPr lang="en-US" sz="850" dirty="0"/>
          </a:p>
        </p:txBody>
      </p:sp>
      <p:sp>
        <p:nvSpPr>
          <p:cNvPr id="23" name="Text 21"/>
          <p:cNvSpPr/>
          <p:nvPr/>
        </p:nvSpPr>
        <p:spPr>
          <a:xfrm>
            <a:off x="9555480" y="1627632"/>
            <a:ext cx="274320" cy="164592"/>
          </a:xfrm>
          <a:prstGeom prst="rect">
            <a:avLst/>
          </a:prstGeom>
          <a:noFill/>
          <a:ln/>
        </p:spPr>
        <p:txBody>
          <a:bodyPr wrap="square" rtlCol="0" anchor="ctr"/>
          <a:lstStyle/>
          <a:p>
            <a:pPr algn="ctr" indent="0" marL="0">
              <a:buNone/>
            </a:pPr>
            <a:r>
              <a:rPr lang="en-US" sz="900" b="1" dirty="0">
                <a:solidFill>
                  <a:srgbClr val="595959"/>
                </a:solidFill>
                <a:latin typeface="Calibri" pitchFamily="34" charset="0"/>
                <a:ea typeface="Calibri" pitchFamily="34" charset="-122"/>
                <a:cs typeface="Calibri" pitchFamily="34" charset="-120"/>
              </a:rPr>
              <a:t>4</a:t>
            </a:r>
            <a:endParaRPr lang="en-US" sz="900" dirty="0"/>
          </a:p>
        </p:txBody>
      </p:sp>
      <p:sp>
        <p:nvSpPr>
          <p:cNvPr id="24" name="Shape 22"/>
          <p:cNvSpPr/>
          <p:nvPr/>
        </p:nvSpPr>
        <p:spPr>
          <a:xfrm>
            <a:off x="9555480" y="1792224"/>
            <a:ext cx="310896" cy="201168"/>
          </a:xfrm>
          <a:prstGeom prst="rightArrow">
            <a:avLst/>
          </a:prstGeom>
          <a:solidFill>
            <a:srgbClr val="808080"/>
          </a:solidFill>
          <a:ln w="12700">
            <a:solidFill>
              <a:srgbClr val="808080"/>
            </a:solidFill>
            <a:prstDash val="solid"/>
          </a:ln>
        </p:spPr>
      </p:sp>
      <p:sp>
        <p:nvSpPr>
          <p:cNvPr id="25" name="Shape 23"/>
          <p:cNvSpPr/>
          <p:nvPr/>
        </p:nvSpPr>
        <p:spPr>
          <a:xfrm>
            <a:off x="9976104" y="1207008"/>
            <a:ext cx="1819656" cy="1572768"/>
          </a:xfrm>
          <a:prstGeom prst="rect">
            <a:avLst/>
          </a:prstGeom>
          <a:solidFill>
            <a:srgbClr val="D9D9D9"/>
          </a:solidFill>
          <a:ln w="9525">
            <a:solidFill>
              <a:srgbClr val="808080"/>
            </a:solidFill>
            <a:prstDash val="solid"/>
          </a:ln>
        </p:spPr>
      </p:sp>
      <p:sp>
        <p:nvSpPr>
          <p:cNvPr id="26" name="Text 24"/>
          <p:cNvSpPr/>
          <p:nvPr/>
        </p:nvSpPr>
        <p:spPr>
          <a:xfrm>
            <a:off x="10076688" y="1261872"/>
            <a:ext cx="1636776" cy="182880"/>
          </a:xfrm>
          <a:prstGeom prst="rect">
            <a:avLst/>
          </a:prstGeom>
          <a:noFill/>
          <a:ln/>
        </p:spPr>
        <p:txBody>
          <a:bodyPr wrap="square"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a:t>
            </a:r>
            <a:endParaRPr lang="en-US" sz="1100" dirty="0"/>
          </a:p>
        </p:txBody>
      </p:sp>
      <p:sp>
        <p:nvSpPr>
          <p:cNvPr id="27" name="Text 25"/>
          <p:cNvSpPr/>
          <p:nvPr/>
        </p:nvSpPr>
        <p:spPr>
          <a:xfrm>
            <a:off x="10076688" y="1435608"/>
            <a:ext cx="1636776" cy="164592"/>
          </a:xfrm>
          <a:prstGeom prst="rect">
            <a:avLst/>
          </a:prstGeom>
          <a:noFill/>
          <a:ln/>
        </p:spPr>
        <p:txBody>
          <a:bodyPr wrap="square" rtlCol="0" anchor="ctr"/>
          <a:lstStyle/>
          <a:p>
            <a:pPr indent="0" marL="0">
              <a:buNone/>
            </a:pPr>
            <a:r>
              <a:rPr lang="en-US" sz="800" i="1" dirty="0">
                <a:solidFill>
                  <a:srgbClr val="595959"/>
                </a:solidFill>
                <a:latin typeface="Calibri" pitchFamily="34" charset="0"/>
                <a:ea typeface="Calibri" pitchFamily="34" charset="-122"/>
                <a:cs typeface="Calibri" pitchFamily="34" charset="-120"/>
              </a:rPr>
              <a:t>under the timeout</a:t>
            </a:r>
            <a:endParaRPr lang="en-US" sz="800" dirty="0"/>
          </a:p>
        </p:txBody>
      </p:sp>
      <p:sp>
        <p:nvSpPr>
          <p:cNvPr id="28" name="Text 26"/>
          <p:cNvSpPr/>
          <p:nvPr/>
        </p:nvSpPr>
        <p:spPr>
          <a:xfrm>
            <a:off x="10040112" y="1636776"/>
            <a:ext cx="1737360" cy="1097280"/>
          </a:xfrm>
          <a:prstGeom prst="rect">
            <a:avLst/>
          </a:prstGeom>
          <a:noFill/>
          <a:ln/>
        </p:spPr>
        <p:txBody>
          <a:bodyPr wrap="square" rtlCol="0" anchor="t"/>
          <a:lstStyle/>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Clinical summary</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Meets criteria flag</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Clarifying question, when needed</a:t>
            </a:r>
            <a:endParaRPr lang="en-US" sz="850" dirty="0"/>
          </a:p>
        </p:txBody>
      </p:sp>
      <p:sp>
        <p:nvSpPr>
          <p:cNvPr id="29" name="Text 27"/>
          <p:cNvSpPr/>
          <p:nvPr/>
        </p:nvSpPr>
        <p:spPr>
          <a:xfrm>
            <a:off x="411480" y="2926080"/>
            <a:ext cx="5486400" cy="182880"/>
          </a:xfrm>
          <a:prstGeom prst="rect">
            <a:avLst/>
          </a:prstGeom>
          <a:noFill/>
          <a:ln/>
        </p:spPr>
        <p:txBody>
          <a:bodyPr wrap="square" rtlCol="0" anchor="ctr"/>
          <a:lstStyle/>
          <a:p>
            <a:pPr indent="0" marL="0">
              <a:buNone/>
            </a:pPr>
            <a:r>
              <a:rPr lang="en-US" sz="1000" b="1" dirty="0">
                <a:solidFill>
                  <a:srgbClr val="595959"/>
                </a:solidFill>
                <a:latin typeface="Calibri" pitchFamily="34" charset="0"/>
                <a:ea typeface="Calibri" pitchFamily="34" charset="-122"/>
                <a:cs typeface="Calibri" pitchFamily="34" charset="-120"/>
              </a:rPr>
              <a:t>RESOURCES THE APP SERVICE USES</a:t>
            </a:r>
            <a:endParaRPr lang="en-US" sz="1000" dirty="0"/>
          </a:p>
        </p:txBody>
      </p:sp>
      <p:sp>
        <p:nvSpPr>
          <p:cNvPr id="30" name="Shape 28"/>
          <p:cNvSpPr/>
          <p:nvPr/>
        </p:nvSpPr>
        <p:spPr>
          <a:xfrm>
            <a:off x="411480" y="3163824"/>
            <a:ext cx="2130552" cy="1170432"/>
          </a:xfrm>
          <a:prstGeom prst="rect">
            <a:avLst/>
          </a:prstGeom>
          <a:solidFill>
            <a:srgbClr val="FFFFFF"/>
          </a:solidFill>
          <a:ln w="9525">
            <a:solidFill>
              <a:srgbClr val="808080"/>
            </a:solidFill>
            <a:prstDash val="solid"/>
          </a:ln>
        </p:spPr>
      </p:sp>
      <p:sp>
        <p:nvSpPr>
          <p:cNvPr id="31" name="Text 29"/>
          <p:cNvSpPr/>
          <p:nvPr/>
        </p:nvSpPr>
        <p:spPr>
          <a:xfrm>
            <a:off x="502920" y="3209544"/>
            <a:ext cx="1673352" cy="182880"/>
          </a:xfrm>
          <a:prstGeom prst="rect">
            <a:avLst/>
          </a:prstGeom>
          <a:noFill/>
          <a:ln/>
        </p:spPr>
        <p:txBody>
          <a:bodyPr wrap="square" rtlCol="0" anchor="ctr"/>
          <a:lstStyle/>
          <a:p>
            <a:pPr indent="0" marL="0">
              <a:buNone/>
            </a:pPr>
            <a:r>
              <a:rPr lang="en-US" sz="1000" b="1" dirty="0">
                <a:solidFill>
                  <a:srgbClr val="000000"/>
                </a:solidFill>
                <a:latin typeface="Calibri" pitchFamily="34" charset="0"/>
                <a:ea typeface="Calibri" pitchFamily="34" charset="-122"/>
                <a:cs typeface="Calibri" pitchFamily="34" charset="-120"/>
              </a:rPr>
              <a:t>Blob Storage</a:t>
            </a:r>
            <a:endParaRPr lang="en-US" sz="1000" dirty="0"/>
          </a:p>
        </p:txBody>
      </p:sp>
      <p:sp>
        <p:nvSpPr>
          <p:cNvPr id="32" name="Text 30"/>
          <p:cNvSpPr/>
          <p:nvPr/>
        </p:nvSpPr>
        <p:spPr>
          <a:xfrm>
            <a:off x="1883664" y="3209544"/>
            <a:ext cx="566928" cy="182880"/>
          </a:xfrm>
          <a:prstGeom prst="rect">
            <a:avLst/>
          </a:prstGeom>
          <a:noFill/>
          <a:ln/>
        </p:spPr>
        <p:txBody>
          <a:bodyPr wrap="square" rtlCol="0" anchor="ctr"/>
          <a:lstStyle/>
          <a:p>
            <a:pPr algn="r" indent="0" marL="0">
              <a:buNone/>
            </a:pPr>
            <a:r>
              <a:rPr lang="en-US" sz="750" dirty="0">
                <a:solidFill>
                  <a:srgbClr val="000000"/>
                </a:solidFill>
                <a:latin typeface="Calibri" pitchFamily="34" charset="0"/>
                <a:ea typeface="Calibri" pitchFamily="34" charset="-122"/>
                <a:cs typeface="Calibri" pitchFamily="34" charset="-120"/>
              </a:rPr>
              <a:t>new</a:t>
            </a:r>
            <a:endParaRPr lang="en-US" sz="750" dirty="0"/>
          </a:p>
        </p:txBody>
      </p:sp>
      <p:sp>
        <p:nvSpPr>
          <p:cNvPr id="33" name="Text 31"/>
          <p:cNvSpPr/>
          <p:nvPr/>
        </p:nvSpPr>
        <p:spPr>
          <a:xfrm>
            <a:off x="466344" y="3410712"/>
            <a:ext cx="2020824" cy="868680"/>
          </a:xfrm>
          <a:prstGeom prst="rect">
            <a:avLst/>
          </a:prstGeom>
          <a:noFill/>
          <a:ln/>
        </p:spPr>
        <p:txBody>
          <a:bodyPr wrap="square" rtlCol="0" anchor="t"/>
          <a:lstStyle/>
          <a:p>
            <a:pPr marL="342900" indent="-342900">
              <a:spcAft>
                <a:spcPts val="300"/>
              </a:spcAft>
              <a:buSzPct val="100000"/>
              <a:buChar char="•"/>
            </a:pPr>
            <a:r>
              <a:rPr lang="en-US" sz="800" dirty="0">
                <a:solidFill>
                  <a:srgbClr val="000000"/>
                </a:solidFill>
                <a:latin typeface="Calibri" pitchFamily="34" charset="0"/>
                <a:ea typeface="Calibri" pitchFamily="34" charset="-122"/>
                <a:cs typeface="Calibri" pitchFamily="34" charset="-120"/>
              </a:rPr>
              <a:t>Criteria file, versioned</a:t>
            </a:r>
            <a:endParaRPr lang="en-US" sz="800" dirty="0"/>
          </a:p>
          <a:p>
            <a:pPr marL="342900" indent="-342900">
              <a:spcAft>
                <a:spcPts val="300"/>
              </a:spcAft>
              <a:buSzPct val="100000"/>
              <a:buChar char="•"/>
            </a:pPr>
            <a:r>
              <a:rPr lang="en-US" sz="800" dirty="0">
                <a:solidFill>
                  <a:srgbClr val="000000"/>
                </a:solidFill>
                <a:latin typeface="Calibri" pitchFamily="34" charset="0"/>
                <a:ea typeface="Calibri" pitchFamily="34" charset="-122"/>
                <a:cs typeface="Calibri" pitchFamily="34" charset="-120"/>
              </a:rPr>
              <a:t>Prompt templates</a:t>
            </a:r>
            <a:endParaRPr lang="en-US" sz="800" dirty="0"/>
          </a:p>
          <a:p>
            <a:pPr marL="342900" indent="-342900">
              <a:spcAft>
                <a:spcPts val="300"/>
              </a:spcAft>
              <a:buSzPct val="100000"/>
              <a:buChar char="•"/>
            </a:pPr>
            <a:r>
              <a:rPr lang="en-US" sz="800" dirty="0">
                <a:solidFill>
                  <a:srgbClr val="000000"/>
                </a:solidFill>
                <a:latin typeface="Calibri" pitchFamily="34" charset="0"/>
                <a:ea typeface="Calibri" pitchFamily="34" charset="-122"/>
                <a:cs typeface="Calibri" pitchFamily="34" charset="-120"/>
              </a:rPr>
              <a:t>Read at startup and on change</a:t>
            </a:r>
            <a:endParaRPr lang="en-US" sz="800" dirty="0"/>
          </a:p>
        </p:txBody>
      </p:sp>
      <p:sp>
        <p:nvSpPr>
          <p:cNvPr id="34" name="Shape 32"/>
          <p:cNvSpPr/>
          <p:nvPr/>
        </p:nvSpPr>
        <p:spPr>
          <a:xfrm>
            <a:off x="2720340" y="3163824"/>
            <a:ext cx="2130552" cy="1170432"/>
          </a:xfrm>
          <a:prstGeom prst="rect">
            <a:avLst/>
          </a:prstGeom>
          <a:solidFill>
            <a:srgbClr val="FFFFFF"/>
          </a:solidFill>
          <a:ln w="9525">
            <a:solidFill>
              <a:srgbClr val="808080"/>
            </a:solidFill>
            <a:prstDash val="solid"/>
          </a:ln>
        </p:spPr>
      </p:sp>
      <p:sp>
        <p:nvSpPr>
          <p:cNvPr id="35" name="Text 33"/>
          <p:cNvSpPr/>
          <p:nvPr/>
        </p:nvSpPr>
        <p:spPr>
          <a:xfrm>
            <a:off x="2811780" y="3209544"/>
            <a:ext cx="1673352" cy="182880"/>
          </a:xfrm>
          <a:prstGeom prst="rect">
            <a:avLst/>
          </a:prstGeom>
          <a:noFill/>
          <a:ln/>
        </p:spPr>
        <p:txBody>
          <a:bodyPr wrap="square" rtlCol="0" anchor="ctr"/>
          <a:lstStyle/>
          <a:p>
            <a:pPr indent="0" marL="0">
              <a:buNone/>
            </a:pPr>
            <a:r>
              <a:rPr lang="en-US" sz="1000" b="1" dirty="0">
                <a:solidFill>
                  <a:srgbClr val="000000"/>
                </a:solidFill>
                <a:latin typeface="Calibri" pitchFamily="34" charset="0"/>
                <a:ea typeface="Calibri" pitchFamily="34" charset="-122"/>
                <a:cs typeface="Calibri" pitchFamily="34" charset="-120"/>
              </a:rPr>
              <a:t>Key Vault</a:t>
            </a:r>
            <a:endParaRPr lang="en-US" sz="1000" dirty="0"/>
          </a:p>
        </p:txBody>
      </p:sp>
      <p:sp>
        <p:nvSpPr>
          <p:cNvPr id="36" name="Text 34"/>
          <p:cNvSpPr/>
          <p:nvPr/>
        </p:nvSpPr>
        <p:spPr>
          <a:xfrm>
            <a:off x="4192524" y="3209544"/>
            <a:ext cx="566928" cy="182880"/>
          </a:xfrm>
          <a:prstGeom prst="rect">
            <a:avLst/>
          </a:prstGeom>
          <a:noFill/>
          <a:ln/>
        </p:spPr>
        <p:txBody>
          <a:bodyPr wrap="square" rtlCol="0" anchor="ctr"/>
          <a:lstStyle/>
          <a:p>
            <a:pPr algn="r" indent="0" marL="0">
              <a:buNone/>
            </a:pPr>
            <a:r>
              <a:rPr lang="en-US" sz="750" dirty="0">
                <a:solidFill>
                  <a:srgbClr val="000000"/>
                </a:solidFill>
                <a:latin typeface="Calibri" pitchFamily="34" charset="0"/>
                <a:ea typeface="Calibri" pitchFamily="34" charset="-122"/>
                <a:cs typeface="Calibri" pitchFamily="34" charset="-120"/>
              </a:rPr>
              <a:t>new</a:t>
            </a:r>
            <a:endParaRPr lang="en-US" sz="750" dirty="0"/>
          </a:p>
        </p:txBody>
      </p:sp>
      <p:sp>
        <p:nvSpPr>
          <p:cNvPr id="37" name="Text 35"/>
          <p:cNvSpPr/>
          <p:nvPr/>
        </p:nvSpPr>
        <p:spPr>
          <a:xfrm>
            <a:off x="2775204" y="3410712"/>
            <a:ext cx="2020824" cy="868680"/>
          </a:xfrm>
          <a:prstGeom prst="rect">
            <a:avLst/>
          </a:prstGeom>
          <a:noFill/>
          <a:ln/>
        </p:spPr>
        <p:txBody>
          <a:bodyPr wrap="square" rtlCol="0" anchor="t"/>
          <a:lstStyle/>
          <a:p>
            <a:pPr marL="342900" indent="-342900">
              <a:spcAft>
                <a:spcPts val="300"/>
              </a:spcAft>
              <a:buSzPct val="100000"/>
              <a:buChar char="•"/>
            </a:pPr>
            <a:r>
              <a:rPr lang="en-US" sz="800" dirty="0">
                <a:solidFill>
                  <a:srgbClr val="000000"/>
                </a:solidFill>
                <a:latin typeface="Calibri" pitchFamily="34" charset="0"/>
                <a:ea typeface="Calibri" pitchFamily="34" charset="-122"/>
                <a:cs typeface="Calibri" pitchFamily="34" charset="-120"/>
              </a:rPr>
              <a:t>Foundry endpoint and config</a:t>
            </a:r>
            <a:endParaRPr lang="en-US" sz="800" dirty="0"/>
          </a:p>
          <a:p>
            <a:pPr marL="342900" indent="-342900">
              <a:spcAft>
                <a:spcPts val="300"/>
              </a:spcAft>
              <a:buSzPct val="100000"/>
              <a:buChar char="•"/>
            </a:pPr>
            <a:r>
              <a:rPr lang="en-US" sz="800" dirty="0">
                <a:solidFill>
                  <a:srgbClr val="000000"/>
                </a:solidFill>
                <a:latin typeface="Calibri" pitchFamily="34" charset="0"/>
                <a:ea typeface="Calibri" pitchFamily="34" charset="-122"/>
                <a:cs typeface="Calibri" pitchFamily="34" charset="-120"/>
              </a:rPr>
              <a:t>Referenced, never in code</a:t>
            </a:r>
            <a:endParaRPr lang="en-US" sz="800" dirty="0"/>
          </a:p>
          <a:p>
            <a:pPr marL="342900" indent="-342900">
              <a:spcAft>
                <a:spcPts val="300"/>
              </a:spcAft>
              <a:buSzPct val="100000"/>
              <a:buChar char="•"/>
            </a:pPr>
            <a:r>
              <a:rPr lang="en-US" sz="800" dirty="0">
                <a:solidFill>
                  <a:srgbClr val="000000"/>
                </a:solidFill>
                <a:latin typeface="Calibri" pitchFamily="34" charset="0"/>
                <a:ea typeface="Calibri" pitchFamily="34" charset="-122"/>
                <a:cs typeface="Calibri" pitchFamily="34" charset="-120"/>
              </a:rPr>
              <a:t>Access via managed identity</a:t>
            </a:r>
            <a:endParaRPr lang="en-US" sz="800" dirty="0"/>
          </a:p>
        </p:txBody>
      </p:sp>
      <p:sp>
        <p:nvSpPr>
          <p:cNvPr id="38" name="Shape 36"/>
          <p:cNvSpPr/>
          <p:nvPr/>
        </p:nvSpPr>
        <p:spPr>
          <a:xfrm>
            <a:off x="5029200" y="3163824"/>
            <a:ext cx="2130552" cy="1170432"/>
          </a:xfrm>
          <a:prstGeom prst="rect">
            <a:avLst/>
          </a:prstGeom>
          <a:solidFill>
            <a:srgbClr val="FFFFFF"/>
          </a:solidFill>
          <a:ln w="9525">
            <a:solidFill>
              <a:srgbClr val="808080"/>
            </a:solidFill>
            <a:prstDash val="solid"/>
          </a:ln>
        </p:spPr>
      </p:sp>
      <p:sp>
        <p:nvSpPr>
          <p:cNvPr id="39" name="Text 37"/>
          <p:cNvSpPr/>
          <p:nvPr/>
        </p:nvSpPr>
        <p:spPr>
          <a:xfrm>
            <a:off x="5120640" y="3209544"/>
            <a:ext cx="1673352" cy="182880"/>
          </a:xfrm>
          <a:prstGeom prst="rect">
            <a:avLst/>
          </a:prstGeom>
          <a:noFill/>
          <a:ln/>
        </p:spPr>
        <p:txBody>
          <a:bodyPr wrap="square" rtlCol="0" anchor="ctr"/>
          <a:lstStyle/>
          <a:p>
            <a:pPr indent="0" marL="0">
              <a:buNone/>
            </a:pPr>
            <a:r>
              <a:rPr lang="en-US" sz="1000" b="1" dirty="0">
                <a:solidFill>
                  <a:srgbClr val="000000"/>
                </a:solidFill>
                <a:latin typeface="Calibri" pitchFamily="34" charset="0"/>
                <a:ea typeface="Calibri" pitchFamily="34" charset="-122"/>
                <a:cs typeface="Calibri" pitchFamily="34" charset="-120"/>
              </a:rPr>
              <a:t>Application Insights</a:t>
            </a:r>
            <a:endParaRPr lang="en-US" sz="1000" dirty="0"/>
          </a:p>
        </p:txBody>
      </p:sp>
      <p:sp>
        <p:nvSpPr>
          <p:cNvPr id="40" name="Text 38"/>
          <p:cNvSpPr/>
          <p:nvPr/>
        </p:nvSpPr>
        <p:spPr>
          <a:xfrm>
            <a:off x="6501384" y="3209544"/>
            <a:ext cx="566928" cy="182880"/>
          </a:xfrm>
          <a:prstGeom prst="rect">
            <a:avLst/>
          </a:prstGeom>
          <a:noFill/>
          <a:ln/>
        </p:spPr>
        <p:txBody>
          <a:bodyPr wrap="square" rtlCol="0" anchor="ctr"/>
          <a:lstStyle/>
          <a:p>
            <a:pPr algn="r" indent="0" marL="0">
              <a:buNone/>
            </a:pPr>
            <a:r>
              <a:rPr lang="en-US" sz="750" dirty="0">
                <a:solidFill>
                  <a:srgbClr val="000000"/>
                </a:solidFill>
                <a:latin typeface="Calibri" pitchFamily="34" charset="0"/>
                <a:ea typeface="Calibri" pitchFamily="34" charset="-122"/>
                <a:cs typeface="Calibri" pitchFamily="34" charset="-120"/>
              </a:rPr>
              <a:t>new</a:t>
            </a:r>
            <a:endParaRPr lang="en-US" sz="750" dirty="0"/>
          </a:p>
        </p:txBody>
      </p:sp>
      <p:sp>
        <p:nvSpPr>
          <p:cNvPr id="41" name="Text 39"/>
          <p:cNvSpPr/>
          <p:nvPr/>
        </p:nvSpPr>
        <p:spPr>
          <a:xfrm>
            <a:off x="5084064" y="3410712"/>
            <a:ext cx="2020824" cy="868680"/>
          </a:xfrm>
          <a:prstGeom prst="rect">
            <a:avLst/>
          </a:prstGeom>
          <a:noFill/>
          <a:ln/>
        </p:spPr>
        <p:txBody>
          <a:bodyPr wrap="square" rtlCol="0" anchor="t"/>
          <a:lstStyle/>
          <a:p>
            <a:pPr marL="342900" indent="-342900">
              <a:spcAft>
                <a:spcPts val="300"/>
              </a:spcAft>
              <a:buSzPct val="100000"/>
              <a:buChar char="•"/>
            </a:pPr>
            <a:r>
              <a:rPr lang="en-US" sz="800" dirty="0">
                <a:solidFill>
                  <a:srgbClr val="000000"/>
                </a:solidFill>
                <a:latin typeface="Calibri" pitchFamily="34" charset="0"/>
                <a:ea typeface="Calibri" pitchFamily="34" charset="-122"/>
                <a:cs typeface="Calibri" pitchFamily="34" charset="-120"/>
              </a:rPr>
              <a:t>Latency per call, p50 and p95</a:t>
            </a:r>
            <a:endParaRPr lang="en-US" sz="800" dirty="0"/>
          </a:p>
          <a:p>
            <a:pPr marL="342900" indent="-342900">
              <a:spcAft>
                <a:spcPts val="300"/>
              </a:spcAft>
              <a:buSzPct val="100000"/>
              <a:buChar char="•"/>
            </a:pPr>
            <a:r>
              <a:rPr lang="en-US" sz="800" dirty="0">
                <a:solidFill>
                  <a:srgbClr val="000000"/>
                </a:solidFill>
                <a:latin typeface="Calibri" pitchFamily="34" charset="0"/>
                <a:ea typeface="Calibri" pitchFamily="34" charset="-122"/>
                <a:cs typeface="Calibri" pitchFamily="34" charset="-120"/>
              </a:rPr>
              <a:t>Errors and timeout rate</a:t>
            </a:r>
            <a:endParaRPr lang="en-US" sz="800" dirty="0"/>
          </a:p>
          <a:p>
            <a:pPr marL="342900" indent="-342900">
              <a:spcAft>
                <a:spcPts val="300"/>
              </a:spcAft>
              <a:buSzPct val="100000"/>
              <a:buChar char="•"/>
            </a:pPr>
            <a:r>
              <a:rPr lang="en-US" sz="800" dirty="0">
                <a:solidFill>
                  <a:srgbClr val="000000"/>
                </a:solidFill>
                <a:latin typeface="Calibri" pitchFamily="34" charset="0"/>
                <a:ea typeface="Calibri" pitchFamily="34" charset="-122"/>
                <a:cs typeface="Calibri" pitchFamily="34" charset="-120"/>
              </a:rPr>
              <a:t>Token spend per request</a:t>
            </a:r>
            <a:endParaRPr lang="en-US" sz="800" dirty="0"/>
          </a:p>
        </p:txBody>
      </p:sp>
      <p:sp>
        <p:nvSpPr>
          <p:cNvPr id="42" name="Shape 40"/>
          <p:cNvSpPr/>
          <p:nvPr/>
        </p:nvSpPr>
        <p:spPr>
          <a:xfrm>
            <a:off x="7338060" y="3163824"/>
            <a:ext cx="2130552" cy="1170432"/>
          </a:xfrm>
          <a:prstGeom prst="rect">
            <a:avLst/>
          </a:prstGeom>
          <a:solidFill>
            <a:srgbClr val="FFFFFF"/>
          </a:solidFill>
          <a:ln w="9525">
            <a:solidFill>
              <a:srgbClr val="808080"/>
            </a:solidFill>
            <a:prstDash val="solid"/>
          </a:ln>
        </p:spPr>
      </p:sp>
      <p:sp>
        <p:nvSpPr>
          <p:cNvPr id="43" name="Text 41"/>
          <p:cNvSpPr/>
          <p:nvPr/>
        </p:nvSpPr>
        <p:spPr>
          <a:xfrm>
            <a:off x="7429500" y="3209544"/>
            <a:ext cx="1673352" cy="182880"/>
          </a:xfrm>
          <a:prstGeom prst="rect">
            <a:avLst/>
          </a:prstGeom>
          <a:noFill/>
          <a:ln/>
        </p:spPr>
        <p:txBody>
          <a:bodyPr wrap="square" rtlCol="0" anchor="ctr"/>
          <a:lstStyle/>
          <a:p>
            <a:pPr indent="0" marL="0">
              <a:buNone/>
            </a:pPr>
            <a:r>
              <a:rPr lang="en-US" sz="1000" b="1" dirty="0">
                <a:solidFill>
                  <a:srgbClr val="000000"/>
                </a:solidFill>
                <a:latin typeface="Calibri" pitchFamily="34" charset="0"/>
                <a:ea typeface="Calibri" pitchFamily="34" charset="-122"/>
                <a:cs typeface="Calibri" pitchFamily="34" charset="-120"/>
              </a:rPr>
              <a:t>Azure SQL</a:t>
            </a:r>
            <a:endParaRPr lang="en-US" sz="1000" dirty="0"/>
          </a:p>
        </p:txBody>
      </p:sp>
      <p:sp>
        <p:nvSpPr>
          <p:cNvPr id="44" name="Text 42"/>
          <p:cNvSpPr/>
          <p:nvPr/>
        </p:nvSpPr>
        <p:spPr>
          <a:xfrm>
            <a:off x="8810244" y="3209544"/>
            <a:ext cx="566928" cy="182880"/>
          </a:xfrm>
          <a:prstGeom prst="rect">
            <a:avLst/>
          </a:prstGeom>
          <a:noFill/>
          <a:ln/>
        </p:spPr>
        <p:txBody>
          <a:bodyPr wrap="square" rtlCol="0" anchor="ctr"/>
          <a:lstStyle/>
          <a:p>
            <a:pPr algn="r" indent="0" marL="0">
              <a:buNone/>
            </a:pPr>
            <a:r>
              <a:rPr lang="en-US" sz="750" i="1" dirty="0">
                <a:solidFill>
                  <a:srgbClr val="595959"/>
                </a:solidFill>
                <a:latin typeface="Calibri" pitchFamily="34" charset="0"/>
                <a:ea typeface="Calibri" pitchFamily="34" charset="-122"/>
                <a:cs typeface="Calibri" pitchFamily="34" charset="-120"/>
              </a:rPr>
              <a:t>existing</a:t>
            </a:r>
            <a:endParaRPr lang="en-US" sz="750" dirty="0"/>
          </a:p>
        </p:txBody>
      </p:sp>
      <p:sp>
        <p:nvSpPr>
          <p:cNvPr id="45" name="Text 43"/>
          <p:cNvSpPr/>
          <p:nvPr/>
        </p:nvSpPr>
        <p:spPr>
          <a:xfrm>
            <a:off x="7392924" y="3410712"/>
            <a:ext cx="2020824" cy="868680"/>
          </a:xfrm>
          <a:prstGeom prst="rect">
            <a:avLst/>
          </a:prstGeom>
          <a:noFill/>
          <a:ln/>
        </p:spPr>
        <p:txBody>
          <a:bodyPr wrap="square" rtlCol="0" anchor="t"/>
          <a:lstStyle/>
          <a:p>
            <a:pPr marL="342900" indent="-342900">
              <a:spcAft>
                <a:spcPts val="300"/>
              </a:spcAft>
              <a:buSzPct val="100000"/>
              <a:buChar char="•"/>
            </a:pPr>
            <a:r>
              <a:rPr lang="en-US" sz="800" dirty="0">
                <a:solidFill>
                  <a:srgbClr val="000000"/>
                </a:solidFill>
                <a:latin typeface="Calibri" pitchFamily="34" charset="0"/>
                <a:ea typeface="Calibri" pitchFamily="34" charset="-122"/>
                <a:cs typeface="Calibri" pitchFamily="34" charset="-120"/>
              </a:rPr>
              <a:t>Determination and audit log</a:t>
            </a:r>
            <a:endParaRPr lang="en-US" sz="800" dirty="0"/>
          </a:p>
          <a:p>
            <a:pPr marL="342900" indent="-342900">
              <a:spcAft>
                <a:spcPts val="300"/>
              </a:spcAft>
              <a:buSzPct val="100000"/>
              <a:buChar char="•"/>
            </a:pPr>
            <a:r>
              <a:rPr lang="en-US" sz="800" dirty="0">
                <a:solidFill>
                  <a:srgbClr val="000000"/>
                </a:solidFill>
                <a:latin typeface="Calibri" pitchFamily="34" charset="0"/>
                <a:ea typeface="Calibri" pitchFamily="34" charset="-122"/>
                <a:cs typeface="Calibri" pitchFamily="34" charset="-120"/>
              </a:rPr>
              <a:t>Both summaries, question, answer</a:t>
            </a:r>
            <a:endParaRPr lang="en-US" sz="800" dirty="0"/>
          </a:p>
          <a:p>
            <a:pPr marL="342900" indent="-342900">
              <a:spcAft>
                <a:spcPts val="300"/>
              </a:spcAft>
              <a:buSzPct val="100000"/>
              <a:buChar char="•"/>
            </a:pPr>
            <a:r>
              <a:rPr lang="en-US" sz="800" dirty="0">
                <a:solidFill>
                  <a:srgbClr val="000000"/>
                </a:solidFill>
                <a:latin typeface="Calibri" pitchFamily="34" charset="0"/>
                <a:ea typeface="Calibri" pitchFamily="34" charset="-122"/>
                <a:cs typeface="Calibri" pitchFamily="34" charset="-120"/>
              </a:rPr>
              <a:t>Request event rows</a:t>
            </a:r>
            <a:endParaRPr lang="en-US" sz="800" dirty="0"/>
          </a:p>
        </p:txBody>
      </p:sp>
      <p:sp>
        <p:nvSpPr>
          <p:cNvPr id="46" name="Shape 44"/>
          <p:cNvSpPr/>
          <p:nvPr/>
        </p:nvSpPr>
        <p:spPr>
          <a:xfrm>
            <a:off x="9646920" y="3163824"/>
            <a:ext cx="2130552" cy="1170432"/>
          </a:xfrm>
          <a:prstGeom prst="rect">
            <a:avLst/>
          </a:prstGeom>
          <a:solidFill>
            <a:srgbClr val="FFFFFF"/>
          </a:solidFill>
          <a:ln w="9525">
            <a:solidFill>
              <a:srgbClr val="808080"/>
            </a:solidFill>
            <a:prstDash val="solid"/>
          </a:ln>
        </p:spPr>
      </p:sp>
      <p:sp>
        <p:nvSpPr>
          <p:cNvPr id="47" name="Text 45"/>
          <p:cNvSpPr/>
          <p:nvPr/>
        </p:nvSpPr>
        <p:spPr>
          <a:xfrm>
            <a:off x="9738360" y="3209544"/>
            <a:ext cx="1673352" cy="182880"/>
          </a:xfrm>
          <a:prstGeom prst="rect">
            <a:avLst/>
          </a:prstGeom>
          <a:noFill/>
          <a:ln/>
        </p:spPr>
        <p:txBody>
          <a:bodyPr wrap="square" rtlCol="0" anchor="ctr"/>
          <a:lstStyle/>
          <a:p>
            <a:pPr indent="0" marL="0">
              <a:buNone/>
            </a:pPr>
            <a:r>
              <a:rPr lang="en-US" sz="1000" b="1" dirty="0">
                <a:solidFill>
                  <a:srgbClr val="000000"/>
                </a:solidFill>
                <a:latin typeface="Calibri" pitchFamily="34" charset="0"/>
                <a:ea typeface="Calibri" pitchFamily="34" charset="-122"/>
                <a:cs typeface="Calibri" pitchFamily="34" charset="-120"/>
              </a:rPr>
              <a:t>Azure DevOps</a:t>
            </a:r>
            <a:endParaRPr lang="en-US" sz="1000" dirty="0"/>
          </a:p>
        </p:txBody>
      </p:sp>
      <p:sp>
        <p:nvSpPr>
          <p:cNvPr id="48" name="Text 46"/>
          <p:cNvSpPr/>
          <p:nvPr/>
        </p:nvSpPr>
        <p:spPr>
          <a:xfrm>
            <a:off x="11119104" y="3209544"/>
            <a:ext cx="566928" cy="182880"/>
          </a:xfrm>
          <a:prstGeom prst="rect">
            <a:avLst/>
          </a:prstGeom>
          <a:noFill/>
          <a:ln/>
        </p:spPr>
        <p:txBody>
          <a:bodyPr wrap="square" rtlCol="0" anchor="ctr"/>
          <a:lstStyle/>
          <a:p>
            <a:pPr algn="r" indent="0" marL="0">
              <a:buNone/>
            </a:pPr>
            <a:r>
              <a:rPr lang="en-US" sz="750" i="1" dirty="0">
                <a:solidFill>
                  <a:srgbClr val="595959"/>
                </a:solidFill>
                <a:latin typeface="Calibri" pitchFamily="34" charset="0"/>
                <a:ea typeface="Calibri" pitchFamily="34" charset="-122"/>
                <a:cs typeface="Calibri" pitchFamily="34" charset="-120"/>
              </a:rPr>
              <a:t>existing</a:t>
            </a:r>
            <a:endParaRPr lang="en-US" sz="750" dirty="0"/>
          </a:p>
        </p:txBody>
      </p:sp>
      <p:sp>
        <p:nvSpPr>
          <p:cNvPr id="49" name="Text 47"/>
          <p:cNvSpPr/>
          <p:nvPr/>
        </p:nvSpPr>
        <p:spPr>
          <a:xfrm>
            <a:off x="9701784" y="3410712"/>
            <a:ext cx="2020824" cy="868680"/>
          </a:xfrm>
          <a:prstGeom prst="rect">
            <a:avLst/>
          </a:prstGeom>
          <a:noFill/>
          <a:ln/>
        </p:spPr>
        <p:txBody>
          <a:bodyPr wrap="square" rtlCol="0" anchor="t"/>
          <a:lstStyle/>
          <a:p>
            <a:pPr marL="342900" indent="-342900">
              <a:spcAft>
                <a:spcPts val="300"/>
              </a:spcAft>
              <a:buSzPct val="100000"/>
              <a:buChar char="•"/>
            </a:pPr>
            <a:r>
              <a:rPr lang="en-US" sz="800" dirty="0">
                <a:solidFill>
                  <a:srgbClr val="000000"/>
                </a:solidFill>
                <a:latin typeface="Calibri" pitchFamily="34" charset="0"/>
                <a:ea typeface="Calibri" pitchFamily="34" charset="-122"/>
                <a:cs typeface="Calibri" pitchFamily="34" charset="-120"/>
              </a:rPr>
              <a:t>Repo created, access granted</a:t>
            </a:r>
            <a:endParaRPr lang="en-US" sz="800" dirty="0"/>
          </a:p>
          <a:p>
            <a:pPr marL="342900" indent="-342900">
              <a:spcAft>
                <a:spcPts val="300"/>
              </a:spcAft>
              <a:buSzPct val="100000"/>
              <a:buChar char="•"/>
            </a:pPr>
            <a:r>
              <a:rPr lang="en-US" sz="800" dirty="0">
                <a:solidFill>
                  <a:srgbClr val="000000"/>
                </a:solidFill>
                <a:latin typeface="Calibri" pitchFamily="34" charset="0"/>
                <a:ea typeface="Calibri" pitchFamily="34" charset="-122"/>
                <a:cs typeface="Calibri" pitchFamily="34" charset="-120"/>
              </a:rPr>
              <a:t>Pipeline deploys to App Service</a:t>
            </a:r>
            <a:endParaRPr lang="en-US" sz="800" dirty="0"/>
          </a:p>
          <a:p>
            <a:pPr marL="342900" indent="-342900">
              <a:spcAft>
                <a:spcPts val="300"/>
              </a:spcAft>
              <a:buSzPct val="100000"/>
              <a:buChar char="•"/>
            </a:pPr>
            <a:r>
              <a:rPr lang="en-US" sz="800" dirty="0">
                <a:solidFill>
                  <a:srgbClr val="000000"/>
                </a:solidFill>
                <a:latin typeface="Calibri" pitchFamily="34" charset="0"/>
                <a:ea typeface="Calibri" pitchFamily="34" charset="-122"/>
                <a:cs typeface="Calibri" pitchFamily="34" charset="-120"/>
              </a:rPr>
              <a:t>Dev, UAT and Prod slots</a:t>
            </a:r>
            <a:endParaRPr lang="en-US" sz="800" dirty="0"/>
          </a:p>
        </p:txBody>
      </p:sp>
      <p:sp>
        <p:nvSpPr>
          <p:cNvPr id="50" name="Shape 48"/>
          <p:cNvSpPr/>
          <p:nvPr/>
        </p:nvSpPr>
        <p:spPr>
          <a:xfrm>
            <a:off x="411480" y="4498848"/>
            <a:ext cx="11384280" cy="0"/>
          </a:xfrm>
          <a:prstGeom prst="line">
            <a:avLst/>
          </a:prstGeom>
          <a:noFill/>
          <a:ln w="9525">
            <a:solidFill>
              <a:srgbClr val="808080"/>
            </a:solidFill>
            <a:prstDash val="solid"/>
          </a:ln>
        </p:spPr>
      </p:sp>
      <p:sp>
        <p:nvSpPr>
          <p:cNvPr id="51" name="Text 49"/>
          <p:cNvSpPr/>
          <p:nvPr/>
        </p:nvSpPr>
        <p:spPr>
          <a:xfrm>
            <a:off x="411480" y="4608576"/>
            <a:ext cx="3566160" cy="201168"/>
          </a:xfrm>
          <a:prstGeom prst="rect">
            <a:avLst/>
          </a:prstGeom>
          <a:noFill/>
          <a:ln/>
        </p:spPr>
        <p:txBody>
          <a:bodyPr wrap="square"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To provision</a:t>
            </a:r>
            <a:endParaRPr lang="en-US" sz="1100" dirty="0"/>
          </a:p>
        </p:txBody>
      </p:sp>
      <p:sp>
        <p:nvSpPr>
          <p:cNvPr id="52" name="Text 50"/>
          <p:cNvSpPr/>
          <p:nvPr/>
        </p:nvSpPr>
        <p:spPr>
          <a:xfrm>
            <a:off x="411480" y="4846320"/>
            <a:ext cx="3566160" cy="1783080"/>
          </a:xfrm>
          <a:prstGeom prst="rect">
            <a:avLst/>
          </a:prstGeom>
          <a:noFill/>
          <a:ln/>
        </p:spPr>
        <p:txBody>
          <a:bodyPr wrap="square" rtlCol="0" anchor="t"/>
          <a:lstStyle/>
          <a:p>
            <a:pPr marL="342900" indent="-342900">
              <a:spcAft>
                <a:spcPts val="300"/>
              </a:spcAft>
              <a:buSzPct val="100000"/>
              <a:buChar char="•"/>
            </a:pPr>
            <a:r>
              <a:rPr lang="en-US" sz="900" dirty="0">
                <a:solidFill>
                  <a:srgbClr val="000000"/>
                </a:solidFill>
                <a:latin typeface="Calibri" pitchFamily="34" charset="0"/>
                <a:ea typeface="Calibri" pitchFamily="34" charset="-122"/>
                <a:cs typeface="Calibri" pitchFamily="34" charset="-120"/>
              </a:rPr>
              <a:t>Resource group in the Transport.net subscription</a:t>
            </a:r>
            <a:endParaRPr lang="en-US" sz="900" dirty="0"/>
          </a:p>
          <a:p>
            <a:pPr marL="342900" indent="-342900">
              <a:spcAft>
                <a:spcPts val="300"/>
              </a:spcAft>
              <a:buSzPct val="100000"/>
              <a:buChar char="•"/>
            </a:pPr>
            <a:r>
              <a:rPr lang="en-US" sz="900" dirty="0">
                <a:solidFill>
                  <a:srgbClr val="000000"/>
                </a:solidFill>
                <a:latin typeface="Calibri" pitchFamily="34" charset="0"/>
                <a:ea typeface="Calibri" pitchFamily="34" charset="-122"/>
                <a:cs typeface="Calibri" pitchFamily="34" charset="-120"/>
              </a:rPr>
              <a:t>App Service plan, Linux. Tier set after the latency test, starting point P1v3</a:t>
            </a:r>
            <a:endParaRPr lang="en-US" sz="900" dirty="0"/>
          </a:p>
          <a:p>
            <a:pPr marL="342900" indent="-342900">
              <a:spcAft>
                <a:spcPts val="300"/>
              </a:spcAft>
              <a:buSzPct val="100000"/>
              <a:buChar char="•"/>
            </a:pPr>
            <a:r>
              <a:rPr lang="en-US" sz="900" dirty="0">
                <a:solidFill>
                  <a:srgbClr val="000000"/>
                </a:solidFill>
                <a:latin typeface="Calibri" pitchFamily="34" charset="0"/>
                <a:ea typeface="Calibri" pitchFamily="34" charset="-122"/>
                <a:cs typeface="Calibri" pitchFamily="34" charset="-120"/>
              </a:rPr>
              <a:t>App Service, Python 3.11, system assigned managed identity</a:t>
            </a:r>
            <a:endParaRPr lang="en-US" sz="900" dirty="0"/>
          </a:p>
          <a:p>
            <a:pPr marL="342900" indent="-342900">
              <a:spcAft>
                <a:spcPts val="300"/>
              </a:spcAft>
              <a:buSzPct val="100000"/>
              <a:buChar char="•"/>
            </a:pPr>
            <a:r>
              <a:rPr lang="en-US" sz="900" dirty="0">
                <a:solidFill>
                  <a:srgbClr val="000000"/>
                </a:solidFill>
                <a:latin typeface="Calibri" pitchFamily="34" charset="0"/>
                <a:ea typeface="Calibri" pitchFamily="34" charset="-122"/>
                <a:cs typeface="Calibri" pitchFamily="34" charset="-120"/>
              </a:rPr>
              <a:t>AI Foundry hub and project, one model deployment</a:t>
            </a:r>
            <a:endParaRPr lang="en-US" sz="900" dirty="0"/>
          </a:p>
          <a:p>
            <a:pPr marL="342900" indent="-342900">
              <a:spcAft>
                <a:spcPts val="300"/>
              </a:spcAft>
              <a:buSzPct val="100000"/>
              <a:buChar char="•"/>
            </a:pPr>
            <a:r>
              <a:rPr lang="en-US" sz="900" dirty="0">
                <a:solidFill>
                  <a:srgbClr val="000000"/>
                </a:solidFill>
                <a:latin typeface="Calibri" pitchFamily="34" charset="0"/>
                <a:ea typeface="Calibri" pitchFamily="34" charset="-122"/>
                <a:cs typeface="Calibri" pitchFamily="34" charset="-120"/>
              </a:rPr>
              <a:t>Storage account, one container for the criteria file</a:t>
            </a:r>
            <a:endParaRPr lang="en-US" sz="900" dirty="0"/>
          </a:p>
          <a:p>
            <a:pPr marL="342900" indent="-342900">
              <a:spcAft>
                <a:spcPts val="300"/>
              </a:spcAft>
              <a:buSzPct val="100000"/>
              <a:buChar char="•"/>
            </a:pPr>
            <a:r>
              <a:rPr lang="en-US" sz="900" dirty="0">
                <a:solidFill>
                  <a:srgbClr val="000000"/>
                </a:solidFill>
                <a:latin typeface="Calibri" pitchFamily="34" charset="0"/>
                <a:ea typeface="Calibri" pitchFamily="34" charset="-122"/>
                <a:cs typeface="Calibri" pitchFamily="34" charset="-120"/>
              </a:rPr>
              <a:t>Key Vault, Application Insights, Log Analytics workspace</a:t>
            </a:r>
            <a:endParaRPr lang="en-US" sz="900" dirty="0"/>
          </a:p>
          <a:p>
            <a:pPr marL="342900" indent="-342900">
              <a:spcAft>
                <a:spcPts val="300"/>
              </a:spcAft>
              <a:buSzPct val="100000"/>
              <a:buChar char="•"/>
            </a:pPr>
            <a:r>
              <a:rPr lang="en-US" sz="900" dirty="0">
                <a:solidFill>
                  <a:srgbClr val="000000"/>
                </a:solidFill>
                <a:latin typeface="Calibri" pitchFamily="34" charset="0"/>
                <a:ea typeface="Calibri" pitchFamily="34" charset="-122"/>
                <a:cs typeface="Calibri" pitchFamily="34" charset="-120"/>
              </a:rPr>
              <a:t>Three of each: Dev, UAT, Prod</a:t>
            </a:r>
            <a:endParaRPr lang="en-US" sz="900" dirty="0"/>
          </a:p>
        </p:txBody>
      </p:sp>
      <p:sp>
        <p:nvSpPr>
          <p:cNvPr id="53" name="Text 51"/>
          <p:cNvSpPr/>
          <p:nvPr/>
        </p:nvSpPr>
        <p:spPr>
          <a:xfrm>
            <a:off x="4251960" y="4608576"/>
            <a:ext cx="3566160" cy="201168"/>
          </a:xfrm>
          <a:prstGeom prst="rect">
            <a:avLst/>
          </a:prstGeom>
          <a:noFill/>
          <a:ln/>
        </p:spPr>
        <p:txBody>
          <a:bodyPr wrap="square"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Network and identity</a:t>
            </a:r>
            <a:endParaRPr lang="en-US" sz="1100" dirty="0"/>
          </a:p>
        </p:txBody>
      </p:sp>
      <p:sp>
        <p:nvSpPr>
          <p:cNvPr id="54" name="Text 52"/>
          <p:cNvSpPr/>
          <p:nvPr/>
        </p:nvSpPr>
        <p:spPr>
          <a:xfrm>
            <a:off x="4251960" y="4846320"/>
            <a:ext cx="3566160" cy="1783080"/>
          </a:xfrm>
          <a:prstGeom prst="rect">
            <a:avLst/>
          </a:prstGeom>
          <a:noFill/>
          <a:ln/>
        </p:spPr>
        <p:txBody>
          <a:bodyPr wrap="square" rtlCol="0" anchor="t"/>
          <a:lstStyle/>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App Service VNet integrated, no public inbound beyond the OLOS caller</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Private endpoints on Foundry, Blob, Key Vault and SQL</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System assigned managed identity for every resource call, no keys in code or config</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TLS 1.2 minimum, HTTPS only</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Patient data stays within the Azure tenant. Payloads are not used to train models</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Abuse monitoring retention is the one open question, see right</a:t>
            </a:r>
            <a:endParaRPr lang="en-US" sz="850" dirty="0"/>
          </a:p>
        </p:txBody>
      </p:sp>
      <p:sp>
        <p:nvSpPr>
          <p:cNvPr id="55" name="Text 53"/>
          <p:cNvSpPr/>
          <p:nvPr/>
        </p:nvSpPr>
        <p:spPr>
          <a:xfrm>
            <a:off x="8138160" y="4608576"/>
            <a:ext cx="3657600" cy="201168"/>
          </a:xfrm>
          <a:prstGeom prst="rect">
            <a:avLst/>
          </a:prstGeom>
          <a:noFill/>
          <a:ln/>
        </p:spPr>
        <p:txBody>
          <a:bodyPr wrap="square"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Open items for sizing</a:t>
            </a:r>
            <a:endParaRPr lang="en-US" sz="1100" dirty="0"/>
          </a:p>
        </p:txBody>
      </p:sp>
      <p:sp>
        <p:nvSpPr>
          <p:cNvPr id="56" name="Text 54"/>
          <p:cNvSpPr/>
          <p:nvPr/>
        </p:nvSpPr>
        <p:spPr>
          <a:xfrm>
            <a:off x="8138160" y="4846320"/>
            <a:ext cx="3657600" cy="1874520"/>
          </a:xfrm>
          <a:prstGeom prst="rect">
            <a:avLst/>
          </a:prstGeom>
          <a:noFill/>
          <a:ln/>
        </p:spPr>
        <p:txBody>
          <a:bodyPr wrap="square" rtlCol="0" anchor="t"/>
          <a:lstStyle/>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Submission timeout, working figure two to five seconds. Confirmed by load test once the endpoint is live</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App Service tier depends on that result and on trip volume at peak</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Foundry model and region, driven by availability and token cost</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Abuse monitoring. Azure may retain prompts up to 30 days unless the exemption is approved. Confirm the posture before PHI flows</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Trips that get a clarifying question make a second call. Size for more than one call per trip</a:t>
            </a:r>
            <a:endParaRPr lang="en-US" sz="850" dirty="0"/>
          </a:p>
          <a:p>
            <a:pPr marL="342900" indent="-342900">
              <a:spcAft>
                <a:spcPts val="300"/>
              </a:spcAft>
              <a:buSzPct val="100000"/>
              <a:buChar char="•"/>
            </a:pPr>
            <a:r>
              <a:rPr lang="en-US" sz="850" dirty="0">
                <a:solidFill>
                  <a:srgbClr val="000000"/>
                </a:solidFill>
                <a:latin typeface="Calibri" pitchFamily="34" charset="0"/>
                <a:ea typeface="Calibri" pitchFamily="34" charset="-122"/>
                <a:cs typeface="Calibri" pitchFamily="34" charset="-120"/>
              </a:rPr>
              <a:t>Azure AI Search is not required. The criteria set fits in one instruction, so there is no retrieval step to provision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2026-10-15T14:34:30Z</dcterms:created>
  <dcterms:modified xsi:type="dcterms:W3CDTF">2026-10-15T14:34:30Z</dcterms:modified>
</cp:coreProperties>
</file>