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Records matched</c:v>
                </c:pt>
              </c:strCache>
            </c:strRef>
          </c:tx>
          <c:spPr>
            <a:solidFill>
              <a:srgbClr val="4C78A8"/>
            </a:solidFill>
            <a:effectLst/>
          </c:spPr>
          <c:invertIfNegative val="0"/>
          <c:dLbls>
            <c:numFmt formatCode="#,##0.0,,&quot;M&quot;" sourceLinked="0"/>
            <c:txPr>
              <a:bodyPr/>
              <a:lstStyle/>
              <a:p>
                <a:pPr>
                  <a:defRPr b="0" i="0" strike="noStrike" sz="1100" u="none">
                    <a:solidFill>
                      <a:srgbClr val="222222"/>
                    </a:solidFill>
                    <a:latin typeface="Arial"/>
                  </a:defRPr>
                </a:pPr>
              </a:p>
            </c:txPr>
            <c:showLegendKey val="0"/>
            <c:showVal val="1"/>
            <c:showCatName val="0"/>
            <c:showSerName val="0"/>
            <c:showPercent val="0"/>
            <c:showBubbleSize val="0"/>
            <c:showLeaderLines val="0"/>
          </c:dLbls>
          <c:dPt>
            <c:idx val="0"/>
            <c:invertIfNegative val="0"/>
            <c:bubble3D val="0"/>
            <c:spPr>
              <a:solidFill>
                <a:srgbClr val="4C78A8"/>
              </a:solidFill>
              <a:effectLst/>
            </c:spPr>
          </c:dPt>
          <c:dPt>
            <c:idx val="1"/>
            <c:invertIfNegative val="0"/>
            <c:bubble3D val="0"/>
            <c:spPr>
              <a:solidFill>
                <a:srgbClr val="F58518"/>
              </a:solidFill>
              <a:effectLst/>
            </c:spPr>
          </c:dPt>
          <c:cat>
            <c:multiLvlStrRef>
              <c:f>Sheet1!$A$2:$A$3</c:f>
              <c:multiLvlStrCache>
                <c:ptCount val="2"/>
                <c:lvl>
                  <c:pt idx="0">
                    <c:v>v6</c:v>
                  </c:pt>
                  <c:pt idx="1">
                    <c:v>v7</c:v>
                  </c:pt>
                </c:lvl>
              </c:multiLvlStrCache>
            </c:multiLvlStrRef>
          </c:cat>
          <c:val>
            <c:numRef>
              <c:f>Sheet1!$B$2:$B$3</c:f>
              <c:numCache>
                <c:formatCode>General</c:formatCode>
                <c:ptCount val="2"/>
                <c:pt idx="0">
                  <c:v>18026509</c:v>
                </c:pt>
                <c:pt idx="1">
                  <c:v>4802262</c:v>
                </c:pt>
              </c:numCache>
            </c:numRef>
          </c:val>
        </c:ser>
        <c:dLbls>
          <c:numFmt formatCode="#,##0.0,,&quot;M&quot;" sourceLinked="0"/>
          <c:txPr>
            <a:bodyPr/>
            <a:lstStyle/>
            <a:p>
              <a:pPr>
                <a:defRPr b="0" i="0" strike="noStrike" sz="1100" u="none">
                  <a:solidFill>
                    <a:srgbClr val="22222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noMultiLvlLbl val="1"/>
      </c:catAx>
      <c:valAx>
        <c:axId val="2094734552"/>
        <c:scaling>
          <c:orientation val="minMax"/>
          <c:max val="20000000"/>
        </c:scaling>
        <c:delete val="0"/>
        <c:axPos val="l"/>
        <c:majorGridlines>
          <c:spPr>
            <a:ln w="12700" cap="flat">
              <a:solidFill>
                <a:srgbClr val="E8E8E8"/>
              </a:solidFill>
              <a:prstDash val="solid"/>
              <a:round/>
            </a:ln>
          </c:spPr>
        </c:majorGridlines>
        <c:numFmt formatCode="#,##0,,&quot;M&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v6</c:v>
                </c:pt>
              </c:strCache>
            </c:strRef>
          </c:tx>
          <c:spPr>
            <a:solidFill>
              <a:srgbClr val="4C78A8"/>
            </a:solidFill>
            <a:effectLst/>
          </c:spPr>
          <c:invertIfNegative val="0"/>
          <c:dLbls>
            <c:numFmt formatCode="#,##0" sourceLinked="0"/>
            <c:txPr>
              <a:bodyPr/>
              <a:lstStyle/>
              <a:p>
                <a:pPr>
                  <a:defRPr b="0" i="0" strike="noStrike" sz="1100" u="none">
                    <a:solidFill>
                      <a:srgbClr val="222222"/>
                    </a:solidFill>
                    <a:latin typeface="Arial"/>
                  </a:defRPr>
                </a:pPr>
              </a:p>
            </c:txPr>
            <c:showLegendKey val="0"/>
            <c:showVal val="1"/>
            <c:showCatName val="0"/>
            <c:showSerName val="0"/>
            <c:showPercent val="0"/>
            <c:showBubbleSize val="0"/>
            <c:showLeaderLines val="0"/>
          </c:dLbls>
          <c:cat>
            <c:multiLvlStrRef>
              <c:f>Sheet1!$A$2:$A$4</c:f>
              <c:multiLvlStrCache>
                <c:ptCount val="3"/>
                <c:lvl>
                  <c:pt idx="0">
                    <c:v>typical (p50)</c:v>
                  </c:pt>
                  <c:pt idx="1">
                    <c:v>worst 5 pct (p95)</c:v>
                  </c:pt>
                  <c:pt idx="2">
                    <c:v>worst 1 pct (p99)</c:v>
                  </c:pt>
                </c:lvl>
              </c:multiLvlStrCache>
            </c:multiLvlStrRef>
          </c:cat>
          <c:val>
            <c:numRef>
              <c:f>Sheet1!$B$2:$B$4</c:f>
              <c:numCache>
                <c:formatCode>General</c:formatCode>
                <c:ptCount val="3"/>
                <c:pt idx="0">
                  <c:v>712</c:v>
                </c:pt>
                <c:pt idx="1">
                  <c:v>801</c:v>
                </c:pt>
                <c:pt idx="2">
                  <c:v>807</c:v>
                </c:pt>
              </c:numCache>
            </c:numRef>
          </c:val>
        </c:ser>
        <c:ser>
          <c:idx val="1"/>
          <c:order val="1"/>
          <c:tx>
            <c:strRef>
              <c:f>Sheet1!$C$1</c:f>
              <c:strCache>
                <c:ptCount val="1"/>
                <c:pt idx="0">
                  <c:v>v7</c:v>
                </c:pt>
              </c:strCache>
            </c:strRef>
          </c:tx>
          <c:spPr>
            <a:solidFill>
              <a:srgbClr val="F58518"/>
            </a:solidFill>
            <a:effectLst/>
          </c:spPr>
          <c:invertIfNegative val="0"/>
          <c:dLbls>
            <c:numFmt formatCode="#,##0" sourceLinked="0"/>
            <c:txPr>
              <a:bodyPr/>
              <a:lstStyle/>
              <a:p>
                <a:pPr>
                  <a:defRPr b="0" i="0" strike="noStrike" sz="1100" u="none">
                    <a:solidFill>
                      <a:srgbClr val="222222"/>
                    </a:solidFill>
                    <a:latin typeface="Arial"/>
                  </a:defRPr>
                </a:pPr>
              </a:p>
            </c:txPr>
            <c:showLegendKey val="0"/>
            <c:showVal val="1"/>
            <c:showCatName val="0"/>
            <c:showSerName val="0"/>
            <c:showPercent val="0"/>
            <c:showBubbleSize val="0"/>
            <c:showLeaderLines val="0"/>
          </c:dLbls>
          <c:cat>
            <c:multiLvlStrRef>
              <c:f>Sheet1!$A$2:$A$4</c:f>
              <c:multiLvlStrCache>
                <c:ptCount val="3"/>
                <c:lvl>
                  <c:pt idx="0">
                    <c:v>typical (p50)</c:v>
                  </c:pt>
                  <c:pt idx="1">
                    <c:v>worst 5 pct (p95)</c:v>
                  </c:pt>
                  <c:pt idx="2">
                    <c:v>worst 1 pct (p99)</c:v>
                  </c:pt>
                </c:lvl>
              </c:multiLvlStrCache>
            </c:multiLvlStrRef>
          </c:cat>
          <c:val>
            <c:numRef>
              <c:f>Sheet1!$C$2:$C$4</c:f>
              <c:numCache>
                <c:formatCode>General</c:formatCode>
                <c:ptCount val="3"/>
                <c:pt idx="0">
                  <c:v>610</c:v>
                </c:pt>
                <c:pt idx="1">
                  <c:v>627</c:v>
                </c:pt>
                <c:pt idx="2">
                  <c:v>628</c:v>
                </c:pt>
              </c:numCache>
            </c:numRef>
          </c:val>
        </c:ser>
        <c:dLbls>
          <c:numFmt formatCode="#,##0" sourceLinked="0"/>
          <c:txPr>
            <a:bodyPr/>
            <a:lstStyle/>
            <a:p>
              <a:pPr>
                <a:defRPr b="0" i="0" strike="noStrike" sz="1100" u="none">
                  <a:solidFill>
                    <a:srgbClr val="22222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8E8"/>
              </a:solidFill>
              <a:prstDash val="solid"/>
              <a:round/>
            </a:ln>
          </c:spPr>
        </c:majorGridlines>
        <c:title>
          <c:tx>
            <c:rich>
              <a:bodyPr/>
              <a:lstStyle/>
              <a:p>
                <a:pPr>
                  <a:defRPr sz="1100" b="0" i="0" u="none" strike="noStrike">
                    <a:solidFill>
                      <a:srgbClr val="666666"/>
                    </a:solidFill>
                    <a:latin typeface="Arial"/>
                  </a:defRPr>
                </a:pPr>
                <a:r>
                  <a:rPr sz="1100" b="0" i="0" u="none" strike="noStrike">
                    <a:solidFill>
                      <a:srgbClr val="666666"/>
                    </a:solidFill>
                    <a:latin typeface="Arial"/>
                  </a:rPr>
                  <a:t>milliseconds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a:solidFill>
                <a:srgbClr val="666666"/>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shard</c:v>
                </c:pt>
              </c:strCache>
            </c:strRef>
          </c:tx>
          <c:spPr>
            <a:solidFill>
              <a:srgbClr val="4C78A8"/>
            </a:solidFill>
            <a:effectLst/>
          </c:spPr>
          <c:invertIfNegative val="0"/>
          <c:dLbls>
            <c:numFmt formatCode="#,##0" sourceLinked="0"/>
            <c:txPr>
              <a:bodyPr/>
              <a:lstStyle/>
              <a:p>
                <a:pPr>
                  <a:defRPr b="0" i="0" strike="noStrike" sz="1100" u="none">
                    <a:solidFill>
                      <a:srgbClr val="222222"/>
                    </a:solidFill>
                    <a:latin typeface="Arial"/>
                  </a:defRPr>
                </a:pPr>
              </a:p>
            </c:txPr>
            <c:showLegendKey val="0"/>
            <c:showVal val="0"/>
            <c:showCatName val="0"/>
            <c:showSerName val="0"/>
            <c:showPercent val="0"/>
            <c:showBubbleSize val="0"/>
            <c:showLeaderLines val="0"/>
          </c:dLbls>
          <c:cat>
            <c:multiLvlStrRef>
              <c:f>Sheet1!$A$2:$A$22</c:f>
              <c:multiLvlStrCache>
                <c:ptCount val="2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lvl>
              </c:multiLvlStrCache>
            </c:multiLvlStrRef>
          </c:cat>
          <c:val>
            <c:numRef>
              <c:f>Sheet1!$B$2:$B$22</c:f>
              <c:numCache>
                <c:formatCode>General</c:formatCode>
                <c:ptCount val="21"/>
                <c:pt idx="0">
                  <c:v>656</c:v>
                </c:pt>
                <c:pt idx="1">
                  <c:v>596</c:v>
                </c:pt>
                <c:pt idx="2">
                  <c:v>0</c:v>
                </c:pt>
                <c:pt idx="3">
                  <c:v>618</c:v>
                </c:pt>
                <c:pt idx="4">
                  <c:v>615</c:v>
                </c:pt>
                <c:pt idx="5">
                  <c:v>608</c:v>
                </c:pt>
                <c:pt idx="6">
                  <c:v>653</c:v>
                </c:pt>
                <c:pt idx="7">
                  <c:v>591</c:v>
                </c:pt>
                <c:pt idx="8">
                  <c:v>612</c:v>
                </c:pt>
                <c:pt idx="9">
                  <c:v>670</c:v>
                </c:pt>
                <c:pt idx="10">
                  <c:v>623</c:v>
                </c:pt>
                <c:pt idx="11">
                  <c:v>618</c:v>
                </c:pt>
                <c:pt idx="12">
                  <c:v>579</c:v>
                </c:pt>
                <c:pt idx="13">
                  <c:v>614</c:v>
                </c:pt>
                <c:pt idx="14">
                  <c:v>646</c:v>
                </c:pt>
                <c:pt idx="15">
                  <c:v>589</c:v>
                </c:pt>
                <c:pt idx="16">
                  <c:v>590</c:v>
                </c:pt>
                <c:pt idx="17">
                  <c:v>620</c:v>
                </c:pt>
                <c:pt idx="18">
                  <c:v>608</c:v>
                </c:pt>
                <c:pt idx="19">
                  <c:v>611</c:v>
                </c:pt>
                <c:pt idx="20">
                  <c:v>650</c:v>
                </c:pt>
              </c:numCache>
            </c:numRef>
          </c:val>
        </c:ser>
        <c:ser>
          <c:idx val="1"/>
          <c:order val="1"/>
          <c:tx>
            <c:strRef>
              <c:f>Sheet1!$C$1</c:f>
              <c:strCache>
                <c:ptCount val="1"/>
                <c:pt idx="0">
                  <c:v>slowest</c:v>
                </c:pt>
              </c:strCache>
            </c:strRef>
          </c:tx>
          <c:spPr>
            <a:solidFill>
              <a:srgbClr val="C0392B"/>
            </a:solidFill>
            <a:effectLst/>
          </c:spPr>
          <c:invertIfNegative val="0"/>
          <c:dLbls>
            <c:numFmt formatCode="#,##0" sourceLinked="0"/>
            <c:txPr>
              <a:bodyPr/>
              <a:lstStyle/>
              <a:p>
                <a:pPr>
                  <a:defRPr b="0" i="0" strike="noStrike" sz="1100" u="none">
                    <a:solidFill>
                      <a:srgbClr val="222222"/>
                    </a:solidFill>
                    <a:latin typeface="Arial"/>
                  </a:defRPr>
                </a:pPr>
              </a:p>
            </c:txPr>
            <c:showLegendKey val="0"/>
            <c:showVal val="0"/>
            <c:showCatName val="0"/>
            <c:showSerName val="0"/>
            <c:showPercent val="0"/>
            <c:showBubbleSize val="0"/>
            <c:showLeaderLines val="0"/>
          </c:dLbls>
          <c:cat>
            <c:multiLvlStrRef>
              <c:f>Sheet1!$A$2:$A$22</c:f>
              <c:multiLvlStrCache>
                <c:ptCount val="2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lvl>
              </c:multiLvlStrCache>
            </c:multiLvlStrRef>
          </c:cat>
          <c:val>
            <c:numRef>
              <c:f>Sheet1!$C$2:$C$22</c:f>
              <c:numCache>
                <c:formatCode>General</c:formatCode>
                <c:ptCount val="21"/>
                <c:pt idx="0">
                  <c:v>0</c:v>
                </c:pt>
                <c:pt idx="1">
                  <c:v>0</c:v>
                </c:pt>
                <c:pt idx="2">
                  <c:v>716</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numFmt formatCode="#,##0" sourceLinked="0"/>
          <c:txPr>
            <a:bodyPr/>
            <a:lstStyle/>
            <a:p>
              <a:pPr>
                <a:defRPr b="0" i="0" strike="noStrike" sz="1100" u="none">
                  <a:solidFill>
                    <a:srgbClr val="222222"/>
                  </a:solidFill>
                  <a:latin typeface="Arial"/>
                </a:defRPr>
              </a:pPr>
            </a:p>
          </c:txPr>
          <c:showLegendKey val="0"/>
          <c:showVal val="0"/>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title>
          <c:tx>
            <c:rich>
              <a:bodyPr/>
              <a:lstStyle/>
              <a:p>
                <a:pPr>
                  <a:defRPr sz="1100" b="0" i="0" u="none" strike="noStrike">
                    <a:solidFill>
                      <a:srgbClr val="666666"/>
                    </a:solidFill>
                    <a:latin typeface="Arial"/>
                  </a:defRPr>
                </a:pPr>
                <a:r>
                  <a:rPr sz="1100" b="0" i="0" u="none" strike="noStrike">
                    <a:solidFill>
                      <a:srgbClr val="666666"/>
                    </a:solidFill>
                    <a:latin typeface="Arial"/>
                  </a:rPr>
                  <a:t>shard number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noMultiLvlLbl val="1"/>
      </c:catAx>
      <c:valAx>
        <c:axId val="2094734552"/>
        <c:scaling>
          <c:orientation val="minMax"/>
          <c:max val="800"/>
        </c:scaling>
        <c:delete val="0"/>
        <c:axPos val="l"/>
        <c:majorGridlines>
          <c:spPr>
            <a:ln w="12700" cap="flat">
              <a:solidFill>
                <a:srgbClr val="E8E8E8"/>
              </a:solidFill>
              <a:prstDash val="solid"/>
              <a:round/>
            </a:ln>
          </c:spPr>
        </c:majorGridlines>
        <c:title>
          <c:tx>
            <c:rich>
              <a:bodyPr/>
              <a:lstStyle/>
              <a:p>
                <a:pPr>
                  <a:defRPr sz="1100" b="0" i="0" u="none" strike="noStrike">
                    <a:solidFill>
                      <a:srgbClr val="666666"/>
                    </a:solidFill>
                    <a:latin typeface="Arial"/>
                  </a:defRPr>
                </a:pPr>
                <a:r>
                  <a:rPr sz="1100" b="0" i="0" u="none" strike="noStrike">
                    <a:solidFill>
                      <a:srgbClr val="666666"/>
                    </a:solidFill>
                    <a:latin typeface="Arial"/>
                  </a:rPr>
                  <a:t>milliseconds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shard</c:v>
                </c:pt>
              </c:strCache>
            </c:strRef>
          </c:tx>
          <c:spPr>
            <a:solidFill>
              <a:srgbClr val="F58518"/>
            </a:solidFill>
            <a:effectLst/>
          </c:spPr>
          <c:invertIfNegative val="0"/>
          <c:dLbls>
            <c:numFmt formatCode="#,##0" sourceLinked="0"/>
            <c:txPr>
              <a:bodyPr/>
              <a:lstStyle/>
              <a:p>
                <a:pPr>
                  <a:defRPr b="0" i="0" strike="noStrike" sz="1100" u="none">
                    <a:solidFill>
                      <a:srgbClr val="222222"/>
                    </a:solidFill>
                    <a:latin typeface="Arial"/>
                  </a:defRPr>
                </a:pPr>
              </a:p>
            </c:txPr>
            <c:showLegendKey val="0"/>
            <c:showVal val="0"/>
            <c:showCatName val="0"/>
            <c:showSerName val="0"/>
            <c:showPercent val="0"/>
            <c:showBubbleSize val="0"/>
            <c:showLeaderLines val="0"/>
          </c:dLbls>
          <c:cat>
            <c:multiLvlStrRef>
              <c:f>Sheet1!$A$2:$A$22</c:f>
              <c:multiLvlStrCache>
                <c:ptCount val="2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lvl>
              </c:multiLvlStrCache>
            </c:multiLvlStrRef>
          </c:cat>
          <c:val>
            <c:numRef>
              <c:f>Sheet1!$B$2:$B$22</c:f>
              <c:numCache>
                <c:formatCode>General</c:formatCode>
                <c:ptCount val="21"/>
                <c:pt idx="0">
                  <c:v>318</c:v>
                </c:pt>
                <c:pt idx="1">
                  <c:v>275</c:v>
                </c:pt>
                <c:pt idx="2">
                  <c:v>308</c:v>
                </c:pt>
                <c:pt idx="3">
                  <c:v>244</c:v>
                </c:pt>
                <c:pt idx="4">
                  <c:v>301</c:v>
                </c:pt>
                <c:pt idx="5">
                  <c:v>373</c:v>
                </c:pt>
                <c:pt idx="6">
                  <c:v>281</c:v>
                </c:pt>
                <c:pt idx="7">
                  <c:v>318</c:v>
                </c:pt>
                <c:pt idx="8">
                  <c:v>301</c:v>
                </c:pt>
                <c:pt idx="9">
                  <c:v>291</c:v>
                </c:pt>
                <c:pt idx="10">
                  <c:v>321</c:v>
                </c:pt>
                <c:pt idx="11">
                  <c:v>281</c:v>
                </c:pt>
                <c:pt idx="12">
                  <c:v>393</c:v>
                </c:pt>
                <c:pt idx="13">
                  <c:v>268</c:v>
                </c:pt>
                <c:pt idx="14">
                  <c:v>308</c:v>
                </c:pt>
                <c:pt idx="15">
                  <c:v>0</c:v>
                </c:pt>
                <c:pt idx="16">
                  <c:v>291</c:v>
                </c:pt>
                <c:pt idx="17">
                  <c:v>315</c:v>
                </c:pt>
                <c:pt idx="18">
                  <c:v>275</c:v>
                </c:pt>
                <c:pt idx="19">
                  <c:v>313</c:v>
                </c:pt>
                <c:pt idx="20">
                  <c:v>270</c:v>
                </c:pt>
              </c:numCache>
            </c:numRef>
          </c:val>
        </c:ser>
        <c:ser>
          <c:idx val="1"/>
          <c:order val="1"/>
          <c:tx>
            <c:strRef>
              <c:f>Sheet1!$C$1</c:f>
              <c:strCache>
                <c:ptCount val="1"/>
                <c:pt idx="0">
                  <c:v>slowest</c:v>
                </c:pt>
              </c:strCache>
            </c:strRef>
          </c:tx>
          <c:spPr>
            <a:solidFill>
              <a:srgbClr val="C0392B"/>
            </a:solidFill>
            <a:effectLst/>
          </c:spPr>
          <c:invertIfNegative val="0"/>
          <c:dLbls>
            <c:numFmt formatCode="#,##0" sourceLinked="0"/>
            <c:txPr>
              <a:bodyPr/>
              <a:lstStyle/>
              <a:p>
                <a:pPr>
                  <a:defRPr b="0" i="0" strike="noStrike" sz="1100" u="none">
                    <a:solidFill>
                      <a:srgbClr val="222222"/>
                    </a:solidFill>
                    <a:latin typeface="Arial"/>
                  </a:defRPr>
                </a:pPr>
              </a:p>
            </c:txPr>
            <c:showLegendKey val="0"/>
            <c:showVal val="0"/>
            <c:showCatName val="0"/>
            <c:showSerName val="0"/>
            <c:showPercent val="0"/>
            <c:showBubbleSize val="0"/>
            <c:showLeaderLines val="0"/>
          </c:dLbls>
          <c:cat>
            <c:multiLvlStrRef>
              <c:f>Sheet1!$A$2:$A$22</c:f>
              <c:multiLvlStrCache>
                <c:ptCount val="2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lvl>
              </c:multiLvlStrCache>
            </c:multiLvl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570</c:v>
                </c:pt>
                <c:pt idx="16">
                  <c:v>0</c:v>
                </c:pt>
                <c:pt idx="17">
                  <c:v>0</c:v>
                </c:pt>
                <c:pt idx="18">
                  <c:v>0</c:v>
                </c:pt>
                <c:pt idx="19">
                  <c:v>0</c:v>
                </c:pt>
                <c:pt idx="20">
                  <c:v>0</c:v>
                </c:pt>
              </c:numCache>
            </c:numRef>
          </c:val>
        </c:ser>
        <c:dLbls>
          <c:numFmt formatCode="#,##0" sourceLinked="0"/>
          <c:txPr>
            <a:bodyPr/>
            <a:lstStyle/>
            <a:p>
              <a:pPr>
                <a:defRPr b="0" i="0" strike="noStrike" sz="1100" u="none">
                  <a:solidFill>
                    <a:srgbClr val="222222"/>
                  </a:solidFill>
                  <a:latin typeface="Arial"/>
                </a:defRPr>
              </a:pPr>
            </a:p>
          </c:txPr>
          <c:showLegendKey val="0"/>
          <c:showVal val="0"/>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title>
          <c:tx>
            <c:rich>
              <a:bodyPr/>
              <a:lstStyle/>
              <a:p>
                <a:pPr>
                  <a:defRPr sz="1100" b="0" i="0" u="none" strike="noStrike">
                    <a:solidFill>
                      <a:srgbClr val="666666"/>
                    </a:solidFill>
                    <a:latin typeface="Arial"/>
                  </a:defRPr>
                </a:pPr>
                <a:r>
                  <a:rPr sz="1100" b="0" i="0" u="none" strike="noStrike">
                    <a:solidFill>
                      <a:srgbClr val="666666"/>
                    </a:solidFill>
                    <a:latin typeface="Arial"/>
                  </a:rPr>
                  <a:t>shard number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noMultiLvlLbl val="1"/>
      </c:catAx>
      <c:valAx>
        <c:axId val="2094734552"/>
        <c:scaling>
          <c:orientation val="minMax"/>
          <c:max val="800"/>
        </c:scaling>
        <c:delete val="0"/>
        <c:axPos val="l"/>
        <c:majorGridlines>
          <c:spPr>
            <a:ln w="12700" cap="flat">
              <a:solidFill>
                <a:srgbClr val="E8E8E8"/>
              </a:solidFill>
              <a:prstDash val="solid"/>
              <a:round/>
            </a:ln>
          </c:spPr>
        </c:majorGridlines>
        <c:title>
          <c:tx>
            <c:rich>
              <a:bodyPr/>
              <a:lstStyle/>
              <a:p>
                <a:pPr>
                  <a:defRPr sz="1100" b="0" i="0" u="none" strike="noStrike">
                    <a:solidFill>
                      <a:srgbClr val="666666"/>
                    </a:solidFill>
                    <a:latin typeface="Arial"/>
                  </a:defRPr>
                </a:pPr>
                <a:r>
                  <a:rPr sz="1100" b="0" i="0" u="none" strike="noStrike">
                    <a:solidFill>
                      <a:srgbClr val="666666"/>
                    </a:solidFill>
                    <a:latin typeface="Arial"/>
                  </a:rPr>
                  <a:t>milliseconds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v6</c:v>
                </c:pt>
              </c:strCache>
            </c:strRef>
          </c:tx>
          <c:spPr>
            <a:solidFill>
              <a:srgbClr val="4C78A8"/>
            </a:solidFill>
            <a:effectLst/>
          </c:spPr>
          <c:invertIfNegative val="0"/>
          <c:dLbls>
            <c:numFmt formatCode="#,##0" sourceLinked="0"/>
            <c:txPr>
              <a:bodyPr/>
              <a:lstStyle/>
              <a:p>
                <a:pPr>
                  <a:defRPr b="0" i="0" strike="noStrike" sz="1100" u="none">
                    <a:solidFill>
                      <a:srgbClr val="222222"/>
                    </a:solidFill>
                    <a:latin typeface="Arial"/>
                  </a:defRPr>
                </a:pPr>
              </a:p>
            </c:txPr>
            <c:showLegendKey val="0"/>
            <c:showVal val="1"/>
            <c:showCatName val="0"/>
            <c:showSerName val="0"/>
            <c:showPercent val="0"/>
            <c:showBubbleSize val="0"/>
            <c:showLeaderLines val="0"/>
          </c:dLbls>
          <c:cat>
            <c:multiLvlStrRef>
              <c:f>Sheet1!$A$2:$A$4</c:f>
              <c:multiLvlStrCache>
                <c:ptCount val="3"/>
                <c:lvl>
                  <c:pt idx="0">
                    <c:v>Name and ID lookup</c:v>
                  </c:pt>
                  <c:pt idx="1">
                    <c:v>Ranking weights</c:v>
                  </c:pt>
                  <c:pt idx="2">
                    <c:v>Prefix and fuzzy</c:v>
                  </c:pt>
                </c:lvl>
              </c:multiLvlStrCache>
            </c:multiLvlStrRef>
          </c:cat>
          <c:val>
            <c:numRef>
              <c:f>Sheet1!$B$2:$B$4</c:f>
              <c:numCache>
                <c:formatCode>General</c:formatCode>
                <c:ptCount val="3"/>
                <c:pt idx="0">
                  <c:v>3586</c:v>
                </c:pt>
                <c:pt idx="1">
                  <c:v>724</c:v>
                </c:pt>
                <c:pt idx="2">
                  <c:v>295</c:v>
                </c:pt>
              </c:numCache>
            </c:numRef>
          </c:val>
        </c:ser>
        <c:ser>
          <c:idx val="1"/>
          <c:order val="1"/>
          <c:tx>
            <c:strRef>
              <c:f>Sheet1!$C$1</c:f>
              <c:strCache>
                <c:ptCount val="1"/>
                <c:pt idx="0">
                  <c:v>v7</c:v>
                </c:pt>
              </c:strCache>
            </c:strRef>
          </c:tx>
          <c:spPr>
            <a:solidFill>
              <a:srgbClr val="F58518"/>
            </a:solidFill>
            <a:effectLst/>
          </c:spPr>
          <c:invertIfNegative val="0"/>
          <c:dLbls>
            <c:numFmt formatCode="#,##0" sourceLinked="0"/>
            <c:txPr>
              <a:bodyPr/>
              <a:lstStyle/>
              <a:p>
                <a:pPr>
                  <a:defRPr b="0" i="0" strike="noStrike" sz="1100" u="none">
                    <a:solidFill>
                      <a:srgbClr val="222222"/>
                    </a:solidFill>
                    <a:latin typeface="Arial"/>
                  </a:defRPr>
                </a:pPr>
              </a:p>
            </c:txPr>
            <c:showLegendKey val="0"/>
            <c:showVal val="1"/>
            <c:showCatName val="0"/>
            <c:showSerName val="0"/>
            <c:showPercent val="0"/>
            <c:showBubbleSize val="0"/>
            <c:showLeaderLines val="0"/>
          </c:dLbls>
          <c:cat>
            <c:multiLvlStrRef>
              <c:f>Sheet1!$A$2:$A$4</c:f>
              <c:multiLvlStrCache>
                <c:ptCount val="3"/>
                <c:lvl>
                  <c:pt idx="0">
                    <c:v>Name and ID lookup</c:v>
                  </c:pt>
                  <c:pt idx="1">
                    <c:v>Ranking weights</c:v>
                  </c:pt>
                  <c:pt idx="2">
                    <c:v>Prefix and fuzzy</c:v>
                  </c:pt>
                </c:lvl>
              </c:multiLvlStrCache>
            </c:multiLvlStrRef>
          </c:cat>
          <c:val>
            <c:numRef>
              <c:f>Sheet1!$C$2:$C$4</c:f>
              <c:numCache>
                <c:formatCode>General</c:formatCode>
                <c:ptCount val="3"/>
                <c:pt idx="0">
                  <c:v>3581</c:v>
                </c:pt>
                <c:pt idx="1">
                  <c:v>807</c:v>
                </c:pt>
                <c:pt idx="2">
                  <c:v>62</c:v>
                </c:pt>
              </c:numCache>
            </c:numRef>
          </c:val>
        </c:ser>
        <c:dLbls>
          <c:numFmt formatCode="#,##0" sourceLinked="0"/>
          <c:txPr>
            <a:bodyPr/>
            <a:lstStyle/>
            <a:p>
              <a:pPr>
                <a:defRPr b="0" i="0" strike="noStrike" sz="1100" u="none">
                  <a:solidFill>
                    <a:srgbClr val="22222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8E8E8"/>
              </a:solidFill>
              <a:prstDash val="solid"/>
              <a:round/>
            </a:ln>
          </c:spPr>
        </c:majorGridlines>
        <c:title>
          <c:tx>
            <c:rich>
              <a:bodyPr/>
              <a:lstStyle/>
              <a:p>
                <a:pPr>
                  <a:defRPr sz="1100" b="0" i="0" u="none" strike="noStrike">
                    <a:solidFill>
                      <a:srgbClr val="666666"/>
                    </a:solidFill>
                    <a:latin typeface="Arial"/>
                  </a:defRPr>
                </a:pPr>
                <a:r>
                  <a:rPr sz="1100" b="0" i="0" u="none" strike="noStrike">
                    <a:solidFill>
                      <a:srgbClr val="666666"/>
                    </a:solidFill>
                    <a:latin typeface="Arial"/>
                  </a:rPr>
                  <a:t>milliseconds, all shards added up</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a:solidFill>
                <a:srgbClr val="666666"/>
              </a:solidFil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v6</c:v>
                </c:pt>
              </c:strCache>
            </c:strRef>
          </c:tx>
          <c:spPr>
            <a:solidFill>
              <a:srgbClr val="4C78A8"/>
            </a:solidFill>
            <a:effectLst/>
          </c:spPr>
          <c:invertIfNegative val="0"/>
          <c:dLbls>
            <c:numFmt formatCode="#,##0" sourceLinked="0"/>
            <c:txPr>
              <a:bodyPr/>
              <a:lstStyle/>
              <a:p>
                <a:pPr>
                  <a:defRPr b="0" i="0" strike="noStrike" sz="1100" u="none">
                    <a:solidFill>
                      <a:srgbClr val="222222"/>
                    </a:solidFill>
                    <a:latin typeface="Arial"/>
                  </a:defRPr>
                </a:pPr>
              </a:p>
            </c:txPr>
            <c:showLegendKey val="0"/>
            <c:showVal val="1"/>
            <c:showCatName val="0"/>
            <c:showSerName val="0"/>
            <c:showPercent val="0"/>
            <c:showBubbleSize val="0"/>
            <c:showLeaderLines val="0"/>
          </c:dLbls>
          <c:cat>
            <c:multiLvlStrRef>
              <c:f>Sheet1!$A$2:$A$4</c:f>
              <c:multiLvlStrCache>
                <c:ptCount val="3"/>
                <c:lvl>
                  <c:pt idx="0">
                    <c:v>fastest run</c:v>
                  </c:pt>
                  <c:pt idx="1">
                    <c:v>typical run</c:v>
                  </c:pt>
                  <c:pt idx="2">
                    <c:v>slowest run</c:v>
                  </c:pt>
                </c:lvl>
              </c:multiLvlStrCache>
            </c:multiLvlStrRef>
          </c:cat>
          <c:val>
            <c:numRef>
              <c:f>Sheet1!$B$2:$B$4</c:f>
              <c:numCache>
                <c:formatCode>General</c:formatCode>
                <c:ptCount val="3"/>
                <c:pt idx="0">
                  <c:v>688</c:v>
                </c:pt>
                <c:pt idx="1">
                  <c:v>712</c:v>
                </c:pt>
                <c:pt idx="2">
                  <c:v>807</c:v>
                </c:pt>
              </c:numCache>
            </c:numRef>
          </c:val>
        </c:ser>
        <c:ser>
          <c:idx val="1"/>
          <c:order val="1"/>
          <c:tx>
            <c:strRef>
              <c:f>Sheet1!$C$1</c:f>
              <c:strCache>
                <c:ptCount val="1"/>
                <c:pt idx="0">
                  <c:v>v7</c:v>
                </c:pt>
              </c:strCache>
            </c:strRef>
          </c:tx>
          <c:spPr>
            <a:solidFill>
              <a:srgbClr val="F58518"/>
            </a:solidFill>
            <a:effectLst/>
          </c:spPr>
          <c:invertIfNegative val="0"/>
          <c:dLbls>
            <c:numFmt formatCode="#,##0" sourceLinked="0"/>
            <c:txPr>
              <a:bodyPr/>
              <a:lstStyle/>
              <a:p>
                <a:pPr>
                  <a:defRPr b="0" i="0" strike="noStrike" sz="1100" u="none">
                    <a:solidFill>
                      <a:srgbClr val="222222"/>
                    </a:solidFill>
                    <a:latin typeface="Arial"/>
                  </a:defRPr>
                </a:pPr>
              </a:p>
            </c:txPr>
            <c:showLegendKey val="0"/>
            <c:showVal val="1"/>
            <c:showCatName val="0"/>
            <c:showSerName val="0"/>
            <c:showPercent val="0"/>
            <c:showBubbleSize val="0"/>
            <c:showLeaderLines val="0"/>
          </c:dLbls>
          <c:cat>
            <c:multiLvlStrRef>
              <c:f>Sheet1!$A$2:$A$4</c:f>
              <c:multiLvlStrCache>
                <c:ptCount val="3"/>
                <c:lvl>
                  <c:pt idx="0">
                    <c:v>fastest run</c:v>
                  </c:pt>
                  <c:pt idx="1">
                    <c:v>typical run</c:v>
                  </c:pt>
                  <c:pt idx="2">
                    <c:v>slowest run</c:v>
                  </c:pt>
                </c:lvl>
              </c:multiLvlStrCache>
            </c:multiLvlStrRef>
          </c:cat>
          <c:val>
            <c:numRef>
              <c:f>Sheet1!$C$2:$C$4</c:f>
              <c:numCache>
                <c:formatCode>General</c:formatCode>
                <c:ptCount val="3"/>
                <c:pt idx="0">
                  <c:v>578</c:v>
                </c:pt>
                <c:pt idx="1">
                  <c:v>610</c:v>
                </c:pt>
                <c:pt idx="2">
                  <c:v>628</c:v>
                </c:pt>
              </c:numCache>
            </c:numRef>
          </c:val>
        </c:ser>
        <c:dLbls>
          <c:numFmt formatCode="#,##0" sourceLinked="0"/>
          <c:txPr>
            <a:bodyPr/>
            <a:lstStyle/>
            <a:p>
              <a:pPr>
                <a:defRPr b="0" i="0" strike="noStrike" sz="1100" u="none">
                  <a:solidFill>
                    <a:srgbClr val="22222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8E8"/>
              </a:solidFill>
              <a:prstDash val="solid"/>
              <a:round/>
            </a:ln>
          </c:spPr>
        </c:majorGridlines>
        <c:title>
          <c:tx>
            <c:rich>
              <a:bodyPr/>
              <a:lstStyle/>
              <a:p>
                <a:pPr>
                  <a:defRPr sz="1100" b="0" i="0" u="none" strike="noStrike">
                    <a:solidFill>
                      <a:srgbClr val="666666"/>
                    </a:solidFill>
                    <a:latin typeface="Arial"/>
                  </a:defRPr>
                </a:pPr>
                <a:r>
                  <a:rPr sz="1100" b="0" i="0" u="none" strike="noStrike">
                    <a:solidFill>
                      <a:srgbClr val="666666"/>
                    </a:solidFill>
                    <a:latin typeface="Arial"/>
                  </a:rPr>
                  <a:t>milliseconds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a:solidFill>
                <a:srgbClr val="666666"/>
              </a:solidFill>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documents</c:v>
                </c:pt>
              </c:strCache>
            </c:strRef>
          </c:tx>
          <c:spPr>
            <a:solidFill>
              <a:srgbClr val="54A24B"/>
            </a:solidFill>
            <a:effectLst/>
          </c:spPr>
          <c:invertIfNegative val="0"/>
          <c:dLbls>
            <c:numFmt formatCode="#,##0" sourceLinked="0"/>
            <c:txPr>
              <a:bodyPr/>
              <a:lstStyle/>
              <a:p>
                <a:pPr>
                  <a:defRPr b="0" i="0" strike="noStrike" sz="1100" u="none">
                    <a:solidFill>
                      <a:srgbClr val="222222"/>
                    </a:solidFill>
                    <a:latin typeface="Arial"/>
                  </a:defRPr>
                </a:pPr>
              </a:p>
            </c:txPr>
            <c:showLegendKey val="0"/>
            <c:showVal val="0"/>
            <c:showCatName val="0"/>
            <c:showSerName val="0"/>
            <c:showPercent val="0"/>
            <c:showBubbleSize val="0"/>
            <c:showLeaderLines val="0"/>
          </c:dLbls>
          <c:cat>
            <c:multiLvlStrRef>
              <c:f>Sheet1!$A$2:$A$22</c:f>
              <c:multiLvlStrCache>
                <c:ptCount val="2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lvl>
              </c:multiLvlStrCache>
            </c:multiLvlStrRef>
          </c:cat>
          <c:val>
            <c:numRef>
              <c:f>Sheet1!$B$2:$B$22</c:f>
              <c:numCache>
                <c:formatCode>General</c:formatCode>
                <c:ptCount val="21"/>
                <c:pt idx="0">
                  <c:v>6853288</c:v>
                </c:pt>
                <c:pt idx="1">
                  <c:v>6853745</c:v>
                </c:pt>
                <c:pt idx="2">
                  <c:v>6850917</c:v>
                </c:pt>
                <c:pt idx="3">
                  <c:v>6852874</c:v>
                </c:pt>
                <c:pt idx="4">
                  <c:v>6856671</c:v>
                </c:pt>
                <c:pt idx="5">
                  <c:v>6854406</c:v>
                </c:pt>
                <c:pt idx="6">
                  <c:v>6856580</c:v>
                </c:pt>
                <c:pt idx="7">
                  <c:v>6851153</c:v>
                </c:pt>
                <c:pt idx="8">
                  <c:v>6852128</c:v>
                </c:pt>
                <c:pt idx="9">
                  <c:v>6852354</c:v>
                </c:pt>
                <c:pt idx="10">
                  <c:v>6857382</c:v>
                </c:pt>
                <c:pt idx="11">
                  <c:v>6856693</c:v>
                </c:pt>
                <c:pt idx="12">
                  <c:v>6854819</c:v>
                </c:pt>
                <c:pt idx="13">
                  <c:v>6851780</c:v>
                </c:pt>
                <c:pt idx="14">
                  <c:v>6853420</c:v>
                </c:pt>
                <c:pt idx="15">
                  <c:v>6855294</c:v>
                </c:pt>
                <c:pt idx="16">
                  <c:v>6853046</c:v>
                </c:pt>
                <c:pt idx="17">
                  <c:v>6857833</c:v>
                </c:pt>
                <c:pt idx="18">
                  <c:v>6854215</c:v>
                </c:pt>
                <c:pt idx="19">
                  <c:v>6851866</c:v>
                </c:pt>
                <c:pt idx="20">
                  <c:v>6853750</c:v>
                </c:pt>
              </c:numCache>
            </c:numRef>
          </c:val>
        </c:ser>
        <c:dLbls>
          <c:numFmt formatCode="#,##0" sourceLinked="0"/>
          <c:txPr>
            <a:bodyPr/>
            <a:lstStyle/>
            <a:p>
              <a:pPr>
                <a:defRPr b="0" i="0" strike="noStrike" sz="1100" u="none">
                  <a:solidFill>
                    <a:srgbClr val="222222"/>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666666"/>
                    </a:solidFill>
                    <a:latin typeface="Arial"/>
                  </a:defRPr>
                </a:pPr>
                <a:r>
                  <a:rPr sz="1100" b="0" i="0" u="none" strike="noStrike">
                    <a:solidFill>
                      <a:srgbClr val="666666"/>
                    </a:solidFill>
                    <a:latin typeface="Arial"/>
                  </a:rPr>
                  <a:t>shard number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noMultiLvlLbl val="1"/>
      </c:catAx>
      <c:valAx>
        <c:axId val="2094734552"/>
        <c:scaling>
          <c:orientation val="minMax"/>
          <c:max val="6900000"/>
          <c:min val="6800000"/>
        </c:scaling>
        <c:delete val="0"/>
        <c:axPos val="l"/>
        <c:majorGridlines>
          <c:spPr>
            <a:ln w="12700" cap="flat">
              <a:solidFill>
                <a:srgbClr val="E8E8E8"/>
              </a:solidFill>
              <a:prstDash val="solid"/>
              <a:round/>
            </a:ln>
          </c:spPr>
        </c:majorGridlines>
        <c:title>
          <c:tx>
            <c:rich>
              <a:bodyPr/>
              <a:lstStyle/>
              <a:p>
                <a:pPr>
                  <a:defRPr sz="1100" b="0" i="0" u="none" strike="noStrike">
                    <a:solidFill>
                      <a:srgbClr val="666666"/>
                    </a:solidFill>
                    <a:latin typeface="Arial"/>
                  </a:defRPr>
                </a:pPr>
                <a:r>
                  <a:rPr sz="1100" b="0" i="0" u="none" strike="noStrike">
                    <a:solidFill>
                      <a:srgbClr val="666666"/>
                    </a:solidFill>
                    <a:latin typeface="Arial"/>
                  </a:rPr>
                  <a:t>documents</a:t>
                </a:r>
              </a:p>
            </c:rich>
          </c:tx>
          <c:layout/>
          <c:overlay val="0"/>
        </c:title>
        <c:numFmt formatCode="#,##0.00,,&quot;M&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of the v6 versus v7 identity search query performance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Sets up the problem and how the deck is organized.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Controlled test. Same index, same inputs, only the query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test tells us where to spend effort and money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 matches 3.75 times more records than v7 for the same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p50 is the middle run. p95 and p99 show how bad it gets on the slowest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 shard times are evenly spread. Slowest shard shown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Fixing the one slow shard would cut roughly 250 ms with no query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disproves the earlier theory that prefix and fuzzy clauses were driving the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 20 runs had v7 ahead of v6. No overlap between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layout is healthy. The slow shard is not caused by uneven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is broken. The work now is narrowing v6 and confirming the v7 shard.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actions. The first one makes the comparison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640080" y="2103120"/>
            <a:ext cx="10881360" cy="822960"/>
          </a:xfrm>
          <a:prstGeom prst="rect">
            <a:avLst/>
          </a:prstGeom>
          <a:noFill/>
          <a:ln/>
        </p:spPr>
        <p:txBody>
          <a:bodyPr wrap="square" lIns="0" tIns="0" rIns="0" bIns="0" rtlCol="0" anchor="ctr"/>
          <a:lstStyle/>
          <a:p>
            <a:pPr indent="0" marL="0">
              <a:buNone/>
            </a:pPr>
            <a:r>
              <a:rPr lang="en-US" sz="4000" b="1" dirty="0">
                <a:solidFill>
                  <a:srgbClr val="FFFFFF"/>
                </a:solidFill>
              </a:rPr>
              <a:t>Identity Search Query Test</a:t>
            </a:r>
            <a:endParaRPr lang="en-US" sz="4000" dirty="0"/>
          </a:p>
        </p:txBody>
      </p:sp>
      <p:sp>
        <p:nvSpPr>
          <p:cNvPr id="3" name="Text 1"/>
          <p:cNvSpPr/>
          <p:nvPr/>
        </p:nvSpPr>
        <p:spPr>
          <a:xfrm>
            <a:off x="640080" y="2926080"/>
            <a:ext cx="10881360" cy="548640"/>
          </a:xfrm>
          <a:prstGeom prst="rect">
            <a:avLst/>
          </a:prstGeom>
          <a:noFill/>
          <a:ln/>
        </p:spPr>
        <p:txBody>
          <a:bodyPr wrap="square" lIns="0" tIns="0" rIns="0" bIns="0" rtlCol="0" anchor="ctr"/>
          <a:lstStyle/>
          <a:p>
            <a:pPr indent="0" marL="0">
              <a:buNone/>
            </a:pPr>
            <a:r>
              <a:rPr lang="en-US" sz="2200" dirty="0">
                <a:solidFill>
                  <a:srgbClr val="AFC3E0"/>
                </a:solidFill>
              </a:rPr>
              <a:t>Comparing query v6 and v7</a:t>
            </a:r>
            <a:endParaRPr lang="en-US" sz="2200" dirty="0"/>
          </a:p>
        </p:txBody>
      </p:sp>
      <p:sp>
        <p:nvSpPr>
          <p:cNvPr id="4" name="Text 2"/>
          <p:cNvSpPr/>
          <p:nvPr/>
        </p:nvSpPr>
        <p:spPr>
          <a:xfrm>
            <a:off x="640080" y="3931920"/>
            <a:ext cx="10881360" cy="365760"/>
          </a:xfrm>
          <a:prstGeom prst="rect">
            <a:avLst/>
          </a:prstGeom>
          <a:noFill/>
          <a:ln/>
        </p:spPr>
        <p:txBody>
          <a:bodyPr wrap="square" lIns="0" tIns="0" rIns="0" bIns="0" rtlCol="0" anchor="ctr"/>
          <a:lstStyle/>
          <a:p>
            <a:pPr indent="0" marL="0">
              <a:buNone/>
            </a:pPr>
            <a:r>
              <a:rPr lang="en-US" sz="1400" dirty="0">
                <a:solidFill>
                  <a:srgbClr val="8FA6C8"/>
                </a:solidFill>
              </a:rPr>
              <a:t>Josh Smitherman   |   July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lIns="0" tIns="0" rIns="0" bIns="0" rtlCol="0" anchor="ctr"/>
          <a:lstStyle/>
          <a:p>
            <a:pPr indent="0" marL="0">
              <a:buNone/>
            </a:pPr>
            <a:r>
              <a:rPr lang="en-US" sz="3200" b="1" dirty="0">
                <a:solidFill>
                  <a:srgbClr val="1F3864"/>
                </a:solidFill>
              </a:rPr>
              <a:t>Overview</a:t>
            </a:r>
            <a:endParaRPr lang="en-US" sz="3200" dirty="0"/>
          </a:p>
        </p:txBody>
      </p:sp>
      <p:sp>
        <p:nvSpPr>
          <p:cNvPr id="3" name="Text 1"/>
          <p:cNvSpPr/>
          <p:nvPr/>
        </p:nvSpPr>
        <p:spPr>
          <a:xfrm>
            <a:off x="640080" y="1737360"/>
            <a:ext cx="10881360" cy="3931920"/>
          </a:xfrm>
          <a:prstGeom prst="rect">
            <a:avLst/>
          </a:prstGeom>
          <a:noFill/>
          <a:ln/>
        </p:spPr>
        <p:txBody>
          <a:bodyPr wrap="square" lIns="0" tIns="0" rIns="0" bIns="0" rtlCol="0" anchor="ctr"/>
          <a:lstStyle/>
          <a:p>
            <a:pPr marL="342900" indent="-342900">
              <a:spcAft>
                <a:spcPts val="1600"/>
              </a:spcAft>
              <a:buSzPct val="100000"/>
              <a:buChar char="•"/>
            </a:pPr>
            <a:r>
              <a:rPr lang="en-US" sz="1900" dirty="0">
                <a:solidFill>
                  <a:srgbClr val="222222"/>
                </a:solidFill>
              </a:rPr>
              <a:t>The new identity search has been running slower than the old system</a:t>
            </a:r>
            <a:endParaRPr lang="en-US" sz="1900" dirty="0"/>
          </a:p>
          <a:p>
            <a:pPr marL="342900" indent="-342900">
              <a:spcAft>
                <a:spcPts val="1600"/>
              </a:spcAft>
              <a:buSzPct val="100000"/>
              <a:buChar char="•"/>
            </a:pPr>
            <a:r>
              <a:rPr lang="en-US" sz="1900" dirty="0">
                <a:solidFill>
                  <a:srgbClr val="222222"/>
                </a:solidFill>
              </a:rPr>
              <a:t>We tested the old query (v6) against the new query (v7) on the same index to find out why</a:t>
            </a:r>
            <a:endParaRPr lang="en-US" sz="1900" dirty="0"/>
          </a:p>
          <a:p>
            <a:pPr marL="342900" indent="-342900">
              <a:spcAft>
                <a:spcPts val="1600"/>
              </a:spcAft>
              <a:buSzPct val="100000"/>
              <a:buChar char="•"/>
            </a:pPr>
            <a:r>
              <a:rPr lang="en-US" sz="1900" dirty="0">
                <a:solidFill>
                  <a:srgbClr val="222222"/>
                </a:solidFill>
              </a:rPr>
              <a:t>Each chart that follows answers one question, and the deck ends with what we recommend next</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lIns="0" tIns="0" rIns="0" bIns="0" rtlCol="0" anchor="ctr"/>
          <a:lstStyle/>
          <a:p>
            <a:pPr indent="0" marL="0">
              <a:buNone/>
            </a:pPr>
            <a:r>
              <a:rPr lang="en-US" sz="3200" b="1" dirty="0">
                <a:solidFill>
                  <a:srgbClr val="1F3864"/>
                </a:solidFill>
              </a:rPr>
              <a:t>What we did</a:t>
            </a:r>
            <a:endParaRPr lang="en-US" sz="3200" dirty="0"/>
          </a:p>
        </p:txBody>
      </p:sp>
      <p:sp>
        <p:nvSpPr>
          <p:cNvPr id="3" name="Text 1"/>
          <p:cNvSpPr/>
          <p:nvPr/>
        </p:nvSpPr>
        <p:spPr>
          <a:xfrm>
            <a:off x="640080" y="1737360"/>
            <a:ext cx="10881360" cy="3931920"/>
          </a:xfrm>
          <a:prstGeom prst="rect">
            <a:avLst/>
          </a:prstGeom>
          <a:noFill/>
          <a:ln/>
        </p:spPr>
        <p:txBody>
          <a:bodyPr wrap="square" lIns="0" tIns="0" rIns="0" bIns="0" rtlCol="0" anchor="ctr"/>
          <a:lstStyle/>
          <a:p>
            <a:pPr marL="342900" indent="-342900">
              <a:spcAft>
                <a:spcPts val="1600"/>
              </a:spcAft>
              <a:buSzPct val="100000"/>
              <a:buChar char="•"/>
            </a:pPr>
            <a:r>
              <a:rPr lang="en-US" sz="1900" dirty="0">
                <a:solidFill>
                  <a:srgbClr val="222222"/>
                </a:solidFill>
              </a:rPr>
              <a:t>Ran query v6 and query v7 against the same index with the same inputs: JOSE, F, MENDOZA</a:t>
            </a:r>
            <a:endParaRPr lang="en-US" sz="1900" dirty="0"/>
          </a:p>
          <a:p>
            <a:pPr marL="342900" indent="-342900">
              <a:spcAft>
                <a:spcPts val="1600"/>
              </a:spcAft>
              <a:buSzPct val="100000"/>
              <a:buChar char="•"/>
            </a:pPr>
            <a:r>
              <a:rPr lang="en-US" sz="1900" dirty="0">
                <a:solidFill>
                  <a:srgbClr val="222222"/>
                </a:solidFill>
              </a:rPr>
              <a:t>Ran each one 20 times and recorded speed, records matched, and time spent on every shard</a:t>
            </a:r>
            <a:endParaRPr lang="en-US" sz="1900" dirty="0"/>
          </a:p>
          <a:p>
            <a:pPr marL="342900" indent="-342900">
              <a:spcAft>
                <a:spcPts val="1600"/>
              </a:spcAft>
              <a:buSzPct val="100000"/>
              <a:buChar char="•"/>
            </a:pPr>
            <a:r>
              <a:rPr lang="en-US" sz="1900" dirty="0">
                <a:solidFill>
                  <a:srgbClr val="222222"/>
                </a:solidFill>
              </a:rPr>
              <a:t>Turned off caching so we measured real work and not repeated answers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lIns="0" tIns="0" rIns="0" bIns="0" rtlCol="0" anchor="ctr"/>
          <a:lstStyle/>
          <a:p>
            <a:pPr indent="0" marL="0">
              <a:buNone/>
            </a:pPr>
            <a:r>
              <a:rPr lang="en-US" sz="3200" b="1" dirty="0">
                <a:solidFill>
                  <a:srgbClr val="1F3864"/>
                </a:solidFill>
              </a:rPr>
              <a:t>Why we did it</a:t>
            </a:r>
            <a:endParaRPr lang="en-US" sz="3200" dirty="0"/>
          </a:p>
        </p:txBody>
      </p:sp>
      <p:sp>
        <p:nvSpPr>
          <p:cNvPr id="3" name="Text 1"/>
          <p:cNvSpPr/>
          <p:nvPr/>
        </p:nvSpPr>
        <p:spPr>
          <a:xfrm>
            <a:off x="640080" y="1737360"/>
            <a:ext cx="10881360" cy="3931920"/>
          </a:xfrm>
          <a:prstGeom prst="rect">
            <a:avLst/>
          </a:prstGeom>
          <a:noFill/>
          <a:ln/>
        </p:spPr>
        <p:txBody>
          <a:bodyPr wrap="square" lIns="0" tIns="0" rIns="0" bIns="0" rtlCol="0" anchor="ctr"/>
          <a:lstStyle/>
          <a:p>
            <a:pPr marL="342900" indent="-342900">
              <a:spcAft>
                <a:spcPts val="1600"/>
              </a:spcAft>
              <a:buSzPct val="100000"/>
              <a:buChar char="•"/>
            </a:pPr>
            <a:r>
              <a:rPr lang="en-US" sz="1900" dirty="0">
                <a:solidFill>
                  <a:srgbClr val="222222"/>
                </a:solidFill>
              </a:rPr>
              <a:t>We needed to know if the slowness comes from the query or from the servers</a:t>
            </a:r>
            <a:endParaRPr lang="en-US" sz="1900" dirty="0"/>
          </a:p>
          <a:p>
            <a:pPr marL="342900" indent="-342900">
              <a:spcAft>
                <a:spcPts val="1600"/>
              </a:spcAft>
              <a:buSzPct val="100000"/>
              <a:buChar char="•"/>
            </a:pPr>
            <a:r>
              <a:rPr lang="en-US" sz="1900" dirty="0">
                <a:solidFill>
                  <a:srgbClr val="222222"/>
                </a:solidFill>
              </a:rPr>
              <a:t>That answer decides whether we tune the query or ask for bigger staging servers</a:t>
            </a:r>
            <a:endParaRPr lang="en-US" sz="1900" dirty="0"/>
          </a:p>
          <a:p>
            <a:pPr marL="342900" indent="-342900">
              <a:spcAft>
                <a:spcPts val="1600"/>
              </a:spcAft>
              <a:buSzPct val="100000"/>
              <a:buChar char="•"/>
            </a:pPr>
            <a:r>
              <a:rPr lang="en-US" sz="1900" dirty="0">
                <a:solidFill>
                  <a:srgbClr val="222222"/>
                </a:solidFill>
              </a:rPr>
              <a:t>Guessing wrong is expensive, so we wanted numbers before making the request</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881360" cy="640080"/>
          </a:xfrm>
          <a:prstGeom prst="rect">
            <a:avLst/>
          </a:prstGeom>
          <a:noFill/>
          <a:ln/>
        </p:spPr>
        <p:txBody>
          <a:bodyPr wrap="square" lIns="0" tIns="0" rIns="0" bIns="0" rtlCol="0" anchor="ctr"/>
          <a:lstStyle/>
          <a:p>
            <a:pPr indent="0" marL="0">
              <a:buNone/>
            </a:pPr>
            <a:r>
              <a:rPr lang="en-US" sz="2800" b="1" dirty="0">
                <a:solidFill>
                  <a:srgbClr val="1F3864"/>
                </a:solidFill>
              </a:rPr>
              <a:t>Records matched</a:t>
            </a:r>
            <a:endParaRPr lang="en-US" sz="2800" dirty="0"/>
          </a:p>
        </p:txBody>
      </p:sp>
      <p:graphicFrame>
        <p:nvGraphicFramePr>
          <p:cNvPr id="3" name="Chart 0" descr=""/>
          <p:cNvGraphicFramePr/>
          <p:nvPr/>
        </p:nvGraphicFramePr>
        <p:xfrm>
          <a:off x="640080" y="1143000"/>
          <a:ext cx="658368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7635240" y="1188720"/>
            <a:ext cx="3886200" cy="292608"/>
          </a:xfrm>
          <a:prstGeom prst="rect">
            <a:avLst/>
          </a:prstGeom>
          <a:noFill/>
          <a:ln/>
        </p:spPr>
        <p:txBody>
          <a:bodyPr wrap="square" lIns="0" tIns="0" rIns="0" bIns="0" rtlCol="0" anchor="ctr"/>
          <a:lstStyle/>
          <a:p>
            <a:pPr indent="0" marL="0">
              <a:buNone/>
            </a:pPr>
            <a:r>
              <a:rPr lang="en-US" sz="1400" b="1" dirty="0">
                <a:solidFill>
                  <a:srgbClr val="1F3864"/>
                </a:solidFill>
              </a:rPr>
              <a:t>What it shows</a:t>
            </a:r>
            <a:endParaRPr lang="en-US" sz="1400" dirty="0"/>
          </a:p>
        </p:txBody>
      </p:sp>
      <p:sp>
        <p:nvSpPr>
          <p:cNvPr id="5" name="Text 2"/>
          <p:cNvSpPr/>
          <p:nvPr/>
        </p:nvSpPr>
        <p:spPr>
          <a:xfrm>
            <a:off x="7635240" y="1572768"/>
            <a:ext cx="3886200" cy="26517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22222"/>
                </a:solidFill>
              </a:rPr>
              <a:t>v6 matches 18.0 million records, v7 matches 4.8 million</a:t>
            </a:r>
            <a:endParaRPr lang="en-US" sz="1300" dirty="0"/>
          </a:p>
          <a:p>
            <a:pPr marL="342900" indent="-342900">
              <a:spcAft>
                <a:spcPts val="1000"/>
              </a:spcAft>
              <a:buSzPct val="100000"/>
              <a:buChar char="•"/>
            </a:pPr>
            <a:r>
              <a:rPr lang="en-US" sz="1300" dirty="0">
                <a:solidFill>
                  <a:srgbClr val="222222"/>
                </a:solidFill>
              </a:rPr>
              <a:t>v6 pulls in about 12.5 percent of the whole index, v7 about 3.3 percent</a:t>
            </a:r>
            <a:endParaRPr lang="en-US" sz="1300" dirty="0"/>
          </a:p>
          <a:p>
            <a:pPr marL="342900" indent="-342900">
              <a:spcAft>
                <a:spcPts val="1000"/>
              </a:spcAft>
              <a:buSzPct val="100000"/>
              <a:buChar char="•"/>
            </a:pPr>
            <a:r>
              <a:rPr lang="en-US" sz="1300" dirty="0">
                <a:solidFill>
                  <a:srgbClr val="222222"/>
                </a:solidFill>
              </a:rPr>
              <a:t>v6 is casting a much wider net for the same search</a:t>
            </a:r>
            <a:endParaRPr lang="en-US" sz="1300" dirty="0"/>
          </a:p>
        </p:txBody>
      </p:sp>
      <p:sp>
        <p:nvSpPr>
          <p:cNvPr id="6" name="Text 3"/>
          <p:cNvSpPr/>
          <p:nvPr/>
        </p:nvSpPr>
        <p:spPr>
          <a:xfrm>
            <a:off x="7635240" y="4343400"/>
            <a:ext cx="3886200" cy="292608"/>
          </a:xfrm>
          <a:prstGeom prst="rect">
            <a:avLst/>
          </a:prstGeom>
          <a:noFill/>
          <a:ln/>
        </p:spPr>
        <p:txBody>
          <a:bodyPr wrap="square" lIns="0" tIns="0" rIns="0" bIns="0" rtlCol="0" anchor="ctr"/>
          <a:lstStyle/>
          <a:p>
            <a:pPr indent="0" marL="0">
              <a:buNone/>
            </a:pPr>
            <a:r>
              <a:rPr lang="en-US" sz="1400" b="1" dirty="0">
                <a:solidFill>
                  <a:srgbClr val="1F3864"/>
                </a:solidFill>
              </a:rPr>
              <a:t>Why we look at it</a:t>
            </a:r>
            <a:endParaRPr lang="en-US" sz="1400" dirty="0"/>
          </a:p>
        </p:txBody>
      </p:sp>
      <p:sp>
        <p:nvSpPr>
          <p:cNvPr id="7" name="Text 4"/>
          <p:cNvSpPr/>
          <p:nvPr/>
        </p:nvSpPr>
        <p:spPr>
          <a:xfrm>
            <a:off x="7635240" y="4709160"/>
            <a:ext cx="3886200" cy="1371600"/>
          </a:xfrm>
          <a:prstGeom prst="rect">
            <a:avLst/>
          </a:prstGeom>
          <a:noFill/>
          <a:ln/>
        </p:spPr>
        <p:txBody>
          <a:bodyPr wrap="square" lIns="0" tIns="0" rIns="0" bIns="0" rtlCol="0" anchor="ctr"/>
          <a:lstStyle/>
          <a:p>
            <a:pPr indent="0" marL="0">
              <a:buNone/>
            </a:pPr>
            <a:r>
              <a:rPr lang="en-US" sz="1300" dirty="0">
                <a:solidFill>
                  <a:srgbClr val="666666"/>
                </a:solidFill>
              </a:rPr>
              <a:t>Speed only means something when both queries do a similar amount of work. This chart is the first thing to check, because a query that matches four times more records will always look slower.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881360" cy="640080"/>
          </a:xfrm>
          <a:prstGeom prst="rect">
            <a:avLst/>
          </a:prstGeom>
          <a:noFill/>
          <a:ln/>
        </p:spPr>
        <p:txBody>
          <a:bodyPr wrap="square" lIns="0" tIns="0" rIns="0" bIns="0" rtlCol="0" anchor="ctr"/>
          <a:lstStyle/>
          <a:p>
            <a:pPr indent="0" marL="0">
              <a:buNone/>
            </a:pPr>
            <a:r>
              <a:rPr lang="en-US" sz="2800" b="1" dirty="0">
                <a:solidFill>
                  <a:srgbClr val="1F3864"/>
                </a:solidFill>
              </a:rPr>
              <a:t>Response time</a:t>
            </a:r>
            <a:endParaRPr lang="en-US" sz="2800" dirty="0"/>
          </a:p>
        </p:txBody>
      </p:sp>
      <p:graphicFrame>
        <p:nvGraphicFramePr>
          <p:cNvPr id="3" name="Chart 0" descr=""/>
          <p:cNvGraphicFramePr/>
          <p:nvPr/>
        </p:nvGraphicFramePr>
        <p:xfrm>
          <a:off x="640080" y="1143000"/>
          <a:ext cx="658368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7635240" y="1188720"/>
            <a:ext cx="3886200" cy="292608"/>
          </a:xfrm>
          <a:prstGeom prst="rect">
            <a:avLst/>
          </a:prstGeom>
          <a:noFill/>
          <a:ln/>
        </p:spPr>
        <p:txBody>
          <a:bodyPr wrap="square" lIns="0" tIns="0" rIns="0" bIns="0" rtlCol="0" anchor="ctr"/>
          <a:lstStyle/>
          <a:p>
            <a:pPr indent="0" marL="0">
              <a:buNone/>
            </a:pPr>
            <a:r>
              <a:rPr lang="en-US" sz="1400" b="1" dirty="0">
                <a:solidFill>
                  <a:srgbClr val="1F3864"/>
                </a:solidFill>
              </a:rPr>
              <a:t>What it shows</a:t>
            </a:r>
            <a:endParaRPr lang="en-US" sz="1400" dirty="0"/>
          </a:p>
        </p:txBody>
      </p:sp>
      <p:sp>
        <p:nvSpPr>
          <p:cNvPr id="5" name="Text 2"/>
          <p:cNvSpPr/>
          <p:nvPr/>
        </p:nvSpPr>
        <p:spPr>
          <a:xfrm>
            <a:off x="7635240" y="1572768"/>
            <a:ext cx="3886200" cy="26517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22222"/>
                </a:solidFill>
              </a:rPr>
              <a:t>v7 is faster at every level, 610 ms typical against 712 ms</a:t>
            </a:r>
            <a:endParaRPr lang="en-US" sz="1300" dirty="0"/>
          </a:p>
          <a:p>
            <a:pPr marL="342900" indent="-342900">
              <a:spcAft>
                <a:spcPts val="1000"/>
              </a:spcAft>
              <a:buSzPct val="100000"/>
              <a:buChar char="•"/>
            </a:pPr>
            <a:r>
              <a:rPr lang="en-US" sz="1300" dirty="0">
                <a:solidFill>
                  <a:srgbClr val="222222"/>
                </a:solidFill>
              </a:rPr>
              <a:t>v7 barely slows down at its worst, 628 ms against 807 ms for v6</a:t>
            </a:r>
            <a:endParaRPr lang="en-US" sz="1300" dirty="0"/>
          </a:p>
          <a:p>
            <a:pPr marL="342900" indent="-342900">
              <a:spcAft>
                <a:spcPts val="1000"/>
              </a:spcAft>
              <a:buSzPct val="100000"/>
              <a:buChar char="•"/>
            </a:pPr>
            <a:r>
              <a:rPr lang="en-US" sz="1300" dirty="0">
                <a:solidFill>
                  <a:srgbClr val="222222"/>
                </a:solidFill>
              </a:rPr>
              <a:t>Part of the gap is because v6 matches far more records</a:t>
            </a:r>
            <a:endParaRPr lang="en-US" sz="1300" dirty="0"/>
          </a:p>
        </p:txBody>
      </p:sp>
      <p:sp>
        <p:nvSpPr>
          <p:cNvPr id="6" name="Text 3"/>
          <p:cNvSpPr/>
          <p:nvPr/>
        </p:nvSpPr>
        <p:spPr>
          <a:xfrm>
            <a:off x="7635240" y="4343400"/>
            <a:ext cx="3886200" cy="292608"/>
          </a:xfrm>
          <a:prstGeom prst="rect">
            <a:avLst/>
          </a:prstGeom>
          <a:noFill/>
          <a:ln/>
        </p:spPr>
        <p:txBody>
          <a:bodyPr wrap="square" lIns="0" tIns="0" rIns="0" bIns="0" rtlCol="0" anchor="ctr"/>
          <a:lstStyle/>
          <a:p>
            <a:pPr indent="0" marL="0">
              <a:buNone/>
            </a:pPr>
            <a:r>
              <a:rPr lang="en-US" sz="1400" b="1" dirty="0">
                <a:solidFill>
                  <a:srgbClr val="1F3864"/>
                </a:solidFill>
              </a:rPr>
              <a:t>Why we look at it</a:t>
            </a:r>
            <a:endParaRPr lang="en-US" sz="1400" dirty="0"/>
          </a:p>
        </p:txBody>
      </p:sp>
      <p:sp>
        <p:nvSpPr>
          <p:cNvPr id="7" name="Text 4"/>
          <p:cNvSpPr/>
          <p:nvPr/>
        </p:nvSpPr>
        <p:spPr>
          <a:xfrm>
            <a:off x="7635240" y="4709160"/>
            <a:ext cx="3886200" cy="1371600"/>
          </a:xfrm>
          <a:prstGeom prst="rect">
            <a:avLst/>
          </a:prstGeom>
          <a:noFill/>
          <a:ln/>
        </p:spPr>
        <p:txBody>
          <a:bodyPr wrap="square" lIns="0" tIns="0" rIns="0" bIns="0" rtlCol="0" anchor="ctr"/>
          <a:lstStyle/>
          <a:p>
            <a:pPr indent="0" marL="0">
              <a:buNone/>
            </a:pPr>
            <a:r>
              <a:rPr lang="en-US" sz="1300" dirty="0">
                <a:solidFill>
                  <a:srgbClr val="666666"/>
                </a:solidFill>
              </a:rPr>
              <a:t>We show typical and worst case, not the average. An average hides the slow runs, and those are the ones users notice and complain about.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881360" cy="640080"/>
          </a:xfrm>
          <a:prstGeom prst="rect">
            <a:avLst/>
          </a:prstGeom>
          <a:noFill/>
          <a:ln/>
        </p:spPr>
        <p:txBody>
          <a:bodyPr wrap="square" lIns="0" tIns="0" rIns="0" bIns="0" rtlCol="0" anchor="ctr"/>
          <a:lstStyle/>
          <a:p>
            <a:pPr indent="0" marL="0">
              <a:buNone/>
            </a:pPr>
            <a:r>
              <a:rPr lang="en-US" sz="2800" b="1" dirty="0">
                <a:solidFill>
                  <a:srgbClr val="1F3864"/>
                </a:solidFill>
              </a:rPr>
              <a:t>Time per shard: v6</a:t>
            </a:r>
            <a:endParaRPr lang="en-US" sz="2800" dirty="0"/>
          </a:p>
        </p:txBody>
      </p:sp>
      <p:graphicFrame>
        <p:nvGraphicFramePr>
          <p:cNvPr id="3" name="Chart 0" descr=""/>
          <p:cNvGraphicFramePr/>
          <p:nvPr/>
        </p:nvGraphicFramePr>
        <p:xfrm>
          <a:off x="640080" y="1143000"/>
          <a:ext cx="658368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7635240" y="1188720"/>
            <a:ext cx="3886200" cy="292608"/>
          </a:xfrm>
          <a:prstGeom prst="rect">
            <a:avLst/>
          </a:prstGeom>
          <a:noFill/>
          <a:ln/>
        </p:spPr>
        <p:txBody>
          <a:bodyPr wrap="square" lIns="0" tIns="0" rIns="0" bIns="0" rtlCol="0" anchor="ctr"/>
          <a:lstStyle/>
          <a:p>
            <a:pPr indent="0" marL="0">
              <a:buNone/>
            </a:pPr>
            <a:r>
              <a:rPr lang="en-US" sz="1400" b="1" dirty="0">
                <a:solidFill>
                  <a:srgbClr val="1F3864"/>
                </a:solidFill>
              </a:rPr>
              <a:t>What it shows</a:t>
            </a:r>
            <a:endParaRPr lang="en-US" sz="1400" dirty="0"/>
          </a:p>
        </p:txBody>
      </p:sp>
      <p:sp>
        <p:nvSpPr>
          <p:cNvPr id="5" name="Text 2"/>
          <p:cNvSpPr/>
          <p:nvPr/>
        </p:nvSpPr>
        <p:spPr>
          <a:xfrm>
            <a:off x="7635240" y="1572768"/>
            <a:ext cx="3886200" cy="26517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22222"/>
                </a:solidFill>
              </a:rPr>
              <a:t>Every shard finishes close to the 623 ms average</a:t>
            </a:r>
            <a:endParaRPr lang="en-US" sz="1300" dirty="0"/>
          </a:p>
          <a:p>
            <a:pPr marL="342900" indent="-342900">
              <a:spcAft>
                <a:spcPts val="1000"/>
              </a:spcAft>
              <a:buSzPct val="100000"/>
              <a:buChar char="•"/>
            </a:pPr>
            <a:r>
              <a:rPr lang="en-US" sz="1300" dirty="0">
                <a:solidFill>
                  <a:srgbClr val="222222"/>
                </a:solidFill>
              </a:rPr>
              <a:t>Fastest 579 ms, slowest 716 ms, a gap of only 1.24 times</a:t>
            </a:r>
            <a:endParaRPr lang="en-US" sz="1300" dirty="0"/>
          </a:p>
          <a:p>
            <a:pPr marL="342900" indent="-342900">
              <a:spcAft>
                <a:spcPts val="1000"/>
              </a:spcAft>
              <a:buSzPct val="100000"/>
              <a:buChar char="•"/>
            </a:pPr>
            <a:r>
              <a:rPr lang="en-US" sz="1300" dirty="0">
                <a:solidFill>
                  <a:srgbClr val="222222"/>
                </a:solidFill>
              </a:rPr>
              <a:t>No single shard is holding up the search</a:t>
            </a:r>
            <a:endParaRPr lang="en-US" sz="1300" dirty="0"/>
          </a:p>
        </p:txBody>
      </p:sp>
      <p:sp>
        <p:nvSpPr>
          <p:cNvPr id="6" name="Text 3"/>
          <p:cNvSpPr/>
          <p:nvPr/>
        </p:nvSpPr>
        <p:spPr>
          <a:xfrm>
            <a:off x="7635240" y="4343400"/>
            <a:ext cx="3886200" cy="292608"/>
          </a:xfrm>
          <a:prstGeom prst="rect">
            <a:avLst/>
          </a:prstGeom>
          <a:noFill/>
          <a:ln/>
        </p:spPr>
        <p:txBody>
          <a:bodyPr wrap="square" lIns="0" tIns="0" rIns="0" bIns="0" rtlCol="0" anchor="ctr"/>
          <a:lstStyle/>
          <a:p>
            <a:pPr indent="0" marL="0">
              <a:buNone/>
            </a:pPr>
            <a:r>
              <a:rPr lang="en-US" sz="1400" b="1" dirty="0">
                <a:solidFill>
                  <a:srgbClr val="1F3864"/>
                </a:solidFill>
              </a:rPr>
              <a:t>Why we look at it</a:t>
            </a:r>
            <a:endParaRPr lang="en-US" sz="1400" dirty="0"/>
          </a:p>
        </p:txBody>
      </p:sp>
      <p:sp>
        <p:nvSpPr>
          <p:cNvPr id="7" name="Text 4"/>
          <p:cNvSpPr/>
          <p:nvPr/>
        </p:nvSpPr>
        <p:spPr>
          <a:xfrm>
            <a:off x="7635240" y="4709160"/>
            <a:ext cx="3886200" cy="1371600"/>
          </a:xfrm>
          <a:prstGeom prst="rect">
            <a:avLst/>
          </a:prstGeom>
          <a:noFill/>
          <a:ln/>
        </p:spPr>
        <p:txBody>
          <a:bodyPr wrap="square" lIns="0" tIns="0" rIns="0" bIns="0" rtlCol="0" anchor="ctr"/>
          <a:lstStyle/>
          <a:p>
            <a:pPr indent="0" marL="0">
              <a:buNone/>
            </a:pPr>
            <a:r>
              <a:rPr lang="en-US" sz="1300" dirty="0">
                <a:solidFill>
                  <a:srgbClr val="666666"/>
                </a:solidFill>
              </a:rPr>
              <a:t>A search runs on all 21 shards at the same time and cannot finish until the slowest one is done. Even bars mean the work is balanced and the response time is predictable.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881360" cy="640080"/>
          </a:xfrm>
          <a:prstGeom prst="rect">
            <a:avLst/>
          </a:prstGeom>
          <a:noFill/>
          <a:ln/>
        </p:spPr>
        <p:txBody>
          <a:bodyPr wrap="square" lIns="0" tIns="0" rIns="0" bIns="0" rtlCol="0" anchor="ctr"/>
          <a:lstStyle/>
          <a:p>
            <a:pPr indent="0" marL="0">
              <a:buNone/>
            </a:pPr>
            <a:r>
              <a:rPr lang="en-US" sz="2800" b="1" dirty="0">
                <a:solidFill>
                  <a:srgbClr val="1F3864"/>
                </a:solidFill>
              </a:rPr>
              <a:t>Time per shard: v7</a:t>
            </a:r>
            <a:endParaRPr lang="en-US" sz="2800" dirty="0"/>
          </a:p>
        </p:txBody>
      </p:sp>
      <p:graphicFrame>
        <p:nvGraphicFramePr>
          <p:cNvPr id="3" name="Chart 0" descr=""/>
          <p:cNvGraphicFramePr/>
          <p:nvPr/>
        </p:nvGraphicFramePr>
        <p:xfrm>
          <a:off x="640080" y="1143000"/>
          <a:ext cx="658368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7635240" y="1188720"/>
            <a:ext cx="3886200" cy="292608"/>
          </a:xfrm>
          <a:prstGeom prst="rect">
            <a:avLst/>
          </a:prstGeom>
          <a:noFill/>
          <a:ln/>
        </p:spPr>
        <p:txBody>
          <a:bodyPr wrap="square" lIns="0" tIns="0" rIns="0" bIns="0" rtlCol="0" anchor="ctr"/>
          <a:lstStyle/>
          <a:p>
            <a:pPr indent="0" marL="0">
              <a:buNone/>
            </a:pPr>
            <a:r>
              <a:rPr lang="en-US" sz="1400" b="1" dirty="0">
                <a:solidFill>
                  <a:srgbClr val="1F3864"/>
                </a:solidFill>
              </a:rPr>
              <a:t>What it shows</a:t>
            </a:r>
            <a:endParaRPr lang="en-US" sz="1400" dirty="0"/>
          </a:p>
        </p:txBody>
      </p:sp>
      <p:sp>
        <p:nvSpPr>
          <p:cNvPr id="5" name="Text 2"/>
          <p:cNvSpPr/>
          <p:nvPr/>
        </p:nvSpPr>
        <p:spPr>
          <a:xfrm>
            <a:off x="7635240" y="1572768"/>
            <a:ext cx="3886200" cy="26517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22222"/>
                </a:solidFill>
              </a:rPr>
              <a:t>Most shards finish near 300 ms, average 315 ms</a:t>
            </a:r>
            <a:endParaRPr lang="en-US" sz="1300" dirty="0"/>
          </a:p>
          <a:p>
            <a:pPr marL="342900" indent="-342900">
              <a:spcAft>
                <a:spcPts val="1000"/>
              </a:spcAft>
              <a:buSzPct val="100000"/>
              <a:buChar char="•"/>
            </a:pPr>
            <a:r>
              <a:rPr lang="en-US" sz="1300" dirty="0">
                <a:solidFill>
                  <a:srgbClr val="222222"/>
                </a:solidFill>
              </a:rPr>
              <a:t>One shard takes 570 ms, a gap of 2.34 times</a:t>
            </a:r>
            <a:endParaRPr lang="en-US" sz="1300" dirty="0"/>
          </a:p>
          <a:p>
            <a:pPr marL="342900" indent="-342900">
              <a:spcAft>
                <a:spcPts val="1000"/>
              </a:spcAft>
              <a:buSzPct val="100000"/>
              <a:buChar char="•"/>
            </a:pPr>
            <a:r>
              <a:rPr lang="en-US" sz="1300" dirty="0">
                <a:solidFill>
                  <a:srgbClr val="222222"/>
                </a:solidFill>
              </a:rPr>
              <a:t>That one shard sets the speed of the whole search</a:t>
            </a:r>
            <a:endParaRPr lang="en-US" sz="1300" dirty="0"/>
          </a:p>
        </p:txBody>
      </p:sp>
      <p:sp>
        <p:nvSpPr>
          <p:cNvPr id="6" name="Text 3"/>
          <p:cNvSpPr/>
          <p:nvPr/>
        </p:nvSpPr>
        <p:spPr>
          <a:xfrm>
            <a:off x="7635240" y="4343400"/>
            <a:ext cx="3886200" cy="292608"/>
          </a:xfrm>
          <a:prstGeom prst="rect">
            <a:avLst/>
          </a:prstGeom>
          <a:noFill/>
          <a:ln/>
        </p:spPr>
        <p:txBody>
          <a:bodyPr wrap="square" lIns="0" tIns="0" rIns="0" bIns="0" rtlCol="0" anchor="ctr"/>
          <a:lstStyle/>
          <a:p>
            <a:pPr indent="0" marL="0">
              <a:buNone/>
            </a:pPr>
            <a:r>
              <a:rPr lang="en-US" sz="1400" b="1" dirty="0">
                <a:solidFill>
                  <a:srgbClr val="1F3864"/>
                </a:solidFill>
              </a:rPr>
              <a:t>Why we look at it</a:t>
            </a:r>
            <a:endParaRPr lang="en-US" sz="1400" dirty="0"/>
          </a:p>
        </p:txBody>
      </p:sp>
      <p:sp>
        <p:nvSpPr>
          <p:cNvPr id="7" name="Text 4"/>
          <p:cNvSpPr/>
          <p:nvPr/>
        </p:nvSpPr>
        <p:spPr>
          <a:xfrm>
            <a:off x="7635240" y="4709160"/>
            <a:ext cx="3886200" cy="1371600"/>
          </a:xfrm>
          <a:prstGeom prst="rect">
            <a:avLst/>
          </a:prstGeom>
          <a:noFill/>
          <a:ln/>
        </p:spPr>
        <p:txBody>
          <a:bodyPr wrap="square" lIns="0" tIns="0" rIns="0" bIns="0" rtlCol="0" anchor="ctr"/>
          <a:lstStyle/>
          <a:p>
            <a:pPr indent="0" marL="0">
              <a:buNone/>
            </a:pPr>
            <a:r>
              <a:rPr lang="en-US" sz="1300" dirty="0">
                <a:solidFill>
                  <a:srgbClr val="666666"/>
                </a:solidFill>
              </a:rPr>
              <a:t>Same chart as the previous slide, drawn on the same scale so the two can be compared directly. The tall red bar is where v7 loses time it does not need to lose.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881360" cy="640080"/>
          </a:xfrm>
          <a:prstGeom prst="rect">
            <a:avLst/>
          </a:prstGeom>
          <a:noFill/>
          <a:ln/>
        </p:spPr>
        <p:txBody>
          <a:bodyPr wrap="square" lIns="0" tIns="0" rIns="0" bIns="0" rtlCol="0" anchor="ctr"/>
          <a:lstStyle/>
          <a:p>
            <a:pPr indent="0" marL="0">
              <a:buNone/>
            </a:pPr>
            <a:r>
              <a:rPr lang="en-US" sz="2800" b="1" dirty="0">
                <a:solidFill>
                  <a:srgbClr val="1F3864"/>
                </a:solidFill>
              </a:rPr>
              <a:t>Time by query part</a:t>
            </a:r>
            <a:endParaRPr lang="en-US" sz="2800" dirty="0"/>
          </a:p>
        </p:txBody>
      </p:sp>
      <p:graphicFrame>
        <p:nvGraphicFramePr>
          <p:cNvPr id="3" name="Chart 0" descr=""/>
          <p:cNvGraphicFramePr/>
          <p:nvPr/>
        </p:nvGraphicFramePr>
        <p:xfrm>
          <a:off x="640080" y="1143000"/>
          <a:ext cx="658368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7635240" y="1188720"/>
            <a:ext cx="3886200" cy="292608"/>
          </a:xfrm>
          <a:prstGeom prst="rect">
            <a:avLst/>
          </a:prstGeom>
          <a:noFill/>
          <a:ln/>
        </p:spPr>
        <p:txBody>
          <a:bodyPr wrap="square" lIns="0" tIns="0" rIns="0" bIns="0" rtlCol="0" anchor="ctr"/>
          <a:lstStyle/>
          <a:p>
            <a:pPr indent="0" marL="0">
              <a:buNone/>
            </a:pPr>
            <a:r>
              <a:rPr lang="en-US" sz="1400" b="1" dirty="0">
                <a:solidFill>
                  <a:srgbClr val="1F3864"/>
                </a:solidFill>
              </a:rPr>
              <a:t>What it shows</a:t>
            </a:r>
            <a:endParaRPr lang="en-US" sz="1400" dirty="0"/>
          </a:p>
        </p:txBody>
      </p:sp>
      <p:sp>
        <p:nvSpPr>
          <p:cNvPr id="5" name="Text 2"/>
          <p:cNvSpPr/>
          <p:nvPr/>
        </p:nvSpPr>
        <p:spPr>
          <a:xfrm>
            <a:off x="7635240" y="1572768"/>
            <a:ext cx="3886200" cy="26517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22222"/>
                </a:solidFill>
              </a:rPr>
              <a:t>Looking up names and IDs is the main cost in both, about 3,580 ms</a:t>
            </a:r>
            <a:endParaRPr lang="en-US" sz="1300" dirty="0"/>
          </a:p>
          <a:p>
            <a:pPr marL="342900" indent="-342900">
              <a:spcAft>
                <a:spcPts val="1000"/>
              </a:spcAft>
              <a:buSzPct val="100000"/>
              <a:buChar char="•"/>
            </a:pPr>
            <a:r>
              <a:rPr lang="en-US" sz="1300" dirty="0">
                <a:solidFill>
                  <a:srgbClr val="222222"/>
                </a:solidFill>
              </a:rPr>
              <a:t>Prefix and fuzzy clauses are the smallest part, 295 ms and 62 ms</a:t>
            </a:r>
            <a:endParaRPr lang="en-US" sz="1300" dirty="0"/>
          </a:p>
          <a:p>
            <a:pPr marL="342900" indent="-342900">
              <a:spcAft>
                <a:spcPts val="1000"/>
              </a:spcAft>
              <a:buSzPct val="100000"/>
              <a:buChar char="•"/>
            </a:pPr>
            <a:r>
              <a:rPr lang="en-US" sz="1300" dirty="0">
                <a:solidFill>
                  <a:srgbClr val="222222"/>
                </a:solidFill>
              </a:rPr>
              <a:t>The two queries cost almost the same to run</a:t>
            </a:r>
            <a:endParaRPr lang="en-US" sz="1300" dirty="0"/>
          </a:p>
        </p:txBody>
      </p:sp>
      <p:sp>
        <p:nvSpPr>
          <p:cNvPr id="6" name="Text 3"/>
          <p:cNvSpPr/>
          <p:nvPr/>
        </p:nvSpPr>
        <p:spPr>
          <a:xfrm>
            <a:off x="7635240" y="4343400"/>
            <a:ext cx="3886200" cy="292608"/>
          </a:xfrm>
          <a:prstGeom prst="rect">
            <a:avLst/>
          </a:prstGeom>
          <a:noFill/>
          <a:ln/>
        </p:spPr>
        <p:txBody>
          <a:bodyPr wrap="square" lIns="0" tIns="0" rIns="0" bIns="0" rtlCol="0" anchor="ctr"/>
          <a:lstStyle/>
          <a:p>
            <a:pPr indent="0" marL="0">
              <a:buNone/>
            </a:pPr>
            <a:r>
              <a:rPr lang="en-US" sz="1400" b="1" dirty="0">
                <a:solidFill>
                  <a:srgbClr val="1F3864"/>
                </a:solidFill>
              </a:rPr>
              <a:t>Why we look at it</a:t>
            </a:r>
            <a:endParaRPr lang="en-US" sz="1400" dirty="0"/>
          </a:p>
        </p:txBody>
      </p:sp>
      <p:sp>
        <p:nvSpPr>
          <p:cNvPr id="7" name="Text 4"/>
          <p:cNvSpPr/>
          <p:nvPr/>
        </p:nvSpPr>
        <p:spPr>
          <a:xfrm>
            <a:off x="7635240" y="4709160"/>
            <a:ext cx="3886200" cy="1371600"/>
          </a:xfrm>
          <a:prstGeom prst="rect">
            <a:avLst/>
          </a:prstGeom>
          <a:noFill/>
          <a:ln/>
        </p:spPr>
        <p:txBody>
          <a:bodyPr wrap="square" lIns="0" tIns="0" rIns="0" bIns="0" rtlCol="0" anchor="ctr"/>
          <a:lstStyle/>
          <a:p>
            <a:pPr indent="0" marL="0">
              <a:buNone/>
            </a:pPr>
            <a:r>
              <a:rPr lang="en-US" sz="1300" dirty="0">
                <a:solidFill>
                  <a:srgbClr val="666666"/>
                </a:solidFill>
              </a:rPr>
              <a:t>We expected prefix and fuzzy matching to be the expensive part. This chart shows it is not, so the extra time in v6 comes from handling more matched records, not from the clauses themselves.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881360" cy="640080"/>
          </a:xfrm>
          <a:prstGeom prst="rect">
            <a:avLst/>
          </a:prstGeom>
          <a:noFill/>
          <a:ln/>
        </p:spPr>
        <p:txBody>
          <a:bodyPr wrap="square" lIns="0" tIns="0" rIns="0" bIns="0" rtlCol="0" anchor="ctr"/>
          <a:lstStyle/>
          <a:p>
            <a:pPr indent="0" marL="0">
              <a:buNone/>
            </a:pPr>
            <a:r>
              <a:rPr lang="en-US" sz="2800" b="1" dirty="0">
                <a:solidFill>
                  <a:srgbClr val="1F3864"/>
                </a:solidFill>
              </a:rPr>
              <a:t>Consistency across 20 runs</a:t>
            </a:r>
            <a:endParaRPr lang="en-US" sz="2800" dirty="0"/>
          </a:p>
        </p:txBody>
      </p:sp>
      <p:graphicFrame>
        <p:nvGraphicFramePr>
          <p:cNvPr id="3" name="Chart 0" descr=""/>
          <p:cNvGraphicFramePr/>
          <p:nvPr/>
        </p:nvGraphicFramePr>
        <p:xfrm>
          <a:off x="640080" y="1143000"/>
          <a:ext cx="658368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7635240" y="1188720"/>
            <a:ext cx="3886200" cy="292608"/>
          </a:xfrm>
          <a:prstGeom prst="rect">
            <a:avLst/>
          </a:prstGeom>
          <a:noFill/>
          <a:ln/>
        </p:spPr>
        <p:txBody>
          <a:bodyPr wrap="square" lIns="0" tIns="0" rIns="0" bIns="0" rtlCol="0" anchor="ctr"/>
          <a:lstStyle/>
          <a:p>
            <a:pPr indent="0" marL="0">
              <a:buNone/>
            </a:pPr>
            <a:r>
              <a:rPr lang="en-US" sz="1400" b="1" dirty="0">
                <a:solidFill>
                  <a:srgbClr val="1F3864"/>
                </a:solidFill>
              </a:rPr>
              <a:t>What it shows</a:t>
            </a:r>
            <a:endParaRPr lang="en-US" sz="1400" dirty="0"/>
          </a:p>
        </p:txBody>
      </p:sp>
      <p:sp>
        <p:nvSpPr>
          <p:cNvPr id="5" name="Text 2"/>
          <p:cNvSpPr/>
          <p:nvPr/>
        </p:nvSpPr>
        <p:spPr>
          <a:xfrm>
            <a:off x="7635240" y="1572768"/>
            <a:ext cx="3886200" cy="26517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22222"/>
                </a:solidFill>
              </a:rPr>
              <a:t>v7 was faster on all 20 runs, not just on average</a:t>
            </a:r>
            <a:endParaRPr lang="en-US" sz="1300" dirty="0"/>
          </a:p>
          <a:p>
            <a:pPr marL="342900" indent="-342900">
              <a:spcAft>
                <a:spcPts val="1000"/>
              </a:spcAft>
              <a:buSzPct val="100000"/>
              <a:buChar char="•"/>
            </a:pPr>
            <a:r>
              <a:rPr lang="en-US" sz="1300" dirty="0">
                <a:solidFill>
                  <a:srgbClr val="222222"/>
                </a:solidFill>
              </a:rPr>
              <a:t>Neither query had spikes or drift</a:t>
            </a:r>
            <a:endParaRPr lang="en-US" sz="1300" dirty="0"/>
          </a:p>
          <a:p>
            <a:pPr marL="342900" indent="-342900">
              <a:spcAft>
                <a:spcPts val="1000"/>
              </a:spcAft>
              <a:buSzPct val="100000"/>
              <a:buChar char="•"/>
            </a:pPr>
            <a:r>
              <a:rPr lang="en-US" sz="1300" dirty="0">
                <a:solidFill>
                  <a:srgbClr val="222222"/>
                </a:solidFill>
              </a:rPr>
              <a:t>Earlier tests showed 2,500 ms for these same queries</a:t>
            </a:r>
            <a:endParaRPr lang="en-US" sz="1300" dirty="0"/>
          </a:p>
        </p:txBody>
      </p:sp>
      <p:sp>
        <p:nvSpPr>
          <p:cNvPr id="6" name="Text 3"/>
          <p:cNvSpPr/>
          <p:nvPr/>
        </p:nvSpPr>
        <p:spPr>
          <a:xfrm>
            <a:off x="7635240" y="4343400"/>
            <a:ext cx="3886200" cy="292608"/>
          </a:xfrm>
          <a:prstGeom prst="rect">
            <a:avLst/>
          </a:prstGeom>
          <a:noFill/>
          <a:ln/>
        </p:spPr>
        <p:txBody>
          <a:bodyPr wrap="square" lIns="0" tIns="0" rIns="0" bIns="0" rtlCol="0" anchor="ctr"/>
          <a:lstStyle/>
          <a:p>
            <a:pPr indent="0" marL="0">
              <a:buNone/>
            </a:pPr>
            <a:r>
              <a:rPr lang="en-US" sz="1400" b="1" dirty="0">
                <a:solidFill>
                  <a:srgbClr val="1F3864"/>
                </a:solidFill>
              </a:rPr>
              <a:t>Why we look at it</a:t>
            </a:r>
            <a:endParaRPr lang="en-US" sz="1400" dirty="0"/>
          </a:p>
        </p:txBody>
      </p:sp>
      <p:sp>
        <p:nvSpPr>
          <p:cNvPr id="7" name="Text 4"/>
          <p:cNvSpPr/>
          <p:nvPr/>
        </p:nvSpPr>
        <p:spPr>
          <a:xfrm>
            <a:off x="7635240" y="4709160"/>
            <a:ext cx="3886200" cy="1371600"/>
          </a:xfrm>
          <a:prstGeom prst="rect">
            <a:avLst/>
          </a:prstGeom>
          <a:noFill/>
          <a:ln/>
        </p:spPr>
        <p:txBody>
          <a:bodyPr wrap="square" lIns="0" tIns="0" rIns="0" bIns="0" rtlCol="0" anchor="ctr"/>
          <a:lstStyle/>
          <a:p>
            <a:pPr indent="0" marL="0">
              <a:buNone/>
            </a:pPr>
            <a:r>
              <a:rPr lang="en-US" sz="1300" dirty="0">
                <a:solidFill>
                  <a:srgbClr val="666666"/>
                </a:solidFill>
              </a:rPr>
              <a:t>One run proves nothing on a shared cluster. Running 20 times shows whether a result is real or just a busy moment. It also tells us the earlier 2,500 ms results were cluster load, not the query.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881360" cy="640080"/>
          </a:xfrm>
          <a:prstGeom prst="rect">
            <a:avLst/>
          </a:prstGeom>
          <a:noFill/>
          <a:ln/>
        </p:spPr>
        <p:txBody>
          <a:bodyPr wrap="square" lIns="0" tIns="0" rIns="0" bIns="0" rtlCol="0" anchor="ctr"/>
          <a:lstStyle/>
          <a:p>
            <a:pPr indent="0" marL="0">
              <a:buNone/>
            </a:pPr>
            <a:r>
              <a:rPr lang="en-US" sz="2800" b="1" dirty="0">
                <a:solidFill>
                  <a:srgbClr val="1F3864"/>
                </a:solidFill>
              </a:rPr>
              <a:t>Documents per shard</a:t>
            </a:r>
            <a:endParaRPr lang="en-US" sz="2800" dirty="0"/>
          </a:p>
        </p:txBody>
      </p:sp>
      <p:graphicFrame>
        <p:nvGraphicFramePr>
          <p:cNvPr id="3" name="Chart 0" descr=""/>
          <p:cNvGraphicFramePr/>
          <p:nvPr/>
        </p:nvGraphicFramePr>
        <p:xfrm>
          <a:off x="640080" y="1143000"/>
          <a:ext cx="658368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7635240" y="1188720"/>
            <a:ext cx="3886200" cy="292608"/>
          </a:xfrm>
          <a:prstGeom prst="rect">
            <a:avLst/>
          </a:prstGeom>
          <a:noFill/>
          <a:ln/>
        </p:spPr>
        <p:txBody>
          <a:bodyPr wrap="square" lIns="0" tIns="0" rIns="0" bIns="0" rtlCol="0" anchor="ctr"/>
          <a:lstStyle/>
          <a:p>
            <a:pPr indent="0" marL="0">
              <a:buNone/>
            </a:pPr>
            <a:r>
              <a:rPr lang="en-US" sz="1400" b="1" dirty="0">
                <a:solidFill>
                  <a:srgbClr val="1F3864"/>
                </a:solidFill>
              </a:rPr>
              <a:t>What it shows</a:t>
            </a:r>
            <a:endParaRPr lang="en-US" sz="1400" dirty="0"/>
          </a:p>
        </p:txBody>
      </p:sp>
      <p:sp>
        <p:nvSpPr>
          <p:cNvPr id="5" name="Text 2"/>
          <p:cNvSpPr/>
          <p:nvPr/>
        </p:nvSpPr>
        <p:spPr>
          <a:xfrm>
            <a:off x="7635240" y="1572768"/>
            <a:ext cx="3886200" cy="26517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22222"/>
                </a:solidFill>
              </a:rPr>
              <a:t>21 shards holding 143.9 million documents in total</a:t>
            </a:r>
            <a:endParaRPr lang="en-US" sz="1300" dirty="0"/>
          </a:p>
          <a:p>
            <a:pPr marL="342900" indent="-342900">
              <a:spcAft>
                <a:spcPts val="1000"/>
              </a:spcAft>
              <a:buSzPct val="100000"/>
              <a:buChar char="•"/>
            </a:pPr>
            <a:r>
              <a:rPr lang="en-US" sz="1300" dirty="0">
                <a:solidFill>
                  <a:srgbClr val="222222"/>
                </a:solidFill>
              </a:rPr>
              <a:t>Every shard holds about 6.85 million documents</a:t>
            </a:r>
            <a:endParaRPr lang="en-US" sz="1300" dirty="0"/>
          </a:p>
          <a:p>
            <a:pPr marL="342900" indent="-342900">
              <a:spcAft>
                <a:spcPts val="1000"/>
              </a:spcAft>
              <a:buSzPct val="100000"/>
              <a:buChar char="•"/>
            </a:pPr>
            <a:r>
              <a:rPr lang="en-US" sz="1300" dirty="0">
                <a:solidFill>
                  <a:srgbClr val="222222"/>
                </a:solidFill>
              </a:rPr>
              <a:t>Gap between biggest and smallest is only 0.10 percent</a:t>
            </a:r>
            <a:endParaRPr lang="en-US" sz="1300" dirty="0"/>
          </a:p>
        </p:txBody>
      </p:sp>
      <p:sp>
        <p:nvSpPr>
          <p:cNvPr id="6" name="Text 3"/>
          <p:cNvSpPr/>
          <p:nvPr/>
        </p:nvSpPr>
        <p:spPr>
          <a:xfrm>
            <a:off x="7635240" y="4343400"/>
            <a:ext cx="3886200" cy="292608"/>
          </a:xfrm>
          <a:prstGeom prst="rect">
            <a:avLst/>
          </a:prstGeom>
          <a:noFill/>
          <a:ln/>
        </p:spPr>
        <p:txBody>
          <a:bodyPr wrap="square" lIns="0" tIns="0" rIns="0" bIns="0" rtlCol="0" anchor="ctr"/>
          <a:lstStyle/>
          <a:p>
            <a:pPr indent="0" marL="0">
              <a:buNone/>
            </a:pPr>
            <a:r>
              <a:rPr lang="en-US" sz="1400" b="1" dirty="0">
                <a:solidFill>
                  <a:srgbClr val="1F3864"/>
                </a:solidFill>
              </a:rPr>
              <a:t>Why we look at it</a:t>
            </a:r>
            <a:endParaRPr lang="en-US" sz="1400" dirty="0"/>
          </a:p>
        </p:txBody>
      </p:sp>
      <p:sp>
        <p:nvSpPr>
          <p:cNvPr id="7" name="Text 4"/>
          <p:cNvSpPr/>
          <p:nvPr/>
        </p:nvSpPr>
        <p:spPr>
          <a:xfrm>
            <a:off x="7635240" y="4709160"/>
            <a:ext cx="3886200" cy="1371600"/>
          </a:xfrm>
          <a:prstGeom prst="rect">
            <a:avLst/>
          </a:prstGeom>
          <a:noFill/>
          <a:ln/>
        </p:spPr>
        <p:txBody>
          <a:bodyPr wrap="square" lIns="0" tIns="0" rIns="0" bIns="0" rtlCol="0" anchor="ctr"/>
          <a:lstStyle/>
          <a:p>
            <a:pPr indent="0" marL="0">
              <a:buNone/>
            </a:pPr>
            <a:r>
              <a:rPr lang="en-US" sz="1300" dirty="0">
                <a:solidFill>
                  <a:srgbClr val="666666"/>
                </a:solidFill>
              </a:rPr>
              <a:t>If one shard held far more data, that alone would explain the slow shard on the v7 chart. It does not, so the cause is either the query or a busy moment, and not the data layout.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lIns="0" tIns="0" rIns="0" bIns="0" rtlCol="0" anchor="ctr"/>
          <a:lstStyle/>
          <a:p>
            <a:pPr indent="0" marL="0">
              <a:buNone/>
            </a:pPr>
            <a:r>
              <a:rPr lang="en-US" sz="3200" b="1" dirty="0">
                <a:solidFill>
                  <a:srgbClr val="1F3864"/>
                </a:solidFill>
              </a:rPr>
              <a:t>What this means</a:t>
            </a:r>
            <a:endParaRPr lang="en-US" sz="3200" dirty="0"/>
          </a:p>
        </p:txBody>
      </p:sp>
      <p:sp>
        <p:nvSpPr>
          <p:cNvPr id="3" name="Text 1"/>
          <p:cNvSpPr/>
          <p:nvPr/>
        </p:nvSpPr>
        <p:spPr>
          <a:xfrm>
            <a:off x="640080" y="1737360"/>
            <a:ext cx="10881360" cy="3931920"/>
          </a:xfrm>
          <a:prstGeom prst="rect">
            <a:avLst/>
          </a:prstGeom>
          <a:noFill/>
          <a:ln/>
        </p:spPr>
        <p:txBody>
          <a:bodyPr wrap="square" lIns="0" tIns="0" rIns="0" bIns="0" rtlCol="0" anchor="ctr"/>
          <a:lstStyle/>
          <a:p>
            <a:pPr marL="342900" indent="-342900">
              <a:spcAft>
                <a:spcPts val="1600"/>
              </a:spcAft>
              <a:buSzPct val="100000"/>
              <a:buChar char="•"/>
            </a:pPr>
            <a:r>
              <a:rPr lang="en-US" sz="1900" dirty="0">
                <a:solidFill>
                  <a:srgbClr val="222222"/>
                </a:solidFill>
              </a:rPr>
              <a:t>Nothing is broken. The queries run correctly and the data is evenly spread</a:t>
            </a:r>
            <a:endParaRPr lang="en-US" sz="1900" dirty="0"/>
          </a:p>
          <a:p>
            <a:pPr marL="342900" indent="-342900">
              <a:spcAft>
                <a:spcPts val="1600"/>
              </a:spcAft>
              <a:buSzPct val="100000"/>
              <a:buChar char="•"/>
            </a:pPr>
            <a:r>
              <a:rPr lang="en-US" sz="1900" dirty="0">
                <a:solidFill>
                  <a:srgbClr val="222222"/>
                </a:solidFill>
              </a:rPr>
              <a:t>v7 is the better performer on both speed and consistency</a:t>
            </a:r>
            <a:endParaRPr lang="en-US" sz="1900" dirty="0"/>
          </a:p>
          <a:p>
            <a:pPr marL="342900" indent="-342900">
              <a:spcAft>
                <a:spcPts val="1600"/>
              </a:spcAft>
              <a:buSzPct val="100000"/>
              <a:buChar char="•"/>
            </a:pPr>
            <a:r>
              <a:rPr lang="en-US" sz="1900" dirty="0">
                <a:solidFill>
                  <a:srgbClr val="222222"/>
                </a:solidFill>
              </a:rPr>
              <a:t>The comparison is still not fair, because v6 is matching 3.75 times more records</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lIns="0" tIns="0" rIns="0" bIns="0" rtlCol="0" anchor="ctr"/>
          <a:lstStyle/>
          <a:p>
            <a:pPr indent="0" marL="0">
              <a:buNone/>
            </a:pPr>
            <a:r>
              <a:rPr lang="en-US" sz="3200" b="1" dirty="0">
                <a:solidFill>
                  <a:srgbClr val="1F3864"/>
                </a:solidFill>
              </a:rPr>
              <a:t>Next steps</a:t>
            </a:r>
            <a:endParaRPr lang="en-US" sz="3200" dirty="0"/>
          </a:p>
        </p:txBody>
      </p:sp>
      <p:sp>
        <p:nvSpPr>
          <p:cNvPr id="3" name="Text 1"/>
          <p:cNvSpPr/>
          <p:nvPr/>
        </p:nvSpPr>
        <p:spPr>
          <a:xfrm>
            <a:off x="640080" y="1737360"/>
            <a:ext cx="10881360" cy="3931920"/>
          </a:xfrm>
          <a:prstGeom prst="rect">
            <a:avLst/>
          </a:prstGeom>
          <a:noFill/>
          <a:ln/>
        </p:spPr>
        <p:txBody>
          <a:bodyPr wrap="square" lIns="0" tIns="0" rIns="0" bIns="0" rtlCol="0" anchor="ctr"/>
          <a:lstStyle/>
          <a:p>
            <a:pPr marL="342900" indent="-342900">
              <a:spcAft>
                <a:spcPts val="1600"/>
              </a:spcAft>
              <a:buSzPct val="100000"/>
              <a:buChar char="•"/>
            </a:pPr>
            <a:r>
              <a:rPr lang="en-US" sz="1900" dirty="0">
                <a:solidFill>
                  <a:srgbClr val="222222"/>
                </a:solidFill>
              </a:rPr>
              <a:t>Narrow the v6 query so both match a similar number of records, then compare again</a:t>
            </a:r>
            <a:endParaRPr lang="en-US" sz="1900" dirty="0"/>
          </a:p>
          <a:p>
            <a:pPr marL="342900" indent="-342900">
              <a:spcAft>
                <a:spcPts val="1600"/>
              </a:spcAft>
              <a:buSzPct val="100000"/>
              <a:buChar char="•"/>
            </a:pPr>
            <a:r>
              <a:rPr lang="en-US" sz="1900" dirty="0">
                <a:solidFill>
                  <a:srgbClr val="222222"/>
                </a:solidFill>
              </a:rPr>
              <a:t>Re-run v7 several times to see if the same shard is always the slow one</a:t>
            </a:r>
            <a:endParaRPr lang="en-US" sz="1900" dirty="0"/>
          </a:p>
          <a:p>
            <a:pPr marL="342900" indent="-342900">
              <a:spcAft>
                <a:spcPts val="1600"/>
              </a:spcAft>
              <a:buSzPct val="100000"/>
              <a:buChar char="•"/>
            </a:pPr>
            <a:r>
              <a:rPr lang="en-US" sz="1900" dirty="0">
                <a:solidFill>
                  <a:srgbClr val="222222"/>
                </a:solidFill>
              </a:rPr>
              <a:t>Move testing to staging so we stop putting load on production</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Identity Search Query Test</dc:title>
  <dc:subject>PptxGenJS Presentation</dc:subject>
  <dc:creator>Josh Smitherman</dc:creator>
  <cp:lastModifiedBy>Josh Smitherman</cp:lastModifiedBy>
  <cp:revision>1</cp:revision>
  <dcterms:created xsi:type="dcterms:W3CDTF">2026-07-23T14:18:56Z</dcterms:created>
  <dcterms:modified xsi:type="dcterms:W3CDTF">2026-07-23T14:18:56Z</dcterms:modified>
</cp:coreProperties>
</file>