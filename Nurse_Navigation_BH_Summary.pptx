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Calls</c:v>
                </c:pt>
              </c:strCache>
            </c:strRef>
          </c:tx>
          <c:spPr>
            <a:solidFill>
              <a:srgbClr val="0B2545"/>
            </a:solidFill>
            <a:effectLst/>
          </c:spPr>
          <c:invertIfNegative val="0"/>
          <c:dLbls>
            <c:numFmt formatCode="#,##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Behavioral health code entered on the call</c:v>
                  </c:pt>
                  <c:pt idx="1">
                    <c:v>Note: behavioral health was the reason for the call</c:v>
                  </c:pt>
                  <c:pt idx="2">
                    <c:v>Note: behavioral health mentioned anywhere</c:v>
                  </c:pt>
                </c:lvl>
              </c:multiLvlStrCache>
            </c:multiLvlStrRef>
          </c:cat>
          <c:val>
            <c:numRef>
              <c:f>Sheet1!$B$2:$B$4</c:f>
              <c:numCache>
                <c:formatCode>General</c:formatCode>
                <c:ptCount val="3"/>
                <c:pt idx="0">
                  <c:v>7081</c:v>
                </c:pt>
                <c:pt idx="1">
                  <c:v>9421</c:v>
                </c:pt>
                <c:pt idx="2">
                  <c:v>25065</c:v>
                </c:pt>
              </c:numCache>
            </c:numRef>
          </c:val>
        </c:ser>
        <c:dLbls>
          <c:numFmt formatCode="#,##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in val="0"/>
        </c:scaling>
        <c:delete val="0"/>
        <c:axPos val="b"/>
        <c:majorGridlines>
          <c:spPr>
            <a:ln w="1270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Calls</c:v>
                </c:pt>
              </c:strCache>
            </c:strRef>
          </c:tx>
          <c:spPr>
            <a:solidFill>
              <a:srgbClr val="028090"/>
            </a:solidFill>
            <a:effectLst/>
          </c:spPr>
          <c:invertIfNegative val="0"/>
          <c:dLbls>
            <c:numFmt formatCode="#,##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dPt>
            <c:idx val="0"/>
            <c:invertIfNegative val="0"/>
            <c:bubble3D val="0"/>
            <c:spPr>
              <a:solidFill>
                <a:srgbClr val="028090"/>
              </a:solidFill>
              <a:effectLst/>
            </c:spPr>
          </c:dPt>
          <c:dPt>
            <c:idx val="1"/>
            <c:invertIfNegative val="0"/>
            <c:bubble3D val="0"/>
            <c:spPr>
              <a:solidFill>
                <a:srgbClr val="E0A500"/>
              </a:solidFill>
              <a:effectLst/>
            </c:spPr>
          </c:dPt>
          <c:dPt>
            <c:idx val="2"/>
            <c:invertIfNegative val="0"/>
            <c:bubble3D val="0"/>
            <c:spPr>
              <a:solidFill>
                <a:srgbClr val="D1495B"/>
              </a:solidFill>
              <a:effectLst/>
            </c:spPr>
          </c:dPt>
          <c:cat>
            <c:multiLvlStrRef>
              <c:f>Sheet1!$A$2:$A$4</c:f>
              <c:multiLvlStrCache>
                <c:ptCount val="3"/>
                <c:lvl>
                  <c:pt idx="0">
                    <c:v>Model agrees: behavioral health was the reason for the call</c:v>
                  </c:pt>
                  <c:pt idx="1">
                    <c:v>Model agrees behavioral health is present, as a secondary factor</c:v>
                  </c:pt>
                  <c:pt idx="2">
                    <c:v>Model does not find behavioral health in the note</c:v>
                  </c:pt>
                </c:lvl>
              </c:multiLvlStrCache>
            </c:multiLvlStrRef>
          </c:cat>
          <c:val>
            <c:numRef>
              <c:f>Sheet1!$B$2:$B$4</c:f>
              <c:numCache>
                <c:formatCode>General</c:formatCode>
                <c:ptCount val="3"/>
                <c:pt idx="0">
                  <c:v>6340</c:v>
                </c:pt>
                <c:pt idx="1">
                  <c:v>500</c:v>
                </c:pt>
                <c:pt idx="2">
                  <c:v>241</c:v>
                </c:pt>
              </c:numCache>
            </c:numRef>
          </c:val>
        </c:ser>
        <c:dLbls>
          <c:numFmt formatCode="#,##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in val="0"/>
        </c:scaling>
        <c:delete val="0"/>
        <c:axPos val="b"/>
        <c:majorGridlines>
          <c:spPr>
            <a:ln w="1270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Calls</c:v>
                </c:pt>
              </c:strCache>
            </c:strRef>
          </c:tx>
          <c:spPr>
            <a:solidFill>
              <a:srgbClr val="028090"/>
            </a:solidFill>
            <a:effectLst/>
          </c:spPr>
          <c:invertIfNegative val="0"/>
          <c:dLbls>
            <c:numFmt formatCode="#,##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dPt>
            <c:idx val="0"/>
            <c:invertIfNegative val="0"/>
            <c:bubble3D val="0"/>
            <c:spPr>
              <a:solidFill>
                <a:srgbClr val="028090"/>
              </a:solidFill>
              <a:effectLst/>
            </c:spPr>
          </c:dPt>
          <c:dPt>
            <c:idx val="1"/>
            <c:invertIfNegative val="0"/>
            <c:bubble3D val="0"/>
            <c:spPr>
              <a:solidFill>
                <a:srgbClr val="E0A500"/>
              </a:solidFill>
              <a:effectLst/>
            </c:spPr>
          </c:dPt>
          <c:cat>
            <c:multiLvlStrRef>
              <c:f>Sheet1!$A$2:$A$3</c:f>
              <c:multiLvlStrCache>
                <c:ptCount val="2"/>
                <c:lvl>
                  <c:pt idx="0">
                    <c:v>Also carries a behavioral health code</c:v>
                  </c:pt>
                  <c:pt idx="1">
                    <c:v>No behavioral health code entered</c:v>
                  </c:pt>
                </c:lvl>
              </c:multiLvlStrCache>
            </c:multiLvlStrRef>
          </c:cat>
          <c:val>
            <c:numRef>
              <c:f>Sheet1!$B$2:$B$3</c:f>
              <c:numCache>
                <c:formatCode>General</c:formatCode>
                <c:ptCount val="2"/>
                <c:pt idx="0">
                  <c:v>6340</c:v>
                </c:pt>
                <c:pt idx="1">
                  <c:v>3081</c:v>
                </c:pt>
              </c:numCache>
            </c:numRef>
          </c:val>
        </c:ser>
        <c:dLbls>
          <c:numFmt formatCode="#,##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in val="0"/>
        </c:scaling>
        <c:delete val="0"/>
        <c:axPos val="b"/>
        <c:majorGridlines>
          <c:spPr>
            <a:ln w="1270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Calls</c:v>
                </c:pt>
              </c:strCache>
            </c:strRef>
          </c:tx>
          <c:spPr>
            <a:solidFill>
              <a:srgbClr val="0B2545"/>
            </a:solidFill>
            <a:effectLst/>
          </c:spPr>
          <c:invertIfNegative val="0"/>
          <c:dLbls>
            <c:numFmt formatCode="#,##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Behavioral health code entered</c:v>
                  </c:pt>
                  <c:pt idx="1">
                    <c:v>Note: behavioral health was the reason for the call</c:v>
                  </c:pt>
                  <c:pt idx="2">
                    <c:v>Note: behavioral health mentioned anywhere</c:v>
                  </c:pt>
                </c:lvl>
              </c:multiLvlStrCache>
            </c:multiLvlStrRef>
          </c:cat>
          <c:val>
            <c:numRef>
              <c:f>Sheet1!$B$2:$B$4</c:f>
              <c:numCache>
                <c:formatCode>General</c:formatCode>
                <c:ptCount val="3"/>
                <c:pt idx="0">
                  <c:v>2677</c:v>
                </c:pt>
                <c:pt idx="1">
                  <c:v>3235</c:v>
                </c:pt>
                <c:pt idx="2">
                  <c:v>5716</c:v>
                </c:pt>
              </c:numCache>
            </c:numRef>
          </c:val>
        </c:ser>
        <c:dLbls>
          <c:numFmt formatCode="#,##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in val="0"/>
        </c:scaling>
        <c:delete val="0"/>
        <c:axPos val="b"/>
        <c:majorGridlines>
          <c:spPr>
            <a:ln w="1270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Calls</c:v>
                </c:pt>
              </c:strCache>
            </c:strRef>
          </c:tx>
          <c:spPr>
            <a:solidFill>
              <a:srgbClr val="0B2545"/>
            </a:solidFill>
            <a:effectLst/>
          </c:spPr>
          <c:invertIfNegative val="0"/>
          <c:dLbls>
            <c:numFmt formatCode="#,##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dPt>
            <c:idx val="0"/>
            <c:invertIfNegative val="0"/>
            <c:bubble3D val="0"/>
            <c:spPr>
              <a:solidFill>
                <a:srgbClr val="0B2545"/>
              </a:solidFill>
              <a:effectLst/>
            </c:spPr>
          </c:dPt>
          <c:dPt>
            <c:idx val="1"/>
            <c:invertIfNegative val="0"/>
            <c:bubble3D val="0"/>
            <c:spPr>
              <a:solidFill>
                <a:srgbClr val="E0A500"/>
              </a:solidFill>
              <a:effectLst/>
            </c:spPr>
          </c:dPt>
          <c:dPt>
            <c:idx val="2"/>
            <c:invertIfNegative val="0"/>
            <c:bubble3D val="0"/>
            <c:spPr>
              <a:solidFill>
                <a:srgbClr val="028090"/>
              </a:solidFill>
              <a:effectLst/>
            </c:spPr>
          </c:dPt>
          <c:cat>
            <c:multiLvlStrRef>
              <c:f>Sheet1!$A$2:$A$4</c:f>
              <c:multiLvlStrCache>
                <c:ptCount val="3"/>
                <c:lvl>
                  <c:pt idx="0">
                    <c:v>Code entered, note agrees it was the reason for the call</c:v>
                  </c:pt>
                  <c:pt idx="1">
                    <c:v>No code entered, note says it was the reason for the call</c:v>
                  </c:pt>
                  <c:pt idx="2">
                    <c:v>Note says behavioral health was the reason for the call</c:v>
                  </c:pt>
                </c:lvl>
              </c:multiLvlStrCache>
            </c:multiLvlStrRef>
          </c:cat>
          <c:val>
            <c:numRef>
              <c:f>Sheet1!$B$2:$B$4</c:f>
              <c:numCache>
                <c:formatCode>General</c:formatCode>
                <c:ptCount val="3"/>
                <c:pt idx="0">
                  <c:v>2486</c:v>
                </c:pt>
                <c:pt idx="1">
                  <c:v>749</c:v>
                </c:pt>
                <c:pt idx="2">
                  <c:v>3235</c:v>
                </c:pt>
              </c:numCache>
            </c:numRef>
          </c:val>
        </c:ser>
        <c:dLbls>
          <c:numFmt formatCode="#,##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in val="0"/>
        </c:scaling>
        <c:delete val="0"/>
        <c:axPos val="b"/>
        <c:majorGridlines>
          <c:spPr>
            <a:ln w="1270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Calls</c:v>
                </c:pt>
              </c:strCache>
            </c:strRef>
          </c:tx>
          <c:spPr>
            <a:solidFill>
              <a:srgbClr val="028090"/>
            </a:solidFill>
            <a:effectLst/>
          </c:spPr>
          <c:invertIfNegative val="0"/>
          <c:dLbls>
            <c:numFmt formatCode="#,##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Anxiety or panic</c:v>
                  </c:pt>
                  <c:pt idx="1">
                    <c:v>Substance use or overdose</c:v>
                  </c:pt>
                  <c:pt idx="2">
                    <c:v>Psychiatric</c:v>
                  </c:pt>
                  <c:pt idx="3">
                    <c:v>Psychosis or agitation</c:v>
                  </c:pt>
                  <c:pt idx="4">
                    <c:v>Suicidal or self harm</c:v>
                  </c:pt>
                  <c:pt idx="5">
                    <c:v>Intoxication</c:v>
                  </c:pt>
                  <c:pt idx="6">
                    <c:v>Depression</c:v>
                  </c:pt>
                  <c:pt idx="7">
                    <c:v>Welfare check</c:v>
                  </c:pt>
                  <c:pt idx="8">
                    <c:v>Other</c:v>
                  </c:pt>
                </c:lvl>
              </c:multiLvlStrCache>
            </c:multiLvlStrRef>
          </c:cat>
          <c:val>
            <c:numRef>
              <c:f>Sheet1!$B$2:$B$10</c:f>
              <c:numCache>
                <c:formatCode>General</c:formatCode>
                <c:ptCount val="9"/>
                <c:pt idx="0">
                  <c:v>7089</c:v>
                </c:pt>
                <c:pt idx="1">
                  <c:v>5750</c:v>
                </c:pt>
                <c:pt idx="2">
                  <c:v>4387</c:v>
                </c:pt>
                <c:pt idx="3">
                  <c:v>3738</c:v>
                </c:pt>
                <c:pt idx="4">
                  <c:v>1475</c:v>
                </c:pt>
                <c:pt idx="5">
                  <c:v>1047</c:v>
                </c:pt>
                <c:pt idx="6">
                  <c:v>1040</c:v>
                </c:pt>
                <c:pt idx="7">
                  <c:v>330</c:v>
                </c:pt>
                <c:pt idx="8">
                  <c:v>209</c:v>
                </c:pt>
              </c:numCache>
            </c:numRef>
          </c:val>
        </c:ser>
        <c:dLbls>
          <c:numFmt formatCode="#,##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in val="0"/>
        </c:scaling>
        <c:delete val="0"/>
        <c:axPos val="b"/>
        <c:majorGridlines>
          <c:spPr>
            <a:ln w="1270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Behavioral health mentioned anywhere</c:v>
                </c:pt>
              </c:strCache>
            </c:strRef>
          </c:tx>
          <c:spPr>
            <a:solidFill>
              <a:srgbClr val="8FA0A6"/>
            </a:solidFill>
            <a:effectLst/>
          </c:spPr>
          <c:invertIfNegative val="0"/>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Dekalb County GA</c:v>
                  </c:pt>
                  <c:pt idx="1">
                    <c:v>Wake County NC</c:v>
                  </c:pt>
                  <c:pt idx="2">
                    <c:v>Seattle WA</c:v>
                  </c:pt>
                  <c:pt idx="3">
                    <c:v>Rochester NY</c:v>
                  </c:pt>
                  <c:pt idx="4">
                    <c:v>DCFEMS</c:v>
                  </c:pt>
                  <c:pt idx="5">
                    <c:v>Knox County TN</c:v>
                  </c:pt>
                  <c:pt idx="6">
                    <c:v>Snohomish WA</c:v>
                  </c:pt>
                  <c:pt idx="7">
                    <c:v>Baltimore MD</c:v>
                  </c:pt>
                  <c:pt idx="8">
                    <c:v>Onondaga County NY</c:v>
                  </c:pt>
                  <c:pt idx="9">
                    <c:v>King County WA</c:v>
                  </c:pt>
                </c:lvl>
              </c:multiLvlStrCache>
            </c:multiLvlStrRef>
          </c:cat>
          <c:val>
            <c:numRef>
              <c:f>Sheet1!$B$2:$B$11</c:f>
              <c:numCache>
                <c:formatCode>General</c:formatCode>
                <c:ptCount val="10"/>
                <c:pt idx="0">
                  <c:v>12.6</c:v>
                </c:pt>
                <c:pt idx="1">
                  <c:v>13.2</c:v>
                </c:pt>
                <c:pt idx="2">
                  <c:v>35.1</c:v>
                </c:pt>
                <c:pt idx="3">
                  <c:v>11.6</c:v>
                </c:pt>
                <c:pt idx="4">
                  <c:v>14.3</c:v>
                </c:pt>
                <c:pt idx="5">
                  <c:v>21.7</c:v>
                </c:pt>
                <c:pt idx="6">
                  <c:v>17.3</c:v>
                </c:pt>
                <c:pt idx="7">
                  <c:v>12.9</c:v>
                </c:pt>
                <c:pt idx="8">
                  <c:v>12.9</c:v>
                </c:pt>
                <c:pt idx="9">
                  <c:v>20.8</c:v>
                </c:pt>
              </c:numCache>
            </c:numRef>
          </c:val>
        </c:ser>
        <c:ser>
          <c:idx val="1"/>
          <c:order val="1"/>
          <c:tx>
            <c:strRef>
              <c:f>Sheet1!$C$1</c:f>
              <c:strCache>
                <c:ptCount val="1"/>
                <c:pt idx="0">
                  <c:v>Reason for the call</c:v>
                </c:pt>
              </c:strCache>
            </c:strRef>
          </c:tx>
          <c:spPr>
            <a:solidFill>
              <a:srgbClr val="028090"/>
            </a:solidFill>
            <a:effectLst/>
          </c:spPr>
          <c:invertIfNegative val="0"/>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Dekalb County GA</c:v>
                  </c:pt>
                  <c:pt idx="1">
                    <c:v>Wake County NC</c:v>
                  </c:pt>
                  <c:pt idx="2">
                    <c:v>Seattle WA</c:v>
                  </c:pt>
                  <c:pt idx="3">
                    <c:v>Rochester NY</c:v>
                  </c:pt>
                  <c:pt idx="4">
                    <c:v>DCFEMS</c:v>
                  </c:pt>
                  <c:pt idx="5">
                    <c:v>Knox County TN</c:v>
                  </c:pt>
                  <c:pt idx="6">
                    <c:v>Snohomish WA</c:v>
                  </c:pt>
                  <c:pt idx="7">
                    <c:v>Baltimore MD</c:v>
                  </c:pt>
                  <c:pt idx="8">
                    <c:v>Onondaga County NY</c:v>
                  </c:pt>
                  <c:pt idx="9">
                    <c:v>King County WA</c:v>
                  </c:pt>
                </c:lvl>
              </c:multiLvlStrCache>
            </c:multiLvlStrRef>
          </c:cat>
          <c:val>
            <c:numRef>
              <c:f>Sheet1!$C$2:$C$11</c:f>
              <c:numCache>
                <c:formatCode>General</c:formatCode>
                <c:ptCount val="10"/>
                <c:pt idx="0">
                  <c:v>3.9</c:v>
                </c:pt>
                <c:pt idx="1">
                  <c:v>4.2</c:v>
                </c:pt>
                <c:pt idx="2">
                  <c:v>19.8</c:v>
                </c:pt>
                <c:pt idx="3">
                  <c:v>2.4</c:v>
                </c:pt>
                <c:pt idx="4">
                  <c:v>3.7</c:v>
                </c:pt>
                <c:pt idx="5">
                  <c:v>9.9</c:v>
                </c:pt>
                <c:pt idx="6">
                  <c:v>5.6</c:v>
                </c:pt>
                <c:pt idx="7">
                  <c:v>3.4</c:v>
                </c:pt>
                <c:pt idx="8">
                  <c:v>3.3</c:v>
                </c:pt>
                <c:pt idx="9">
                  <c:v>7.4</c:v>
                </c:pt>
              </c:numCache>
            </c:numRef>
          </c:val>
        </c:ser>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in val="0"/>
        </c:scaling>
        <c:delete val="0"/>
        <c:axPos val="b"/>
        <c:majorGridlines>
          <c:spPr>
            <a:ln w="1270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concern raised in review. The analysis does not contradict the recorded figure of roughly 4%. It confirms 96.6% of it. The earlier figure of 8.6% came from reading a sample and scaling it up; reading every note instead puts behavioral health as the reason for the call at 6.3%, which is 1.6 points above the recorded 4.7% rather than nearly double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1920240"/>
            <a:ext cx="10881360" cy="914400"/>
          </a:xfrm>
          <a:prstGeom prst="rect">
            <a:avLst/>
          </a:prstGeom>
          <a:noFill/>
          <a:ln/>
        </p:spPr>
        <p:txBody>
          <a:bodyPr wrap="square" rtlCol="0" anchor="ctr"/>
          <a:lstStyle/>
          <a:p>
            <a:pPr indent="0" marL="0">
              <a:buNone/>
            </a:pPr>
            <a:r>
              <a:rPr lang="en-US" sz="3600" b="1" dirty="0">
                <a:solidFill>
                  <a:srgbClr val="222222"/>
                </a:solidFill>
                <a:latin typeface="Calibri" pitchFamily="34" charset="0"/>
                <a:ea typeface="Calibri" pitchFamily="34" charset="-122"/>
                <a:cs typeface="Calibri" pitchFamily="34" charset="-120"/>
              </a:rPr>
              <a:t>Behavioral Health in Nurse Navigation Calls</a:t>
            </a:r>
            <a:endParaRPr lang="en-US" sz="3600" dirty="0"/>
          </a:p>
        </p:txBody>
      </p:sp>
      <p:sp>
        <p:nvSpPr>
          <p:cNvPr id="3" name="Text 1"/>
          <p:cNvSpPr txBox="1"/>
          <p:nvPr/>
        </p:nvSpPr>
        <p:spPr>
          <a:xfrm>
            <a:off x="658368" y="2971800"/>
            <a:ext cx="10881360" cy="914400"/>
          </a:xfrm>
          <a:prstGeom prst="rect">
            <a:avLst/>
          </a:prstGeom>
          <a:noFill/>
          <a:ln/>
        </p:spPr>
        <p:txBody>
          <a:bodyPr wrap="square" rtlCol="0" anchor="ctr"/>
          <a:lstStyle/>
          <a:p>
            <a:pPr indent="0" marL="0">
              <a:buNone/>
            </a:pPr>
            <a:r>
              <a:rPr lang="en-US" sz="1700" dirty="0">
                <a:solidFill>
                  <a:srgbClr val="028090"/>
                </a:solidFill>
                <a:latin typeface="Calibri" pitchFamily="34" charset="0"/>
                <a:ea typeface="Calibri" pitchFamily="34" charset="-122"/>
                <a:cs typeface="Calibri" pitchFamily="34" charset="-120"/>
              </a:rPr>
              <a:t>Every call note read, October 2024 through August 2026</a:t>
            </a:r>
            <a:endParaRPr lang="en-US" sz="1700" dirty="0"/>
          </a:p>
          <a:p>
            <a:pPr indent="0" marL="0">
              <a:buNone/>
            </a:pPr>
            <a:r>
              <a:rPr lang="en-US" sz="1500" dirty="0">
                <a:solidFill>
                  <a:srgbClr val="595959"/>
                </a:solidFill>
                <a:latin typeface="Calibri" pitchFamily="34" charset="0"/>
                <a:ea typeface="Calibri" pitchFamily="34" charset="-122"/>
                <a:cs typeface="Calibri" pitchFamily="34" charset="-120"/>
              </a:rPr>
              <a:t>150,003 calls across 36 markets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66928"/>
          </a:xfrm>
          <a:prstGeom prst="rect">
            <a:avLst/>
          </a:prstGeom>
          <a:noFill/>
          <a:ln/>
        </p:spPr>
        <p:txBody>
          <a:bodyPr wrap="square" rtlCol="0" anchor="t"/>
          <a:lstStyle/>
          <a:p>
            <a:pPr indent="0" marL="0">
              <a:buNone/>
            </a:pPr>
            <a:r>
              <a:rPr lang="en-US" sz="2600" b="1" dirty="0">
                <a:solidFill>
                  <a:srgbClr val="222222"/>
                </a:solidFill>
                <a:latin typeface="Calibri" pitchFamily="34" charset="0"/>
                <a:ea typeface="Calibri" pitchFamily="34" charset="-122"/>
                <a:cs typeface="Calibri" pitchFamily="34" charset="-120"/>
              </a:rPr>
              <a:t>What this covers and how it was produced</a:t>
            </a:r>
            <a:endParaRPr lang="en-US" sz="2600" dirty="0"/>
          </a:p>
        </p:txBody>
      </p:sp>
      <p:sp>
        <p:nvSpPr>
          <p:cNvPr id="3" name="Text 1"/>
          <p:cNvSpPr txBox="1"/>
          <p:nvPr/>
        </p:nvSpPr>
        <p:spPr>
          <a:xfrm>
            <a:off x="457200" y="877824"/>
            <a:ext cx="11247120" cy="365760"/>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150,003 nurse navigation calls across 36 markets, October 2024 through August 2026.</a:t>
            </a:r>
            <a:endParaRPr lang="en-US" sz="1350" dirty="0"/>
          </a:p>
        </p:txBody>
      </p:sp>
      <p:sp>
        <p:nvSpPr>
          <p:cNvPr id="4" name="Text 2"/>
          <p:cNvSpPr txBox="1"/>
          <p:nvPr/>
        </p:nvSpPr>
        <p:spPr>
          <a:xfrm>
            <a:off x="457200" y="132588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PROCESS</a:t>
            </a:r>
            <a:endParaRPr lang="en-US" sz="1250" dirty="0"/>
          </a:p>
        </p:txBody>
      </p:sp>
      <p:sp>
        <p:nvSpPr>
          <p:cNvPr id="5" name="Text 3"/>
          <p:cNvSpPr txBox="1"/>
          <p:nvPr/>
        </p:nvSpPr>
        <p:spPr>
          <a:xfrm>
            <a:off x="457200" y="1627632"/>
            <a:ext cx="11247120" cy="3657600"/>
          </a:xfrm>
          <a:prstGeom prst="rect">
            <a:avLst/>
          </a:prstGeom>
          <a:noFill/>
          <a:ln/>
        </p:spPr>
        <p:txBody>
          <a:bodyPr wrap="square" rtlCol="0" anchor="t"/>
          <a:lstStyle/>
          <a:p>
            <a:pPr indent="0" marL="0">
              <a:lnSpc>
                <a:spcPts val="1900"/>
              </a:lnSpc>
              <a:spcAft>
                <a:spcPts val="900"/>
              </a:spcAft>
              <a:buNone/>
            </a:pPr>
            <a:r>
              <a:rPr lang="en-US" sz="1350" dirty="0">
                <a:solidFill>
                  <a:srgbClr val="222222"/>
                </a:solidFill>
                <a:latin typeface="Calibri" pitchFamily="34" charset="0"/>
                <a:ea typeface="Calibri" pitchFamily="34" charset="-122"/>
                <a:cs typeface="Calibri" pitchFamily="34" charset="-120"/>
              </a:rPr>
              <a:t>1.  Every nurse note in the call file was read by a large language model. 148,960 of the 150,003 notes were long enough to read, 99.3% of the file. The remainder were blank or a placeholder.</a:t>
            </a:r>
            <a:endParaRPr lang="en-US" sz="1350" dirty="0"/>
          </a:p>
          <a:p>
            <a:pPr indent="0" marL="0">
              <a:lnSpc>
                <a:spcPts val="1900"/>
              </a:lnSpc>
              <a:spcAft>
                <a:spcPts val="900"/>
              </a:spcAft>
              <a:buNone/>
            </a:pPr>
            <a:r>
              <a:rPr lang="en-US" sz="1350" dirty="0">
                <a:solidFill>
                  <a:srgbClr val="222222"/>
                </a:solidFill>
                <a:latin typeface="Calibri" pitchFamily="34" charset="0"/>
                <a:ea typeface="Calibri" pitchFamily="34" charset="-122"/>
                <a:cs typeface="Calibri" pitchFamily="34" charset="-120"/>
              </a:rPr>
              <a:t>2.  Each note was assessed on four things: whether behavioral health is present, whether it was the reason the patient called or a factor on a call logged under something else, which category it falls in, and a supporting quote taken from the note itself.</a:t>
            </a:r>
            <a:endParaRPr lang="en-US" sz="1350" dirty="0"/>
          </a:p>
          <a:p>
            <a:pPr indent="0" marL="0">
              <a:lnSpc>
                <a:spcPts val="1900"/>
              </a:lnSpc>
              <a:spcAft>
                <a:spcPts val="900"/>
              </a:spcAft>
              <a:buNone/>
            </a:pPr>
            <a:r>
              <a:rPr lang="en-US" sz="1350" dirty="0">
                <a:solidFill>
                  <a:srgbClr val="222222"/>
                </a:solidFill>
                <a:latin typeface="Calibri" pitchFamily="34" charset="0"/>
                <a:ea typeface="Calibri" pitchFamily="34" charset="-122"/>
                <a:cs typeface="Calibri" pitchFamily="34" charset="-120"/>
              </a:rPr>
              <a:t>3.  The same instructions were applied to every note, so the standard does not shift between calls, between nurses or between markets.</a:t>
            </a:r>
            <a:endParaRPr lang="en-US" sz="1350" dirty="0"/>
          </a:p>
          <a:p>
            <a:pPr indent="0" marL="0">
              <a:lnSpc>
                <a:spcPts val="1900"/>
              </a:lnSpc>
              <a:spcAft>
                <a:spcPts val="900"/>
              </a:spcAft>
              <a:buNone/>
            </a:pPr>
            <a:r>
              <a:rPr lang="en-US" sz="1350" dirty="0">
                <a:solidFill>
                  <a:srgbClr val="222222"/>
                </a:solidFill>
                <a:latin typeface="Calibri" pitchFamily="34" charset="0"/>
                <a:ea typeface="Calibri" pitchFamily="34" charset="-122"/>
                <a:cs typeface="Calibri" pitchFamily="34" charset="-120"/>
              </a:rPr>
              <a:t>4.  The result was then compared against the behavioral health code the nurse entered on the same call. That comparison is the subject of this review.</a:t>
            </a:r>
            <a:endParaRPr lang="en-US" sz="1350" dirty="0"/>
          </a:p>
        </p:txBody>
      </p:sp>
      <p:sp>
        <p:nvSpPr>
          <p:cNvPr id="6" name="Text 4"/>
          <p:cNvSpPr txBox="1"/>
          <p:nvPr/>
        </p:nvSpPr>
        <p:spPr>
          <a:xfrm>
            <a:off x="457200" y="4370832"/>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WHAT THIS MEANS FOR THE FIGURES</a:t>
            </a:r>
            <a:endParaRPr lang="en-US" sz="1250" dirty="0"/>
          </a:p>
        </p:txBody>
      </p:sp>
      <p:sp>
        <p:nvSpPr>
          <p:cNvPr id="7" name="Text 5"/>
          <p:cNvSpPr txBox="1"/>
          <p:nvPr/>
        </p:nvSpPr>
        <p:spPr>
          <a:xfrm>
            <a:off x="457200" y="4672584"/>
            <a:ext cx="11247120" cy="822960"/>
          </a:xfrm>
          <a:prstGeom prst="rect">
            <a:avLst/>
          </a:prstGeom>
          <a:noFill/>
          <a:ln/>
        </p:spPr>
        <p:txBody>
          <a:bodyPr wrap="square" rtlCol="0" anchor="t"/>
          <a:lstStyle/>
          <a:p>
            <a:pPr indent="0" marL="0">
              <a:lnSpc>
                <a:spcPts val="1900"/>
              </a:lnSpc>
              <a:buNone/>
            </a:pPr>
            <a:r>
              <a:rPr lang="en-US" sz="1350" dirty="0">
                <a:solidFill>
                  <a:srgbClr val="222222"/>
                </a:solidFill>
                <a:latin typeface="Calibri" pitchFamily="34" charset="0"/>
                <a:ea typeface="Calibri" pitchFamily="34" charset="-122"/>
                <a:cs typeface="Calibri" pitchFamily="34" charset="-120"/>
              </a:rPr>
              <a:t>Nothing was sampled and nothing was scaled up from a sample. Every figure in this deck is a count of notes actually read, so none of them carries an estimate range.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66928"/>
          </a:xfrm>
          <a:prstGeom prst="rect">
            <a:avLst/>
          </a:prstGeom>
          <a:noFill/>
          <a:ln/>
        </p:spPr>
        <p:txBody>
          <a:bodyPr wrap="square" rtlCol="0" anchor="t"/>
          <a:lstStyle/>
          <a:p>
            <a:pPr indent="0" marL="0">
              <a:buNone/>
            </a:pPr>
            <a:r>
              <a:rPr lang="en-US" sz="2600" b="1" dirty="0">
                <a:solidFill>
                  <a:srgbClr val="222222"/>
                </a:solidFill>
                <a:latin typeface="Calibri" pitchFamily="34" charset="0"/>
                <a:ea typeface="Calibri" pitchFamily="34" charset="-122"/>
                <a:cs typeface="Calibri" pitchFamily="34" charset="-120"/>
              </a:rPr>
              <a:t>Three counts, three different measures</a:t>
            </a:r>
            <a:endParaRPr lang="en-US" sz="2600" dirty="0"/>
          </a:p>
        </p:txBody>
      </p:sp>
      <p:sp>
        <p:nvSpPr>
          <p:cNvPr id="3" name="Text 1"/>
          <p:cNvSpPr txBox="1"/>
          <p:nvPr/>
        </p:nvSpPr>
        <p:spPr>
          <a:xfrm>
            <a:off x="457200" y="877824"/>
            <a:ext cx="11247120" cy="365760"/>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All three describe the same 150,003 calls.</a:t>
            </a:r>
            <a:endParaRPr lang="en-US" sz="1350" dirty="0"/>
          </a:p>
        </p:txBody>
      </p:sp>
      <p:graphicFrame>
        <p:nvGraphicFramePr>
          <p:cNvPr id="4" name="Chart 0" descr=""/>
          <p:cNvGraphicFramePr/>
          <p:nvPr/>
        </p:nvGraphicFramePr>
        <p:xfrm>
          <a:off x="457200" y="1325880"/>
          <a:ext cx="11247120" cy="26517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16052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434840"/>
            <a:ext cx="11247120" cy="1828800"/>
          </a:xfrm>
          <a:prstGeom prst="rect">
            <a:avLst/>
          </a:prstGeom>
          <a:noFill/>
          <a:ln/>
        </p:spPr>
        <p:txBody>
          <a:bodyPr wrap="square" rtlCol="0" anchor="t"/>
          <a:lstStyle/>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A behavioral health code was entered on 7,081 calls, 4.7% of volume</a:t>
            </a:r>
            <a:endParaRPr lang="en-US" sz="1350" dirty="0"/>
          </a:p>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The notes describe behavioral health as the reason for the call on 9,421 calls, 6.3%</a:t>
            </a:r>
            <a:endParaRPr lang="en-US" sz="1350" dirty="0"/>
          </a:p>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The notes mention behavioral health somewhere on 25,065 calls, 16.7%. The gap of 15,644 calls is behavioral health appearing alongside another complaint rather than as the reason for the call</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66928"/>
          </a:xfrm>
          <a:prstGeom prst="rect">
            <a:avLst/>
          </a:prstGeom>
          <a:noFill/>
          <a:ln/>
        </p:spPr>
        <p:txBody>
          <a:bodyPr wrap="square" rtlCol="0" anchor="t"/>
          <a:lstStyle/>
          <a:p>
            <a:pPr indent="0" marL="0">
              <a:buNone/>
            </a:pPr>
            <a:r>
              <a:rPr lang="en-US" sz="2600" b="1" dirty="0">
                <a:solidFill>
                  <a:srgbClr val="222222"/>
                </a:solidFill>
                <a:latin typeface="Calibri" pitchFamily="34" charset="0"/>
                <a:ea typeface="Calibri" pitchFamily="34" charset="-122"/>
                <a:cs typeface="Calibri" pitchFamily="34" charset="-120"/>
              </a:rPr>
              <a:t>The model agreed with the coded field on 96.6% of coded calls</a:t>
            </a:r>
            <a:endParaRPr lang="en-US" sz="2600" dirty="0"/>
          </a:p>
        </p:txBody>
      </p:sp>
      <p:sp>
        <p:nvSpPr>
          <p:cNvPr id="3" name="Text 1"/>
          <p:cNvSpPr txBox="1"/>
          <p:nvPr/>
        </p:nvSpPr>
        <p:spPr>
          <a:xfrm>
            <a:off x="457200" y="877824"/>
            <a:ext cx="11247120" cy="365760"/>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All 7,081 calls where a nurse entered a behavioral health code.</a:t>
            </a:r>
            <a:endParaRPr lang="en-US" sz="1350" dirty="0"/>
          </a:p>
        </p:txBody>
      </p:sp>
      <p:graphicFrame>
        <p:nvGraphicFramePr>
          <p:cNvPr id="4" name="Chart 0" descr=""/>
          <p:cNvGraphicFramePr/>
          <p:nvPr/>
        </p:nvGraphicFramePr>
        <p:xfrm>
          <a:off x="457200" y="1325880"/>
          <a:ext cx="11247120" cy="2286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379476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069080"/>
            <a:ext cx="11247120" cy="2286000"/>
          </a:xfrm>
          <a:prstGeom prst="rect">
            <a:avLst/>
          </a:prstGeom>
          <a:noFill/>
          <a:ln/>
        </p:spPr>
        <p:txBody>
          <a:bodyPr wrap="square" rtlCol="0" anchor="t"/>
          <a:lstStyle/>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A behavioral health code was entered on 7,081 of the 150,003 calls, 4.7% of volume</a:t>
            </a:r>
            <a:endParaRPr lang="en-US" sz="1350" dirty="0"/>
          </a:p>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On 6,340 of them, 89.5%, the model independently reached the same conclusion: behavioral health was the reason for the call</a:t>
            </a:r>
            <a:endParaRPr lang="en-US" sz="1350" dirty="0"/>
          </a:p>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On a further 500, 7.1%, the model found behavioral health present but recorded it as a secondary factor rather than the reason for the call</a:t>
            </a:r>
            <a:endParaRPr lang="en-US" sz="1350" dirty="0"/>
          </a:p>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On only 241, 3.4%, the model found no behavioral health in the note at all</a:t>
            </a:r>
            <a:endParaRPr lang="en-US" sz="1350" dirty="0"/>
          </a:p>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Taken together, the model confirms behavioral health on 6,840 of the 7,081 coded calls, 96.6%. The coded count is not in dispute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66928"/>
          </a:xfrm>
          <a:prstGeom prst="rect">
            <a:avLst/>
          </a:prstGeom>
          <a:noFill/>
          <a:ln/>
        </p:spPr>
        <p:txBody>
          <a:bodyPr wrap="square" rtlCol="0" anchor="t"/>
          <a:lstStyle/>
          <a:p>
            <a:pPr indent="0" marL="0">
              <a:buNone/>
            </a:pPr>
            <a:r>
              <a:rPr lang="en-US" sz="2600" b="1" dirty="0">
                <a:solidFill>
                  <a:srgbClr val="222222"/>
                </a:solidFill>
                <a:latin typeface="Calibri" pitchFamily="34" charset="0"/>
                <a:ea typeface="Calibri" pitchFamily="34" charset="-122"/>
                <a:cs typeface="Calibri" pitchFamily="34" charset="-120"/>
              </a:rPr>
              <a:t>What the model found on calls with no code entered</a:t>
            </a:r>
            <a:endParaRPr lang="en-US" sz="2600" dirty="0"/>
          </a:p>
        </p:txBody>
      </p:sp>
      <p:sp>
        <p:nvSpPr>
          <p:cNvPr id="3" name="Text 1"/>
          <p:cNvSpPr txBox="1"/>
          <p:nvPr/>
        </p:nvSpPr>
        <p:spPr>
          <a:xfrm>
            <a:off x="457200" y="877824"/>
            <a:ext cx="11247120" cy="365760"/>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All 9,421 calls where the note records behavioral health as the reason for the call.</a:t>
            </a:r>
            <a:endParaRPr lang="en-US" sz="1350" dirty="0"/>
          </a:p>
        </p:txBody>
      </p:sp>
      <p:graphicFrame>
        <p:nvGraphicFramePr>
          <p:cNvPr id="4" name="Chart 0" descr=""/>
          <p:cNvGraphicFramePr/>
          <p:nvPr/>
        </p:nvGraphicFramePr>
        <p:xfrm>
          <a:off x="457200" y="1325880"/>
          <a:ext cx="11247120" cy="1920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342900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3703320"/>
            <a:ext cx="11247120" cy="2651760"/>
          </a:xfrm>
          <a:prstGeom prst="rect">
            <a:avLst/>
          </a:prstGeom>
          <a:noFill/>
          <a:ln/>
        </p:spPr>
        <p:txBody>
          <a:bodyPr wrap="square" rtlCol="0" anchor="t"/>
          <a:lstStyle/>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The notes record behavioral health as the reason for the call on 9,421 calls, 6.3% of volume, against 7,081 carrying a code, 4.7%. The two measures are 2,340 calls apart</a:t>
            </a:r>
            <a:endParaRPr lang="en-US" sz="1350" dirty="0"/>
          </a:p>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6,340 of the 9,421 already carry a code, 67.3%. The remaining 3,081 do not</a:t>
            </a:r>
            <a:endParaRPr lang="en-US" sz="1350" dirty="0"/>
          </a:p>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Separately, the notes record behavioral health as a secondary factor on 15,644 calls, on a call logged under another complaint. 15,144 of those carry no behavioral health code, which is expected: the coded field records one reason per call and that reason was something else</a:t>
            </a:r>
            <a:endParaRPr lang="en-US" sz="1350" dirty="0"/>
          </a:p>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Of the 18,225 calls where the note describes behavioral health and no code was entered, 3,081 are calls the note says were about behavioral health and 15,144 are calls where it was a secondary factor</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66928"/>
          </a:xfrm>
          <a:prstGeom prst="rect">
            <a:avLst/>
          </a:prstGeom>
          <a:noFill/>
          <a:ln/>
        </p:spPr>
        <p:txBody>
          <a:bodyPr wrap="square" rtlCol="0" anchor="t"/>
          <a:lstStyle/>
          <a:p>
            <a:pPr indent="0" marL="0">
              <a:buNone/>
            </a:pPr>
            <a:r>
              <a:rPr lang="en-US" sz="2600" b="1" dirty="0">
                <a:solidFill>
                  <a:srgbClr val="222222"/>
                </a:solidFill>
                <a:latin typeface="Calibri" pitchFamily="34" charset="0"/>
                <a:ea typeface="Calibri" pitchFamily="34" charset="-122"/>
                <a:cs typeface="Calibri" pitchFamily="34" charset="-120"/>
              </a:rPr>
              <a:t>Seattle, the three counts on the same 16,305 calls</a:t>
            </a:r>
            <a:endParaRPr lang="en-US" sz="2600" dirty="0"/>
          </a:p>
        </p:txBody>
      </p:sp>
      <p:sp>
        <p:nvSpPr>
          <p:cNvPr id="3" name="Text 1"/>
          <p:cNvSpPr txBox="1"/>
          <p:nvPr/>
        </p:nvSpPr>
        <p:spPr>
          <a:xfrm>
            <a:off x="457200" y="877824"/>
            <a:ext cx="11247120" cy="365760"/>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Seattle is used as the worked example because it records behavioral health consistently.</a:t>
            </a:r>
            <a:endParaRPr lang="en-US" sz="1350" dirty="0"/>
          </a:p>
        </p:txBody>
      </p:sp>
      <p:graphicFrame>
        <p:nvGraphicFramePr>
          <p:cNvPr id="4" name="Chart 0" descr=""/>
          <p:cNvGraphicFramePr/>
          <p:nvPr/>
        </p:nvGraphicFramePr>
        <p:xfrm>
          <a:off x="457200" y="1325880"/>
          <a:ext cx="11247120" cy="24688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397764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251960"/>
            <a:ext cx="11247120" cy="2011680"/>
          </a:xfrm>
          <a:prstGeom prst="rect">
            <a:avLst/>
          </a:prstGeom>
          <a:noFill/>
          <a:ln/>
        </p:spPr>
        <p:txBody>
          <a:bodyPr wrap="square" rtlCol="0" anchor="t"/>
          <a:lstStyle/>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A behavioral health code was entered on 2,677 calls, 16.4%. The notes describe behavioral health as the reason for the call on 3,235, 19.8%. The two land within 4 points of each other</a:t>
            </a:r>
            <a:endParaRPr lang="en-US" sz="1350" dirty="0"/>
          </a:p>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The notes mention behavioral health somewhere on 5,716 calls, 35.1%</a:t>
            </a:r>
            <a:endParaRPr lang="en-US" sz="1350" dirty="0"/>
          </a:p>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Where behavioral health is recorded consistently, the coded count and the note-based count land close together</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66928"/>
          </a:xfrm>
          <a:prstGeom prst="rect">
            <a:avLst/>
          </a:prstGeom>
          <a:noFill/>
          <a:ln/>
        </p:spPr>
        <p:txBody>
          <a:bodyPr wrap="square" rtlCol="0" anchor="t"/>
          <a:lstStyle/>
          <a:p>
            <a:pPr indent="0" marL="0">
              <a:buNone/>
            </a:pPr>
            <a:r>
              <a:rPr lang="en-US" sz="2600" b="1" dirty="0">
                <a:solidFill>
                  <a:srgbClr val="222222"/>
                </a:solidFill>
                <a:latin typeface="Calibri" pitchFamily="34" charset="0"/>
                <a:ea typeface="Calibri" pitchFamily="34" charset="-122"/>
                <a:cs typeface="Calibri" pitchFamily="34" charset="-120"/>
              </a:rPr>
              <a:t>From the coded count to the note-based count, Seattle</a:t>
            </a:r>
            <a:endParaRPr lang="en-US" sz="2600" dirty="0"/>
          </a:p>
        </p:txBody>
      </p:sp>
      <p:sp>
        <p:nvSpPr>
          <p:cNvPr id="3" name="Text 1"/>
          <p:cNvSpPr txBox="1"/>
          <p:nvPr/>
        </p:nvSpPr>
        <p:spPr>
          <a:xfrm>
            <a:off x="457200" y="877824"/>
            <a:ext cx="11247120" cy="365760"/>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Every row is a count of calls. The walk leaves no remainder.</a:t>
            </a:r>
            <a:endParaRPr lang="en-US" sz="1350" dirty="0"/>
          </a:p>
        </p:txBody>
      </p:sp>
      <p:graphicFrame>
        <p:nvGraphicFramePr>
          <p:cNvPr id="4" name="Chart 0" descr=""/>
          <p:cNvGraphicFramePr/>
          <p:nvPr/>
        </p:nvGraphicFramePr>
        <p:xfrm>
          <a:off x="457200" y="1325880"/>
          <a:ext cx="11247120" cy="23774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393192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206240"/>
            <a:ext cx="11247120" cy="2103120"/>
          </a:xfrm>
          <a:prstGeom prst="rect">
            <a:avLst/>
          </a:prstGeom>
          <a:noFill/>
          <a:ln/>
        </p:spPr>
        <p:txBody>
          <a:bodyPr wrap="square" rtlCol="0" anchor="t"/>
          <a:lstStyle/>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2,486 calls carry a code and the note agrees behavioral health was the reason for the call</a:t>
            </a:r>
            <a:endParaRPr lang="en-US" sz="1350" dirty="0"/>
          </a:p>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749 calls have no code entered but the note says behavioral health was the reason for the call</a:t>
            </a:r>
            <a:endParaRPr lang="en-US" sz="1350" dirty="0"/>
          </a:p>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The two add to 3,235, the note-based count. A further 191 coded calls have notes that do not describe behavioral health as the reason for the call, which is why 2,486 is lower than the 2,677 coded total</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66928"/>
          </a:xfrm>
          <a:prstGeom prst="rect">
            <a:avLst/>
          </a:prstGeom>
          <a:noFill/>
          <a:ln/>
        </p:spPr>
        <p:txBody>
          <a:bodyPr wrap="square" rtlCol="0" anchor="t"/>
          <a:lstStyle/>
          <a:p>
            <a:pPr indent="0" marL="0">
              <a:buNone/>
            </a:pPr>
            <a:r>
              <a:rPr lang="en-US" sz="2600" b="1" dirty="0">
                <a:solidFill>
                  <a:srgbClr val="222222"/>
                </a:solidFill>
                <a:latin typeface="Calibri" pitchFamily="34" charset="0"/>
                <a:ea typeface="Calibri" pitchFamily="34" charset="-122"/>
                <a:cs typeface="Calibri" pitchFamily="34" charset="-120"/>
              </a:rPr>
              <a:t>What the behavioral health calls are made of</a:t>
            </a:r>
            <a:endParaRPr lang="en-US" sz="2600" dirty="0"/>
          </a:p>
        </p:txBody>
      </p:sp>
      <p:sp>
        <p:nvSpPr>
          <p:cNvPr id="3" name="Text 1"/>
          <p:cNvSpPr txBox="1"/>
          <p:nvPr/>
        </p:nvSpPr>
        <p:spPr>
          <a:xfrm>
            <a:off x="457200" y="877824"/>
            <a:ext cx="11247120" cy="365760"/>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All 25,065 calls where the note mentions behavioral health.</a:t>
            </a:r>
            <a:endParaRPr lang="en-US" sz="1350" dirty="0"/>
          </a:p>
        </p:txBody>
      </p:sp>
      <p:graphicFrame>
        <p:nvGraphicFramePr>
          <p:cNvPr id="4" name="Chart 0" descr=""/>
          <p:cNvGraphicFramePr/>
          <p:nvPr/>
        </p:nvGraphicFramePr>
        <p:xfrm>
          <a:off x="457200" y="1325880"/>
          <a:ext cx="1124712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52628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800600"/>
            <a:ext cx="11247120" cy="1554480"/>
          </a:xfrm>
          <a:prstGeom prst="rect">
            <a:avLst/>
          </a:prstGeom>
          <a:noFill/>
          <a:ln/>
        </p:spPr>
        <p:txBody>
          <a:bodyPr wrap="square" rtlCol="0" anchor="t"/>
          <a:lstStyle/>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Anxiety or panic is the largest category at 7,089 calls, 28.3% of all behavioral health calls</a:t>
            </a:r>
            <a:endParaRPr lang="en-US" sz="1350" dirty="0"/>
          </a:p>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Substance use or overdose is second at 5,750, 22.9%. Suicidal or self harm is 1,475, 5.9%</a:t>
            </a:r>
            <a:endParaRPr lang="en-US" sz="1350" dirty="0"/>
          </a:p>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The four largest categories account for 83.6% of behavioral health calls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66928"/>
          </a:xfrm>
          <a:prstGeom prst="rect">
            <a:avLst/>
          </a:prstGeom>
          <a:noFill/>
          <a:ln/>
        </p:spPr>
        <p:txBody>
          <a:bodyPr wrap="square" rtlCol="0" anchor="t"/>
          <a:lstStyle/>
          <a:p>
            <a:pPr indent="0" marL="0">
              <a:buNone/>
            </a:pPr>
            <a:r>
              <a:rPr lang="en-US" sz="2600" b="1" dirty="0">
                <a:solidFill>
                  <a:srgbClr val="222222"/>
                </a:solidFill>
                <a:latin typeface="Calibri" pitchFamily="34" charset="0"/>
                <a:ea typeface="Calibri" pitchFamily="34" charset="-122"/>
                <a:cs typeface="Calibri" pitchFamily="34" charset="-120"/>
              </a:rPr>
              <a:t>Where the volume sits</a:t>
            </a:r>
            <a:endParaRPr lang="en-US" sz="2600" dirty="0"/>
          </a:p>
        </p:txBody>
      </p:sp>
      <p:sp>
        <p:nvSpPr>
          <p:cNvPr id="3" name="Text 1"/>
          <p:cNvSpPr txBox="1"/>
          <p:nvPr/>
        </p:nvSpPr>
        <p:spPr>
          <a:xfrm>
            <a:off x="457200" y="877824"/>
            <a:ext cx="11247120" cy="365760"/>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Note-based rate, the ten largest markets by call volume.</a:t>
            </a:r>
            <a:endParaRPr lang="en-US" sz="1350" dirty="0"/>
          </a:p>
        </p:txBody>
      </p:sp>
      <p:graphicFrame>
        <p:nvGraphicFramePr>
          <p:cNvPr id="4" name="Chart 0" descr=""/>
          <p:cNvGraphicFramePr/>
          <p:nvPr/>
        </p:nvGraphicFramePr>
        <p:xfrm>
          <a:off x="457200" y="1325880"/>
          <a:ext cx="11247120" cy="29260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38912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663440"/>
            <a:ext cx="11247120" cy="1645920"/>
          </a:xfrm>
          <a:prstGeom prst="rect">
            <a:avLst/>
          </a:prstGeom>
          <a:noFill/>
          <a:ln/>
        </p:spPr>
        <p:txBody>
          <a:bodyPr wrap="square" rtlCol="0" anchor="t"/>
          <a:lstStyle/>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Seattle runs highest on both measures, 35.1% and 19.8%. Rochester runs lowest of the ten, 11.6% and 2.4%</a:t>
            </a:r>
            <a:endParaRPr lang="en-US" sz="1350" dirty="0"/>
          </a:p>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Seattle accounts for 2,677 of the 7,081 behavioral health codes entered across the file, 37.8%, while carrying 10.9% of total call volume</a:t>
            </a:r>
            <a:endParaRPr lang="en-US" sz="1350" dirty="0"/>
          </a:p>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Eight of these ten markets fall between 11.6% and 17.3% on behavioral health mentioned anywhere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66928"/>
          </a:xfrm>
          <a:prstGeom prst="rect">
            <a:avLst/>
          </a:prstGeom>
          <a:noFill/>
          <a:ln/>
        </p:spPr>
        <p:txBody>
          <a:bodyPr wrap="square" rtlCol="0" anchor="t"/>
          <a:lstStyle/>
          <a:p>
            <a:pPr indent="0" marL="0">
              <a:buNone/>
            </a:pPr>
            <a:r>
              <a:rPr lang="en-US" sz="2600" b="1" dirty="0">
                <a:solidFill>
                  <a:srgbClr val="222222"/>
                </a:solidFill>
                <a:latin typeface="Calibri" pitchFamily="34" charset="0"/>
                <a:ea typeface="Calibri" pitchFamily="34" charset="-122"/>
                <a:cs typeface="Calibri" pitchFamily="34" charset="-120"/>
              </a:rPr>
              <a:t>What each count measures</a:t>
            </a:r>
            <a:endParaRPr lang="en-US" sz="2600" dirty="0"/>
          </a:p>
        </p:txBody>
      </p:sp>
      <p:sp>
        <p:nvSpPr>
          <p:cNvPr id="3" name="Text 1"/>
          <p:cNvSpPr txBox="1"/>
          <p:nvPr/>
        </p:nvSpPr>
        <p:spPr>
          <a:xfrm>
            <a:off x="457200" y="877824"/>
            <a:ext cx="11247120" cy="365760"/>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All three describe the same 23 months of calls.</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2286000"/>
                <a:gridCol w="4572000"/>
                <a:gridCol w="4389120"/>
              </a:tblGrid>
              <a:tr h="384048">
                <a:tc>
                  <a:txBody>
                    <a:bodyPr/>
                    <a:lstStyle/>
                    <a:p>
                      <a:pPr indent="0" marL="0">
                        <a:buNone/>
                      </a:pPr>
                      <a:r>
                        <a:rPr lang="en-US" sz="1250" b="1" dirty="0">
                          <a:solidFill>
                            <a:srgbClr val="222222"/>
                          </a:solidFill>
                          <a:latin typeface="Calibri" pitchFamily="34" charset="0"/>
                          <a:ea typeface="Calibri" pitchFamily="34" charset="-122"/>
                          <a:cs typeface="Calibri" pitchFamily="34" charset="-120"/>
                        </a:rPr>
                        <a:t>Count</a:t>
                      </a:r>
                      <a:endParaRPr lang="en-US" sz="1250" dirty="0">
                        <a:latin typeface="Calibri" charset="0"/>
                        <a:ea typeface="Calibri" charset="0"/>
                        <a:cs typeface="Calibri" charset="0"/>
                      </a:endParaRPr>
                    </a:p>
                  </a:txBody>
                  <a:tcPr marL="88900" marR="88900" marT="88900" marB="889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50" b="1" dirty="0">
                          <a:solidFill>
                            <a:srgbClr val="222222"/>
                          </a:solidFill>
                          <a:latin typeface="Calibri" pitchFamily="34" charset="0"/>
                          <a:ea typeface="Calibri" pitchFamily="34" charset="-122"/>
                          <a:cs typeface="Calibri" pitchFamily="34" charset="-120"/>
                        </a:rPr>
                        <a:t>What it counts</a:t>
                      </a:r>
                      <a:endParaRPr lang="en-US" sz="1250" dirty="0">
                        <a:latin typeface="Calibri" charset="0"/>
                        <a:ea typeface="Calibri" charset="0"/>
                        <a:cs typeface="Calibri" charset="0"/>
                      </a:endParaRPr>
                    </a:p>
                  </a:txBody>
                  <a:tcPr marL="88900" marR="88900" marT="88900" marB="889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50" b="1" dirty="0">
                          <a:solidFill>
                            <a:srgbClr val="222222"/>
                          </a:solidFill>
                          <a:latin typeface="Calibri" pitchFamily="34" charset="0"/>
                          <a:ea typeface="Calibri" pitchFamily="34" charset="-122"/>
                          <a:cs typeface="Calibri" pitchFamily="34" charset="-120"/>
                        </a:rPr>
                        <a:t>What it does not count</a:t>
                      </a:r>
                      <a:endParaRPr lang="en-US" sz="1250" dirty="0">
                        <a:latin typeface="Calibri" charset="0"/>
                        <a:ea typeface="Calibri" charset="0"/>
                        <a:cs typeface="Calibri" charset="0"/>
                      </a:endParaRPr>
                    </a:p>
                  </a:txBody>
                  <a:tcPr marL="88900" marR="88900" marT="88900" marB="889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777240">
                <a:tc>
                  <a:txBody>
                    <a:bodyPr/>
                    <a:lstStyle/>
                    <a:p>
                      <a:pPr indent="0" marL="0">
                        <a:buNone/>
                      </a:pPr>
                      <a:r>
                        <a:rPr lang="en-US" sz="1250" b="1" dirty="0">
                          <a:solidFill>
                            <a:srgbClr val="0B2545"/>
                          </a:solidFill>
                          <a:latin typeface="Calibri" pitchFamily="34" charset="0"/>
                          <a:ea typeface="Calibri" pitchFamily="34" charset="-122"/>
                          <a:cs typeface="Calibri" pitchFamily="34" charset="-120"/>
                        </a:rPr>
                        <a:t>7,081 calls</a:t>
                      </a:r>
                      <a:endParaRPr lang="en-US" sz="1250" dirty="0">
                        <a:latin typeface="Calibri" charset="0"/>
                        <a:ea typeface="Calibri" charset="0"/>
                        <a:cs typeface="Calibri" charset="0"/>
                      </a:endParaRPr>
                    </a:p>
                    <a:p>
                      <a:pPr indent="0" marL="0">
                        <a:buNone/>
                      </a:pPr>
                      <a:r>
                        <a:rPr lang="en-US" sz="1250" b="1" dirty="0">
                          <a:solidFill>
                            <a:srgbClr val="0B2545"/>
                          </a:solidFill>
                          <a:latin typeface="Calibri" pitchFamily="34" charset="0"/>
                          <a:ea typeface="Calibri" pitchFamily="34" charset="-122"/>
                          <a:cs typeface="Calibri" pitchFamily="34" charset="-120"/>
                        </a:rPr>
                        <a:t>4.7% of volume</a:t>
                      </a:r>
                      <a:endParaRPr lang="en-US" sz="1250" dirty="0">
                        <a:latin typeface="Calibri" charset="0"/>
                        <a:ea typeface="Calibri" charset="0"/>
                        <a:cs typeface="Calibri" charset="0"/>
                      </a:endParaRPr>
                    </a:p>
                  </a:txBody>
                  <a:tcPr marL="88900" marR="88900" marT="88900" marB="889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222222"/>
                          </a:solidFill>
                          <a:latin typeface="Calibri" pitchFamily="34" charset="0"/>
                          <a:ea typeface="Calibri" pitchFamily="34" charset="-122"/>
                          <a:cs typeface="Calibri" pitchFamily="34" charset="-120"/>
                        </a:rPr>
                        <a:t>A behavioral health code was entered on the call record</a:t>
                      </a:r>
                      <a:endParaRPr lang="en-US" sz="1250" dirty="0">
                        <a:latin typeface="Calibri" charset="0"/>
                        <a:ea typeface="Calibri" charset="0"/>
                        <a:cs typeface="Calibri" charset="0"/>
                      </a:endParaRPr>
                    </a:p>
                  </a:txBody>
                  <a:tcPr marL="88900" marR="88900" marT="88900" marB="889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222222"/>
                          </a:solidFill>
                          <a:latin typeface="Calibri" pitchFamily="34" charset="0"/>
                          <a:ea typeface="Calibri" pitchFamily="34" charset="-122"/>
                          <a:cs typeface="Calibri" pitchFamily="34" charset="-120"/>
                        </a:rPr>
                        <a:t>Calls where behavioral health was present but no code was entered</a:t>
                      </a:r>
                      <a:endParaRPr lang="en-US" sz="1250" dirty="0">
                        <a:latin typeface="Calibri" charset="0"/>
                        <a:ea typeface="Calibri" charset="0"/>
                        <a:cs typeface="Calibri" charset="0"/>
                      </a:endParaRPr>
                    </a:p>
                  </a:txBody>
                  <a:tcPr marL="88900" marR="88900" marT="88900" marB="889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777240">
                <a:tc>
                  <a:txBody>
                    <a:bodyPr/>
                    <a:lstStyle/>
                    <a:p>
                      <a:pPr indent="0" marL="0">
                        <a:buNone/>
                      </a:pPr>
                      <a:r>
                        <a:rPr lang="en-US" sz="1250" b="1" dirty="0">
                          <a:solidFill>
                            <a:srgbClr val="028090"/>
                          </a:solidFill>
                          <a:latin typeface="Calibri" pitchFamily="34" charset="0"/>
                          <a:ea typeface="Calibri" pitchFamily="34" charset="-122"/>
                          <a:cs typeface="Calibri" pitchFamily="34" charset="-120"/>
                        </a:rPr>
                        <a:t>9,421 calls</a:t>
                      </a:r>
                      <a:endParaRPr lang="en-US" sz="1250" dirty="0">
                        <a:latin typeface="Calibri" charset="0"/>
                        <a:ea typeface="Calibri" charset="0"/>
                        <a:cs typeface="Calibri" charset="0"/>
                      </a:endParaRPr>
                    </a:p>
                    <a:p>
                      <a:pPr indent="0" marL="0">
                        <a:buNone/>
                      </a:pPr>
                      <a:r>
                        <a:rPr lang="en-US" sz="1250" b="1" dirty="0">
                          <a:solidFill>
                            <a:srgbClr val="028090"/>
                          </a:solidFill>
                          <a:latin typeface="Calibri" pitchFamily="34" charset="0"/>
                          <a:ea typeface="Calibri" pitchFamily="34" charset="-122"/>
                          <a:cs typeface="Calibri" pitchFamily="34" charset="-120"/>
                        </a:rPr>
                        <a:t>6.3% of volume</a:t>
                      </a:r>
                      <a:endParaRPr lang="en-US" sz="1250" dirty="0">
                        <a:latin typeface="Calibri" charset="0"/>
                        <a:ea typeface="Calibri" charset="0"/>
                        <a:cs typeface="Calibri" charset="0"/>
                      </a:endParaRPr>
                    </a:p>
                  </a:txBody>
                  <a:tcPr marL="88900" marR="88900" marT="88900" marB="889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222222"/>
                          </a:solidFill>
                          <a:latin typeface="Calibri" pitchFamily="34" charset="0"/>
                          <a:ea typeface="Calibri" pitchFamily="34" charset="-122"/>
                          <a:cs typeface="Calibri" pitchFamily="34" charset="-120"/>
                        </a:rPr>
                        <a:t>The note describes behavioral health as the reason for the call</a:t>
                      </a:r>
                      <a:endParaRPr lang="en-US" sz="1250" dirty="0">
                        <a:latin typeface="Calibri" charset="0"/>
                        <a:ea typeface="Calibri" charset="0"/>
                        <a:cs typeface="Calibri" charset="0"/>
                      </a:endParaRPr>
                    </a:p>
                  </a:txBody>
                  <a:tcPr marL="88900" marR="88900" marT="88900" marB="889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222222"/>
                          </a:solidFill>
                          <a:latin typeface="Calibri" pitchFamily="34" charset="0"/>
                          <a:ea typeface="Calibri" pitchFamily="34" charset="-122"/>
                          <a:cs typeface="Calibri" pitchFamily="34" charset="-120"/>
                        </a:rPr>
                        <a:t>Calls where behavioral health is present alongside another complaint</a:t>
                      </a:r>
                      <a:endParaRPr lang="en-US" sz="1250" dirty="0">
                        <a:latin typeface="Calibri" charset="0"/>
                        <a:ea typeface="Calibri" charset="0"/>
                        <a:cs typeface="Calibri" charset="0"/>
                      </a:endParaRPr>
                    </a:p>
                  </a:txBody>
                  <a:tcPr marL="88900" marR="88900" marT="88900" marB="889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68680">
                <a:tc>
                  <a:txBody>
                    <a:bodyPr/>
                    <a:lstStyle/>
                    <a:p>
                      <a:pPr indent="0" marL="0">
                        <a:buNone/>
                      </a:pPr>
                      <a:r>
                        <a:rPr lang="en-US" sz="1250" b="1" dirty="0">
                          <a:solidFill>
                            <a:srgbClr val="595959"/>
                          </a:solidFill>
                          <a:latin typeface="Calibri" pitchFamily="34" charset="0"/>
                          <a:ea typeface="Calibri" pitchFamily="34" charset="-122"/>
                          <a:cs typeface="Calibri" pitchFamily="34" charset="-120"/>
                        </a:rPr>
                        <a:t>25,065 calls</a:t>
                      </a:r>
                      <a:endParaRPr lang="en-US" sz="1250" dirty="0">
                        <a:latin typeface="Calibri" charset="0"/>
                        <a:ea typeface="Calibri" charset="0"/>
                        <a:cs typeface="Calibri" charset="0"/>
                      </a:endParaRPr>
                    </a:p>
                    <a:p>
                      <a:pPr indent="0" marL="0">
                        <a:buNone/>
                      </a:pPr>
                      <a:r>
                        <a:rPr lang="en-US" sz="1250" b="1" dirty="0">
                          <a:solidFill>
                            <a:srgbClr val="595959"/>
                          </a:solidFill>
                          <a:latin typeface="Calibri" pitchFamily="34" charset="0"/>
                          <a:ea typeface="Calibri" pitchFamily="34" charset="-122"/>
                          <a:cs typeface="Calibri" pitchFamily="34" charset="-120"/>
                        </a:rPr>
                        <a:t>16.7% of volume</a:t>
                      </a:r>
                      <a:endParaRPr lang="en-US" sz="1250" dirty="0">
                        <a:latin typeface="Calibri" charset="0"/>
                        <a:ea typeface="Calibri" charset="0"/>
                        <a:cs typeface="Calibri" charset="0"/>
                      </a:endParaRPr>
                    </a:p>
                  </a:txBody>
                  <a:tcPr marL="88900" marR="88900" marT="88900" marB="889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222222"/>
                          </a:solidFill>
                          <a:latin typeface="Calibri" pitchFamily="34" charset="0"/>
                          <a:ea typeface="Calibri" pitchFamily="34" charset="-122"/>
                          <a:cs typeface="Calibri" pitchFamily="34" charset="-120"/>
                        </a:rPr>
                        <a:t>The note mentions behavioral health anywhere, including alongside another complaint</a:t>
                      </a:r>
                      <a:endParaRPr lang="en-US" sz="1250" dirty="0">
                        <a:latin typeface="Calibri" charset="0"/>
                        <a:ea typeface="Calibri" charset="0"/>
                        <a:cs typeface="Calibri" charset="0"/>
                      </a:endParaRPr>
                    </a:p>
                  </a:txBody>
                  <a:tcPr marL="88900" marR="88900" marT="88900" marB="889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222222"/>
                          </a:solidFill>
                          <a:latin typeface="Calibri" pitchFamily="34" charset="0"/>
                          <a:ea typeface="Calibri" pitchFamily="34" charset="-122"/>
                          <a:cs typeface="Calibri" pitchFamily="34" charset="-120"/>
                        </a:rPr>
                        <a:t>Behavioral health that was present but not written in the note</a:t>
                      </a:r>
                      <a:endParaRPr lang="en-US" sz="1250" dirty="0">
                        <a:latin typeface="Calibri" charset="0"/>
                        <a:ea typeface="Calibri" charset="0"/>
                        <a:cs typeface="Calibri" charset="0"/>
                      </a:endParaRPr>
                    </a:p>
                  </a:txBody>
                  <a:tcPr marL="88900" marR="88900" marT="88900" marB="889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5" name="Text 2"/>
          <p:cNvSpPr txBox="1"/>
          <p:nvPr/>
        </p:nvSpPr>
        <p:spPr>
          <a:xfrm>
            <a:off x="457200" y="4572000"/>
            <a:ext cx="11247120" cy="1645920"/>
          </a:xfrm>
          <a:prstGeom prst="rect">
            <a:avLst/>
          </a:prstGeom>
          <a:noFill/>
          <a:ln/>
        </p:spPr>
        <p:txBody>
          <a:bodyPr wrap="square" rtlCol="0" anchor="t"/>
          <a:lstStyle/>
          <a:p>
            <a:pPr indent="0" marL="0">
              <a:lnSpc>
                <a:spcPts val="1900"/>
              </a:lnSpc>
              <a:buNone/>
            </a:pPr>
            <a:r>
              <a:rPr lang="en-US" sz="1350" dirty="0">
                <a:solidFill>
                  <a:srgbClr val="222222"/>
                </a:solidFill>
                <a:latin typeface="Calibri" pitchFamily="34" charset="0"/>
                <a:ea typeface="Calibri" pitchFamily="34" charset="-122"/>
                <a:cs typeface="Calibri" pitchFamily="34" charset="-120"/>
              </a:rPr>
              <a:t>The 7,081 coded calls and the 9,421 note-based calls are not competing estimates of the same thing. The first is what was entered in a field. The second is what the calls were about. The difference of roughly 2,300 calls over 23 months is behavioral health that reached the nurse note and not the coded field.</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66928"/>
          </a:xfrm>
          <a:prstGeom prst="rect">
            <a:avLst/>
          </a:prstGeom>
          <a:noFill/>
          <a:ln/>
        </p:spPr>
        <p:txBody>
          <a:bodyPr wrap="square" rtlCol="0" anchor="t"/>
          <a:lstStyle/>
          <a:p>
            <a:pPr indent="0" marL="0">
              <a:buNone/>
            </a:pPr>
            <a:r>
              <a:rPr lang="en-US" sz="2600" b="1" dirty="0">
                <a:solidFill>
                  <a:srgbClr val="222222"/>
                </a:solidFill>
                <a:latin typeface="Calibri" pitchFamily="34" charset="0"/>
                <a:ea typeface="Calibri" pitchFamily="34" charset="-122"/>
                <a:cs typeface="Calibri" pitchFamily="34" charset="-120"/>
              </a:rPr>
              <a:t>Summary</a:t>
            </a:r>
            <a:endParaRPr lang="en-US" sz="2600" dirty="0"/>
          </a:p>
        </p:txBody>
      </p:sp>
      <p:sp>
        <p:nvSpPr>
          <p:cNvPr id="3" name="Text 1"/>
          <p:cNvSpPr txBox="1"/>
          <p:nvPr/>
        </p:nvSpPr>
        <p:spPr>
          <a:xfrm>
            <a:off x="457200" y="1234440"/>
            <a:ext cx="11247120" cy="4846320"/>
          </a:xfrm>
          <a:prstGeom prst="rect">
            <a:avLst/>
          </a:prstGeom>
          <a:noFill/>
          <a:ln/>
        </p:spPr>
        <p:txBody>
          <a:bodyPr wrap="square" rtlCol="0" anchor="t"/>
          <a:lstStyle/>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Every note on all 150,003 calls was read. The figures are counts, not estimates, and carry no range</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The coded count and the note-based count largely agree. On the 7,081 calls carrying a behavioral health code, the model confirms behavioral health on 6,840, 96.6%, and agrees it was the reason for the call on 6,340, 89.5%</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Behavioral health was the reason for the call on 9,421 calls, 6.3% of volume, against 7,081 coded, 4.7%. The difference is 2,340 calls over 23 months</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Of those 9,421 calls, 6,340 already carry a code. The 3,081 that do not are the addition the note read makes to the recorded figure</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Behavioral health appears as a secondary factor on a further 15,644 calls, on calls logged under another complaint</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Anxiety or panic is the largest category at 28.3% of behavioral health calls, followed by substance use or overdose at 22.9%</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Seattle accounts for 37.8% of every behavioral health code entered across the file while carrying 10.9% of the call volume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2026-10-26T15:42:29Z</dcterms:created>
  <dcterms:modified xsi:type="dcterms:W3CDTF">2026-10-26T15:42:29Z</dcterms:modified>
</cp:coreProperties>
</file>