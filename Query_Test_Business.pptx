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2"/>
    <p:sldId id="258" r:id="rId3"/>
    <p:sldId id="259" r:id="rId4"/>
    <p:sldId id="261" r:id="rId5"/>
    <p:sldId id="262" r:id="rId6"/>
    <p:sldId id="263" r:id="rId7"/>
    <p:sldId id="264" r:id="rId8"/>
    <p:sldId id="265" r:id="rId9"/>
    <p:sldId id="266" r:id="rId10"/>
    <p:sldId id="267" r:id="rId11"/>
    <p:sldId id="269"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5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Records matched</c:v>
                </c:pt>
              </c:strCache>
            </c:strRef>
          </c:tx>
          <c:spPr>
            <a:solidFill>
              <a:srgbClr val="4C78A8"/>
            </a:solidFill>
            <a:effectLst/>
          </c:spPr>
          <c:invertIfNegative val="0"/>
          <c:dPt>
            <c:idx val="0"/>
            <c:invertIfNegative val="0"/>
            <c:bubble3D val="0"/>
            <c:spPr>
              <a:solidFill>
                <a:srgbClr val="4C78A8"/>
              </a:solidFill>
              <a:effectLst/>
            </c:spPr>
            <c:extLst>
              <c:ext xmlns:c16="http://schemas.microsoft.com/office/drawing/2014/chart" uri="{C3380CC4-5D6E-409C-BE32-E72D297353CC}">
                <c16:uniqueId val="{00000001-4D0B-1846-9D1D-11F250D1B981}"/>
              </c:ext>
            </c:extLst>
          </c:dPt>
          <c:dPt>
            <c:idx val="1"/>
            <c:invertIfNegative val="0"/>
            <c:bubble3D val="0"/>
            <c:spPr>
              <a:solidFill>
                <a:srgbClr val="F58518"/>
              </a:solidFill>
              <a:effectLst/>
            </c:spPr>
            <c:extLst>
              <c:ext xmlns:c16="http://schemas.microsoft.com/office/drawing/2014/chart" uri="{C3380CC4-5D6E-409C-BE32-E72D297353CC}">
                <c16:uniqueId val="{00000003-4D0B-1846-9D1D-11F250D1B981}"/>
              </c:ext>
            </c:extLst>
          </c:dPt>
          <c:dLbls>
            <c:numFmt formatCode="#,##0.0,,&quot;M&quot;" sourceLinked="0"/>
            <c:spPr>
              <a:noFill/>
              <a:ln>
                <a:noFill/>
              </a:ln>
              <a:effectLst/>
            </c:spPr>
            <c:txPr>
              <a:bodyPr/>
              <a:lstStyle/>
              <a:p>
                <a:pPr>
                  <a:defRPr sz="11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v6</c:v>
                </c:pt>
                <c:pt idx="1">
                  <c:v>v7</c:v>
                </c:pt>
              </c:strCache>
            </c:strRef>
          </c:cat>
          <c:val>
            <c:numRef>
              <c:f>Sheet1!$B$2:$B$3</c:f>
              <c:numCache>
                <c:formatCode>General</c:formatCode>
                <c:ptCount val="2"/>
                <c:pt idx="0">
                  <c:v>18029235</c:v>
                </c:pt>
                <c:pt idx="1">
                  <c:v>4802936</c:v>
                </c:pt>
              </c:numCache>
            </c:numRef>
          </c:val>
          <c:extLst>
            <c:ext xmlns:c16="http://schemas.microsoft.com/office/drawing/2014/chart" uri="{C3380CC4-5D6E-409C-BE32-E72D297353CC}">
              <c16:uniqueId val="{00000004-4D0B-1846-9D1D-11F250D1B98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max val="20000000"/>
        </c:scaling>
        <c:delete val="0"/>
        <c:axPos val="l"/>
        <c:majorGridlines>
          <c:spPr>
            <a:ln w="12700" cap="flat">
              <a:solidFill>
                <a:srgbClr val="E8E8E8"/>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v6</c:v>
                </c:pt>
              </c:strCache>
            </c:strRef>
          </c:tx>
          <c:spPr>
            <a:solidFill>
              <a:srgbClr val="4C78A8"/>
            </a:solidFill>
            <a:effectLst/>
          </c:spPr>
          <c:invertIfNegative val="0"/>
          <c:dLbls>
            <c:numFmt formatCode="#,##0" sourceLinked="0"/>
            <c:spPr>
              <a:noFill/>
              <a:ln>
                <a:noFill/>
              </a:ln>
              <a:effectLst/>
            </c:spPr>
            <c:txPr>
              <a:bodyPr/>
              <a:lstStyle/>
              <a:p>
                <a:pPr>
                  <a:defRPr sz="11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typical</c:v>
                </c:pt>
                <c:pt idx="1">
                  <c:v>worst 5 pct</c:v>
                </c:pt>
                <c:pt idx="2">
                  <c:v>worst 1 pct</c:v>
                </c:pt>
              </c:strCache>
            </c:strRef>
          </c:cat>
          <c:val>
            <c:numRef>
              <c:f>Sheet1!$B$2:$B$4</c:f>
              <c:numCache>
                <c:formatCode>General</c:formatCode>
                <c:ptCount val="3"/>
                <c:pt idx="0">
                  <c:v>671</c:v>
                </c:pt>
                <c:pt idx="1">
                  <c:v>695</c:v>
                </c:pt>
                <c:pt idx="2">
                  <c:v>722</c:v>
                </c:pt>
              </c:numCache>
            </c:numRef>
          </c:val>
          <c:extLst>
            <c:ext xmlns:c16="http://schemas.microsoft.com/office/drawing/2014/chart" uri="{C3380CC4-5D6E-409C-BE32-E72D297353CC}">
              <c16:uniqueId val="{00000000-A484-F140-BA85-AB6A64B824D5}"/>
            </c:ext>
          </c:extLst>
        </c:ser>
        <c:ser>
          <c:idx val="1"/>
          <c:order val="1"/>
          <c:tx>
            <c:strRef>
              <c:f>Sheet1!$C$1</c:f>
              <c:strCache>
                <c:ptCount val="1"/>
                <c:pt idx="0">
                  <c:v>v7</c:v>
                </c:pt>
              </c:strCache>
            </c:strRef>
          </c:tx>
          <c:spPr>
            <a:solidFill>
              <a:srgbClr val="F58518"/>
            </a:solidFill>
            <a:effectLst/>
          </c:spPr>
          <c:invertIfNegative val="0"/>
          <c:dLbls>
            <c:numFmt formatCode="#,##0" sourceLinked="0"/>
            <c:spPr>
              <a:noFill/>
              <a:ln>
                <a:noFill/>
              </a:ln>
              <a:effectLst/>
            </c:spPr>
            <c:txPr>
              <a:bodyPr/>
              <a:lstStyle/>
              <a:p>
                <a:pPr>
                  <a:defRPr sz="11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typical</c:v>
                </c:pt>
                <c:pt idx="1">
                  <c:v>worst 5 pct</c:v>
                </c:pt>
                <c:pt idx="2">
                  <c:v>worst 1 pct</c:v>
                </c:pt>
              </c:strCache>
            </c:strRef>
          </c:cat>
          <c:val>
            <c:numRef>
              <c:f>Sheet1!$C$2:$C$4</c:f>
              <c:numCache>
                <c:formatCode>General</c:formatCode>
                <c:ptCount val="3"/>
                <c:pt idx="0">
                  <c:v>561</c:v>
                </c:pt>
                <c:pt idx="1">
                  <c:v>592</c:v>
                </c:pt>
                <c:pt idx="2">
                  <c:v>594</c:v>
                </c:pt>
              </c:numCache>
            </c:numRef>
          </c:val>
          <c:extLst>
            <c:ext xmlns:c16="http://schemas.microsoft.com/office/drawing/2014/chart" uri="{C3380CC4-5D6E-409C-BE32-E72D297353CC}">
              <c16:uniqueId val="{00000001-A484-F140-BA85-AB6A64B824D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lang="en-US" sz="1100" b="0" i="0" u="none" strike="noStrike">
                    <a:solidFill>
                      <a:srgbClr val="666666"/>
                    </a:solidFill>
                    <a:latin typeface="Arial"/>
                  </a:rPr>
                  <a:t>milliseconds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a:solidFill>
                <a:srgbClr val="666666"/>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shard</c:v>
                </c:pt>
              </c:strCache>
            </c:strRef>
          </c:tx>
          <c:spPr>
            <a:solidFill>
              <a:srgbClr val="4C78A8"/>
            </a:solidFill>
            <a:effectLst/>
          </c:spPr>
          <c:invertIfNegative val="0"/>
          <c:cat>
            <c:strRef>
              <c:f>Sheet1!$A$2:$A$22</c:f>
              <c:strCach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strCache>
            </c:strRef>
          </c:cat>
          <c:val>
            <c:numRef>
              <c:f>Sheet1!$B$2:$B$22</c:f>
              <c:numCache>
                <c:formatCode>General</c:formatCode>
                <c:ptCount val="21"/>
                <c:pt idx="0">
                  <c:v>658</c:v>
                </c:pt>
                <c:pt idx="1">
                  <c:v>613</c:v>
                </c:pt>
                <c:pt idx="2">
                  <c:v>0</c:v>
                </c:pt>
                <c:pt idx="3">
                  <c:v>621</c:v>
                </c:pt>
                <c:pt idx="4">
                  <c:v>617</c:v>
                </c:pt>
                <c:pt idx="5">
                  <c:v>610</c:v>
                </c:pt>
                <c:pt idx="6">
                  <c:v>655</c:v>
                </c:pt>
                <c:pt idx="7">
                  <c:v>593</c:v>
                </c:pt>
                <c:pt idx="8">
                  <c:v>615</c:v>
                </c:pt>
                <c:pt idx="9">
                  <c:v>675</c:v>
                </c:pt>
                <c:pt idx="10">
                  <c:v>634</c:v>
                </c:pt>
                <c:pt idx="11">
                  <c:v>620</c:v>
                </c:pt>
                <c:pt idx="12">
                  <c:v>575</c:v>
                </c:pt>
                <c:pt idx="13">
                  <c:v>616</c:v>
                </c:pt>
                <c:pt idx="14">
                  <c:v>653</c:v>
                </c:pt>
                <c:pt idx="15">
                  <c:v>591</c:v>
                </c:pt>
                <c:pt idx="16">
                  <c:v>592</c:v>
                </c:pt>
                <c:pt idx="17">
                  <c:v>624</c:v>
                </c:pt>
                <c:pt idx="18">
                  <c:v>613</c:v>
                </c:pt>
                <c:pt idx="19">
                  <c:v>614</c:v>
                </c:pt>
                <c:pt idx="20">
                  <c:v>654</c:v>
                </c:pt>
              </c:numCache>
            </c:numRef>
          </c:val>
          <c:extLst>
            <c:ext xmlns:c16="http://schemas.microsoft.com/office/drawing/2014/chart" uri="{C3380CC4-5D6E-409C-BE32-E72D297353CC}">
              <c16:uniqueId val="{00000000-B6D4-B64E-A57E-2B35E5761C5F}"/>
            </c:ext>
          </c:extLst>
        </c:ser>
        <c:ser>
          <c:idx val="1"/>
          <c:order val="1"/>
          <c:tx>
            <c:strRef>
              <c:f>Sheet1!$C$1</c:f>
              <c:strCache>
                <c:ptCount val="1"/>
                <c:pt idx="0">
                  <c:v>slowest</c:v>
                </c:pt>
              </c:strCache>
            </c:strRef>
          </c:tx>
          <c:spPr>
            <a:solidFill>
              <a:srgbClr val="C0392B"/>
            </a:solidFill>
            <a:effectLst/>
          </c:spPr>
          <c:invertIfNegative val="0"/>
          <c:cat>
            <c:strRef>
              <c:f>Sheet1!$A$2:$A$22</c:f>
              <c:strCach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strCache>
            </c:strRef>
          </c:cat>
          <c:val>
            <c:numRef>
              <c:f>Sheet1!$C$2:$C$22</c:f>
              <c:numCache>
                <c:formatCode>General</c:formatCode>
                <c:ptCount val="21"/>
                <c:pt idx="0">
                  <c:v>0</c:v>
                </c:pt>
                <c:pt idx="1">
                  <c:v>0</c:v>
                </c:pt>
                <c:pt idx="2">
                  <c:v>720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extLst>
            <c:ext xmlns:c16="http://schemas.microsoft.com/office/drawing/2014/chart" uri="{C3380CC4-5D6E-409C-BE32-E72D297353CC}">
              <c16:uniqueId val="{00000001-B6D4-B64E-A57E-2B35E5761C5F}"/>
            </c:ext>
          </c:extLst>
        </c:ser>
        <c:dLbls>
          <c:showLegendKey val="0"/>
          <c:showVal val="0"/>
          <c:showCatName val="0"/>
          <c:showSerName val="0"/>
          <c:showPercent val="0"/>
          <c:showBubbleSize val="0"/>
        </c:dLbls>
        <c:gapWidth val="35"/>
        <c:overlap val="100"/>
        <c:axId val="2094734554"/>
        <c:axId val="2094734552"/>
      </c:barChart>
      <c:catAx>
        <c:axId val="2094734554"/>
        <c:scaling>
          <c:orientation val="minMax"/>
        </c:scaling>
        <c:delete val="0"/>
        <c:axPos val="b"/>
        <c:title>
          <c:tx>
            <c:rich>
              <a:bodyPr/>
              <a:lstStyle/>
              <a:p>
                <a:pPr>
                  <a:defRPr sz="1100" b="0" i="0" u="none" strike="noStrike">
                    <a:solidFill>
                      <a:srgbClr val="666666"/>
                    </a:solidFill>
                    <a:latin typeface="Arial"/>
                  </a:defRPr>
                </a:pPr>
                <a:r>
                  <a:rPr lang="en-US" sz="1100" b="0" i="0" u="none" strike="noStrike">
                    <a:solidFill>
                      <a:srgbClr val="666666"/>
                    </a:solidFill>
                    <a:latin typeface="Arial"/>
                  </a:rPr>
                  <a:t>shard number</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max val="800"/>
        </c:scaling>
        <c:delete val="0"/>
        <c:axPos val="l"/>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lang="en-US" sz="1100" b="0" i="0" u="none" strike="noStrike">
                    <a:solidFill>
                      <a:srgbClr val="666666"/>
                    </a:solidFill>
                    <a:latin typeface="Arial"/>
                  </a:rPr>
                  <a:t>milliseconds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shard</c:v>
                </c:pt>
              </c:strCache>
            </c:strRef>
          </c:tx>
          <c:spPr>
            <a:solidFill>
              <a:srgbClr val="F58518"/>
            </a:solidFill>
            <a:effectLst/>
          </c:spPr>
          <c:invertIfNegative val="0"/>
          <c:cat>
            <c:strRef>
              <c:f>Sheet1!$A$2:$A$22</c:f>
              <c:strCach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strCache>
            </c:strRef>
          </c:cat>
          <c:val>
            <c:numRef>
              <c:f>Sheet1!$B$2:$B$22</c:f>
              <c:numCache>
                <c:formatCode>General</c:formatCode>
                <c:ptCount val="21"/>
                <c:pt idx="0">
                  <c:v>313</c:v>
                </c:pt>
                <c:pt idx="1">
                  <c:v>270</c:v>
                </c:pt>
                <c:pt idx="2">
                  <c:v>302</c:v>
                </c:pt>
                <c:pt idx="3">
                  <c:v>235</c:v>
                </c:pt>
                <c:pt idx="4">
                  <c:v>298</c:v>
                </c:pt>
                <c:pt idx="5">
                  <c:v>368</c:v>
                </c:pt>
                <c:pt idx="6">
                  <c:v>277</c:v>
                </c:pt>
                <c:pt idx="7">
                  <c:v>313</c:v>
                </c:pt>
                <c:pt idx="8">
                  <c:v>298</c:v>
                </c:pt>
                <c:pt idx="9">
                  <c:v>287</c:v>
                </c:pt>
                <c:pt idx="10">
                  <c:v>317</c:v>
                </c:pt>
                <c:pt idx="11">
                  <c:v>277</c:v>
                </c:pt>
                <c:pt idx="12">
                  <c:v>390</c:v>
                </c:pt>
                <c:pt idx="13">
                  <c:v>264</c:v>
                </c:pt>
                <c:pt idx="14">
                  <c:v>303</c:v>
                </c:pt>
                <c:pt idx="15">
                  <c:v>0</c:v>
                </c:pt>
                <c:pt idx="16">
                  <c:v>287</c:v>
                </c:pt>
                <c:pt idx="17">
                  <c:v>310</c:v>
                </c:pt>
                <c:pt idx="18">
                  <c:v>270</c:v>
                </c:pt>
                <c:pt idx="19">
                  <c:v>308</c:v>
                </c:pt>
                <c:pt idx="20">
                  <c:v>266</c:v>
                </c:pt>
              </c:numCache>
            </c:numRef>
          </c:val>
          <c:extLst>
            <c:ext xmlns:c16="http://schemas.microsoft.com/office/drawing/2014/chart" uri="{C3380CC4-5D6E-409C-BE32-E72D297353CC}">
              <c16:uniqueId val="{00000000-E60D-F04D-A221-7624EC2A2710}"/>
            </c:ext>
          </c:extLst>
        </c:ser>
        <c:ser>
          <c:idx val="1"/>
          <c:order val="1"/>
          <c:tx>
            <c:strRef>
              <c:f>Sheet1!$C$1</c:f>
              <c:strCache>
                <c:ptCount val="1"/>
                <c:pt idx="0">
                  <c:v>slowest</c:v>
                </c:pt>
              </c:strCache>
            </c:strRef>
          </c:tx>
          <c:spPr>
            <a:solidFill>
              <a:srgbClr val="C0392B"/>
            </a:solidFill>
            <a:effectLst/>
          </c:spPr>
          <c:invertIfNegative val="0"/>
          <c:cat>
            <c:strRef>
              <c:f>Sheet1!$A$2:$A$22</c:f>
              <c:strCach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527</c:v>
                </c:pt>
                <c:pt idx="16">
                  <c:v>0</c:v>
                </c:pt>
                <c:pt idx="17">
                  <c:v>0</c:v>
                </c:pt>
                <c:pt idx="18">
                  <c:v>0</c:v>
                </c:pt>
                <c:pt idx="19">
                  <c:v>0</c:v>
                </c:pt>
                <c:pt idx="20">
                  <c:v>0</c:v>
                </c:pt>
              </c:numCache>
            </c:numRef>
          </c:val>
          <c:extLst>
            <c:ext xmlns:c16="http://schemas.microsoft.com/office/drawing/2014/chart" uri="{C3380CC4-5D6E-409C-BE32-E72D297353CC}">
              <c16:uniqueId val="{00000001-E60D-F04D-A221-7624EC2A2710}"/>
            </c:ext>
          </c:extLst>
        </c:ser>
        <c:dLbls>
          <c:showLegendKey val="0"/>
          <c:showVal val="0"/>
          <c:showCatName val="0"/>
          <c:showSerName val="0"/>
          <c:showPercent val="0"/>
          <c:showBubbleSize val="0"/>
        </c:dLbls>
        <c:gapWidth val="35"/>
        <c:overlap val="100"/>
        <c:axId val="2094734554"/>
        <c:axId val="2094734552"/>
      </c:barChart>
      <c:catAx>
        <c:axId val="2094734554"/>
        <c:scaling>
          <c:orientation val="minMax"/>
        </c:scaling>
        <c:delete val="0"/>
        <c:axPos val="b"/>
        <c:title>
          <c:tx>
            <c:rich>
              <a:bodyPr/>
              <a:lstStyle/>
              <a:p>
                <a:pPr>
                  <a:defRPr sz="1100" b="0" i="0" u="none" strike="noStrike">
                    <a:solidFill>
                      <a:srgbClr val="666666"/>
                    </a:solidFill>
                    <a:latin typeface="Arial"/>
                  </a:defRPr>
                </a:pPr>
                <a:r>
                  <a:rPr lang="en-US" sz="1100" b="0" i="0" u="none" strike="noStrike">
                    <a:solidFill>
                      <a:srgbClr val="666666"/>
                    </a:solidFill>
                    <a:latin typeface="Arial"/>
                  </a:rPr>
                  <a:t>shard number</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max val="800"/>
        </c:scaling>
        <c:delete val="0"/>
        <c:axPos val="l"/>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lang="en-US" sz="1100" b="0" i="0" u="none" strike="noStrike">
                    <a:solidFill>
                      <a:srgbClr val="666666"/>
                    </a:solidFill>
                    <a:latin typeface="Arial"/>
                  </a:rPr>
                  <a:t>milliseconds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v6</c:v>
                </c:pt>
              </c:strCache>
            </c:strRef>
          </c:tx>
          <c:spPr>
            <a:solidFill>
              <a:srgbClr val="4C78A8"/>
            </a:solidFill>
            <a:effectLst/>
          </c:spPr>
          <c:invertIfNegative val="0"/>
          <c:dLbls>
            <c:numFmt formatCode="#,##0" sourceLinked="0"/>
            <c:spPr>
              <a:noFill/>
              <a:ln>
                <a:noFill/>
              </a:ln>
              <a:effectLst/>
            </c:spPr>
            <c:txPr>
              <a:bodyPr/>
              <a:lstStyle/>
              <a:p>
                <a:pPr>
                  <a:defRPr sz="11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Name and ID lookup</c:v>
                </c:pt>
                <c:pt idx="1">
                  <c:v>Ranking weights</c:v>
                </c:pt>
                <c:pt idx="2">
                  <c:v>Prefix and fuzzy</c:v>
                </c:pt>
              </c:strCache>
            </c:strRef>
          </c:cat>
          <c:val>
            <c:numRef>
              <c:f>Sheet1!$B$2:$B$4</c:f>
              <c:numCache>
                <c:formatCode>General</c:formatCode>
                <c:ptCount val="3"/>
                <c:pt idx="0">
                  <c:v>3565</c:v>
                </c:pt>
                <c:pt idx="1">
                  <c:v>666</c:v>
                </c:pt>
                <c:pt idx="2">
                  <c:v>265</c:v>
                </c:pt>
              </c:numCache>
            </c:numRef>
          </c:val>
          <c:extLst>
            <c:ext xmlns:c16="http://schemas.microsoft.com/office/drawing/2014/chart" uri="{C3380CC4-5D6E-409C-BE32-E72D297353CC}">
              <c16:uniqueId val="{00000000-0290-DE42-B0B7-8D849E0400C6}"/>
            </c:ext>
          </c:extLst>
        </c:ser>
        <c:ser>
          <c:idx val="1"/>
          <c:order val="1"/>
          <c:tx>
            <c:strRef>
              <c:f>Sheet1!$C$1</c:f>
              <c:strCache>
                <c:ptCount val="1"/>
                <c:pt idx="0">
                  <c:v>v7</c:v>
                </c:pt>
              </c:strCache>
            </c:strRef>
          </c:tx>
          <c:spPr>
            <a:solidFill>
              <a:srgbClr val="F58518"/>
            </a:solidFill>
            <a:effectLst/>
          </c:spPr>
          <c:invertIfNegative val="0"/>
          <c:dLbls>
            <c:numFmt formatCode="#,##0" sourceLinked="0"/>
            <c:spPr>
              <a:noFill/>
              <a:ln>
                <a:noFill/>
              </a:ln>
              <a:effectLst/>
            </c:spPr>
            <c:txPr>
              <a:bodyPr/>
              <a:lstStyle/>
              <a:p>
                <a:pPr>
                  <a:defRPr sz="11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Name and ID lookup</c:v>
                </c:pt>
                <c:pt idx="1">
                  <c:v>Ranking weights</c:v>
                </c:pt>
                <c:pt idx="2">
                  <c:v>Prefix and fuzzy</c:v>
                </c:pt>
              </c:strCache>
            </c:strRef>
          </c:cat>
          <c:val>
            <c:numRef>
              <c:f>Sheet1!$C$2:$C$4</c:f>
              <c:numCache>
                <c:formatCode>General</c:formatCode>
                <c:ptCount val="3"/>
                <c:pt idx="0">
                  <c:v>3589</c:v>
                </c:pt>
                <c:pt idx="1">
                  <c:v>770</c:v>
                </c:pt>
                <c:pt idx="2">
                  <c:v>56</c:v>
                </c:pt>
              </c:numCache>
            </c:numRef>
          </c:val>
          <c:extLst>
            <c:ext xmlns:c16="http://schemas.microsoft.com/office/drawing/2014/chart" uri="{C3380CC4-5D6E-409C-BE32-E72D297353CC}">
              <c16:uniqueId val="{00000001-0290-DE42-B0B7-8D849E0400C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lang="en-US" sz="1100" b="0" i="0" u="none" strike="noStrike">
                    <a:solidFill>
                      <a:srgbClr val="666666"/>
                    </a:solidFill>
                    <a:latin typeface="Arial"/>
                  </a:rPr>
                  <a:t>milliseconds, all shards added up</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a:solidFill>
                <a:srgbClr val="666666"/>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v6</c:v>
                </c:pt>
              </c:strCache>
            </c:strRef>
          </c:tx>
          <c:spPr>
            <a:solidFill>
              <a:srgbClr val="4C78A8"/>
            </a:solidFill>
            <a:effectLst/>
          </c:spPr>
          <c:invertIfNegative val="0"/>
          <c:dLbls>
            <c:numFmt formatCode="#,##0" sourceLinked="0"/>
            <c:spPr>
              <a:noFill/>
              <a:ln>
                <a:noFill/>
              </a:ln>
              <a:effectLst/>
            </c:spPr>
            <c:txPr>
              <a:bodyPr/>
              <a:lstStyle/>
              <a:p>
                <a:pPr>
                  <a:defRPr sz="11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fastest run</c:v>
                </c:pt>
                <c:pt idx="1">
                  <c:v>typical run</c:v>
                </c:pt>
                <c:pt idx="2">
                  <c:v>slowest run</c:v>
                </c:pt>
              </c:strCache>
            </c:strRef>
          </c:cat>
          <c:val>
            <c:numRef>
              <c:f>Sheet1!$B$2:$B$4</c:f>
              <c:numCache>
                <c:formatCode>General</c:formatCode>
                <c:ptCount val="3"/>
                <c:pt idx="0">
                  <c:v>665</c:v>
                </c:pt>
                <c:pt idx="1">
                  <c:v>671</c:v>
                </c:pt>
                <c:pt idx="2">
                  <c:v>725</c:v>
                </c:pt>
              </c:numCache>
            </c:numRef>
          </c:val>
          <c:extLst>
            <c:ext xmlns:c16="http://schemas.microsoft.com/office/drawing/2014/chart" uri="{C3380CC4-5D6E-409C-BE32-E72D297353CC}">
              <c16:uniqueId val="{00000000-4CA0-1E4A-844E-A303B71D1B32}"/>
            </c:ext>
          </c:extLst>
        </c:ser>
        <c:ser>
          <c:idx val="1"/>
          <c:order val="1"/>
          <c:tx>
            <c:strRef>
              <c:f>Sheet1!$C$1</c:f>
              <c:strCache>
                <c:ptCount val="1"/>
                <c:pt idx="0">
                  <c:v>v7</c:v>
                </c:pt>
              </c:strCache>
            </c:strRef>
          </c:tx>
          <c:spPr>
            <a:solidFill>
              <a:srgbClr val="F58518"/>
            </a:solidFill>
            <a:effectLst/>
          </c:spPr>
          <c:invertIfNegative val="0"/>
          <c:dLbls>
            <c:numFmt formatCode="#,##0" sourceLinked="0"/>
            <c:spPr>
              <a:noFill/>
              <a:ln>
                <a:noFill/>
              </a:ln>
              <a:effectLst/>
            </c:spPr>
            <c:txPr>
              <a:bodyPr/>
              <a:lstStyle/>
              <a:p>
                <a:pPr>
                  <a:defRPr sz="1100" b="0" i="0" u="none" strike="noStrike">
                    <a:solidFill>
                      <a:srgbClr val="2222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fastest run</c:v>
                </c:pt>
                <c:pt idx="1">
                  <c:v>typical run</c:v>
                </c:pt>
                <c:pt idx="2">
                  <c:v>slowest run</c:v>
                </c:pt>
              </c:strCache>
            </c:strRef>
          </c:cat>
          <c:val>
            <c:numRef>
              <c:f>Sheet1!$C$2:$C$4</c:f>
              <c:numCache>
                <c:formatCode>General</c:formatCode>
                <c:ptCount val="3"/>
                <c:pt idx="0">
                  <c:v>540</c:v>
                </c:pt>
                <c:pt idx="1">
                  <c:v>561</c:v>
                </c:pt>
                <c:pt idx="2">
                  <c:v>594</c:v>
                </c:pt>
              </c:numCache>
            </c:numRef>
          </c:val>
          <c:extLst>
            <c:ext xmlns:c16="http://schemas.microsoft.com/office/drawing/2014/chart" uri="{C3380CC4-5D6E-409C-BE32-E72D297353CC}">
              <c16:uniqueId val="{00000001-4CA0-1E4A-844E-A303B71D1B3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lang="en-US" sz="1100" b="0" i="0" u="none" strike="noStrike">
                    <a:solidFill>
                      <a:srgbClr val="666666"/>
                    </a:solidFill>
                    <a:latin typeface="Arial"/>
                  </a:rPr>
                  <a:t>milliseconds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a:solidFill>
                <a:srgbClr val="666666"/>
              </a:solidFill>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records</c:v>
                </c:pt>
              </c:strCache>
            </c:strRef>
          </c:tx>
          <c:spPr>
            <a:solidFill>
              <a:srgbClr val="54A24B"/>
            </a:solidFill>
            <a:effectLst/>
          </c:spPr>
          <c:invertIfNegative val="0"/>
          <c:cat>
            <c:strRef>
              <c:f>Sheet1!$A$2:$A$22</c:f>
              <c:strCach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strCache>
            </c:strRef>
          </c:cat>
          <c:val>
            <c:numRef>
              <c:f>Sheet1!$B$2:$B$22</c:f>
              <c:numCache>
                <c:formatCode>General</c:formatCode>
                <c:ptCount val="21"/>
                <c:pt idx="0">
                  <c:v>6857881</c:v>
                </c:pt>
                <c:pt idx="1">
                  <c:v>6856995</c:v>
                </c:pt>
                <c:pt idx="2">
                  <c:v>6855345</c:v>
                </c:pt>
                <c:pt idx="3">
                  <c:v>6852335</c:v>
                </c:pt>
                <c:pt idx="4">
                  <c:v>6853891</c:v>
                </c:pt>
                <c:pt idx="5">
                  <c:v>6855914</c:v>
                </c:pt>
                <c:pt idx="6">
                  <c:v>6853611</c:v>
                </c:pt>
                <c:pt idx="7">
                  <c:v>6858242</c:v>
                </c:pt>
                <c:pt idx="8">
                  <c:v>6854488</c:v>
                </c:pt>
                <c:pt idx="9">
                  <c:v>6852294</c:v>
                </c:pt>
                <c:pt idx="10">
                  <c:v>6854277</c:v>
                </c:pt>
                <c:pt idx="11">
                  <c:v>6853378</c:v>
                </c:pt>
                <c:pt idx="12">
                  <c:v>6859263</c:v>
                </c:pt>
                <c:pt idx="13">
                  <c:v>6854982</c:v>
                </c:pt>
                <c:pt idx="14">
                  <c:v>6855542</c:v>
                </c:pt>
                <c:pt idx="15">
                  <c:v>6853288</c:v>
                </c:pt>
                <c:pt idx="16">
                  <c:v>6852874</c:v>
                </c:pt>
                <c:pt idx="17">
                  <c:v>6856671</c:v>
                </c:pt>
                <c:pt idx="18">
                  <c:v>6854406</c:v>
                </c:pt>
                <c:pt idx="19">
                  <c:v>6851780</c:v>
                </c:pt>
                <c:pt idx="20">
                  <c:v>6853420</c:v>
                </c:pt>
              </c:numCache>
            </c:numRef>
          </c:val>
          <c:extLst>
            <c:ext xmlns:c16="http://schemas.microsoft.com/office/drawing/2014/chart" uri="{C3380CC4-5D6E-409C-BE32-E72D297353CC}">
              <c16:uniqueId val="{00000000-D8BA-3945-A694-7C5268078DB5}"/>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title>
          <c:tx>
            <c:rich>
              <a:bodyPr/>
              <a:lstStyle/>
              <a:p>
                <a:pPr>
                  <a:defRPr sz="1100" b="0" i="0" u="none" strike="noStrike">
                    <a:solidFill>
                      <a:srgbClr val="666666"/>
                    </a:solidFill>
                    <a:latin typeface="Arial"/>
                  </a:defRPr>
                </a:pPr>
                <a:r>
                  <a:rPr lang="en-US" sz="1100" b="0" i="0" u="none" strike="noStrike">
                    <a:solidFill>
                      <a:srgbClr val="666666"/>
                    </a:solidFill>
                    <a:latin typeface="Arial"/>
                  </a:rPr>
                  <a:t>shard number</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max val="6900000"/>
          <c:min val="6800000"/>
        </c:scaling>
        <c:delete val="0"/>
        <c:axPos val="l"/>
        <c:majorGridlines>
          <c:spPr>
            <a:ln w="12700" cap="flat">
              <a:solidFill>
                <a:srgbClr val="E8E8E8"/>
              </a:solidFill>
              <a:prstDash val="solid"/>
              <a:round/>
            </a:ln>
          </c:spPr>
        </c:majorGridlines>
        <c:title>
          <c:tx>
            <c:rich>
              <a:bodyPr/>
              <a:lstStyle/>
              <a:p>
                <a:pPr>
                  <a:defRPr sz="1100" b="0" i="0" u="none" strike="noStrike">
                    <a:solidFill>
                      <a:srgbClr val="666666"/>
                    </a:solidFill>
                    <a:latin typeface="Arial"/>
                  </a:defRPr>
                </a:pPr>
                <a:r>
                  <a:rPr lang="en-US" sz="1100" b="0" i="0" u="none" strike="noStrike">
                    <a:solidFill>
                      <a:srgbClr val="666666"/>
                    </a:solidFill>
                    <a:latin typeface="Arial"/>
                  </a:rPr>
                  <a:t>records</a:t>
                </a:r>
              </a:p>
            </c:rich>
          </c:tx>
          <c:overlay val="0"/>
        </c:title>
        <c:numFmt formatCode="#,##0.0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6685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each choice was made. Same index and inputs: this is what makes it a fair comparison, so any speed difference points to the query and not to changed data or search terms. Run 20 times: one run on a shared system proves nothing, since a single slow result could just be a busy moment; repeating shows whether a result is real or noise, and it is what showed the earlier 2,500 ms numbers were load. Three measures: speed answers whether it is slower, records returned answers whether the race is even, and time per shard answers whether the whole system is slow or one shard is dragging it down. Caching off: with caching on, repeating the same search would return a saved answer almost instantly and the test would measure the cache instead of the query.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640080"/>
            <a:ext cx="10881360" cy="822960"/>
          </a:xfrm>
          <a:prstGeom prst="rect">
            <a:avLst/>
          </a:prstGeom>
          <a:noFill/>
          <a:ln/>
        </p:spPr>
        <p:txBody>
          <a:bodyPr wrap="square" lIns="0" tIns="0" rIns="0" bIns="0" rtlCol="0" anchor="ctr"/>
          <a:lstStyle/>
          <a:p>
            <a:pPr marL="0" indent="0">
              <a:buNone/>
            </a:pPr>
            <a:r>
              <a:rPr lang="en-US" sz="3400" b="1" dirty="0">
                <a:solidFill>
                  <a:srgbClr val="1F3864"/>
                </a:solidFill>
              </a:rPr>
              <a:t>Overview</a:t>
            </a:r>
            <a:endParaRPr lang="en-US" sz="3400" dirty="0"/>
          </a:p>
        </p:txBody>
      </p:sp>
      <p:sp>
        <p:nvSpPr>
          <p:cNvPr id="3" name="Text 1"/>
          <p:cNvSpPr/>
          <p:nvPr/>
        </p:nvSpPr>
        <p:spPr>
          <a:xfrm>
            <a:off x="640080" y="1920240"/>
            <a:ext cx="10881360" cy="4023360"/>
          </a:xfrm>
          <a:prstGeom prst="rect">
            <a:avLst/>
          </a:prstGeom>
          <a:noFill/>
          <a:ln/>
        </p:spPr>
        <p:txBody>
          <a:bodyPr wrap="square" lIns="0" tIns="0" rIns="0" bIns="0" rtlCol="0" anchor="t"/>
          <a:lstStyle/>
          <a:p>
            <a:pPr marL="254000" indent="-254000">
              <a:spcAft>
                <a:spcPts val="1800"/>
              </a:spcAft>
              <a:buSzPct val="100000"/>
              <a:buChar char="•"/>
            </a:pPr>
            <a:r>
              <a:rPr lang="en-US" sz="2100" dirty="0">
                <a:solidFill>
                  <a:srgbClr val="222222"/>
                </a:solidFill>
              </a:rPr>
              <a:t>The new identity search has been running slower than the old system</a:t>
            </a:r>
            <a:endParaRPr lang="en-US" sz="2100" dirty="0"/>
          </a:p>
          <a:p>
            <a:pPr marL="254000" indent="-254000">
              <a:spcAft>
                <a:spcPts val="1800"/>
              </a:spcAft>
              <a:buSzPct val="100000"/>
              <a:buChar char="•"/>
            </a:pPr>
            <a:r>
              <a:rPr lang="en-US" sz="2100" dirty="0">
                <a:solidFill>
                  <a:srgbClr val="222222"/>
                </a:solidFill>
              </a:rPr>
              <a:t>The goal was to find out whether the cause is the query or the servers, because each has a different and costly fix</a:t>
            </a:r>
            <a:endParaRPr lang="en-US" sz="2100" dirty="0"/>
          </a:p>
          <a:p>
            <a:pPr marL="254000" indent="-254000">
              <a:spcAft>
                <a:spcPts val="1800"/>
              </a:spcAft>
              <a:buSzPct val="100000"/>
              <a:buChar char="•"/>
            </a:pPr>
            <a:r>
              <a:rPr lang="en-US" sz="2100" dirty="0">
                <a:solidFill>
                  <a:srgbClr val="222222"/>
                </a:solidFill>
              </a:rPr>
              <a:t>The old query and the new query were compared head to head, and each chart answers one question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640080"/>
            <a:ext cx="10881360" cy="822960"/>
          </a:xfrm>
          <a:prstGeom prst="rect">
            <a:avLst/>
          </a:prstGeom>
          <a:noFill/>
          <a:ln/>
        </p:spPr>
        <p:txBody>
          <a:bodyPr wrap="square" lIns="0" tIns="0" rIns="0" bIns="0" rtlCol="0" anchor="ctr"/>
          <a:lstStyle/>
          <a:p>
            <a:pPr marL="0" indent="0">
              <a:buNone/>
            </a:pPr>
            <a:r>
              <a:rPr lang="en-US" sz="3400" b="1" dirty="0">
                <a:solidFill>
                  <a:srgbClr val="1F3864"/>
                </a:solidFill>
              </a:rPr>
              <a:t>What was tested</a:t>
            </a:r>
            <a:endParaRPr lang="en-US" sz="3400" dirty="0"/>
          </a:p>
        </p:txBody>
      </p:sp>
      <p:sp>
        <p:nvSpPr>
          <p:cNvPr id="3" name="Text 1"/>
          <p:cNvSpPr/>
          <p:nvPr/>
        </p:nvSpPr>
        <p:spPr>
          <a:xfrm>
            <a:off x="640080" y="1920240"/>
            <a:ext cx="10881360" cy="4023360"/>
          </a:xfrm>
          <a:prstGeom prst="rect">
            <a:avLst/>
          </a:prstGeom>
          <a:noFill/>
          <a:ln/>
        </p:spPr>
        <p:txBody>
          <a:bodyPr wrap="square" lIns="0" tIns="0" rIns="0" bIns="0" rtlCol="0" anchor="t"/>
          <a:lstStyle/>
          <a:p>
            <a:pPr marL="254000" indent="-254000">
              <a:spcAft>
                <a:spcPts val="1800"/>
              </a:spcAft>
              <a:buSzPct val="100000"/>
              <a:buChar char="•"/>
            </a:pPr>
            <a:r>
              <a:rPr lang="en-US" sz="2100" dirty="0">
                <a:solidFill>
                  <a:srgbClr val="222222"/>
                </a:solidFill>
              </a:rPr>
              <a:t>The old query and the new query were run against the same index with the same inputs</a:t>
            </a:r>
            <a:endParaRPr lang="en-US" sz="2100" dirty="0"/>
          </a:p>
          <a:p>
            <a:pPr marL="254000" indent="-254000">
              <a:spcAft>
                <a:spcPts val="1800"/>
              </a:spcAft>
              <a:buSzPct val="100000"/>
              <a:buChar char="•"/>
            </a:pPr>
            <a:r>
              <a:rPr lang="en-US" sz="2100" dirty="0">
                <a:solidFill>
                  <a:srgbClr val="222222"/>
                </a:solidFill>
              </a:rPr>
              <a:t>Each one was run 20 times, recording speed, records returned, and time on every shard</a:t>
            </a:r>
            <a:endParaRPr lang="en-US" sz="2100" dirty="0"/>
          </a:p>
          <a:p>
            <a:pPr marL="254000" indent="-254000">
              <a:spcAft>
                <a:spcPts val="1800"/>
              </a:spcAft>
              <a:buSzPct val="100000"/>
              <a:buChar char="•"/>
            </a:pPr>
            <a:r>
              <a:rPr lang="en-US" sz="2100" dirty="0">
                <a:solidFill>
                  <a:srgbClr val="222222"/>
                </a:solidFill>
              </a:rPr>
              <a:t>Caching was turned off so every run did the full work instead of returning a stored result</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548640"/>
            <a:ext cx="10881360" cy="731520"/>
          </a:xfrm>
          <a:prstGeom prst="rect">
            <a:avLst/>
          </a:prstGeom>
          <a:noFill/>
          <a:ln/>
        </p:spPr>
        <p:txBody>
          <a:bodyPr wrap="square" lIns="0" tIns="0" rIns="0" bIns="0" rtlCol="0" anchor="ctr"/>
          <a:lstStyle/>
          <a:p>
            <a:pPr marL="0" indent="0">
              <a:buNone/>
            </a:pPr>
            <a:r>
              <a:rPr lang="en-US" sz="3000" b="1" dirty="0">
                <a:solidFill>
                  <a:srgbClr val="1F3864"/>
                </a:solidFill>
              </a:rPr>
              <a:t>Key terms</a:t>
            </a:r>
            <a:endParaRPr lang="en-US" sz="3000" dirty="0"/>
          </a:p>
        </p:txBody>
      </p:sp>
      <p:sp>
        <p:nvSpPr>
          <p:cNvPr id="3" name="Text 1"/>
          <p:cNvSpPr/>
          <p:nvPr/>
        </p:nvSpPr>
        <p:spPr>
          <a:xfrm>
            <a:off x="640080" y="1508760"/>
            <a:ext cx="10881360" cy="4663440"/>
          </a:xfrm>
          <a:prstGeom prst="rect">
            <a:avLst/>
          </a:prstGeom>
          <a:noFill/>
          <a:ln/>
        </p:spPr>
        <p:txBody>
          <a:bodyPr wrap="square" lIns="0" tIns="0" rIns="0" bIns="0" rtlCol="0" anchor="t"/>
          <a:lstStyle/>
          <a:p>
            <a:pPr marL="254000" indent="-254000">
              <a:spcAft>
                <a:spcPts val="1100"/>
              </a:spcAft>
              <a:buSzPct val="100000"/>
              <a:buChar char="•"/>
            </a:pPr>
            <a:r>
              <a:rPr lang="en-US" sz="1600" b="1" dirty="0">
                <a:solidFill>
                  <a:srgbClr val="1F3864"/>
                </a:solidFill>
              </a:rPr>
              <a:t>Index</a:t>
            </a:r>
            <a:r>
              <a:rPr lang="en-US" sz="1600" dirty="0">
                <a:solidFill>
                  <a:srgbClr val="222222"/>
                </a:solidFill>
              </a:rPr>
              <a:t>  the searchable database that holds every identity record, about 143.9 million in all; a search looks through the index to find people who match</a:t>
            </a:r>
            <a:endParaRPr lang="en-US" sz="1600" dirty="0"/>
          </a:p>
          <a:p>
            <a:pPr marL="254000" indent="-254000">
              <a:spcAft>
                <a:spcPts val="1100"/>
              </a:spcAft>
              <a:buSzPct val="100000"/>
              <a:buChar char="•"/>
            </a:pPr>
            <a:r>
              <a:rPr lang="en-US" sz="1600" b="1" dirty="0">
                <a:solidFill>
                  <a:srgbClr val="1F3864"/>
                </a:solidFill>
              </a:rPr>
              <a:t>Shard</a:t>
            </a:r>
            <a:r>
              <a:rPr lang="en-US" sz="1600" dirty="0">
                <a:solidFill>
                  <a:srgbClr val="222222"/>
                </a:solidFill>
              </a:rPr>
              <a:t>  the index is too large for one machine, so it is split into 21 shards that each hold a slice of the records; all 21 are searched at once and the results are merged, which keeps searches fast</a:t>
            </a:r>
            <a:endParaRPr lang="en-US" sz="1600" dirty="0"/>
          </a:p>
          <a:p>
            <a:pPr marL="254000" indent="-254000">
              <a:spcAft>
                <a:spcPts val="1100"/>
              </a:spcAft>
              <a:buSzPct val="100000"/>
              <a:buChar char="•"/>
            </a:pPr>
            <a:r>
              <a:rPr lang="en-US" sz="1600" b="1" dirty="0">
                <a:solidFill>
                  <a:srgbClr val="1F3864"/>
                </a:solidFill>
              </a:rPr>
              <a:t>Query (v6 and v7)</a:t>
            </a:r>
            <a:r>
              <a:rPr lang="en-US" sz="1600" dirty="0">
                <a:solidFill>
                  <a:srgbClr val="222222"/>
                </a:solidFill>
              </a:rPr>
              <a:t>  the search instructions sent to the system; they spell out how a typed name, birthdate, and IDs are compared to the records and how the closest matches rank first; v6 is the old set of instructions, v7 the new</a:t>
            </a:r>
            <a:endParaRPr lang="en-US" sz="1600" dirty="0"/>
          </a:p>
          <a:p>
            <a:pPr marL="254000" indent="-254000">
              <a:spcAft>
                <a:spcPts val="1100"/>
              </a:spcAft>
              <a:buSzPct val="100000"/>
              <a:buChar char="•"/>
            </a:pPr>
            <a:r>
              <a:rPr lang="en-US" sz="1600" b="1" dirty="0">
                <a:solidFill>
                  <a:srgbClr val="1F3864"/>
                </a:solidFill>
              </a:rPr>
              <a:t>Records matched</a:t>
            </a:r>
            <a:r>
              <a:rPr lang="en-US" sz="1600" dirty="0">
                <a:solidFill>
                  <a:srgbClr val="222222"/>
                </a:solidFill>
              </a:rPr>
              <a:t>  the count of every record the query treated as a possible match, before ranking; a bigger number means a wider net was cast, and only the top few are ever shown to the user</a:t>
            </a:r>
          </a:p>
          <a:p>
            <a:pPr marL="254000" indent="-254000">
              <a:spcAft>
                <a:spcPts val="1100"/>
              </a:spcAft>
              <a:buSzPct val="100000"/>
              <a:buChar char="•"/>
            </a:pPr>
            <a:r>
              <a:rPr lang="en-US" sz="1600" b="1" dirty="0">
                <a:solidFill>
                  <a:srgbClr val="1F3864"/>
                </a:solidFill>
              </a:rPr>
              <a:t>Response time</a:t>
            </a:r>
            <a:r>
              <a:rPr lang="en-US" sz="1600" dirty="0">
                <a:solidFill>
                  <a:srgbClr val="222222"/>
                </a:solidFill>
              </a:rPr>
              <a:t>  the time from sending a search to getting results back, in milliseconds (thousandths of a second); lower is better, and under one second feels instant to a user</a:t>
            </a:r>
            <a:endParaRPr lang="en-US" sz="1600" dirty="0"/>
          </a:p>
          <a:p>
            <a:pPr marL="254000" indent="-254000">
              <a:spcAft>
                <a:spcPts val="1100"/>
              </a:spcAft>
              <a:buSzPct val="100000"/>
              <a:buChar char="•"/>
            </a:pPr>
            <a:r>
              <a:rPr lang="en-US" sz="1600" b="1" dirty="0">
                <a:solidFill>
                  <a:srgbClr val="1F3864"/>
                </a:solidFill>
              </a:rPr>
              <a:t>Typical and worst case</a:t>
            </a:r>
            <a:r>
              <a:rPr lang="en-US" sz="1600" dirty="0">
                <a:solidFill>
                  <a:srgbClr val="222222"/>
                </a:solidFill>
              </a:rPr>
              <a:t>  speed varies from run to run, so it is reported at three points: typical is the middle run (half faster, half slower), and worst 5 percent and worst 1 percent show how slow the rare bad runs get</a:t>
            </a:r>
            <a:endParaRPr lang="en-US" sz="1600" dirty="0"/>
          </a:p>
          <a:p>
            <a:pPr marL="254000" indent="-254000">
              <a:spcAft>
                <a:spcPts val="1100"/>
              </a:spcAft>
              <a:buSzPct val="100000"/>
              <a:buChar char="•"/>
            </a:pPr>
            <a:r>
              <a:rPr lang="en-US" sz="1600" b="1" dirty="0">
                <a:solidFill>
                  <a:srgbClr val="1F3864"/>
                </a:solidFill>
              </a:rPr>
              <a:t>Caching</a:t>
            </a:r>
            <a:r>
              <a:rPr lang="en-US" sz="1600" dirty="0">
                <a:solidFill>
                  <a:srgbClr val="222222"/>
                </a:solidFill>
              </a:rPr>
              <a:t>  when the same search runs twice, the system can store the first answer and hand it back instantly instead of redoing the work; that shortcut is caching, and it was turned off so every run measured real work</a:t>
            </a:r>
            <a:endParaRPr lang="en-US" sz="1600" dirty="0"/>
          </a:p>
          <a:p>
            <a:pPr marL="254000" indent="-254000">
              <a:spcAft>
                <a:spcPts val="1100"/>
              </a:spcAft>
              <a:buSzPct val="100000"/>
              <a:buChar char="•"/>
            </a:pP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marL="0" indent="0">
              <a:buNone/>
            </a:pPr>
            <a:r>
              <a:rPr lang="en-US" sz="2800" b="1" dirty="0">
                <a:solidFill>
                  <a:srgbClr val="1F3864"/>
                </a:solidFill>
              </a:rPr>
              <a:t>Records matched</a:t>
            </a:r>
            <a:endParaRPr lang="en-US" sz="2800" dirty="0"/>
          </a:p>
        </p:txBody>
      </p:sp>
      <p:graphicFrame>
        <p:nvGraphicFramePr>
          <p:cNvPr id="3" name="Chart 0"/>
          <p:cNvGraphicFramePr/>
          <p:nvPr/>
        </p:nvGraphicFramePr>
        <p:xfrm>
          <a:off x="640080" y="1143000"/>
          <a:ext cx="658368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marL="0" indent="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The old query returns 18.0 million records, the new query returns 4.8 million</a:t>
            </a:r>
            <a:endParaRPr lang="en-US" sz="1300" dirty="0"/>
          </a:p>
          <a:p>
            <a:pPr marL="342900" indent="-342900">
              <a:spcAft>
                <a:spcPts val="1000"/>
              </a:spcAft>
              <a:buSzPct val="100000"/>
              <a:buChar char="•"/>
            </a:pPr>
            <a:r>
              <a:rPr lang="en-US" sz="1300" dirty="0">
                <a:solidFill>
                  <a:srgbClr val="222222"/>
                </a:solidFill>
              </a:rPr>
              <a:t>The old query returns about 12 percent of all records, the new one about 3 percent</a:t>
            </a:r>
            <a:endParaRPr lang="en-US" sz="1300" dirty="0"/>
          </a:p>
          <a:p>
            <a:pPr marL="342900" indent="-342900">
              <a:spcAft>
                <a:spcPts val="1000"/>
              </a:spcAft>
              <a:buSzPct val="100000"/>
              <a:buChar char="•"/>
            </a:pPr>
            <a:r>
              <a:rPr lang="en-US" sz="1300" dirty="0">
                <a:solidFill>
                  <a:srgbClr val="222222"/>
                </a:solidFill>
              </a:rPr>
              <a:t>The old query is casting a much wider net for the same search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marL="0" indent="0">
              <a:buNone/>
            </a:pPr>
            <a:r>
              <a:rPr lang="en-US" sz="2800" b="1" dirty="0">
                <a:solidFill>
                  <a:srgbClr val="1F3864"/>
                </a:solidFill>
              </a:rPr>
              <a:t>Response time</a:t>
            </a:r>
            <a:endParaRPr lang="en-US" sz="2800" dirty="0"/>
          </a:p>
        </p:txBody>
      </p:sp>
      <p:graphicFrame>
        <p:nvGraphicFramePr>
          <p:cNvPr id="3" name="Chart 0"/>
          <p:cNvGraphicFramePr/>
          <p:nvPr/>
        </p:nvGraphicFramePr>
        <p:xfrm>
          <a:off x="640080" y="1143000"/>
          <a:ext cx="658368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marL="0" indent="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The new query is faster at every level, 561 ms typical against 671 ms</a:t>
            </a:r>
            <a:endParaRPr lang="en-US" sz="1300" dirty="0"/>
          </a:p>
          <a:p>
            <a:pPr marL="342900" indent="-342900">
              <a:spcAft>
                <a:spcPts val="1000"/>
              </a:spcAft>
              <a:buSzPct val="100000"/>
              <a:buChar char="•"/>
            </a:pPr>
            <a:r>
              <a:rPr lang="en-US" sz="1300" dirty="0">
                <a:solidFill>
                  <a:srgbClr val="222222"/>
                </a:solidFill>
              </a:rPr>
              <a:t>The new query barely slows down at its worst, 594 ms against 722 ms</a:t>
            </a:r>
            <a:endParaRPr lang="en-US" sz="1300" dirty="0"/>
          </a:p>
          <a:p>
            <a:pPr marL="342900" indent="-342900">
              <a:spcAft>
                <a:spcPts val="1000"/>
              </a:spcAft>
              <a:buSzPct val="100000"/>
              <a:buChar char="•"/>
            </a:pPr>
            <a:r>
              <a:rPr lang="en-US" sz="1300" dirty="0">
                <a:solidFill>
                  <a:srgbClr val="222222"/>
                </a:solidFill>
              </a:rPr>
              <a:t>Part of the gap is because the old query returns far more records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marL="0" indent="0">
              <a:buNone/>
            </a:pPr>
            <a:r>
              <a:rPr lang="en-US" sz="2800" b="1" dirty="0">
                <a:solidFill>
                  <a:srgbClr val="1F3864"/>
                </a:solidFill>
              </a:rPr>
              <a:t>Time per shard: v6</a:t>
            </a:r>
            <a:endParaRPr lang="en-US" sz="2800" dirty="0"/>
          </a:p>
        </p:txBody>
      </p:sp>
      <p:graphicFrame>
        <p:nvGraphicFramePr>
          <p:cNvPr id="3" name="Chart 0"/>
          <p:cNvGraphicFramePr/>
          <p:nvPr/>
        </p:nvGraphicFramePr>
        <p:xfrm>
          <a:off x="640080" y="1143000"/>
          <a:ext cx="658368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marL="0" indent="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Every shard finishes close to the 627 ms average</a:t>
            </a:r>
            <a:endParaRPr lang="en-US" sz="1300" dirty="0"/>
          </a:p>
          <a:p>
            <a:pPr marL="342900" indent="-342900">
              <a:spcAft>
                <a:spcPts val="1000"/>
              </a:spcAft>
              <a:buSzPct val="100000"/>
              <a:buChar char="•"/>
            </a:pPr>
            <a:r>
              <a:rPr lang="en-US" sz="1300" dirty="0">
                <a:solidFill>
                  <a:srgbClr val="222222"/>
                </a:solidFill>
              </a:rPr>
              <a:t>Fastest 575 ms, slowest 720 ms, a gap of only 1.25 times</a:t>
            </a:r>
            <a:endParaRPr lang="en-US" sz="1300" dirty="0"/>
          </a:p>
          <a:p>
            <a:pPr marL="342900" indent="-342900">
              <a:spcAft>
                <a:spcPts val="1000"/>
              </a:spcAft>
              <a:buSzPct val="100000"/>
              <a:buChar char="•"/>
            </a:pPr>
            <a:r>
              <a:rPr lang="en-US" sz="1300" dirty="0">
                <a:solidFill>
                  <a:srgbClr val="222222"/>
                </a:solidFill>
              </a:rPr>
              <a:t>No single shard is holding up the search</a:t>
            </a:r>
          </a:p>
          <a:p>
            <a:pPr marL="342900" indent="-342900">
              <a:spcAft>
                <a:spcPts val="1000"/>
              </a:spcAft>
              <a:buSzPct val="100000"/>
              <a:buChar char="•"/>
            </a:pPr>
            <a:r>
              <a:rPr lang="en-US" sz="1300" dirty="0"/>
              <a:t>A search runs on all 21 shards at the same time and cannot finish until the slowest one is done. Even bars mean the work is balanced and the timing is predictable.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marL="0" indent="0">
              <a:buNone/>
            </a:pPr>
            <a:r>
              <a:rPr lang="en-US" sz="2800" b="1" dirty="0">
                <a:solidFill>
                  <a:srgbClr val="1F3864"/>
                </a:solidFill>
              </a:rPr>
              <a:t>Time per shard: v7</a:t>
            </a:r>
            <a:endParaRPr lang="en-US" sz="2800" dirty="0"/>
          </a:p>
        </p:txBody>
      </p:sp>
      <p:graphicFrame>
        <p:nvGraphicFramePr>
          <p:cNvPr id="3" name="Chart 0"/>
          <p:cNvGraphicFramePr/>
          <p:nvPr/>
        </p:nvGraphicFramePr>
        <p:xfrm>
          <a:off x="640080" y="1143000"/>
          <a:ext cx="658368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marL="0" indent="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Most shards finish near 300 ms, average 308 ms</a:t>
            </a:r>
            <a:endParaRPr lang="en-US" sz="1300" dirty="0"/>
          </a:p>
          <a:p>
            <a:pPr marL="342900" indent="-342900">
              <a:spcAft>
                <a:spcPts val="1000"/>
              </a:spcAft>
              <a:buSzPct val="100000"/>
              <a:buChar char="•"/>
            </a:pPr>
            <a:r>
              <a:rPr lang="en-US" sz="1300" dirty="0">
                <a:solidFill>
                  <a:srgbClr val="222222"/>
                </a:solidFill>
              </a:rPr>
              <a:t>One shard takes 527 ms, a gap of 2.25 times</a:t>
            </a:r>
            <a:endParaRPr lang="en-US" sz="1300" dirty="0"/>
          </a:p>
          <a:p>
            <a:pPr marL="342900" indent="-342900">
              <a:spcAft>
                <a:spcPts val="1000"/>
              </a:spcAft>
              <a:buSzPct val="100000"/>
              <a:buChar char="•"/>
            </a:pPr>
            <a:r>
              <a:rPr lang="en-US" sz="1300" dirty="0">
                <a:solidFill>
                  <a:srgbClr val="222222"/>
                </a:solidFill>
              </a:rPr>
              <a:t>That one shard sets the speed of the whole search</a:t>
            </a:r>
          </a:p>
          <a:p>
            <a:pPr marL="342900" indent="-342900">
              <a:spcAft>
                <a:spcPts val="1000"/>
              </a:spcAft>
              <a:buSzPct val="100000"/>
              <a:buChar char="•"/>
            </a:pPr>
            <a:r>
              <a:rPr lang="en-US" sz="1300" dirty="0" err="1"/>
              <a:t>Sscale</a:t>
            </a:r>
            <a:r>
              <a:rPr lang="en-US" sz="1300" dirty="0"/>
              <a:t> as the old query for a direct comparison. The tall red bar is where the new query loses time it does not need to lose.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marL="0" indent="0">
              <a:buNone/>
            </a:pPr>
            <a:r>
              <a:rPr lang="en-US" sz="2800" b="1" dirty="0">
                <a:solidFill>
                  <a:srgbClr val="1F3864"/>
                </a:solidFill>
              </a:rPr>
              <a:t>Time by query part</a:t>
            </a:r>
            <a:endParaRPr lang="en-US" sz="2800" dirty="0"/>
          </a:p>
        </p:txBody>
      </p:sp>
      <p:graphicFrame>
        <p:nvGraphicFramePr>
          <p:cNvPr id="3" name="Chart 0"/>
          <p:cNvGraphicFramePr/>
          <p:nvPr/>
        </p:nvGraphicFramePr>
        <p:xfrm>
          <a:off x="640080" y="1143000"/>
          <a:ext cx="658368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marL="0" indent="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Looking up names and IDs is the main cost in both, about 3,580 ms</a:t>
            </a:r>
            <a:endParaRPr lang="en-US" sz="1300" dirty="0"/>
          </a:p>
          <a:p>
            <a:pPr marL="342900" indent="-342900">
              <a:spcAft>
                <a:spcPts val="1000"/>
              </a:spcAft>
              <a:buSzPct val="100000"/>
              <a:buChar char="•"/>
            </a:pPr>
            <a:r>
              <a:rPr lang="en-US" sz="1300" dirty="0">
                <a:solidFill>
                  <a:srgbClr val="222222"/>
                </a:solidFill>
              </a:rPr>
              <a:t>Prefix and fuzzy matching is the smallest part, 265 ms and 56 ms</a:t>
            </a:r>
            <a:endParaRPr lang="en-US" sz="1300" dirty="0"/>
          </a:p>
          <a:p>
            <a:pPr marL="342900" indent="-342900">
              <a:spcAft>
                <a:spcPts val="1000"/>
              </a:spcAft>
              <a:buSzPct val="100000"/>
              <a:buChar char="•"/>
            </a:pPr>
            <a:r>
              <a:rPr lang="en-US" sz="1300" dirty="0">
                <a:solidFill>
                  <a:srgbClr val="222222"/>
                </a:solidFill>
              </a:rPr>
              <a:t>The two queries cost almost the same to run</a:t>
            </a:r>
            <a:endParaRPr lang="en-US" sz="1300" dirty="0"/>
          </a:p>
          <a:p>
            <a:pPr marL="342900" indent="-342900">
              <a:spcAft>
                <a:spcPts val="1000"/>
              </a:spcAft>
              <a:buSzPct val="100000"/>
              <a:buChar char="•"/>
            </a:pP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marL="0" indent="0">
              <a:buNone/>
            </a:pPr>
            <a:r>
              <a:rPr lang="en-US" sz="2800" b="1" dirty="0">
                <a:solidFill>
                  <a:srgbClr val="1F3864"/>
                </a:solidFill>
              </a:rPr>
              <a:t>Consistency across 20 runs</a:t>
            </a:r>
            <a:endParaRPr lang="en-US" sz="2800" dirty="0"/>
          </a:p>
        </p:txBody>
      </p:sp>
      <p:graphicFrame>
        <p:nvGraphicFramePr>
          <p:cNvPr id="3" name="Chart 0"/>
          <p:cNvGraphicFramePr/>
          <p:nvPr/>
        </p:nvGraphicFramePr>
        <p:xfrm>
          <a:off x="640080" y="1143000"/>
          <a:ext cx="658368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marL="0" indent="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The new query was faster on all 20 runs, not just on average</a:t>
            </a:r>
            <a:endParaRPr lang="en-US" sz="1300" dirty="0"/>
          </a:p>
          <a:p>
            <a:pPr marL="342900" indent="-342900">
              <a:spcAft>
                <a:spcPts val="1000"/>
              </a:spcAft>
              <a:buSzPct val="100000"/>
              <a:buChar char="•"/>
            </a:pPr>
            <a:r>
              <a:rPr lang="en-US" sz="1300" dirty="0">
                <a:solidFill>
                  <a:srgbClr val="222222"/>
                </a:solidFill>
              </a:rPr>
              <a:t>Neither query had spikes or drift</a:t>
            </a:r>
            <a:endParaRPr lang="en-US" sz="1300" dirty="0"/>
          </a:p>
          <a:p>
            <a:pPr marL="342900" indent="-342900">
              <a:spcAft>
                <a:spcPts val="1000"/>
              </a:spcAft>
              <a:buSzPct val="100000"/>
              <a:buChar char="•"/>
            </a:pPr>
            <a:r>
              <a:rPr lang="en-US" sz="1300" dirty="0">
                <a:solidFill>
                  <a:srgbClr val="222222"/>
                </a:solidFill>
              </a:rPr>
              <a:t>Earlier tests showed 2,500 ms for these same queries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881360" cy="640080"/>
          </a:xfrm>
          <a:prstGeom prst="rect">
            <a:avLst/>
          </a:prstGeom>
          <a:noFill/>
          <a:ln/>
        </p:spPr>
        <p:txBody>
          <a:bodyPr wrap="square" lIns="0" tIns="0" rIns="0" bIns="0" rtlCol="0" anchor="ctr"/>
          <a:lstStyle/>
          <a:p>
            <a:pPr marL="0" indent="0">
              <a:buNone/>
            </a:pPr>
            <a:r>
              <a:rPr lang="en-US" sz="2800" b="1" dirty="0">
                <a:solidFill>
                  <a:srgbClr val="1F3864"/>
                </a:solidFill>
              </a:rPr>
              <a:t>Records per shard</a:t>
            </a:r>
            <a:endParaRPr lang="en-US" sz="2800" dirty="0"/>
          </a:p>
        </p:txBody>
      </p:sp>
      <p:graphicFrame>
        <p:nvGraphicFramePr>
          <p:cNvPr id="3" name="Chart 0"/>
          <p:cNvGraphicFramePr/>
          <p:nvPr/>
        </p:nvGraphicFramePr>
        <p:xfrm>
          <a:off x="640080" y="1143000"/>
          <a:ext cx="658368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635240" y="1188720"/>
            <a:ext cx="3886200" cy="292608"/>
          </a:xfrm>
          <a:prstGeom prst="rect">
            <a:avLst/>
          </a:prstGeom>
          <a:noFill/>
          <a:ln/>
        </p:spPr>
        <p:txBody>
          <a:bodyPr wrap="square" lIns="0" tIns="0" rIns="0" bIns="0" rtlCol="0" anchor="ctr"/>
          <a:lstStyle/>
          <a:p>
            <a:pPr marL="0" indent="0">
              <a:buNone/>
            </a:pPr>
            <a:r>
              <a:rPr lang="en-US" sz="1400" b="1" dirty="0">
                <a:solidFill>
                  <a:srgbClr val="1F3864"/>
                </a:solidFill>
              </a:rPr>
              <a:t>What it shows</a:t>
            </a:r>
            <a:endParaRPr lang="en-US" sz="1400" dirty="0"/>
          </a:p>
        </p:txBody>
      </p:sp>
      <p:sp>
        <p:nvSpPr>
          <p:cNvPr id="5" name="Text 2"/>
          <p:cNvSpPr/>
          <p:nvPr/>
        </p:nvSpPr>
        <p:spPr>
          <a:xfrm>
            <a:off x="7635240" y="1572768"/>
            <a:ext cx="3886200" cy="26517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22222"/>
                </a:solidFill>
              </a:rPr>
              <a:t>21 shards holding 143.9 million records in total</a:t>
            </a:r>
            <a:endParaRPr lang="en-US" sz="1300" dirty="0"/>
          </a:p>
          <a:p>
            <a:pPr marL="342900" indent="-342900">
              <a:spcAft>
                <a:spcPts val="1000"/>
              </a:spcAft>
              <a:buSzPct val="100000"/>
              <a:buChar char="•"/>
            </a:pPr>
            <a:r>
              <a:rPr lang="en-US" sz="1300" dirty="0">
                <a:solidFill>
                  <a:srgbClr val="222222"/>
                </a:solidFill>
              </a:rPr>
              <a:t>Every shard holds about 6.85 million records</a:t>
            </a:r>
            <a:endParaRPr lang="en-US" sz="1300" dirty="0"/>
          </a:p>
          <a:p>
            <a:pPr marL="342900" indent="-342900">
              <a:spcAft>
                <a:spcPts val="1000"/>
              </a:spcAft>
              <a:buSzPct val="100000"/>
              <a:buChar char="•"/>
            </a:pPr>
            <a:r>
              <a:rPr lang="en-US" sz="1300" dirty="0">
                <a:solidFill>
                  <a:srgbClr val="222222"/>
                </a:solidFill>
              </a:rPr>
              <a:t>The gap between biggest and smallest is only one tenth of one percent</a:t>
            </a:r>
          </a:p>
          <a:p>
            <a:pPr>
              <a:spcAft>
                <a:spcPts val="1000"/>
              </a:spcAft>
              <a:buSzPct val="100000"/>
            </a:pPr>
            <a:endParaRPr lang="en-US" sz="1300" dirty="0"/>
          </a:p>
          <a:p>
            <a:pPr marL="342900" indent="-342900">
              <a:spcAft>
                <a:spcPts val="1000"/>
              </a:spcAft>
              <a:buSzPct val="100000"/>
              <a:buChar char="•"/>
            </a:pPr>
            <a:endParaRPr lang="en-US" sz="1300" dirty="0"/>
          </a:p>
        </p:txBody>
      </p:sp>
      <p:sp>
        <p:nvSpPr>
          <p:cNvPr id="7" name="Text 4"/>
          <p:cNvSpPr/>
          <p:nvPr/>
        </p:nvSpPr>
        <p:spPr>
          <a:xfrm>
            <a:off x="7635240" y="4709160"/>
            <a:ext cx="3886200" cy="1371600"/>
          </a:xfrm>
          <a:prstGeom prst="rect">
            <a:avLst/>
          </a:prstGeom>
          <a:noFill/>
          <a:ln/>
        </p:spPr>
        <p:txBody>
          <a:bodyPr wrap="square" lIns="0" tIns="0" rIns="0" bIns="0" rtlCol="0" anchor="ctr"/>
          <a:lstStyle/>
          <a:p>
            <a:pPr marL="0" indent="0">
              <a:buNone/>
            </a:pP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640080"/>
            <a:ext cx="10881360" cy="822960"/>
          </a:xfrm>
          <a:prstGeom prst="rect">
            <a:avLst/>
          </a:prstGeom>
          <a:noFill/>
          <a:ln/>
        </p:spPr>
        <p:txBody>
          <a:bodyPr wrap="square" lIns="0" tIns="0" rIns="0" bIns="0" rtlCol="0" anchor="ctr"/>
          <a:lstStyle/>
          <a:p>
            <a:pPr marL="0" indent="0">
              <a:buNone/>
            </a:pPr>
            <a:r>
              <a:rPr lang="en-US" sz="3400" b="1" dirty="0">
                <a:solidFill>
                  <a:srgbClr val="1F3864"/>
                </a:solidFill>
              </a:rPr>
              <a:t>Recommended next steps</a:t>
            </a:r>
            <a:endParaRPr lang="en-US" sz="3400" dirty="0"/>
          </a:p>
        </p:txBody>
      </p:sp>
      <p:sp>
        <p:nvSpPr>
          <p:cNvPr id="3" name="Text 1"/>
          <p:cNvSpPr/>
          <p:nvPr/>
        </p:nvSpPr>
        <p:spPr>
          <a:xfrm>
            <a:off x="640080" y="1920240"/>
            <a:ext cx="10881360" cy="4023360"/>
          </a:xfrm>
          <a:prstGeom prst="rect">
            <a:avLst/>
          </a:prstGeom>
          <a:noFill/>
          <a:ln/>
        </p:spPr>
        <p:txBody>
          <a:bodyPr wrap="square" lIns="0" tIns="0" rIns="0" bIns="0" rtlCol="0" anchor="t"/>
          <a:lstStyle/>
          <a:p>
            <a:pPr marL="254000" indent="-254000">
              <a:spcAft>
                <a:spcPts val="1800"/>
              </a:spcAft>
              <a:buSzPct val="100000"/>
              <a:buChar char="•"/>
            </a:pPr>
            <a:r>
              <a:rPr lang="en-US" sz="2100" dirty="0">
                <a:solidFill>
                  <a:srgbClr val="222222"/>
                </a:solidFill>
              </a:rPr>
              <a:t>Tighten the old query so both return a similar number of records, then compare again</a:t>
            </a:r>
            <a:endParaRPr lang="en-US" sz="2100" dirty="0"/>
          </a:p>
          <a:p>
            <a:pPr marL="254000" indent="-254000">
              <a:spcAft>
                <a:spcPts val="1800"/>
              </a:spcAft>
              <a:buSzPct val="100000"/>
              <a:buChar char="•"/>
            </a:pPr>
            <a:r>
              <a:rPr lang="en-US" sz="2100" dirty="0">
                <a:solidFill>
                  <a:srgbClr val="222222"/>
                </a:solidFill>
              </a:rPr>
              <a:t>Watch the one shard of the new query that ran slower than the rest</a:t>
            </a:r>
            <a:endParaRPr lang="en-US" sz="2100" dirty="0"/>
          </a:p>
          <a:p>
            <a:pPr marL="254000" indent="-254000">
              <a:spcAft>
                <a:spcPts val="1800"/>
              </a:spcAft>
              <a:buSzPct val="100000"/>
              <a:buChar char="•"/>
            </a:pPr>
            <a:r>
              <a:rPr lang="en-US" sz="2100" dirty="0">
                <a:solidFill>
                  <a:srgbClr val="222222"/>
                </a:solidFill>
              </a:rPr>
              <a:t>Move this testing to the staging system to stop adding load to production</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973</Words>
  <Application>Microsoft Macintosh PowerPoint</Application>
  <PresentationFormat>Widescreen</PresentationFormat>
  <Paragraphs>78</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Identity Search Query Test</dc:title>
  <dc:subject>PptxGenJS Presentation</dc:subject>
  <dc:creator>PptxGenJS</dc:creator>
  <cp:lastModifiedBy>josh smitherman</cp:lastModifiedBy>
  <cp:revision>4</cp:revision>
  <dcterms:created xsi:type="dcterms:W3CDTF">2026-07-27T21:13:32Z</dcterms:created>
  <dcterms:modified xsi:type="dcterms:W3CDTF">2026-07-27T21:45:01Z</dcterms:modified>
</cp:coreProperties>
</file>