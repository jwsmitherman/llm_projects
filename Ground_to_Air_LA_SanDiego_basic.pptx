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Air-eligible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Nov</c:v>
                  </c:pt>
                  <c:pt idx="1">
                    <c:v>Dec</c:v>
                  </c:pt>
                  <c:pt idx="2">
                    <c:v>Jan</c:v>
                  </c:pt>
                  <c:pt idx="3">
                    <c:v>Feb</c:v>
                  </c:pt>
                  <c:pt idx="4">
                    <c:v>Mar</c:v>
                  </c:pt>
                  <c:pt idx="5">
                    <c:v>Apr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126</c:v>
                </c:pt>
                <c:pt idx="1">
                  <c:v>102</c:v>
                </c:pt>
                <c:pt idx="2">
                  <c:v>93</c:v>
                </c:pt>
                <c:pt idx="3">
                  <c:v>95</c:v>
                </c:pt>
                <c:pt idx="4">
                  <c:v>121</c:v>
                </c:pt>
                <c:pt idx="5">
                  <c:v>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Air-eligible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Nov</c:v>
                  </c:pt>
                  <c:pt idx="1">
                    <c:v>Dec</c:v>
                  </c:pt>
                  <c:pt idx="2">
                    <c:v>Jan</c:v>
                  </c:pt>
                  <c:pt idx="3">
                    <c:v>Feb</c:v>
                  </c:pt>
                  <c:pt idx="4">
                    <c:v>Mar</c:v>
                  </c:pt>
                  <c:pt idx="5">
                    <c:v>Apr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</c:v>
                </c:pt>
                <c:pt idx="1">
                  <c:v>5</c:v>
                </c:pt>
                <c:pt idx="2">
                  <c:v>6</c:v>
                </c:pt>
                <c:pt idx="3">
                  <c:v>6</c:v>
                </c:pt>
                <c:pt idx="4">
                  <c:v>5</c:v>
                </c:pt>
                <c:pt idx="5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Angeles County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transport summary  ·  Nov 2025 – Apr 2026 (6 months)  ·  Scene (pickup) county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Ground transport volume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51206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143000"/>
                <a:gridCol w="11430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Long-ground transports (all)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Air-eligible (meets filters)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2697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Distribution by condition</a:t>
            </a:r>
            <a:endParaRPr lang="en-US" sz="13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17520"/>
          <a:ext cx="51206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143000"/>
                <a:gridCol w="11430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Trauma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Stroke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Pediatrics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Distribution by criticality</a:t>
            </a:r>
            <a:endParaRPr lang="en-US" sz="1300" dirty="0"/>
          </a:p>
        </p:txBody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754880"/>
          <a:ext cx="51206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143000"/>
                <a:gridCol w="11430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(Red)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Emergent (Yellow)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(Green)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Recorded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5943600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Air-eligible trips by month</a:t>
            </a:r>
            <a:endParaRPr lang="en-US" sz="13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943600" y="1691640"/>
          <a:ext cx="57607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6"/>
          <p:cNvSpPr/>
          <p:nvPr/>
        </p:nvSpPr>
        <p:spPr>
          <a:xfrm>
            <a:off x="594360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Interpretation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6035040" y="475488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622 air-eligible long-ground transports over the period (~104/month) — meaningful ground volume and a potential air-conversion opportunity.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Trauma-led clinical mix (99%); 100% of candidates were high-acuity (Red or Yellow).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Air-eligible = long ground transport + Lights &amp; Sirens + target clinical segment (Trauma/Stroke/OB/Peds &lt;5). Directional signal; requires SME calibration.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Diego County (Oceanside)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transport summary  ·  Nov 2025 – Apr 2026 (6 months)  ·  Scene (pickup) county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Ground transport volume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51206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143000"/>
                <a:gridCol w="11430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Long-ground transports (all)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Air-eligible (meets filters)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2697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Distribution by condition</a:t>
            </a:r>
            <a:endParaRPr lang="en-US" sz="13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17520"/>
          <a:ext cx="51206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143000"/>
                <a:gridCol w="11430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Trauma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Stroke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Pediatrics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Distribution by criticality</a:t>
            </a:r>
            <a:endParaRPr lang="en-US" sz="130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754880"/>
          <a:ext cx="51206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143000"/>
                <a:gridCol w="11430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(Red)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Emergent (Yellow)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(Green)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Recorded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5943600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Air-eligible trips by month</a:t>
            </a:r>
            <a:endParaRPr lang="en-US" sz="13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943600" y="1691640"/>
          <a:ext cx="57607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6"/>
          <p:cNvSpPr/>
          <p:nvPr/>
        </p:nvSpPr>
        <p:spPr>
          <a:xfrm>
            <a:off x="594360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Interpretation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6035040" y="475488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34 air-eligible long-ground transports over the period (~6/month) — limited convertible ground volume in this market.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Predominantly trauma (94%); higher Red share (38%) than LA, but on very low volume.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Air-eligible = long ground transport + Lights &amp; Sirens + target clinical segment (Trauma/Stroke/OB/Peds &lt;5). Directional signal; requires SME calibration.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Ground-to-Air — LA &amp; San Diego</dc:title>
  <dc:subject>PptxGenJS Presentation</dc:subject>
  <dc:creator>PptxGenJS</dc:creator>
  <cp:lastModifiedBy>PptxGenJS</cp:lastModifiedBy>
  <cp:revision>1</cp:revision>
  <dcterms:created xsi:type="dcterms:W3CDTF">2026-06-30T19:41:35Z</dcterms:created>
  <dcterms:modified xsi:type="dcterms:W3CDTF">2026-06-30T19:41:35Z</dcterms:modified>
</cp:coreProperties>
</file>